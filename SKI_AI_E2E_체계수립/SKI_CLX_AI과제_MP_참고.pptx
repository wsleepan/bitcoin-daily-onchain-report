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4"/>
    <p:sldMasterId id="2147483690" r:id="rId5"/>
  </p:sldMasterIdLst>
  <p:notesMasterIdLst>
    <p:notesMasterId r:id="rId31"/>
  </p:notesMasterIdLst>
  <p:sldIdLst>
    <p:sldId id="2147478629" r:id="rId6"/>
    <p:sldId id="2147482667" r:id="rId7"/>
    <p:sldId id="2147478636" r:id="rId8"/>
    <p:sldId id="2147482568" r:id="rId9"/>
    <p:sldId id="2147478525" r:id="rId10"/>
    <p:sldId id="2147478608" r:id="rId11"/>
    <p:sldId id="2147478610" r:id="rId12"/>
    <p:sldId id="2147478609" r:id="rId13"/>
    <p:sldId id="2147478611" r:id="rId14"/>
    <p:sldId id="2147482564" r:id="rId15"/>
    <p:sldId id="2147482627" r:id="rId16"/>
    <p:sldId id="2147482671" r:id="rId17"/>
    <p:sldId id="2147478581" r:id="rId18"/>
    <p:sldId id="2147478582" r:id="rId19"/>
    <p:sldId id="2147478572" r:id="rId20"/>
    <p:sldId id="2147478573" r:id="rId21"/>
    <p:sldId id="2147482642" r:id="rId22"/>
    <p:sldId id="2147478584" r:id="rId23"/>
    <p:sldId id="2147478583" r:id="rId24"/>
    <p:sldId id="2147478585" r:id="rId25"/>
    <p:sldId id="2147478586" r:id="rId26"/>
    <p:sldId id="2147478587" r:id="rId27"/>
    <p:sldId id="2147478588" r:id="rId28"/>
    <p:sldId id="2147478589" r:id="rId29"/>
    <p:sldId id="2147482643" r:id="rId30"/>
  </p:sldIdLst>
  <p:sldSz cx="9906000" cy="6858000" type="A4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4" orient="horz" pos="3543" userDrawn="1">
          <p15:clr>
            <a:srgbClr val="A4A3A4"/>
          </p15:clr>
        </p15:guide>
        <p15:guide id="5" pos="219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E9F8"/>
    <a:srgbClr val="FDEFE7"/>
    <a:srgbClr val="1C6AAC"/>
    <a:srgbClr val="217CFA"/>
    <a:srgbClr val="7F7F7F"/>
    <a:srgbClr val="BCD7FD"/>
    <a:srgbClr val="90BDFC"/>
    <a:srgbClr val="215F9A"/>
    <a:srgbClr val="3D3D3D"/>
    <a:srgbClr val="9898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0007E1-D5F1-45D0-B6E0-9360796C20B3}" v="33874" dt="2025-06-25T11:49:32.510"/>
    <p1510:client id="{47431DBD-C750-4040-961A-36504490D7BA}" v="3062" dt="2025-06-25T09:21:26.390"/>
    <p1510:client id="{CB098D4B-3140-4D88-936A-C9AFF86F342E}" v="6035" dt="2025-06-25T09:14:40.735"/>
    <p1510:client id="{FC0319AF-CA47-4902-81BA-14A34E4CACA1}" v="189" dt="2025-06-25T09:10:54.867"/>
    <p1510:client id="{FE03842B-B96F-4925-AB84-82317FE91EBA}" v="1397" dt="2025-06-26T00:23:14.0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>
        <p:scale>
          <a:sx n="87" d="100"/>
          <a:sy n="87" d="100"/>
        </p:scale>
        <p:origin x="1046" y="62"/>
      </p:cViewPr>
      <p:guideLst>
        <p:guide orient="horz" pos="3543"/>
        <p:guide pos="219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34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microsoft.com/office/2015/10/relationships/revisionInfo" Target="revisionInfo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tableStyles" Target="tableStyles.xml"/><Relationship Id="rId8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659" cy="498056"/>
          </a:xfrm>
          <a:prstGeom prst="rect">
            <a:avLst/>
          </a:prstGeom>
        </p:spPr>
        <p:txBody>
          <a:bodyPr vert="horz" lIns="91321" tIns="45661" rIns="91321" bIns="45661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321" tIns="45661" rIns="91321" bIns="45661" rtlCol="0"/>
          <a:lstStyle>
            <a:lvl1pPr algn="r">
              <a:defRPr sz="1200"/>
            </a:lvl1pPr>
          </a:lstStyle>
          <a:p>
            <a:fld id="{87565AC3-D3A5-43A3-89C4-AC49677E15C8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79488" y="1241425"/>
            <a:ext cx="483870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21" tIns="45661" rIns="91321" bIns="45661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5"/>
            <a:ext cx="5438140" cy="3908613"/>
          </a:xfrm>
          <a:prstGeom prst="rect">
            <a:avLst/>
          </a:prstGeom>
        </p:spPr>
        <p:txBody>
          <a:bodyPr vert="horz" lIns="91321" tIns="45661" rIns="91321" bIns="45661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28584"/>
            <a:ext cx="2945659" cy="498055"/>
          </a:xfrm>
          <a:prstGeom prst="rect">
            <a:avLst/>
          </a:prstGeom>
        </p:spPr>
        <p:txBody>
          <a:bodyPr vert="horz" lIns="91321" tIns="45661" rIns="91321" bIns="45661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321" tIns="45661" rIns="91321" bIns="45661" rtlCol="0" anchor="b"/>
          <a:lstStyle>
            <a:lvl1pPr algn="r">
              <a:defRPr sz="1200"/>
            </a:lvl1pPr>
          </a:lstStyle>
          <a:p>
            <a:fld id="{06503C7C-C46B-4330-8C72-F53C314FB7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1849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E4411-2E9B-1F25-3CF9-EAE350448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8D35B68-BFF7-C80D-9FEA-6E3E23C4B7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98563" y="1141413"/>
            <a:ext cx="4452937" cy="308292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2DA8760-999C-19E4-B127-3D598CAF5D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42581BF-1DC6-0AF5-53F4-AE85B307BE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13119" latinLnBrk="1">
              <a:defRPr/>
            </a:pPr>
            <a:fld id="{674944D5-843A-4C70-89A9-9B1A6FB056EC}" type="slidenum">
              <a:rPr lang="ko-KR" altLang="en-US">
                <a:solidFill>
                  <a:prstClr val="black"/>
                </a:solidFill>
                <a:ea typeface="나눔스퀘어" panose="020B0600000101010101" pitchFamily="50" charset="-127"/>
              </a:rPr>
              <a:pPr defTabSz="913119" latinLnBrk="1">
                <a:defRPr/>
              </a:pPr>
              <a:t>1</a:t>
            </a:fld>
            <a:endParaRPr lang="ko-KR" altLang="en-US">
              <a:solidFill>
                <a:prstClr val="black"/>
              </a:solidFill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363266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A046B-2BC9-28B4-1C26-81709071F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E9F2E8B-306D-D64E-4AA6-6497ACA4B0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9BCC913-A834-9E2D-B4EF-7C0776726F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5B904B1-C174-35EE-43BB-5AEFA440CA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503C7C-C46B-4330-8C72-F53C314FB765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38870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22841-2732-A2A3-A845-395853514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340A42C-2E10-55CF-DD08-1F29C7C5E5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98563" y="1141413"/>
            <a:ext cx="4452937" cy="308292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D1C0EF1-416B-27F3-1426-6A3A69361A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C321D2-112B-77DA-D7FD-C2B801212F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13119" latinLnBrk="1">
              <a:defRPr/>
            </a:pPr>
            <a:fld id="{674944D5-843A-4C70-89A9-9B1A6FB056EC}" type="slidenum">
              <a:rPr lang="ko-KR" altLang="en-US">
                <a:solidFill>
                  <a:prstClr val="black"/>
                </a:solidFill>
                <a:ea typeface="나눔스퀘어" panose="020B0600000101010101" pitchFamily="50" charset="-127"/>
              </a:rPr>
              <a:pPr defTabSz="913119" latinLnBrk="1">
                <a:defRPr/>
              </a:pPr>
              <a:t>3</a:t>
            </a:fld>
            <a:endParaRPr lang="ko-KR" altLang="en-US">
              <a:solidFill>
                <a:prstClr val="black"/>
              </a:solidFill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128914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503C7C-C46B-4330-8C72-F53C314FB765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65970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42A64-4284-742F-9394-96420F421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19EEA00-3534-ED4F-F9C0-0E912D7B91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98563" y="1141413"/>
            <a:ext cx="4452937" cy="308292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21DA7B8-BDB8-A779-8268-6352D3C921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29BF15-2314-C2CB-D4D7-F55906C9CB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13119" latinLnBrk="1">
              <a:defRPr/>
            </a:pPr>
            <a:fld id="{674944D5-843A-4C70-89A9-9B1A6FB056EC}" type="slidenum">
              <a:rPr lang="ko-KR" altLang="en-US">
                <a:solidFill>
                  <a:prstClr val="black"/>
                </a:solidFill>
                <a:ea typeface="나눔스퀘어" panose="020B0600000101010101" pitchFamily="50" charset="-127"/>
              </a:rPr>
              <a:pPr defTabSz="913119" latinLnBrk="1">
                <a:defRPr/>
              </a:pPr>
              <a:t>5</a:t>
            </a:fld>
            <a:endParaRPr lang="ko-KR" altLang="en-US">
              <a:solidFill>
                <a:prstClr val="black"/>
              </a:solidFill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057636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DB255-FA11-6ED0-5942-139A6B6D2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83711A9-3974-14D1-3487-2225DC130C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98563" y="1141413"/>
            <a:ext cx="4452937" cy="308292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DA85ED0-8BAE-8ACD-1B05-4F51EACD69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A50F24-C957-14DE-35F6-4678E132FE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3119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74944D5-843A-4C70-89A9-9B1A6FB056EC}" type="slidenum"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나눔스퀘어" panose="020B0600000101010101" pitchFamily="50" charset="-127"/>
                <a:cs typeface="+mn-cs"/>
              </a:rPr>
              <a:pPr marL="0" marR="0" lvl="0" indent="0" algn="r" defTabSz="913119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나눔스퀘어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3893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29738-3B86-A20B-4D7B-95B0E2D25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D011021-971F-9E64-2948-4FD4F0B87E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98563" y="1141413"/>
            <a:ext cx="4452937" cy="308292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2027124-2726-C1F4-97F6-A7617D93FB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A8AE80D-1C5D-C3EA-49F2-9BE6E0DF89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3119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74944D5-843A-4C70-89A9-9B1A6FB056EC}" type="slidenum"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나눔스퀘어" panose="020B0600000101010101" pitchFamily="50" charset="-127"/>
                <a:cs typeface="+mn-cs"/>
              </a:rPr>
              <a:pPr marL="0" marR="0" lvl="0" indent="0" algn="r" defTabSz="913119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나눔스퀘어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24470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9FD87-BD49-3EC8-F6C1-93B9D1FCC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FE8EB49-0BE4-1766-F92E-01822FC31A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98563" y="1141413"/>
            <a:ext cx="4452937" cy="308292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9097408-ABFC-FE23-B947-1CCD127D3D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FA9BB5-2C3A-DF50-626F-AE29A1F26D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3119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74944D5-843A-4C70-89A9-9B1A6FB056EC}" type="slidenum"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나눔스퀘어" panose="020B0600000101010101" pitchFamily="50" charset="-127"/>
                <a:cs typeface="+mn-cs"/>
              </a:rPr>
              <a:pPr marL="0" marR="0" lvl="0" indent="0" algn="r" defTabSz="913119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나눔스퀘어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80218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E7CA0-AD71-8E13-85A4-2919FB703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0EFE536-6F2C-BA8C-BD98-762A9528B9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98563" y="1141413"/>
            <a:ext cx="4452937" cy="308292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9A1A693-26EF-3A7C-792A-9062731EB4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7AF5414-C19C-8827-44A7-396F040FDC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3119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74944D5-843A-4C70-89A9-9B1A6FB056EC}" type="slidenum"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나눔스퀘어" panose="020B0600000101010101" pitchFamily="50" charset="-127"/>
                <a:cs typeface="+mn-cs"/>
              </a:rPr>
              <a:pPr marL="0" marR="0" lvl="0" indent="0" algn="r" defTabSz="913119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나눔스퀘어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897193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503C7C-C46B-4330-8C72-F53C314FB765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34095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CAE27-8B31-762A-B095-271E5E67A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B4653AF-3F91-C686-7ED8-CF36694D59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98563" y="1141413"/>
            <a:ext cx="4452937" cy="308292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D03C59A-79FB-BC6C-33AA-0BBBB7AA13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3D402DF-0FFD-E55C-8985-AA9477D2BA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13119" latinLnBrk="1">
              <a:defRPr/>
            </a:pPr>
            <a:fld id="{674944D5-843A-4C70-89A9-9B1A6FB056EC}" type="slidenum">
              <a:rPr lang="ko-KR" altLang="en-US">
                <a:solidFill>
                  <a:prstClr val="black"/>
                </a:solidFill>
                <a:ea typeface="나눔스퀘어" panose="020B0600000101010101" pitchFamily="50" charset="-127"/>
              </a:rPr>
              <a:pPr defTabSz="913119" latinLnBrk="1">
                <a:defRPr/>
              </a:pPr>
              <a:t>11</a:t>
            </a:fld>
            <a:endParaRPr lang="ko-KR" altLang="en-US">
              <a:solidFill>
                <a:prstClr val="black"/>
              </a:solidFill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354403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5DC6E-9B0D-FE2D-B66B-3C7260898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0550F1E-A7E2-5380-3B1E-FF7B5B8479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98563" y="1141413"/>
            <a:ext cx="4452937" cy="308292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279770E-C8EE-4C9D-7DDB-901EA2CB44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31B793-255A-942B-2DAE-E71A15B2A7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13119" latinLnBrk="1">
              <a:defRPr/>
            </a:pPr>
            <a:fld id="{674944D5-843A-4C70-89A9-9B1A6FB056EC}" type="slidenum">
              <a:rPr lang="ko-KR" altLang="en-US">
                <a:solidFill>
                  <a:prstClr val="black"/>
                </a:solidFill>
                <a:ea typeface="나눔스퀘어" panose="020B0600000101010101" pitchFamily="50" charset="-127"/>
              </a:rPr>
              <a:pPr defTabSz="913119" latinLnBrk="1">
                <a:defRPr/>
              </a:pPr>
              <a:t>12</a:t>
            </a:fld>
            <a:endParaRPr lang="ko-KR" altLang="en-US">
              <a:solidFill>
                <a:prstClr val="black"/>
              </a:solidFill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543260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E260F-0590-BB50-F6D1-8C5F2BF72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2EFDB77-31B0-745E-4E26-A96EF1C0DC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98563" y="1141413"/>
            <a:ext cx="4452937" cy="308292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25DC60E-9199-398B-A7F2-3ECE905AD2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CF0EC8-2C41-EEC3-E5A8-B96FFDB454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13119" latinLnBrk="1">
              <a:defRPr/>
            </a:pPr>
            <a:fld id="{674944D5-843A-4C70-89A9-9B1A6FB056EC}" type="slidenum">
              <a:rPr lang="ko-KR" altLang="en-US">
                <a:solidFill>
                  <a:prstClr val="black"/>
                </a:solidFill>
                <a:ea typeface="나눔스퀘어" panose="020B0600000101010101" pitchFamily="50" charset="-127"/>
              </a:rPr>
              <a:pPr defTabSz="913119" latinLnBrk="1">
                <a:defRPr/>
              </a:pPr>
              <a:t>13</a:t>
            </a:fld>
            <a:endParaRPr lang="ko-KR" altLang="en-US">
              <a:solidFill>
                <a:prstClr val="black"/>
              </a:solidFill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861800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0F08C-EB5A-D0EF-90AE-24CF9F6EE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136943B-6274-CF1A-9599-D44D5220FE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98563" y="1141413"/>
            <a:ext cx="4452937" cy="308292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FB1F695-551E-C00F-4B65-D5F9A790C6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3AC1C56-10C2-316D-3E39-CE89577D44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13119" latinLnBrk="1">
              <a:defRPr/>
            </a:pPr>
            <a:fld id="{674944D5-843A-4C70-89A9-9B1A6FB056EC}" type="slidenum">
              <a:rPr lang="ko-KR" altLang="en-US">
                <a:solidFill>
                  <a:prstClr val="black"/>
                </a:solidFill>
                <a:ea typeface="나눔스퀘어" panose="020B0600000101010101" pitchFamily="50" charset="-127"/>
              </a:rPr>
              <a:pPr defTabSz="913119" latinLnBrk="1">
                <a:defRPr/>
              </a:pPr>
              <a:t>14</a:t>
            </a:fld>
            <a:endParaRPr lang="ko-KR" altLang="en-US">
              <a:solidFill>
                <a:prstClr val="black"/>
              </a:solidFill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346469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B17BA-D8C9-2861-FD86-8C0F0AC40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B189913-DA27-70B2-53D3-13DDE306BE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98563" y="1141413"/>
            <a:ext cx="4452937" cy="308292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28355F8-1455-9393-1D45-FD95BC3816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A262F8-C6EF-9951-E260-FD3B36F77A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13119" latinLnBrk="1">
              <a:defRPr/>
            </a:pPr>
            <a:fld id="{674944D5-843A-4C70-89A9-9B1A6FB056EC}" type="slidenum">
              <a:rPr lang="ko-KR" altLang="en-US">
                <a:solidFill>
                  <a:prstClr val="black"/>
                </a:solidFill>
                <a:ea typeface="나눔스퀘어" panose="020B0600000101010101" pitchFamily="50" charset="-127"/>
              </a:rPr>
              <a:pPr defTabSz="913119" latinLnBrk="1">
                <a:defRPr/>
              </a:pPr>
              <a:t>15</a:t>
            </a:fld>
            <a:endParaRPr lang="ko-KR" altLang="en-US">
              <a:solidFill>
                <a:prstClr val="black"/>
              </a:solidFill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735138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900AB-762C-B7E2-54B7-F02906C1A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FD45AA3-4AE1-9C64-1A24-30B833801B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98563" y="1141413"/>
            <a:ext cx="4452937" cy="308292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F9BBA2F-F687-8C77-249B-D1DE774363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A720314-45BF-1775-4D3C-6A82EB32B2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13119" latinLnBrk="1">
              <a:defRPr/>
            </a:pPr>
            <a:fld id="{674944D5-843A-4C70-89A9-9B1A6FB056EC}" type="slidenum">
              <a:rPr lang="ko-KR" altLang="en-US">
                <a:solidFill>
                  <a:prstClr val="black"/>
                </a:solidFill>
                <a:ea typeface="나눔스퀘어" panose="020B0600000101010101" pitchFamily="50" charset="-127"/>
              </a:rPr>
              <a:pPr defTabSz="913119" latinLnBrk="1">
                <a:defRPr/>
              </a:pPr>
              <a:t>16</a:t>
            </a:fld>
            <a:endParaRPr lang="ko-KR" altLang="en-US">
              <a:solidFill>
                <a:prstClr val="black"/>
              </a:solidFill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187049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5CAC1-CFFA-8448-5F4E-0B45416E9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D8C034A-A4A0-E786-330F-AE53ACE4D1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98563" y="1141413"/>
            <a:ext cx="4452937" cy="308292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364E844-6E43-51D5-C0E6-41B192287D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B3C4692-0275-E0FE-2D1C-4A31D609B2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13119" latinLnBrk="1">
              <a:defRPr/>
            </a:pPr>
            <a:fld id="{674944D5-843A-4C70-89A9-9B1A6FB056EC}" type="slidenum">
              <a:rPr lang="ko-KR" altLang="en-US">
                <a:solidFill>
                  <a:prstClr val="black"/>
                </a:solidFill>
                <a:ea typeface="나눔스퀘어" panose="020B0600000101010101" pitchFamily="50" charset="-127"/>
              </a:rPr>
              <a:pPr defTabSz="913119" latinLnBrk="1">
                <a:defRPr/>
              </a:pPr>
              <a:t>17</a:t>
            </a:fld>
            <a:endParaRPr lang="ko-KR" altLang="en-US">
              <a:solidFill>
                <a:prstClr val="black"/>
              </a:solidFill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5724427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0B28-0E89-A589-83D9-79C3619CC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23F39F9-91DC-00A2-C6D3-D6B3EB76E0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98563" y="1141413"/>
            <a:ext cx="4452937" cy="308292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79FCA14-5C00-F2AE-6F25-81DAD81EC1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46918DC-38FF-D8DA-0EFE-DD92D51125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13119" latinLnBrk="1">
              <a:defRPr/>
            </a:pPr>
            <a:fld id="{674944D5-843A-4C70-89A9-9B1A6FB056EC}" type="slidenum">
              <a:rPr lang="ko-KR" altLang="en-US">
                <a:solidFill>
                  <a:prstClr val="black"/>
                </a:solidFill>
                <a:ea typeface="나눔스퀘어" panose="020B0600000101010101" pitchFamily="50" charset="-127"/>
              </a:rPr>
              <a:pPr defTabSz="913119" latinLnBrk="1">
                <a:defRPr/>
              </a:pPr>
              <a:t>18</a:t>
            </a:fld>
            <a:endParaRPr lang="ko-KR" altLang="en-US">
              <a:solidFill>
                <a:prstClr val="black"/>
              </a:solidFill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834935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5C25F-3D7E-3BCB-5A99-474D1BAF5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7AC46B3-7903-562A-2F74-27BB115F0F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98563" y="1141413"/>
            <a:ext cx="4452937" cy="308292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B20D300-87ED-29D1-6D22-B0674F61F0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A0947E-451F-EDF5-BF8F-80A4894D02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13119" latinLnBrk="1">
              <a:defRPr/>
            </a:pPr>
            <a:fld id="{674944D5-843A-4C70-89A9-9B1A6FB056EC}" type="slidenum">
              <a:rPr lang="ko-KR" altLang="en-US">
                <a:solidFill>
                  <a:prstClr val="black"/>
                </a:solidFill>
                <a:ea typeface="나눔스퀘어" panose="020B0600000101010101" pitchFamily="50" charset="-127"/>
              </a:rPr>
              <a:pPr defTabSz="913119" latinLnBrk="1">
                <a:defRPr/>
              </a:pPr>
              <a:t>19</a:t>
            </a:fld>
            <a:endParaRPr lang="ko-KR" altLang="en-US">
              <a:solidFill>
                <a:prstClr val="black"/>
              </a:solidFill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4140635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CBB54-29DF-3CD2-8B2F-BAE7AF45A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3F25725-5805-2EEC-F3DA-37245252D9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98563" y="1141413"/>
            <a:ext cx="4452937" cy="308292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4E8ACA7-9A4F-06DD-A6C5-4C10288E03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FF38F22-D48C-D685-2B42-501F365166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13119" latinLnBrk="1">
              <a:defRPr/>
            </a:pPr>
            <a:fld id="{674944D5-843A-4C70-89A9-9B1A6FB056EC}" type="slidenum">
              <a:rPr lang="ko-KR" altLang="en-US">
                <a:solidFill>
                  <a:prstClr val="black"/>
                </a:solidFill>
                <a:ea typeface="나눔스퀘어" panose="020B0600000101010101" pitchFamily="50" charset="-127"/>
              </a:rPr>
              <a:pPr defTabSz="913119" latinLnBrk="1">
                <a:defRPr/>
              </a:pPr>
              <a:t>20</a:t>
            </a:fld>
            <a:endParaRPr lang="ko-KR" altLang="en-US">
              <a:solidFill>
                <a:prstClr val="black"/>
              </a:solidFill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9647899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511CB-4900-2F78-C689-DE904DD98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BD9C672-882C-60F6-EBD4-24E2006A78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98563" y="1141413"/>
            <a:ext cx="4452937" cy="308292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30FE1B0-E4C2-5E56-B217-38408982ED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317254-7999-B1D7-920F-3325A09A96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13119" latinLnBrk="1">
              <a:defRPr/>
            </a:pPr>
            <a:fld id="{674944D5-843A-4C70-89A9-9B1A6FB056EC}" type="slidenum">
              <a:rPr lang="ko-KR" altLang="en-US">
                <a:solidFill>
                  <a:prstClr val="black"/>
                </a:solidFill>
                <a:ea typeface="나눔스퀘어" panose="020B0600000101010101" pitchFamily="50" charset="-127"/>
              </a:rPr>
              <a:pPr defTabSz="913119" latinLnBrk="1">
                <a:defRPr/>
              </a:pPr>
              <a:t>21</a:t>
            </a:fld>
            <a:endParaRPr lang="ko-KR" altLang="en-US">
              <a:solidFill>
                <a:prstClr val="black"/>
              </a:solidFill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3709172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9748E-1A5B-0F4E-0CEF-541D7FC9D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5F6FBAF-DD92-DD5D-06D5-18E835CCD3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98563" y="1141413"/>
            <a:ext cx="4452937" cy="308292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B71A6B0-DEE7-5097-7AEF-FCE8F68F75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CCC412-1A8F-BAB2-33B9-C5F11BAAFD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13119" latinLnBrk="1">
              <a:defRPr/>
            </a:pPr>
            <a:fld id="{674944D5-843A-4C70-89A9-9B1A6FB056EC}" type="slidenum">
              <a:rPr lang="ko-KR" altLang="en-US">
                <a:solidFill>
                  <a:prstClr val="black"/>
                </a:solidFill>
                <a:ea typeface="나눔스퀘어" panose="020B0600000101010101" pitchFamily="50" charset="-127"/>
              </a:rPr>
              <a:pPr defTabSz="913119" latinLnBrk="1">
                <a:defRPr/>
              </a:pPr>
              <a:t>22</a:t>
            </a:fld>
            <a:endParaRPr lang="ko-KR" altLang="en-US">
              <a:solidFill>
                <a:prstClr val="black"/>
              </a:solidFill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6132007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BB511-7B19-2E73-7A23-CB65B0480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6F35EF3-E0DE-5548-9292-38794D2B6E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98563" y="1141413"/>
            <a:ext cx="4452937" cy="308292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E776B9D-2694-8200-E147-F1BB928B97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8D4830C-46F7-0DB7-BC40-FD5060C1C2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13119" latinLnBrk="1">
              <a:defRPr/>
            </a:pPr>
            <a:fld id="{674944D5-843A-4C70-89A9-9B1A6FB056EC}" type="slidenum">
              <a:rPr lang="ko-KR" altLang="en-US">
                <a:solidFill>
                  <a:prstClr val="black"/>
                </a:solidFill>
                <a:ea typeface="나눔스퀘어" panose="020B0600000101010101" pitchFamily="50" charset="-127"/>
              </a:rPr>
              <a:pPr defTabSz="913119" latinLnBrk="1">
                <a:defRPr/>
              </a:pPr>
              <a:t>23</a:t>
            </a:fld>
            <a:endParaRPr lang="ko-KR" altLang="en-US">
              <a:solidFill>
                <a:prstClr val="black"/>
              </a:solidFill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0730043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3A3E2-5BA9-CA98-B860-54713D5C2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DED64EF-014B-4960-B765-E247567BA2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98563" y="1141413"/>
            <a:ext cx="4452937" cy="308292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B7202F4-0006-BD1B-3D24-E5A4A96F11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7C7262-89FF-A1C9-0057-415868B989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13119" latinLnBrk="1">
              <a:defRPr/>
            </a:pPr>
            <a:fld id="{674944D5-843A-4C70-89A9-9B1A6FB056EC}" type="slidenum">
              <a:rPr lang="ko-KR" altLang="en-US">
                <a:solidFill>
                  <a:prstClr val="black"/>
                </a:solidFill>
                <a:ea typeface="나눔스퀘어" panose="020B0600000101010101" pitchFamily="50" charset="-127"/>
              </a:rPr>
              <a:pPr defTabSz="913119" latinLnBrk="1">
                <a:defRPr/>
              </a:pPr>
              <a:t>24</a:t>
            </a:fld>
            <a:endParaRPr lang="ko-KR" altLang="en-US">
              <a:solidFill>
                <a:prstClr val="black"/>
              </a:solidFill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3570033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768D7-1FDD-EDC0-6CB4-35D585A30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E3968D8-157B-5E92-61A4-4B606BA7F2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98563" y="1141413"/>
            <a:ext cx="4452937" cy="308292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1F4E451-67A9-6D1C-5AC3-A18F884880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F4948E7-ACA0-849B-63E9-F68377DBAE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13119" latinLnBrk="1">
              <a:defRPr/>
            </a:pPr>
            <a:fld id="{674944D5-843A-4C70-89A9-9B1A6FB056EC}" type="slidenum">
              <a:rPr lang="ko-KR" altLang="en-US">
                <a:solidFill>
                  <a:prstClr val="black"/>
                </a:solidFill>
                <a:ea typeface="나눔스퀘어" panose="020B0600000101010101" pitchFamily="50" charset="-127"/>
              </a:rPr>
              <a:pPr defTabSz="913119" latinLnBrk="1">
                <a:defRPr/>
              </a:pPr>
              <a:t>25</a:t>
            </a:fld>
            <a:endParaRPr lang="ko-KR" altLang="en-US">
              <a:solidFill>
                <a:prstClr val="black"/>
              </a:solidFill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883691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BE342-BAA3-44E9-84FE-134F64516EEA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5F97D-CA4E-4A3A-8D0B-BBFB020282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7105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BE342-BAA3-44E9-84FE-134F64516EEA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5F97D-CA4E-4A3A-8D0B-BBFB020282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2035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BE342-BAA3-44E9-84FE-134F64516EEA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5F97D-CA4E-4A3A-8D0B-BBFB020282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2857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BE342-BAA3-44E9-84FE-134F64516EEA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5F97D-CA4E-4A3A-8D0B-BBFB020282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0301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BE342-BAA3-44E9-84FE-134F64516EEA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5F97D-CA4E-4A3A-8D0B-BBFB020282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600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BE342-BAA3-44E9-84FE-134F64516EEA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5F97D-CA4E-4A3A-8D0B-BBFB020282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36161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BE342-BAA3-44E9-84FE-134F64516EEA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5F97D-CA4E-4A3A-8D0B-BBFB020282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9853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BE342-BAA3-44E9-84FE-134F64516EEA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5F97D-CA4E-4A3A-8D0B-BBFB020282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2652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BE342-BAA3-44E9-84FE-134F64516EEA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5F97D-CA4E-4A3A-8D0B-BBFB020282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8168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BE342-BAA3-44E9-84FE-134F64516EEA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5F97D-CA4E-4A3A-8D0B-BBFB020282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061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BE342-BAA3-44E9-84FE-134F64516EEA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5F97D-CA4E-4A3A-8D0B-BBFB020282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61413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1개,거버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 userDrawn="1"/>
        </p:nvCxnSpPr>
        <p:spPr>
          <a:xfrm>
            <a:off x="1208585" y="429600"/>
            <a:ext cx="8697432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tx1"/>
                </a:gs>
                <a:gs pos="50000">
                  <a:schemeClr val="bg1">
                    <a:lumMod val="50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80"/>
          <p:cNvSpPr txBox="1">
            <a:spLocks noChangeArrowheads="1"/>
          </p:cNvSpPr>
          <p:nvPr userDrawn="1">
            <p:custDataLst>
              <p:tags r:id="rId1"/>
            </p:custDataLst>
          </p:nvPr>
        </p:nvSpPr>
        <p:spPr bwMode="auto">
          <a:xfrm>
            <a:off x="9677901" y="6578082"/>
            <a:ext cx="195262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>
            <a:defPPr>
              <a:defRPr lang="ko-KR"/>
            </a:defPPr>
            <a:lvl1pPr marL="0" algn="r" defTabSz="914342" rtl="0" eaLnBrk="1" latinLnBrk="1" hangingPunct="1">
              <a:defRPr sz="1000" b="1" i="0" kern="1200">
                <a:solidFill>
                  <a:srgbClr val="000000"/>
                </a:solidFill>
                <a:latin typeface="+mn-lt"/>
                <a:ea typeface="굴림" pitchFamily="50" charset="-127"/>
                <a:cs typeface="+mn-cs"/>
              </a:defRPr>
            </a:lvl1pPr>
            <a:lvl2pPr marL="457171" algn="l" defTabSz="914342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42" algn="l" defTabSz="914342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13" algn="l" defTabSz="914342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84" algn="l" defTabSz="914342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55" algn="l" defTabSz="914342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26" algn="l" defTabSz="914342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198" algn="l" defTabSz="914342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369" algn="l" defTabSz="914342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fld id="{EC5D4987-192D-48E5-BA85-92F132DB30CF}" type="slidenum">
              <a:rPr kumimoji="1" lang="ko-KR" altLang="en-US" sz="1100" b="0" smtClea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r>
              <a:rPr kumimoji="1" lang="en-US" altLang="ko-KR" sz="110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</a:t>
            </a: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0"/>
          </p:nvPr>
        </p:nvSpPr>
        <p:spPr>
          <a:xfrm>
            <a:off x="344490" y="765175"/>
            <a:ext cx="9217024" cy="719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lvl="0"/>
            <a:r>
              <a:rPr lang="ko-KR" altLang="en-US"/>
              <a:t>마스터 텍스트 스타일 편집</a:t>
            </a:r>
            <a:br>
              <a:rPr lang="en-US" altLang="ko-KR"/>
            </a:br>
            <a:endParaRPr lang="ko-KR" altLang="en-US"/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1"/>
          </p:nvPr>
        </p:nvSpPr>
        <p:spPr>
          <a:xfrm>
            <a:off x="355375" y="254884"/>
            <a:ext cx="2457724" cy="343235"/>
          </a:xfrm>
          <a:prstGeom prst="rect">
            <a:avLst/>
          </a:prstGeom>
          <a:solidFill>
            <a:schemeClr val="bg1"/>
          </a:solidFill>
        </p:spPr>
        <p:txBody>
          <a:bodyPr wrap="none" anchor="ctr">
            <a:spAutoFit/>
          </a:bodyPr>
          <a:lstStyle>
            <a:lvl1pPr marL="0" indent="0">
              <a:buNone/>
              <a:defRPr sz="1800" b="1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lvl="0"/>
            <a:r>
              <a:rPr lang="ko-KR" altLang="en-US"/>
              <a:t>마스터 텍스트 스타일 편</a:t>
            </a:r>
          </a:p>
        </p:txBody>
      </p:sp>
    </p:spTree>
    <p:extLst>
      <p:ext uri="{BB962C8B-B14F-4D97-AF65-F5344CB8AC3E}">
        <p14:creationId xmlns:p14="http://schemas.microsoft.com/office/powerpoint/2010/main" val="13704528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  <p15:guide id="3" pos="217" userDrawn="1">
          <p15:clr>
            <a:srgbClr val="FBAE40"/>
          </p15:clr>
        </p15:guide>
        <p15:guide id="4" pos="6023" userDrawn="1">
          <p15:clr>
            <a:srgbClr val="FBAE40"/>
          </p15:clr>
        </p15:guide>
        <p15:guide id="5" orient="horz" pos="935">
          <p15:clr>
            <a:srgbClr val="FBAE40"/>
          </p15:clr>
        </p15:guide>
        <p15:guide id="6" orient="horz" pos="1117">
          <p15:clr>
            <a:srgbClr val="FBAE40"/>
          </p15:clr>
        </p15:guide>
        <p15:guide id="7" orient="horz" pos="4065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BE342-BAA3-44E9-84FE-134F64516EEA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5F97D-CA4E-4A3A-8D0B-BBFB020282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85894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BE342-BAA3-44E9-84FE-134F64516EEA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5F97D-CA4E-4A3A-8D0B-BBFB020282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69359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BE342-BAA3-44E9-84FE-134F64516EEA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5F97D-CA4E-4A3A-8D0B-BBFB020282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4436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BE342-BAA3-44E9-84FE-134F64516EEA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5F97D-CA4E-4A3A-8D0B-BBFB020282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96067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BE342-BAA3-44E9-84FE-134F64516EEA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5F97D-CA4E-4A3A-8D0B-BBFB020282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28035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BE342-BAA3-44E9-84FE-134F64516EEA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5F97D-CA4E-4A3A-8D0B-BBFB020282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077109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BE342-BAA3-44E9-84FE-134F64516EEA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5F97D-CA4E-4A3A-8D0B-BBFB020282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21740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BE342-BAA3-44E9-84FE-134F64516EEA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5F97D-CA4E-4A3A-8D0B-BBFB020282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32005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BE342-BAA3-44E9-84FE-134F64516EEA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5F97D-CA4E-4A3A-8D0B-BBFB020282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77510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BE342-BAA3-44E9-84FE-134F64516EEA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5F97D-CA4E-4A3A-8D0B-BBFB020282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652988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BE342-BAA3-44E9-84FE-134F64516EEA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5F97D-CA4E-4A3A-8D0B-BBFB020282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13232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1개,거버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 userDrawn="1"/>
        </p:nvCxnSpPr>
        <p:spPr>
          <a:xfrm>
            <a:off x="1208585" y="429600"/>
            <a:ext cx="8697432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tx1"/>
                </a:gs>
                <a:gs pos="50000">
                  <a:schemeClr val="bg1">
                    <a:lumMod val="50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80"/>
          <p:cNvSpPr txBox="1">
            <a:spLocks noChangeArrowheads="1"/>
          </p:cNvSpPr>
          <p:nvPr userDrawn="1">
            <p:custDataLst>
              <p:tags r:id="rId1"/>
            </p:custDataLst>
          </p:nvPr>
        </p:nvSpPr>
        <p:spPr bwMode="auto">
          <a:xfrm>
            <a:off x="9677901" y="6578082"/>
            <a:ext cx="195262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>
            <a:defPPr>
              <a:defRPr lang="ko-KR"/>
            </a:defPPr>
            <a:lvl1pPr marL="0" algn="r" defTabSz="914342" rtl="0" eaLnBrk="1" latinLnBrk="1" hangingPunct="1">
              <a:defRPr sz="1000" b="1" i="0" kern="1200">
                <a:solidFill>
                  <a:srgbClr val="000000"/>
                </a:solidFill>
                <a:latin typeface="+mn-lt"/>
                <a:ea typeface="굴림" pitchFamily="50" charset="-127"/>
                <a:cs typeface="+mn-cs"/>
              </a:defRPr>
            </a:lvl1pPr>
            <a:lvl2pPr marL="457171" algn="l" defTabSz="914342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42" algn="l" defTabSz="914342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13" algn="l" defTabSz="914342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84" algn="l" defTabSz="914342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55" algn="l" defTabSz="914342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26" algn="l" defTabSz="914342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198" algn="l" defTabSz="914342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369" algn="l" defTabSz="914342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fld id="{EC5D4987-192D-48E5-BA85-92F132DB30CF}" type="slidenum">
              <a:rPr kumimoji="1" lang="ko-KR" altLang="en-US" sz="1100" b="0" smtClea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r>
              <a:rPr kumimoji="1" lang="en-US" altLang="ko-KR" sz="110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</a:t>
            </a: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0"/>
          </p:nvPr>
        </p:nvSpPr>
        <p:spPr>
          <a:xfrm>
            <a:off x="344490" y="765175"/>
            <a:ext cx="9217024" cy="719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lvl="0"/>
            <a:r>
              <a:rPr lang="ko-KR" altLang="en-US"/>
              <a:t>마스터 텍스트 스타일 편집</a:t>
            </a:r>
            <a:br>
              <a:rPr lang="en-US" altLang="ko-KR"/>
            </a:br>
            <a:endParaRPr lang="ko-KR" altLang="en-US"/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1"/>
          </p:nvPr>
        </p:nvSpPr>
        <p:spPr>
          <a:xfrm>
            <a:off x="355375" y="254884"/>
            <a:ext cx="2457724" cy="343235"/>
          </a:xfrm>
          <a:prstGeom prst="rect">
            <a:avLst/>
          </a:prstGeom>
          <a:solidFill>
            <a:schemeClr val="bg1"/>
          </a:solidFill>
        </p:spPr>
        <p:txBody>
          <a:bodyPr wrap="none" anchor="ctr">
            <a:spAutoFit/>
          </a:bodyPr>
          <a:lstStyle>
            <a:lvl1pPr marL="0" indent="0">
              <a:buNone/>
              <a:defRPr sz="1800" b="1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lvl="0"/>
            <a:r>
              <a:rPr lang="ko-KR" altLang="en-US"/>
              <a:t>마스터 텍스트 스타일 편</a:t>
            </a:r>
          </a:p>
        </p:txBody>
      </p:sp>
    </p:spTree>
    <p:extLst>
      <p:ext uri="{BB962C8B-B14F-4D97-AF65-F5344CB8AC3E}">
        <p14:creationId xmlns:p14="http://schemas.microsoft.com/office/powerpoint/2010/main" val="16096581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  <p15:guide id="3" pos="217">
          <p15:clr>
            <a:srgbClr val="FBAE40"/>
          </p15:clr>
        </p15:guide>
        <p15:guide id="4" pos="6023">
          <p15:clr>
            <a:srgbClr val="FBAE40"/>
          </p15:clr>
        </p15:guide>
        <p15:guide id="5" orient="horz" pos="935">
          <p15:clr>
            <a:srgbClr val="FBAE40"/>
          </p15:clr>
        </p15:guide>
        <p15:guide id="6" orient="horz" pos="1117">
          <p15:clr>
            <a:srgbClr val="FBAE40"/>
          </p15:clr>
        </p15:guide>
        <p15:guide id="7" orient="horz" pos="4065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BBE342-BAA3-44E9-84FE-134F64516EEA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85F97D-CA4E-4A3A-8D0B-BBFB020282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0804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BBE342-BAA3-44E9-84FE-134F64516EEA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85F97D-CA4E-4A3A-8D0B-BBFB020282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0067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slide" Target="slide5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9CA33-4F1F-4B60-B123-89CB55E11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9F4FD21-CB47-8358-CE3D-5A355D16A50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4487" y="254884"/>
            <a:ext cx="4105611" cy="343235"/>
          </a:xfrm>
          <a:solidFill>
            <a:schemeClr val="bg1"/>
          </a:solidFill>
        </p:spPr>
        <p:txBody>
          <a:bodyPr wrap="none" anchor="ctr">
            <a:spAutoFit/>
          </a:bodyPr>
          <a:lstStyle/>
          <a:p>
            <a:r>
              <a:rPr lang="en-US" altLang="ko-KR" b="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CLX </a:t>
            </a:r>
            <a:r>
              <a:rPr lang="ko-KR" altLang="en-US" b="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업무 분석 </a:t>
            </a:r>
            <a:r>
              <a:rPr lang="en-US" altLang="ko-KR" b="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&gt; </a:t>
            </a:r>
            <a:r>
              <a:rPr lang="ko-KR" altLang="en-US" b="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생산기술 영역 업무 현황</a:t>
            </a:r>
            <a:endParaRPr lang="en-US" altLang="ko-KR" b="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36" name="텍스트 개체 틀 4">
            <a:extLst>
              <a:ext uri="{FF2B5EF4-FFF2-40B4-BE49-F238E27FC236}">
                <a16:creationId xmlns:a16="http://schemas.microsoft.com/office/drawing/2014/main" id="{BEF83D40-F69C-3E34-51A9-A69C3E2086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3063" y="765175"/>
            <a:ext cx="9193040" cy="719138"/>
          </a:xfrm>
        </p:spPr>
        <p:txBody>
          <a:bodyPr vert="horz" lIns="91440" tIns="45720" rIns="91440" bIns="45720" rtlCol="0">
            <a:norm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</a:pPr>
            <a:r>
              <a:rPr lang="ko-KR" altLang="en-US" sz="1600" b="0"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ngal Pro" panose="020B0502040204020203" pitchFamily="2" charset="0"/>
              </a:rPr>
              <a:t>생산 엔지니어는 공장 운영 기획 </a:t>
            </a:r>
            <a:r>
              <a:rPr lang="en-US" altLang="ko-KR" sz="1600" b="0"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ngal Pro" panose="020B0502040204020203" pitchFamily="2" charset="0"/>
              </a:rPr>
              <a:t>· </a:t>
            </a:r>
            <a:r>
              <a:rPr lang="ko-KR" altLang="en-US" sz="1600" b="0"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ngal Pro" panose="020B0502040204020203" pitchFamily="2" charset="0"/>
              </a:rPr>
              <a:t>공정 기술 관리 </a:t>
            </a:r>
            <a:r>
              <a:rPr lang="en-US" altLang="ko-KR" sz="1600" b="0"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ngal Pro" panose="020B0502040204020203" pitchFamily="2" charset="0"/>
              </a:rPr>
              <a:t>· </a:t>
            </a:r>
            <a:r>
              <a:rPr lang="ko-KR" altLang="en-US" sz="1600" b="0"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ngal Pro" panose="020B0502040204020203" pitchFamily="2" charset="0"/>
              </a:rPr>
              <a:t>공장 운영 지원에 필요한</a:t>
            </a:r>
            <a:br>
              <a:rPr lang="en-US" altLang="ko-KR" sz="1600" b="0"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ngal Pro" panose="020B0502040204020203" pitchFamily="2" charset="0"/>
              </a:rPr>
            </a:br>
            <a:r>
              <a:rPr lang="ko-KR" altLang="en-US" sz="1600" b="0"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ngal Pro" panose="020B0502040204020203" pitchFamily="2" charset="0"/>
              </a:rPr>
              <a:t>전반의 업무를 수행 중</a:t>
            </a:r>
          </a:p>
        </p:txBody>
      </p:sp>
      <p:sp>
        <p:nvSpPr>
          <p:cNvPr id="1013" name="사각형: 둥근 모서리 1012">
            <a:extLst>
              <a:ext uri="{FF2B5EF4-FFF2-40B4-BE49-F238E27FC236}">
                <a16:creationId xmlns:a16="http://schemas.microsoft.com/office/drawing/2014/main" id="{46B24F72-AEB8-3532-B8B7-22CE64153057}"/>
              </a:ext>
            </a:extLst>
          </p:cNvPr>
          <p:cNvSpPr/>
          <p:nvPr/>
        </p:nvSpPr>
        <p:spPr>
          <a:xfrm>
            <a:off x="353578" y="4667544"/>
            <a:ext cx="903721" cy="92131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공장 운영 지원</a:t>
            </a:r>
          </a:p>
        </p:txBody>
      </p:sp>
      <p:sp>
        <p:nvSpPr>
          <p:cNvPr id="1015" name="사각형: 둥근 모서리 1014">
            <a:extLst>
              <a:ext uri="{FF2B5EF4-FFF2-40B4-BE49-F238E27FC236}">
                <a16:creationId xmlns:a16="http://schemas.microsoft.com/office/drawing/2014/main" id="{506EDA8F-6DDF-29BF-355D-B7CCA9A7B987}"/>
              </a:ext>
            </a:extLst>
          </p:cNvPr>
          <p:cNvSpPr/>
          <p:nvPr/>
        </p:nvSpPr>
        <p:spPr>
          <a:xfrm>
            <a:off x="353579" y="3199600"/>
            <a:ext cx="913776" cy="4320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공장 운영 기획</a:t>
            </a:r>
          </a:p>
        </p:txBody>
      </p:sp>
      <p:sp>
        <p:nvSpPr>
          <p:cNvPr id="1016" name="사각형: 둥근 모서리 1015">
            <a:extLst>
              <a:ext uri="{FF2B5EF4-FFF2-40B4-BE49-F238E27FC236}">
                <a16:creationId xmlns:a16="http://schemas.microsoft.com/office/drawing/2014/main" id="{52282B18-2685-0B25-A988-F730A9A64ECA}"/>
              </a:ext>
            </a:extLst>
          </p:cNvPr>
          <p:cNvSpPr/>
          <p:nvPr/>
        </p:nvSpPr>
        <p:spPr>
          <a:xfrm>
            <a:off x="1311427" y="3199600"/>
            <a:ext cx="990000" cy="432000"/>
          </a:xfrm>
          <a:prstGeom prst="roundRect">
            <a:avLst>
              <a:gd name="adj" fmla="val 0"/>
            </a:avLst>
          </a:prstGeom>
          <a:pattFill prst="ltDnDiag">
            <a:fgClr>
              <a:srgbClr val="B4D2EE"/>
            </a:fgClr>
            <a:bgClr>
              <a:schemeClr val="bg1"/>
            </a:bgClr>
          </a:pattFill>
          <a:ln w="3175">
            <a:solidFill>
              <a:srgbClr val="B4D2EE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예산 수립 및 운영 최적화</a:t>
            </a:r>
          </a:p>
        </p:txBody>
      </p:sp>
      <p:sp>
        <p:nvSpPr>
          <p:cNvPr id="1017" name="사각형: 둥근 모서리 1016">
            <a:extLst>
              <a:ext uri="{FF2B5EF4-FFF2-40B4-BE49-F238E27FC236}">
                <a16:creationId xmlns:a16="http://schemas.microsoft.com/office/drawing/2014/main" id="{50D99054-6C18-4B86-02C7-E86193E7A3FF}"/>
              </a:ext>
            </a:extLst>
          </p:cNvPr>
          <p:cNvSpPr/>
          <p:nvPr/>
        </p:nvSpPr>
        <p:spPr>
          <a:xfrm>
            <a:off x="2362494" y="3199600"/>
            <a:ext cx="990000" cy="432000"/>
          </a:xfrm>
          <a:prstGeom prst="roundRect">
            <a:avLst>
              <a:gd name="adj" fmla="val 0"/>
            </a:avLst>
          </a:prstGeom>
          <a:pattFill prst="ltDnDiag">
            <a:fgClr>
              <a:srgbClr val="B4D2EE"/>
            </a:fgClr>
            <a:bgClr>
              <a:schemeClr val="bg1"/>
            </a:bgClr>
          </a:pattFill>
          <a:ln w="3175">
            <a:solidFill>
              <a:srgbClr val="B4D2EE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투자 사업</a:t>
            </a:r>
            <a:br>
              <a:rPr kumimoji="1" lang="en-US" altLang="ko-KR" sz="90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kumimoji="1" lang="ko-KR" altLang="en-US" sz="90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기획 및 관리</a:t>
            </a:r>
          </a:p>
        </p:txBody>
      </p:sp>
      <p:sp>
        <p:nvSpPr>
          <p:cNvPr id="1018" name="사각형: 둥근 모서리 1017">
            <a:extLst>
              <a:ext uri="{FF2B5EF4-FFF2-40B4-BE49-F238E27FC236}">
                <a16:creationId xmlns:a16="http://schemas.microsoft.com/office/drawing/2014/main" id="{A439FD0C-C7CB-7C9F-030C-3B504627D782}"/>
              </a:ext>
            </a:extLst>
          </p:cNvPr>
          <p:cNvSpPr/>
          <p:nvPr/>
        </p:nvSpPr>
        <p:spPr>
          <a:xfrm>
            <a:off x="353579" y="3688914"/>
            <a:ext cx="903722" cy="92131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공정 기술 관리</a:t>
            </a:r>
          </a:p>
        </p:txBody>
      </p:sp>
      <p:sp>
        <p:nvSpPr>
          <p:cNvPr id="1019" name="사각형: 둥근 모서리 1018">
            <a:extLst>
              <a:ext uri="{FF2B5EF4-FFF2-40B4-BE49-F238E27FC236}">
                <a16:creationId xmlns:a16="http://schemas.microsoft.com/office/drawing/2014/main" id="{5B6307FF-7CAE-B23E-356E-481FD1E70717}"/>
              </a:ext>
            </a:extLst>
          </p:cNvPr>
          <p:cNvSpPr/>
          <p:nvPr/>
        </p:nvSpPr>
        <p:spPr>
          <a:xfrm>
            <a:off x="1310641" y="3688915"/>
            <a:ext cx="2041067" cy="432000"/>
          </a:xfrm>
          <a:prstGeom prst="roundRect">
            <a:avLst>
              <a:gd name="adj" fmla="val 0"/>
            </a:avLst>
          </a:prstGeom>
          <a:pattFill prst="ltDnDiag">
            <a:fgClr>
              <a:srgbClr val="B4D2EE"/>
            </a:fgClr>
            <a:bgClr>
              <a:schemeClr val="bg1"/>
            </a:bgClr>
          </a:pattFill>
          <a:ln w="3175">
            <a:solidFill>
              <a:srgbClr val="B4D2EE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운전 지원 및 </a:t>
            </a:r>
            <a:r>
              <a:rPr kumimoji="1" lang="en-US" altLang="ko-KR" sz="90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Troubleshooting</a:t>
            </a:r>
            <a:endParaRPr kumimoji="1" lang="ko-KR" altLang="en-US" sz="90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021" name="사각형: 둥근 모서리 1020">
            <a:extLst>
              <a:ext uri="{FF2B5EF4-FFF2-40B4-BE49-F238E27FC236}">
                <a16:creationId xmlns:a16="http://schemas.microsoft.com/office/drawing/2014/main" id="{611BD983-A95D-BA8B-2CDA-49C162B0BA86}"/>
              </a:ext>
            </a:extLst>
          </p:cNvPr>
          <p:cNvSpPr/>
          <p:nvPr/>
        </p:nvSpPr>
        <p:spPr>
          <a:xfrm>
            <a:off x="1311427" y="4178230"/>
            <a:ext cx="990000" cy="432000"/>
          </a:xfrm>
          <a:prstGeom prst="roundRect">
            <a:avLst>
              <a:gd name="adj" fmla="val 0"/>
            </a:avLst>
          </a:prstGeom>
          <a:pattFill prst="ltDnDiag">
            <a:fgClr>
              <a:srgbClr val="B4D2EE"/>
            </a:fgClr>
            <a:bgClr>
              <a:schemeClr val="bg1"/>
            </a:bgClr>
          </a:pattFill>
          <a:ln w="3175">
            <a:solidFill>
              <a:srgbClr val="B4D2EE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공정 최적화 및 개선</a:t>
            </a:r>
          </a:p>
        </p:txBody>
      </p:sp>
      <p:sp>
        <p:nvSpPr>
          <p:cNvPr id="1022" name="사각형: 둥근 모서리 1021">
            <a:extLst>
              <a:ext uri="{FF2B5EF4-FFF2-40B4-BE49-F238E27FC236}">
                <a16:creationId xmlns:a16="http://schemas.microsoft.com/office/drawing/2014/main" id="{A865F42B-5FC9-4D5D-EAE7-CFDEAE6E5C89}"/>
              </a:ext>
            </a:extLst>
          </p:cNvPr>
          <p:cNvSpPr/>
          <p:nvPr/>
        </p:nvSpPr>
        <p:spPr>
          <a:xfrm>
            <a:off x="2362494" y="4178230"/>
            <a:ext cx="990000" cy="432000"/>
          </a:xfrm>
          <a:prstGeom prst="roundRect">
            <a:avLst>
              <a:gd name="adj" fmla="val 0"/>
            </a:avLst>
          </a:prstGeom>
          <a:pattFill prst="ltDnDiag">
            <a:fgClr>
              <a:srgbClr val="B4D2EE"/>
            </a:fgClr>
            <a:bgClr>
              <a:schemeClr val="bg1"/>
            </a:bgClr>
          </a:pattFill>
          <a:ln w="3175">
            <a:solidFill>
              <a:srgbClr val="B4D2EE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전략 과제</a:t>
            </a:r>
            <a:br>
              <a:rPr kumimoji="1" lang="en-US" altLang="ko-KR" sz="90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kumimoji="1" lang="ko-KR" altLang="en-US" sz="90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기획 및 관리</a:t>
            </a:r>
          </a:p>
        </p:txBody>
      </p:sp>
      <p:sp>
        <p:nvSpPr>
          <p:cNvPr id="577" name="사각형: 둥근 모서리 576">
            <a:extLst>
              <a:ext uri="{FF2B5EF4-FFF2-40B4-BE49-F238E27FC236}">
                <a16:creationId xmlns:a16="http://schemas.microsoft.com/office/drawing/2014/main" id="{941DADD0-63F0-6DB9-92DC-6ED7FA149270}"/>
              </a:ext>
            </a:extLst>
          </p:cNvPr>
          <p:cNvSpPr/>
          <p:nvPr/>
        </p:nvSpPr>
        <p:spPr>
          <a:xfrm>
            <a:off x="1311427" y="5156860"/>
            <a:ext cx="990000" cy="432000"/>
          </a:xfrm>
          <a:prstGeom prst="roundRect">
            <a:avLst>
              <a:gd name="adj" fmla="val 0"/>
            </a:avLst>
          </a:prstGeom>
          <a:pattFill prst="ltDnDiag">
            <a:fgClr>
              <a:srgbClr val="B4D2EE"/>
            </a:fgClr>
            <a:bgClr>
              <a:schemeClr val="bg1"/>
            </a:bgClr>
          </a:pattFill>
          <a:ln w="3175">
            <a:solidFill>
              <a:srgbClr val="B4D2EE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안전</a:t>
            </a:r>
            <a:r>
              <a:rPr kumimoji="1" lang="en-US" altLang="ko-KR" sz="90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</a:t>
            </a:r>
            <a:r>
              <a:rPr kumimoji="1" lang="ko-KR" altLang="en-US" sz="90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환경 관리</a:t>
            </a:r>
          </a:p>
        </p:txBody>
      </p:sp>
      <p:sp>
        <p:nvSpPr>
          <p:cNvPr id="579" name="사각형: 둥근 모서리 578">
            <a:extLst>
              <a:ext uri="{FF2B5EF4-FFF2-40B4-BE49-F238E27FC236}">
                <a16:creationId xmlns:a16="http://schemas.microsoft.com/office/drawing/2014/main" id="{D365A754-488A-E7A2-9B2D-3B5FA8D15C5E}"/>
              </a:ext>
            </a:extLst>
          </p:cNvPr>
          <p:cNvSpPr/>
          <p:nvPr/>
        </p:nvSpPr>
        <p:spPr>
          <a:xfrm>
            <a:off x="2362494" y="5156860"/>
            <a:ext cx="990000" cy="432000"/>
          </a:xfrm>
          <a:prstGeom prst="roundRect">
            <a:avLst>
              <a:gd name="adj" fmla="val 0"/>
            </a:avLst>
          </a:prstGeom>
          <a:pattFill prst="ltDnDiag">
            <a:fgClr>
              <a:srgbClr val="B4D2EE"/>
            </a:fgClr>
            <a:bgClr>
              <a:schemeClr val="bg1"/>
            </a:bgClr>
          </a:pattFill>
          <a:ln w="3175">
            <a:solidFill>
              <a:srgbClr val="B4D2EE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기술</a:t>
            </a:r>
            <a:r>
              <a:rPr kumimoji="1" lang="en-US" altLang="ko-KR" sz="90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kumimoji="1" lang="ko-KR" altLang="en-US" sz="90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교육</a:t>
            </a:r>
            <a:r>
              <a:rPr kumimoji="1" lang="en-US" altLang="ko-KR" sz="90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kumimoji="1" lang="ko-KR" altLang="en-US" sz="90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및 역량</a:t>
            </a:r>
            <a:br>
              <a:rPr kumimoji="1" lang="en-US" altLang="ko-KR" sz="90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kumimoji="1" lang="ko-KR" altLang="en-US" sz="90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향상</a:t>
            </a:r>
          </a:p>
        </p:txBody>
      </p:sp>
      <p:sp>
        <p:nvSpPr>
          <p:cNvPr id="584" name="사각형: 둥근 모서리 583">
            <a:extLst>
              <a:ext uri="{FF2B5EF4-FFF2-40B4-BE49-F238E27FC236}">
                <a16:creationId xmlns:a16="http://schemas.microsoft.com/office/drawing/2014/main" id="{00293BC0-026D-3CE9-88B1-94CD069BB100}"/>
              </a:ext>
            </a:extLst>
          </p:cNvPr>
          <p:cNvSpPr/>
          <p:nvPr/>
        </p:nvSpPr>
        <p:spPr>
          <a:xfrm>
            <a:off x="1310641" y="4667545"/>
            <a:ext cx="2041067" cy="432000"/>
          </a:xfrm>
          <a:prstGeom prst="roundRect">
            <a:avLst>
              <a:gd name="adj" fmla="val 0"/>
            </a:avLst>
          </a:prstGeom>
          <a:pattFill prst="ltDnDiag">
            <a:fgClr>
              <a:srgbClr val="B4D2EE"/>
            </a:fgClr>
            <a:bgClr>
              <a:schemeClr val="bg1"/>
            </a:bgClr>
          </a:pattFill>
          <a:ln w="3175">
            <a:solidFill>
              <a:srgbClr val="B4D2EE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공장 운영 및</a:t>
            </a:r>
            <a:r>
              <a:rPr kumimoji="1" lang="en-US" altLang="ko-KR" sz="90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kumimoji="1" lang="ko-KR" altLang="en-US" sz="90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운전 정보 제공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181BA5-E302-079C-3D6B-CEE4DFE069A7}"/>
              </a:ext>
            </a:extLst>
          </p:cNvPr>
          <p:cNvSpPr txBox="1"/>
          <p:nvPr/>
        </p:nvSpPr>
        <p:spPr>
          <a:xfrm>
            <a:off x="4029250" y="5774267"/>
            <a:ext cx="1736550" cy="670323"/>
          </a:xfrm>
          <a:prstGeom prst="rect">
            <a:avLst/>
          </a:prstGeom>
          <a:solidFill>
            <a:srgbClr val="EFF5FB"/>
          </a:solidFill>
          <a:ln>
            <a:solidFill>
              <a:schemeClr val="bg1"/>
            </a:solidFill>
          </a:ln>
        </p:spPr>
        <p:txBody>
          <a:bodyPr wrap="square" lIns="36000" tIns="36000" rIns="36000" bIns="36000" anchor="ctr" anchorCtr="0">
            <a:noAutofit/>
          </a:bodyPr>
          <a:lstStyle>
            <a:defPPr>
              <a:defRPr lang="en-US"/>
            </a:defPPr>
            <a:lvl1pPr algn="ctr">
              <a:spcAft>
                <a:spcPts val="300"/>
              </a:spcAft>
              <a:defRPr sz="1200" spc="-50">
                <a:ln>
                  <a:solidFill>
                    <a:schemeClr val="tx1">
                      <a:alpha val="0"/>
                    </a:schemeClr>
                  </a:solidFill>
                </a:ln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pPr>
              <a:spcAft>
                <a:spcPts val="0"/>
              </a:spcAft>
            </a:pPr>
            <a:r>
              <a:rPr lang="ko-KR" altLang="en-US"/>
              <a:t>엔지니어 별 </a:t>
            </a:r>
            <a:r>
              <a:rPr lang="en-US" altLang="ko-KR"/>
              <a:t>Data </a:t>
            </a:r>
            <a:r>
              <a:rPr lang="ko-KR" altLang="en-US"/>
              <a:t>분석 및 활용 역량 편차 有</a:t>
            </a:r>
            <a:br>
              <a:rPr lang="en-US" altLang="ko-KR"/>
            </a:br>
            <a:r>
              <a:rPr lang="en-US" altLang="ko-KR" sz="1100"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1100">
                <a:latin typeface="나눔스퀘어" panose="020B0600000101010101" pitchFamily="50" charset="-127"/>
                <a:ea typeface="나눔스퀘어" panose="020B0600000101010101" pitchFamily="50" charset="-127"/>
              </a:rPr>
              <a:t>공정 이상 원인 분석 등</a:t>
            </a:r>
            <a:r>
              <a:rPr lang="en-US" altLang="ko-KR" sz="110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endParaRPr lang="en-US" altLang="ko-KR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5EFEB48A-28D7-19EB-5DF3-312E50E744E2}"/>
              </a:ext>
            </a:extLst>
          </p:cNvPr>
          <p:cNvGrpSpPr/>
          <p:nvPr/>
        </p:nvGrpSpPr>
        <p:grpSpPr>
          <a:xfrm>
            <a:off x="4032249" y="1421951"/>
            <a:ext cx="5528117" cy="346893"/>
            <a:chOff x="4011711" y="1782863"/>
            <a:chExt cx="5549802" cy="346893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B18B76F-07A2-A1B7-5C7C-033EE0D9AD1A}"/>
                </a:ext>
              </a:extLst>
            </p:cNvPr>
            <p:cNvCxnSpPr>
              <a:cxnSpLocks/>
            </p:cNvCxnSpPr>
            <p:nvPr/>
          </p:nvCxnSpPr>
          <p:spPr>
            <a:xfrm>
              <a:off x="4011713" y="2129756"/>
              <a:ext cx="5549800" cy="0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FEF19A2-C220-FEE1-CF0C-6FCACC915334}"/>
                </a:ext>
              </a:extLst>
            </p:cNvPr>
            <p:cNvSpPr txBox="1"/>
            <p:nvPr/>
          </p:nvSpPr>
          <p:spPr>
            <a:xfrm>
              <a:off x="4011711" y="1782863"/>
              <a:ext cx="5549799" cy="34323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ko-KR" sz="1400">
                  <a:ln>
                    <a:solidFill>
                      <a:schemeClr val="tx1">
                        <a:alpha val="0"/>
                      </a:schemeClr>
                    </a:solidFill>
                  </a:ln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As-Is </a:t>
              </a:r>
              <a:r>
                <a:rPr lang="ko-KR" altLang="en-US" sz="1400">
                  <a:ln>
                    <a:solidFill>
                      <a:schemeClr val="tx1">
                        <a:alpha val="0"/>
                      </a:schemeClr>
                    </a:solidFill>
                  </a:ln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업무 모습</a:t>
              </a:r>
              <a:endParaRPr lang="en-US" altLang="ko-KR" sz="1400">
                <a:ln>
                  <a:solidFill>
                    <a:schemeClr val="tx1">
                      <a:alpha val="0"/>
                    </a:schemeClr>
                  </a:solidFill>
                </a:ln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D3C49827-D60D-3D29-F0C8-FD3C3F0B18A0}"/>
              </a:ext>
            </a:extLst>
          </p:cNvPr>
          <p:cNvGrpSpPr/>
          <p:nvPr/>
        </p:nvGrpSpPr>
        <p:grpSpPr>
          <a:xfrm>
            <a:off x="3604906" y="3354428"/>
            <a:ext cx="174157" cy="1589632"/>
            <a:chOff x="3056467" y="2616200"/>
            <a:chExt cx="412019" cy="2278841"/>
          </a:xfrm>
        </p:grpSpPr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4DCD5021-D968-1F7B-8B50-1E1B0C1A000D}"/>
                </a:ext>
              </a:extLst>
            </p:cNvPr>
            <p:cNvCxnSpPr/>
            <p:nvPr/>
          </p:nvCxnSpPr>
          <p:spPr>
            <a:xfrm>
              <a:off x="3056467" y="2616200"/>
              <a:ext cx="412019" cy="114300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948FD4-22D6-A75B-136B-B79E6BC4F15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56467" y="3752040"/>
              <a:ext cx="412019" cy="1143001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7D9718B8-4797-C6AE-FE06-680D191DA2F1}"/>
              </a:ext>
            </a:extLst>
          </p:cNvPr>
          <p:cNvSpPr txBox="1"/>
          <p:nvPr/>
        </p:nvSpPr>
        <p:spPr>
          <a:xfrm>
            <a:off x="344560" y="1450284"/>
            <a:ext cx="3007148" cy="32219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400">
                <a:ln>
                  <a:solidFill>
                    <a:schemeClr val="tx1">
                      <a:alpha val="0"/>
                    </a:schemeClr>
                  </a:solidFill>
                </a:ln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【 </a:t>
            </a:r>
            <a:r>
              <a:rPr lang="ko-KR" altLang="en-US" sz="1400">
                <a:ln>
                  <a:solidFill>
                    <a:schemeClr val="tx1">
                      <a:alpha val="0"/>
                    </a:schemeClr>
                  </a:solidFill>
                </a:ln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생산기술 업무 구조 </a:t>
            </a:r>
            <a:r>
              <a:rPr lang="en-US" altLang="ko-KR" sz="1400">
                <a:ln>
                  <a:solidFill>
                    <a:schemeClr val="tx1">
                      <a:alpha val="0"/>
                    </a:schemeClr>
                  </a:solidFill>
                </a:ln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】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3D29D97-8651-496C-34F5-AE0B3812287E}"/>
              </a:ext>
            </a:extLst>
          </p:cNvPr>
          <p:cNvSpPr txBox="1"/>
          <p:nvPr/>
        </p:nvSpPr>
        <p:spPr>
          <a:xfrm>
            <a:off x="344559" y="1897608"/>
            <a:ext cx="3008121" cy="659892"/>
          </a:xfrm>
          <a:prstGeom prst="rect">
            <a:avLst/>
          </a:prstGeom>
          <a:solidFill>
            <a:schemeClr val="bg1"/>
          </a:solidFill>
        </p:spPr>
        <p:txBody>
          <a:bodyPr wrap="square" lIns="36000" rIns="36000" anchor="ctr">
            <a:noAutofit/>
          </a:bodyPr>
          <a:lstStyle/>
          <a:p>
            <a:pPr algn="ctr">
              <a:spcAft>
                <a:spcPts val="300"/>
              </a:spcAft>
            </a:pPr>
            <a:r>
              <a:rPr lang="ko-KR" altLang="en-US" sz="1200">
                <a:ln>
                  <a:solidFill>
                    <a:schemeClr val="tx1">
                      <a:alpha val="0"/>
                    </a:schemeClr>
                  </a:solidFill>
                </a:ln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생산 간 요구되는 공정 기술 </a:t>
            </a:r>
            <a:r>
              <a:rPr lang="en-US" altLang="ko-KR" sz="1200">
                <a:ln>
                  <a:solidFill>
                    <a:schemeClr val="tx1">
                      <a:alpha val="0"/>
                    </a:schemeClr>
                  </a:solidFill>
                </a:ln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· </a:t>
            </a:r>
            <a:r>
              <a:rPr lang="ko-KR" altLang="en-US" sz="1200">
                <a:ln>
                  <a:solidFill>
                    <a:schemeClr val="tx1">
                      <a:alpha val="0"/>
                    </a:schemeClr>
                  </a:solidFill>
                </a:ln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공장 운영 영역 </a:t>
            </a:r>
            <a:endParaRPr lang="en-US" altLang="ko-KR" sz="1200">
              <a:ln>
                <a:solidFill>
                  <a:schemeClr val="tx1">
                    <a:alpha val="0"/>
                  </a:schemeClr>
                </a:solidFill>
              </a:ln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>
              <a:spcAft>
                <a:spcPts val="300"/>
              </a:spcAft>
            </a:pPr>
            <a:r>
              <a:rPr lang="ko-KR" altLang="en-US" sz="1200">
                <a:ln>
                  <a:solidFill>
                    <a:schemeClr val="tx1">
                      <a:alpha val="0"/>
                    </a:schemeClr>
                  </a:solidFill>
                </a:ln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일체의</a:t>
            </a:r>
            <a:r>
              <a:rPr lang="en-US" altLang="ko-KR" sz="1200">
                <a:ln>
                  <a:solidFill>
                    <a:schemeClr val="tx1">
                      <a:alpha val="0"/>
                    </a:schemeClr>
                  </a:solidFill>
                </a:ln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1200">
                <a:ln>
                  <a:solidFill>
                    <a:schemeClr val="tx1">
                      <a:alpha val="0"/>
                    </a:schemeClr>
                  </a:solidFill>
                </a:ln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업무를 각 담당 </a:t>
            </a:r>
            <a:r>
              <a:rPr lang="en-US" altLang="ko-KR" sz="1200">
                <a:ln>
                  <a:solidFill>
                    <a:schemeClr val="tx1">
                      <a:alpha val="0"/>
                    </a:schemeClr>
                  </a:solidFill>
                </a:ln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Engineer</a:t>
            </a:r>
            <a:r>
              <a:rPr lang="ko-KR" altLang="en-US" sz="1200">
                <a:ln>
                  <a:solidFill>
                    <a:schemeClr val="tx1">
                      <a:alpha val="0"/>
                    </a:schemeClr>
                  </a:solidFill>
                </a:ln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가 수행 中</a:t>
            </a:r>
            <a:endParaRPr lang="en-US" altLang="ko-KR" sz="1200">
              <a:ln>
                <a:solidFill>
                  <a:schemeClr val="tx1">
                    <a:alpha val="0"/>
                  </a:schemeClr>
                </a:solidFill>
              </a:ln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>
              <a:spcAft>
                <a:spcPts val="300"/>
              </a:spcAft>
            </a:pPr>
            <a:r>
              <a:rPr lang="en-US" altLang="ko-KR" sz="1100">
                <a:ln>
                  <a:solidFill>
                    <a:schemeClr val="tx1">
                      <a:alpha val="0"/>
                    </a:schemeClr>
                  </a:solidFill>
                </a:ln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1100">
                <a:ln>
                  <a:solidFill>
                    <a:schemeClr val="tx1">
                      <a:alpha val="0"/>
                    </a:schemeClr>
                  </a:solidFill>
                </a:ln>
                <a:latin typeface="나눔스퀘어" panose="020B0600000101010101" pitchFamily="50" charset="-127"/>
                <a:ea typeface="나눔스퀘어" panose="020B0600000101010101" pitchFamily="50" charset="-127"/>
              </a:rPr>
              <a:t>생산관리</a:t>
            </a:r>
            <a:r>
              <a:rPr lang="en-US" altLang="ko-KR" sz="1100">
                <a:ln>
                  <a:solidFill>
                    <a:schemeClr val="tx1">
                      <a:alpha val="0"/>
                    </a:schemeClr>
                  </a:solidFill>
                </a:ln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100">
                <a:ln>
                  <a:solidFill>
                    <a:schemeClr val="tx1">
                      <a:alpha val="0"/>
                    </a:schemeClr>
                  </a:solidFill>
                </a:ln>
                <a:latin typeface="나눔스퀘어" panose="020B0600000101010101" pitchFamily="50" charset="-127"/>
                <a:ea typeface="나눔스퀘어" panose="020B0600000101010101" pitchFamily="50" charset="-127"/>
              </a:rPr>
              <a:t>설비</a:t>
            </a:r>
            <a:r>
              <a:rPr lang="en-US" altLang="ko-KR" sz="1100">
                <a:ln>
                  <a:solidFill>
                    <a:schemeClr val="tx1">
                      <a:alpha val="0"/>
                    </a:schemeClr>
                  </a:solidFill>
                </a:ln>
                <a:latin typeface="나눔스퀘어" panose="020B0600000101010101" pitchFamily="50" charset="-127"/>
                <a:ea typeface="나눔스퀘어" panose="020B0600000101010101" pitchFamily="50" charset="-127"/>
              </a:rPr>
              <a:t>, SHE </a:t>
            </a:r>
            <a:r>
              <a:rPr lang="ko-KR" altLang="en-US" sz="1100">
                <a:ln>
                  <a:solidFill>
                    <a:schemeClr val="tx1">
                      <a:alpha val="0"/>
                    </a:schemeClr>
                  </a:solidFill>
                </a:ln>
                <a:latin typeface="나눔스퀘어" panose="020B0600000101010101" pitchFamily="50" charset="-127"/>
                <a:ea typeface="나눔스퀘어" panose="020B0600000101010101" pitchFamily="50" charset="-127"/>
              </a:rPr>
              <a:t>등 주관 조직과 협업 수행</a:t>
            </a:r>
            <a:r>
              <a:rPr lang="en-US" altLang="ko-KR" sz="1100">
                <a:ln>
                  <a:solidFill>
                    <a:schemeClr val="tx1">
                      <a:alpha val="0"/>
                    </a:schemeClr>
                  </a:solidFill>
                </a:ln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AE41E8FB-FB33-3857-D55C-2938A101D4EF}"/>
              </a:ext>
            </a:extLst>
          </p:cNvPr>
          <p:cNvSpPr/>
          <p:nvPr/>
        </p:nvSpPr>
        <p:spPr>
          <a:xfrm>
            <a:off x="344373" y="2964624"/>
            <a:ext cx="913777" cy="180000"/>
          </a:xfrm>
          <a:prstGeom prst="roundRect">
            <a:avLst>
              <a:gd name="adj" fmla="val 0"/>
            </a:avLst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spc="-5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[L2] Process Chain</a:t>
            </a:r>
            <a:endParaRPr kumimoji="1" lang="ko-KR" altLang="en-US" sz="900" spc="-5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C424624D-EE09-9451-E087-D69C9887B0BB}"/>
              </a:ext>
            </a:extLst>
          </p:cNvPr>
          <p:cNvSpPr/>
          <p:nvPr/>
        </p:nvSpPr>
        <p:spPr>
          <a:xfrm>
            <a:off x="1311427" y="2964624"/>
            <a:ext cx="2041067" cy="180000"/>
          </a:xfrm>
          <a:prstGeom prst="roundRect">
            <a:avLst>
              <a:gd name="adj" fmla="val 0"/>
            </a:avLst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i="0" u="none" strike="noStrike" kern="1200" cap="none" spc="-5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[L3] Process Group</a:t>
            </a:r>
            <a:endParaRPr kumimoji="1" lang="ko-KR" altLang="en-US" sz="900" i="0" u="none" strike="noStrike" kern="1200" cap="none" spc="-50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AECAF173-73BD-F9D3-4DAB-8742876D1183}"/>
              </a:ext>
            </a:extLst>
          </p:cNvPr>
          <p:cNvSpPr/>
          <p:nvPr/>
        </p:nvSpPr>
        <p:spPr>
          <a:xfrm>
            <a:off x="348636" y="2716989"/>
            <a:ext cx="3003083" cy="213430"/>
          </a:xfrm>
          <a:prstGeom prst="roundRect">
            <a:avLst>
              <a:gd name="adj" fmla="val 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spc="-5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[L1] Mega Process </a:t>
            </a:r>
            <a:r>
              <a:rPr kumimoji="1" lang="ko-KR" altLang="en-US" sz="1000" spc="-5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생산기술 업무 </a:t>
            </a:r>
            <a:r>
              <a:rPr kumimoji="1" lang="en-US" altLang="ko-KR" sz="1000" spc="-5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Hierarchy</a:t>
            </a:r>
            <a:endParaRPr kumimoji="1" lang="ko-KR" altLang="en-US" sz="1000" spc="-5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63416E9-70B2-49FE-6452-259CEB584CCB}"/>
              </a:ext>
            </a:extLst>
          </p:cNvPr>
          <p:cNvSpPr txBox="1"/>
          <p:nvPr/>
        </p:nvSpPr>
        <p:spPr>
          <a:xfrm>
            <a:off x="344559" y="5693597"/>
            <a:ext cx="3008121" cy="759592"/>
          </a:xfrm>
          <a:prstGeom prst="rect">
            <a:avLst/>
          </a:prstGeom>
          <a:solidFill>
            <a:schemeClr val="bg1"/>
          </a:solidFill>
        </p:spPr>
        <p:txBody>
          <a:bodyPr wrap="square" lIns="0" tIns="36000" rIns="0" bIns="36000" anchor="ctr">
            <a:noAutofit/>
          </a:bodyPr>
          <a:lstStyle/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US" altLang="ko-KR" sz="1000">
                <a:ln>
                  <a:solidFill>
                    <a:schemeClr val="tx1">
                      <a:alpha val="0"/>
                    </a:schemeClr>
                  </a:solidFill>
                </a:ln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[L2] Process Chain 3</a:t>
            </a:r>
            <a:r>
              <a:rPr lang="ko-KR" altLang="en-US" sz="1000">
                <a:ln>
                  <a:solidFill>
                    <a:schemeClr val="tx1">
                      <a:alpha val="0"/>
                    </a:schemeClr>
                  </a:solidFill>
                </a:ln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개</a:t>
            </a:r>
            <a:r>
              <a:rPr lang="en-US" altLang="ko-KR" sz="1000">
                <a:ln>
                  <a:solidFill>
                    <a:schemeClr val="tx1">
                      <a:alpha val="0"/>
                    </a:schemeClr>
                  </a:solidFill>
                </a:ln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[L3] Process Group 8</a:t>
            </a:r>
            <a:r>
              <a:rPr lang="ko-KR" altLang="en-US" sz="1000">
                <a:ln>
                  <a:solidFill>
                    <a:schemeClr val="tx1">
                      <a:alpha val="0"/>
                    </a:schemeClr>
                  </a:solidFill>
                </a:ln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개</a:t>
            </a:r>
            <a:r>
              <a:rPr lang="en-US" altLang="ko-KR" sz="1000">
                <a:ln>
                  <a:solidFill>
                    <a:schemeClr val="tx1">
                      <a:alpha val="0"/>
                    </a:schemeClr>
                  </a:solidFill>
                </a:ln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[L4] Process 26</a:t>
            </a:r>
            <a:r>
              <a:rPr lang="ko-KR" altLang="en-US" sz="1000">
                <a:ln>
                  <a:solidFill>
                    <a:schemeClr val="tx1">
                      <a:alpha val="0"/>
                    </a:schemeClr>
                  </a:solidFill>
                </a:ln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개 정의</a:t>
            </a:r>
            <a:endParaRPr lang="en-US" altLang="ko-KR" sz="1000">
              <a:ln>
                <a:solidFill>
                  <a:schemeClr val="tx1">
                    <a:alpha val="0"/>
                  </a:schemeClr>
                </a:solidFill>
              </a:ln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US" altLang="ko-KR" sz="1000">
                <a:ln>
                  <a:solidFill>
                    <a:schemeClr val="tx1">
                      <a:alpha val="0"/>
                    </a:schemeClr>
                  </a:solidFill>
                </a:ln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[L4] Process 26</a:t>
            </a:r>
            <a:r>
              <a:rPr lang="ko-KR" altLang="en-US" sz="1000">
                <a:ln>
                  <a:solidFill>
                    <a:schemeClr val="tx1">
                      <a:alpha val="0"/>
                    </a:schemeClr>
                  </a:solidFill>
                </a:ln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개 대상 </a:t>
            </a:r>
            <a:r>
              <a:rPr lang="en-US" altLang="ko-KR" sz="1000">
                <a:ln>
                  <a:solidFill>
                    <a:schemeClr val="tx1">
                      <a:alpha val="0"/>
                    </a:schemeClr>
                  </a:solidFill>
                </a:ln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[L5] Activity 81</a:t>
            </a:r>
            <a:r>
              <a:rPr lang="ko-KR" altLang="en-US" sz="1000">
                <a:ln>
                  <a:solidFill>
                    <a:schemeClr val="tx1">
                      <a:alpha val="0"/>
                    </a:schemeClr>
                  </a:solidFill>
                </a:ln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개 정의</a:t>
            </a:r>
            <a:r>
              <a:rPr lang="en-US" altLang="ko-KR" sz="1000" baseline="30000">
                <a:ln>
                  <a:solidFill>
                    <a:schemeClr val="tx1">
                      <a:alpha val="0"/>
                    </a:schemeClr>
                  </a:solidFill>
                </a:ln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</a:t>
            </a:r>
          </a:p>
          <a:p>
            <a:pPr marL="355600" indent="-171450">
              <a:spcAft>
                <a:spcPts val="300"/>
              </a:spcAft>
              <a:buFont typeface="나눔스퀘어" panose="020B0600000101010101" pitchFamily="50" charset="-127"/>
              <a:buChar char="-"/>
            </a:pPr>
            <a:r>
              <a:rPr lang="ko-KR" altLang="en-US" sz="1000">
                <a:ln>
                  <a:solidFill>
                    <a:schemeClr val="tx1">
                      <a:alpha val="0"/>
                    </a:schemeClr>
                  </a:solidFill>
                </a:ln>
                <a:latin typeface="나눔스퀘어" panose="020B0600000101010101" pitchFamily="50" charset="-127"/>
                <a:ea typeface="나눔스퀘어" panose="020B0600000101010101" pitchFamily="50" charset="-127"/>
              </a:rPr>
              <a:t>참조 문서 </a:t>
            </a:r>
            <a:r>
              <a:rPr lang="en-US" altLang="ko-KR" sz="1000">
                <a:ln>
                  <a:solidFill>
                    <a:schemeClr val="tx1">
                      <a:alpha val="0"/>
                    </a:schemeClr>
                  </a:solidFill>
                </a:ln>
                <a:latin typeface="나눔스퀘어" panose="020B0600000101010101" pitchFamily="50" charset="-127"/>
                <a:ea typeface="나눔스퀘어" panose="020B0600000101010101" pitchFamily="50" charset="-127"/>
              </a:rPr>
              <a:t>: </a:t>
            </a:r>
            <a:r>
              <a:rPr lang="ko-KR" altLang="en-US" sz="1000">
                <a:ln>
                  <a:solidFill>
                    <a:schemeClr val="tx1">
                      <a:alpha val="0"/>
                    </a:schemeClr>
                  </a:solidFill>
                </a:ln>
                <a:latin typeface="나눔스퀘어" panose="020B0600000101010101" pitchFamily="50" charset="-127"/>
                <a:ea typeface="나눔스퀘어" panose="020B0600000101010101" pitchFamily="50" charset="-127"/>
              </a:rPr>
              <a:t>업무절차</a:t>
            </a:r>
            <a:r>
              <a:rPr lang="en-US" altLang="ko-KR" sz="1000">
                <a:ln>
                  <a:solidFill>
                    <a:schemeClr val="tx1">
                      <a:alpha val="0"/>
                    </a:schemeClr>
                  </a:solidFill>
                </a:ln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000">
                <a:ln>
                  <a:solidFill>
                    <a:schemeClr val="tx1">
                      <a:alpha val="0"/>
                    </a:schemeClr>
                  </a:solidFill>
                </a:ln>
                <a:latin typeface="나눔스퀘어" panose="020B0600000101010101" pitchFamily="50" charset="-127"/>
                <a:ea typeface="나눔스퀘어" panose="020B0600000101010101" pitchFamily="50" charset="-127"/>
              </a:rPr>
              <a:t>관리규정 등 </a:t>
            </a:r>
            <a:r>
              <a:rPr lang="en-US" altLang="ko-KR" sz="1000">
                <a:ln>
                  <a:solidFill>
                    <a:schemeClr val="tx1">
                      <a:alpha val="0"/>
                    </a:schemeClr>
                  </a:solidFill>
                </a:ln>
                <a:latin typeface="나눔스퀘어" panose="020B0600000101010101" pitchFamily="50" charset="-127"/>
                <a:ea typeface="나눔스퀘어" panose="020B0600000101010101" pitchFamily="50" charset="-127"/>
              </a:rPr>
              <a:t>11</a:t>
            </a:r>
            <a:r>
              <a:rPr lang="ko-KR" altLang="en-US" sz="1000">
                <a:ln>
                  <a:solidFill>
                    <a:schemeClr val="tx1">
                      <a:alpha val="0"/>
                    </a:schemeClr>
                  </a:solidFill>
                </a:ln>
                <a:latin typeface="나눔스퀘어" panose="020B0600000101010101" pitchFamily="50" charset="-127"/>
                <a:ea typeface="나눔스퀘어" panose="020B0600000101010101" pitchFamily="50" charset="-127"/>
              </a:rPr>
              <a:t>건</a:t>
            </a:r>
            <a:endParaRPr lang="en-US" altLang="ko-KR" sz="1000">
              <a:ln>
                <a:solidFill>
                  <a:schemeClr val="tx1">
                    <a:alpha val="0"/>
                  </a:schemeClr>
                </a:solidFill>
              </a:ln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D8A9FC7-59C7-2B6D-673D-FFA9BE505C4C}"/>
              </a:ext>
            </a:extLst>
          </p:cNvPr>
          <p:cNvSpPr txBox="1"/>
          <p:nvPr/>
        </p:nvSpPr>
        <p:spPr>
          <a:xfrm>
            <a:off x="1117600" y="6514884"/>
            <a:ext cx="8443913" cy="138499"/>
          </a:xfrm>
          <a:prstGeom prst="rect">
            <a:avLst/>
          </a:prstGeom>
          <a:noFill/>
        </p:spPr>
        <p:txBody>
          <a:bodyPr wrap="square" lIns="36000" tIns="0" rIns="0" bIns="0" rtlCol="0" anchor="ctr">
            <a:spAutoFit/>
          </a:bodyPr>
          <a:lstStyle/>
          <a:p>
            <a:r>
              <a:rPr lang="en-US" altLang="ko-KR" sz="900">
                <a:latin typeface="나눔스퀘어" panose="020B0600000101010101" pitchFamily="50" charset="-127"/>
                <a:ea typeface="나눔스퀘어" panose="020B0600000101010101" pitchFamily="50" charset="-127"/>
              </a:rPr>
              <a:t>1)</a:t>
            </a:r>
            <a:r>
              <a:rPr lang="ko-KR" altLang="en-US" sz="900">
                <a:latin typeface="나눔스퀘어" panose="020B0600000101010101" pitchFamily="50" charset="-127"/>
                <a:ea typeface="나눔스퀘어" panose="020B0600000101010101" pitchFamily="50" charset="-127"/>
              </a:rPr>
              <a:t> 전체 </a:t>
            </a:r>
            <a:r>
              <a:rPr lang="en-US" altLang="ko-KR" sz="900">
                <a:latin typeface="나눔스퀘어" panose="020B0600000101010101" pitchFamily="50" charset="-127"/>
                <a:ea typeface="나눔스퀘어" panose="020B0600000101010101" pitchFamily="50" charset="-127"/>
              </a:rPr>
              <a:t>Process </a:t>
            </a:r>
            <a:r>
              <a:rPr lang="ko-KR" altLang="en-US" sz="900">
                <a:latin typeface="나눔스퀘어" panose="020B0600000101010101" pitchFamily="50" charset="-127"/>
                <a:ea typeface="나눔스퀘어" panose="020B0600000101010101" pitchFamily="50" charset="-127"/>
              </a:rPr>
              <a:t>中 업무 분석 대상 </a:t>
            </a:r>
            <a:r>
              <a:rPr lang="en-US" altLang="ko-KR" sz="900">
                <a:latin typeface="나눔스퀘어" panose="020B0600000101010101" pitchFamily="50" charset="-127"/>
                <a:ea typeface="나눔스퀘어" panose="020B0600000101010101" pitchFamily="50" charset="-127"/>
              </a:rPr>
              <a:t>Activity</a:t>
            </a:r>
            <a:r>
              <a:rPr lang="ko-KR" altLang="en-US" sz="900">
                <a:latin typeface="나눔스퀘어" panose="020B0600000101010101" pitchFamily="50" charset="-127"/>
                <a:ea typeface="나눔스퀘어" panose="020B0600000101010101" pitchFamily="50" charset="-127"/>
              </a:rPr>
              <a:t>에 한해 상세 정의 진행</a:t>
            </a: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1B771EB5-DDA8-E2B0-00AC-98EEF48B3559}"/>
              </a:ext>
            </a:extLst>
          </p:cNvPr>
          <p:cNvSpPr/>
          <p:nvPr/>
        </p:nvSpPr>
        <p:spPr>
          <a:xfrm>
            <a:off x="343523" y="6514884"/>
            <a:ext cx="722398" cy="138499"/>
          </a:xfrm>
          <a:prstGeom prst="roundRect">
            <a:avLst>
              <a:gd name="adj" fmla="val 0"/>
            </a:avLst>
          </a:prstGeom>
          <a:pattFill prst="ltDnDiag">
            <a:fgClr>
              <a:srgbClr val="B4D2EE"/>
            </a:fgClr>
            <a:bgClr>
              <a:schemeClr val="bg1"/>
            </a:bgClr>
          </a:pattFill>
          <a:ln w="3175">
            <a:solidFill>
              <a:srgbClr val="B4D2EE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spc="-5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업무 분석 범위</a:t>
            </a:r>
            <a:endParaRPr kumimoji="1" lang="ko-KR" altLang="en-US" sz="900" i="0" u="none" strike="noStrike" kern="1200" cap="none" spc="-50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D0EA9363-A348-BAF0-1FF6-541AEEA6D2D5}"/>
              </a:ext>
            </a:extLst>
          </p:cNvPr>
          <p:cNvCxnSpPr>
            <a:cxnSpLocks/>
          </p:cNvCxnSpPr>
          <p:nvPr/>
        </p:nvCxnSpPr>
        <p:spPr>
          <a:xfrm>
            <a:off x="4029250" y="5560329"/>
            <a:ext cx="5533227" cy="0"/>
          </a:xfrm>
          <a:prstGeom prst="line">
            <a:avLst/>
          </a:prstGeom>
          <a:ln w="6350" cap="sq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</p:cxnSp>
      <p:sp>
        <p:nvSpPr>
          <p:cNvPr id="975" name="TextBox 974">
            <a:extLst>
              <a:ext uri="{FF2B5EF4-FFF2-40B4-BE49-F238E27FC236}">
                <a16:creationId xmlns:a16="http://schemas.microsoft.com/office/drawing/2014/main" id="{275E8C75-E44A-4975-3992-95D5E6613888}"/>
              </a:ext>
            </a:extLst>
          </p:cNvPr>
          <p:cNvSpPr txBox="1"/>
          <p:nvPr/>
        </p:nvSpPr>
        <p:spPr>
          <a:xfrm>
            <a:off x="5930015" y="5774267"/>
            <a:ext cx="1736550" cy="670323"/>
          </a:xfrm>
          <a:prstGeom prst="rect">
            <a:avLst/>
          </a:prstGeom>
          <a:solidFill>
            <a:srgbClr val="EFF5FB"/>
          </a:solidFill>
          <a:ln>
            <a:solidFill>
              <a:schemeClr val="bg1"/>
            </a:solidFill>
          </a:ln>
        </p:spPr>
        <p:txBody>
          <a:bodyPr wrap="square" lIns="36000" rIns="36000" bIns="36000" anchor="ctr" anchorCtr="0">
            <a:noAutofit/>
          </a:bodyPr>
          <a:lstStyle>
            <a:defPPr>
              <a:defRPr lang="en-US"/>
            </a:defPPr>
            <a:lvl1pPr algn="ctr">
              <a:spcAft>
                <a:spcPts val="300"/>
              </a:spcAft>
              <a:defRPr sz="1200" b="1" spc="-50">
                <a:ln>
                  <a:solidFill>
                    <a:schemeClr val="tx1">
                      <a:alpha val="0"/>
                    </a:schemeClr>
                  </a:solidFill>
                </a:ln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>
              <a:spcAft>
                <a:spcPts val="0"/>
              </a:spcAft>
            </a:pPr>
            <a:r>
              <a:rPr lang="ko-KR" altLang="en-US" b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유관 부서 제공 요청 </a:t>
            </a:r>
            <a:r>
              <a:rPr lang="en-US" altLang="ko-KR" b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Data </a:t>
            </a:r>
            <a:r>
              <a:rPr lang="ko-KR" altLang="en-US" b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검색 및 문서 작성 </a:t>
            </a:r>
            <a:r>
              <a:rPr lang="en-US" altLang="ko-KR" b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Load </a:t>
            </a:r>
            <a:r>
              <a:rPr lang="ko-KR" altLang="en-US" b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多</a:t>
            </a:r>
            <a:br>
              <a:rPr lang="en-US" altLang="ko-KR" b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en-US" altLang="ko-KR" sz="1100" b="0"/>
              <a:t>(</a:t>
            </a:r>
            <a:r>
              <a:rPr lang="ko-KR" altLang="en-US" sz="1100" b="0"/>
              <a:t>공정 현황</a:t>
            </a:r>
            <a:r>
              <a:rPr lang="en-US" altLang="ko-KR" sz="1100" b="0"/>
              <a:t>, SHE</a:t>
            </a:r>
            <a:r>
              <a:rPr lang="ko-KR" altLang="en-US" sz="1100" b="0"/>
              <a:t> 운영 정보 등</a:t>
            </a:r>
            <a:r>
              <a:rPr lang="en-US" altLang="ko-KR" sz="1100" b="0"/>
              <a:t>)</a:t>
            </a:r>
            <a:endParaRPr lang="en-US" altLang="ko-KR" b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977" name="TextBox 976">
            <a:extLst>
              <a:ext uri="{FF2B5EF4-FFF2-40B4-BE49-F238E27FC236}">
                <a16:creationId xmlns:a16="http://schemas.microsoft.com/office/drawing/2014/main" id="{8872BC37-2684-BBD5-1E57-907DDF169A59}"/>
              </a:ext>
            </a:extLst>
          </p:cNvPr>
          <p:cNvSpPr txBox="1"/>
          <p:nvPr/>
        </p:nvSpPr>
        <p:spPr>
          <a:xfrm>
            <a:off x="7812022" y="5774267"/>
            <a:ext cx="1736550" cy="670323"/>
          </a:xfrm>
          <a:prstGeom prst="rect">
            <a:avLst/>
          </a:prstGeom>
          <a:solidFill>
            <a:srgbClr val="EFF5FB"/>
          </a:solidFill>
          <a:ln>
            <a:solidFill>
              <a:schemeClr val="bg1"/>
            </a:solidFill>
          </a:ln>
        </p:spPr>
        <p:txBody>
          <a:bodyPr wrap="square" lIns="36000" rIns="36000" bIns="36000" anchor="ctr" anchorCtr="0">
            <a:noAutofit/>
          </a:bodyPr>
          <a:lstStyle>
            <a:defPPr>
              <a:defRPr lang="en-US"/>
            </a:defPPr>
            <a:lvl1pPr algn="ctr">
              <a:spcAft>
                <a:spcPts val="300"/>
              </a:spcAft>
              <a:defRPr sz="1200" b="1" spc="-50">
                <a:ln>
                  <a:solidFill>
                    <a:schemeClr val="tx1">
                      <a:alpha val="0"/>
                    </a:schemeClr>
                  </a:solidFill>
                </a:ln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>
              <a:spcAft>
                <a:spcPts val="0"/>
              </a:spcAft>
            </a:pPr>
            <a:r>
              <a:rPr lang="ko-KR" altLang="en-US" b="0" spc="-6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개인별 상이한 정보 저장으로 지식자산 재활용 難</a:t>
            </a:r>
            <a:br>
              <a:rPr lang="en-US" altLang="ko-KR" b="0" spc="-60"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en-US" altLang="ko-KR" sz="1100" b="0"/>
              <a:t>(</a:t>
            </a:r>
            <a:r>
              <a:rPr lang="ko-KR" altLang="en-US" sz="1100" b="0"/>
              <a:t>개인 폴더</a:t>
            </a:r>
            <a:r>
              <a:rPr lang="en-US" altLang="ko-KR" sz="1100" b="0"/>
              <a:t>, Mail</a:t>
            </a:r>
            <a:r>
              <a:rPr lang="ko-KR" altLang="en-US" sz="1100" b="0"/>
              <a:t>함 등</a:t>
            </a:r>
            <a:r>
              <a:rPr lang="en-US" altLang="ko-KR" sz="1100" b="0"/>
              <a:t>)</a:t>
            </a:r>
            <a:endParaRPr lang="en-US" altLang="ko-KR" b="0" spc="-6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982" name="직사각형 981">
            <a:extLst>
              <a:ext uri="{FF2B5EF4-FFF2-40B4-BE49-F238E27FC236}">
                <a16:creationId xmlns:a16="http://schemas.microsoft.com/office/drawing/2014/main" id="{F292B419-8DFE-37A9-F5B6-315DD1CCA866}"/>
              </a:ext>
            </a:extLst>
          </p:cNvPr>
          <p:cNvSpPr/>
          <p:nvPr/>
        </p:nvSpPr>
        <p:spPr>
          <a:xfrm>
            <a:off x="4080051" y="5452529"/>
            <a:ext cx="1148116" cy="216000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20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업무 </a:t>
            </a:r>
            <a:r>
              <a:rPr kumimoji="1" lang="en-US" altLang="ko-KR" sz="120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Pain</a:t>
            </a:r>
            <a:r>
              <a:rPr kumimoji="1" lang="ko-KR" altLang="en-US" sz="120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kumimoji="1" lang="en-US" altLang="ko-KR" sz="120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Point</a:t>
            </a:r>
            <a:endParaRPr kumimoji="1" lang="ko-KR" altLang="en-US" sz="120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637" name="직사각형 636">
            <a:extLst>
              <a:ext uri="{FF2B5EF4-FFF2-40B4-BE49-F238E27FC236}">
                <a16:creationId xmlns:a16="http://schemas.microsoft.com/office/drawing/2014/main" id="{25732742-EBFC-FB1C-67EA-3CB96E2BC85A}"/>
              </a:ext>
            </a:extLst>
          </p:cNvPr>
          <p:cNvSpPr/>
          <p:nvPr/>
        </p:nvSpPr>
        <p:spPr>
          <a:xfrm>
            <a:off x="4029250" y="1998205"/>
            <a:ext cx="2740827" cy="2307600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5" name="사각형: 둥근 모서리 634">
            <a:extLst>
              <a:ext uri="{FF2B5EF4-FFF2-40B4-BE49-F238E27FC236}">
                <a16:creationId xmlns:a16="http://schemas.microsoft.com/office/drawing/2014/main" id="{D9CB9360-BD31-D179-3CF1-EC0E286683AD}"/>
              </a:ext>
            </a:extLst>
          </p:cNvPr>
          <p:cNvSpPr/>
          <p:nvPr/>
        </p:nvSpPr>
        <p:spPr>
          <a:xfrm>
            <a:off x="4475939" y="1869729"/>
            <a:ext cx="1847448" cy="255988"/>
          </a:xfrm>
          <a:prstGeom prst="roundRect">
            <a:avLst>
              <a:gd name="adj" fmla="val 50000"/>
            </a:avLst>
          </a:prstGeom>
          <a:solidFill>
            <a:srgbClr val="217CFA"/>
          </a:solidFill>
          <a:ln w="6350">
            <a:solidFill>
              <a:srgbClr val="217C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공정 기술</a:t>
            </a:r>
          </a:p>
        </p:txBody>
      </p:sp>
      <p:sp>
        <p:nvSpPr>
          <p:cNvPr id="638" name="직사각형 637">
            <a:extLst>
              <a:ext uri="{FF2B5EF4-FFF2-40B4-BE49-F238E27FC236}">
                <a16:creationId xmlns:a16="http://schemas.microsoft.com/office/drawing/2014/main" id="{BA409F6D-23B6-0D06-59C3-04D4DDEC9FD0}"/>
              </a:ext>
            </a:extLst>
          </p:cNvPr>
          <p:cNvSpPr/>
          <p:nvPr/>
        </p:nvSpPr>
        <p:spPr>
          <a:xfrm>
            <a:off x="6820686" y="1991300"/>
            <a:ext cx="2740827" cy="230746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6" name="사각형: 둥근 모서리 635">
            <a:extLst>
              <a:ext uri="{FF2B5EF4-FFF2-40B4-BE49-F238E27FC236}">
                <a16:creationId xmlns:a16="http://schemas.microsoft.com/office/drawing/2014/main" id="{2EE09706-5C81-C418-92E2-84C79CF10657}"/>
              </a:ext>
            </a:extLst>
          </p:cNvPr>
          <p:cNvSpPr/>
          <p:nvPr/>
        </p:nvSpPr>
        <p:spPr>
          <a:xfrm>
            <a:off x="7267376" y="1869729"/>
            <a:ext cx="1847448" cy="255988"/>
          </a:xfrm>
          <a:prstGeom prst="roundRect">
            <a:avLst>
              <a:gd name="adj" fmla="val 50000"/>
            </a:avLst>
          </a:prstGeom>
          <a:solidFill>
            <a:srgbClr val="217CFA"/>
          </a:solidFill>
          <a:ln w="6350">
            <a:solidFill>
              <a:srgbClr val="217C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공장 운영</a:t>
            </a:r>
          </a:p>
        </p:txBody>
      </p:sp>
      <p:grpSp>
        <p:nvGrpSpPr>
          <p:cNvPr id="1182" name="그룹 1181">
            <a:extLst>
              <a:ext uri="{FF2B5EF4-FFF2-40B4-BE49-F238E27FC236}">
                <a16:creationId xmlns:a16="http://schemas.microsoft.com/office/drawing/2014/main" id="{43972E6A-905C-E70E-5CD6-407B9227A255}"/>
              </a:ext>
            </a:extLst>
          </p:cNvPr>
          <p:cNvGrpSpPr/>
          <p:nvPr/>
        </p:nvGrpSpPr>
        <p:grpSpPr>
          <a:xfrm>
            <a:off x="4094405" y="3775667"/>
            <a:ext cx="453021" cy="464535"/>
            <a:chOff x="4094405" y="3730863"/>
            <a:chExt cx="453021" cy="464535"/>
          </a:xfrm>
        </p:grpSpPr>
        <p:pic>
          <p:nvPicPr>
            <p:cNvPr id="639" name="그래픽 638" descr="데이터베이스 단색으로 채워진">
              <a:extLst>
                <a:ext uri="{FF2B5EF4-FFF2-40B4-BE49-F238E27FC236}">
                  <a16:creationId xmlns:a16="http://schemas.microsoft.com/office/drawing/2014/main" id="{8DDAC581-173E-DF67-93B7-CE291BC9C05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159832" y="3730863"/>
              <a:ext cx="341303" cy="298875"/>
            </a:xfrm>
            <a:prstGeom prst="rect">
              <a:avLst/>
            </a:prstGeom>
          </p:spPr>
        </p:pic>
        <p:sp>
          <p:nvSpPr>
            <p:cNvPr id="1028" name="TextBox 1027">
              <a:extLst>
                <a:ext uri="{FF2B5EF4-FFF2-40B4-BE49-F238E27FC236}">
                  <a16:creationId xmlns:a16="http://schemas.microsoft.com/office/drawing/2014/main" id="{D17F880B-B52F-5F41-64DF-715BEAFC9950}"/>
                </a:ext>
              </a:extLst>
            </p:cNvPr>
            <p:cNvSpPr txBox="1"/>
            <p:nvPr/>
          </p:nvSpPr>
          <p:spPr>
            <a:xfrm>
              <a:off x="4094405" y="4051398"/>
              <a:ext cx="453021" cy="144000"/>
            </a:xfrm>
            <a:prstGeom prst="rect">
              <a:avLst/>
            </a:prstGeom>
            <a:noFill/>
          </p:spPr>
          <p:txBody>
            <a:bodyPr wrap="square" lIns="0" rIns="0" rtlCol="0" anchor="ctr">
              <a:noAutofit/>
            </a:bodyPr>
            <a:lstStyle>
              <a:defPPr>
                <a:defRPr lang="en-US"/>
              </a:defPPr>
              <a:lvl1pPr algn="ctr">
                <a:defRPr sz="900" b="1" i="1">
                  <a:latin typeface="나눔스퀘어" panose="020B0600000101010101" pitchFamily="50" charset="-127"/>
                  <a:ea typeface="나눔스퀘어" panose="020B0600000101010101" pitchFamily="50" charset="-127"/>
                </a:defRPr>
              </a:lvl1pPr>
            </a:lstStyle>
            <a:p>
              <a:pPr>
                <a:lnSpc>
                  <a:spcPts val="1000"/>
                </a:lnSpc>
              </a:pPr>
              <a:r>
                <a:rPr lang="en-US" altLang="ko-KR" b="0"/>
                <a:t>RTDB</a:t>
              </a:r>
            </a:p>
          </p:txBody>
        </p:sp>
      </p:grpSp>
      <p:grpSp>
        <p:nvGrpSpPr>
          <p:cNvPr id="1192" name="그룹 1191">
            <a:extLst>
              <a:ext uri="{FF2B5EF4-FFF2-40B4-BE49-F238E27FC236}">
                <a16:creationId xmlns:a16="http://schemas.microsoft.com/office/drawing/2014/main" id="{439E3661-E687-7561-4E03-2BEC8C49EDE7}"/>
              </a:ext>
            </a:extLst>
          </p:cNvPr>
          <p:cNvGrpSpPr/>
          <p:nvPr/>
        </p:nvGrpSpPr>
        <p:grpSpPr>
          <a:xfrm>
            <a:off x="6126668" y="4550999"/>
            <a:ext cx="837307" cy="671317"/>
            <a:chOff x="6221015" y="4550999"/>
            <a:chExt cx="837307" cy="671317"/>
          </a:xfrm>
        </p:grpSpPr>
        <p:pic>
          <p:nvPicPr>
            <p:cNvPr id="1024" name="그래픽 1023" descr="데이터베이스 단색으로 채워진">
              <a:extLst>
                <a:ext uri="{FF2B5EF4-FFF2-40B4-BE49-F238E27FC236}">
                  <a16:creationId xmlns:a16="http://schemas.microsoft.com/office/drawing/2014/main" id="{A68EF478-40E2-6680-56A8-8D0929F63F8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440254" y="4550999"/>
              <a:ext cx="402153" cy="392790"/>
            </a:xfrm>
            <a:prstGeom prst="rect">
              <a:avLst/>
            </a:prstGeom>
          </p:spPr>
        </p:pic>
        <p:sp>
          <p:nvSpPr>
            <p:cNvPr id="1029" name="TextBox 1028">
              <a:extLst>
                <a:ext uri="{FF2B5EF4-FFF2-40B4-BE49-F238E27FC236}">
                  <a16:creationId xmlns:a16="http://schemas.microsoft.com/office/drawing/2014/main" id="{44663C02-AB2B-EDD1-286E-2D1DBE56761C}"/>
                </a:ext>
              </a:extLst>
            </p:cNvPr>
            <p:cNvSpPr txBox="1"/>
            <p:nvPr/>
          </p:nvSpPr>
          <p:spPr>
            <a:xfrm>
              <a:off x="6221015" y="4950792"/>
              <a:ext cx="837307" cy="271524"/>
            </a:xfrm>
            <a:prstGeom prst="rect">
              <a:avLst/>
            </a:prstGeom>
            <a:noFill/>
          </p:spPr>
          <p:txBody>
            <a:bodyPr wrap="square" lIns="0" rIns="0" rtlCol="0" anchor="ctr">
              <a:noAutofit/>
            </a:bodyPr>
            <a:lstStyle>
              <a:defPPr>
                <a:defRPr lang="en-US"/>
              </a:defPPr>
              <a:lvl1pPr algn="ctr">
                <a:defRPr sz="900" b="1" i="1">
                  <a:latin typeface="나눔스퀘어" panose="020B0600000101010101" pitchFamily="50" charset="-127"/>
                  <a:ea typeface="나눔스퀘어" panose="020B0600000101010101" pitchFamily="50" charset="-127"/>
                </a:defRPr>
              </a:lvl1pPr>
            </a:lstStyle>
            <a:p>
              <a:pPr>
                <a:lnSpc>
                  <a:spcPts val="1000"/>
                </a:lnSpc>
              </a:pPr>
              <a:r>
                <a:rPr lang="en-US" altLang="ko-KR" b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System</a:t>
              </a:r>
              <a:br>
                <a:rPr lang="en-US" altLang="ko-KR" b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</a:br>
              <a:r>
                <a:rPr lang="en-US" altLang="ko-KR" b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(OCEAN-H etc.)</a:t>
              </a:r>
            </a:p>
          </p:txBody>
        </p:sp>
      </p:grpSp>
      <p:grpSp>
        <p:nvGrpSpPr>
          <p:cNvPr id="1191" name="그룹 1190">
            <a:extLst>
              <a:ext uri="{FF2B5EF4-FFF2-40B4-BE49-F238E27FC236}">
                <a16:creationId xmlns:a16="http://schemas.microsoft.com/office/drawing/2014/main" id="{4F7495A2-8286-026D-37F4-73AB8766E689}"/>
              </a:ext>
            </a:extLst>
          </p:cNvPr>
          <p:cNvGrpSpPr/>
          <p:nvPr/>
        </p:nvGrpSpPr>
        <p:grpSpPr>
          <a:xfrm>
            <a:off x="6998263" y="4550999"/>
            <a:ext cx="837307" cy="671317"/>
            <a:chOff x="7408942" y="4550999"/>
            <a:chExt cx="837307" cy="671317"/>
          </a:xfrm>
        </p:grpSpPr>
        <p:pic>
          <p:nvPicPr>
            <p:cNvPr id="1025" name="그래픽 1024" descr="데이터베이스 단색으로 채워진">
              <a:extLst>
                <a:ext uri="{FF2B5EF4-FFF2-40B4-BE49-F238E27FC236}">
                  <a16:creationId xmlns:a16="http://schemas.microsoft.com/office/drawing/2014/main" id="{B28156F5-C18F-7B40-DD3D-76151585164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626520" y="4550999"/>
              <a:ext cx="402153" cy="392790"/>
            </a:xfrm>
            <a:prstGeom prst="rect">
              <a:avLst/>
            </a:prstGeom>
          </p:spPr>
        </p:pic>
        <p:sp>
          <p:nvSpPr>
            <p:cNvPr id="1030" name="TextBox 1029">
              <a:extLst>
                <a:ext uri="{FF2B5EF4-FFF2-40B4-BE49-F238E27FC236}">
                  <a16:creationId xmlns:a16="http://schemas.microsoft.com/office/drawing/2014/main" id="{57FB358B-C005-EBD3-C99B-61A877E95FAD}"/>
                </a:ext>
              </a:extLst>
            </p:cNvPr>
            <p:cNvSpPr txBox="1"/>
            <p:nvPr/>
          </p:nvSpPr>
          <p:spPr>
            <a:xfrm>
              <a:off x="7408942" y="4950792"/>
              <a:ext cx="837307" cy="271524"/>
            </a:xfrm>
            <a:prstGeom prst="rect">
              <a:avLst/>
            </a:prstGeom>
            <a:noFill/>
          </p:spPr>
          <p:txBody>
            <a:bodyPr wrap="square" lIns="0" rIns="0" rtlCol="0" anchor="ctr">
              <a:noAutofit/>
            </a:bodyPr>
            <a:lstStyle>
              <a:defPPr>
                <a:defRPr lang="en-US"/>
              </a:defPPr>
              <a:lvl1pPr algn="ctr">
                <a:defRPr sz="900" b="1" i="1">
                  <a:latin typeface="나눔스퀘어" panose="020B0600000101010101" pitchFamily="50" charset="-127"/>
                  <a:ea typeface="나눔스퀘어" panose="020B0600000101010101" pitchFamily="50" charset="-127"/>
                </a:defRPr>
              </a:lvl1pPr>
            </a:lstStyle>
            <a:p>
              <a:pPr>
                <a:lnSpc>
                  <a:spcPts val="1000"/>
                </a:lnSpc>
              </a:pPr>
              <a:r>
                <a:rPr lang="en-US" altLang="ko-KR" b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Shared</a:t>
              </a:r>
              <a:r>
                <a:rPr lang="ko-KR" altLang="en-US" b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</a:t>
              </a:r>
              <a:r>
                <a:rPr lang="en-US" altLang="ko-KR" b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Drive</a:t>
              </a:r>
              <a:br>
                <a:rPr lang="en-US" altLang="ko-KR" b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</a:br>
              <a:r>
                <a:rPr lang="en-US" altLang="ko-KR" b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(Teams)</a:t>
              </a:r>
            </a:p>
          </p:txBody>
        </p:sp>
      </p:grpSp>
      <p:grpSp>
        <p:nvGrpSpPr>
          <p:cNvPr id="1189" name="그룹 1188">
            <a:extLst>
              <a:ext uri="{FF2B5EF4-FFF2-40B4-BE49-F238E27FC236}">
                <a16:creationId xmlns:a16="http://schemas.microsoft.com/office/drawing/2014/main" id="{AAA791DC-4399-D29D-575B-DA738706CE8B}"/>
              </a:ext>
            </a:extLst>
          </p:cNvPr>
          <p:cNvGrpSpPr/>
          <p:nvPr/>
        </p:nvGrpSpPr>
        <p:grpSpPr>
          <a:xfrm>
            <a:off x="7869858" y="4550999"/>
            <a:ext cx="837307" cy="671317"/>
            <a:chOff x="8463827" y="4550999"/>
            <a:chExt cx="837307" cy="671317"/>
          </a:xfrm>
        </p:grpSpPr>
        <p:pic>
          <p:nvPicPr>
            <p:cNvPr id="1026" name="그래픽 1025" descr="데이터베이스 단색으로 채워진">
              <a:extLst>
                <a:ext uri="{FF2B5EF4-FFF2-40B4-BE49-F238E27FC236}">
                  <a16:creationId xmlns:a16="http://schemas.microsoft.com/office/drawing/2014/main" id="{8F3E1030-85CB-539C-0FAA-5DA396B1477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685703" y="4550999"/>
              <a:ext cx="402153" cy="392790"/>
            </a:xfrm>
            <a:prstGeom prst="rect">
              <a:avLst/>
            </a:prstGeom>
          </p:spPr>
        </p:pic>
        <p:sp>
          <p:nvSpPr>
            <p:cNvPr id="1031" name="TextBox 1030">
              <a:extLst>
                <a:ext uri="{FF2B5EF4-FFF2-40B4-BE49-F238E27FC236}">
                  <a16:creationId xmlns:a16="http://schemas.microsoft.com/office/drawing/2014/main" id="{5B86FB90-CCD3-D4B7-B2C7-09F531660C14}"/>
                </a:ext>
              </a:extLst>
            </p:cNvPr>
            <p:cNvSpPr txBox="1"/>
            <p:nvPr/>
          </p:nvSpPr>
          <p:spPr>
            <a:xfrm>
              <a:off x="8463827" y="4950792"/>
              <a:ext cx="837307" cy="271524"/>
            </a:xfrm>
            <a:prstGeom prst="rect">
              <a:avLst/>
            </a:prstGeom>
            <a:noFill/>
          </p:spPr>
          <p:txBody>
            <a:bodyPr wrap="square" lIns="0" rIns="0" rtlCol="0" anchor="ctr">
              <a:noAutofit/>
            </a:bodyPr>
            <a:lstStyle>
              <a:defPPr>
                <a:defRPr lang="en-US"/>
              </a:defPPr>
              <a:lvl1pPr algn="ctr">
                <a:defRPr sz="900" b="1" i="1">
                  <a:latin typeface="나눔스퀘어" panose="020B0600000101010101" pitchFamily="50" charset="-127"/>
                  <a:ea typeface="나눔스퀘어" panose="020B0600000101010101" pitchFamily="50" charset="-127"/>
                </a:defRPr>
              </a:lvl1pPr>
            </a:lstStyle>
            <a:p>
              <a:pPr>
                <a:lnSpc>
                  <a:spcPts val="1000"/>
                </a:lnSpc>
              </a:pPr>
              <a:r>
                <a:rPr lang="en-US" altLang="ko-KR" b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Local PC</a:t>
              </a:r>
            </a:p>
          </p:txBody>
        </p:sp>
      </p:grpSp>
      <p:grpSp>
        <p:nvGrpSpPr>
          <p:cNvPr id="1190" name="그룹 1189">
            <a:extLst>
              <a:ext uri="{FF2B5EF4-FFF2-40B4-BE49-F238E27FC236}">
                <a16:creationId xmlns:a16="http://schemas.microsoft.com/office/drawing/2014/main" id="{039794C8-7C59-4FBE-B363-E782E0C569C4}"/>
              </a:ext>
            </a:extLst>
          </p:cNvPr>
          <p:cNvGrpSpPr/>
          <p:nvPr/>
        </p:nvGrpSpPr>
        <p:grpSpPr>
          <a:xfrm>
            <a:off x="8741452" y="4550999"/>
            <a:ext cx="837307" cy="671317"/>
            <a:chOff x="8835799" y="4550999"/>
            <a:chExt cx="837307" cy="671317"/>
          </a:xfrm>
        </p:grpSpPr>
        <p:pic>
          <p:nvPicPr>
            <p:cNvPr id="1027" name="그래픽 1026" descr="데이터베이스 단색으로 채워진">
              <a:extLst>
                <a:ext uri="{FF2B5EF4-FFF2-40B4-BE49-F238E27FC236}">
                  <a16:creationId xmlns:a16="http://schemas.microsoft.com/office/drawing/2014/main" id="{7876084B-5A97-6538-5D67-96CDF8EC801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053375" y="4550999"/>
              <a:ext cx="402153" cy="392790"/>
            </a:xfrm>
            <a:prstGeom prst="rect">
              <a:avLst/>
            </a:prstGeom>
          </p:spPr>
        </p:pic>
        <p:sp>
          <p:nvSpPr>
            <p:cNvPr id="1032" name="TextBox 1031">
              <a:extLst>
                <a:ext uri="{FF2B5EF4-FFF2-40B4-BE49-F238E27FC236}">
                  <a16:creationId xmlns:a16="http://schemas.microsoft.com/office/drawing/2014/main" id="{3901A6D9-159C-2A74-97C1-C09D9FC4BBB9}"/>
                </a:ext>
              </a:extLst>
            </p:cNvPr>
            <p:cNvSpPr txBox="1"/>
            <p:nvPr/>
          </p:nvSpPr>
          <p:spPr>
            <a:xfrm>
              <a:off x="8835799" y="4950792"/>
              <a:ext cx="837307" cy="271524"/>
            </a:xfrm>
            <a:prstGeom prst="rect">
              <a:avLst/>
            </a:prstGeom>
            <a:noFill/>
          </p:spPr>
          <p:txBody>
            <a:bodyPr wrap="square" lIns="0" rIns="0" rtlCol="0" anchor="ctr">
              <a:noAutofit/>
            </a:bodyPr>
            <a:lstStyle>
              <a:defPPr>
                <a:defRPr lang="en-US"/>
              </a:defPPr>
              <a:lvl1pPr algn="ctr">
                <a:defRPr sz="900" b="1" i="1">
                  <a:latin typeface="나눔스퀘어" panose="020B0600000101010101" pitchFamily="50" charset="-127"/>
                  <a:ea typeface="나눔스퀘어" panose="020B0600000101010101" pitchFamily="50" charset="-127"/>
                </a:defRPr>
              </a:lvl1pPr>
            </a:lstStyle>
            <a:p>
              <a:pPr>
                <a:lnSpc>
                  <a:spcPts val="1000"/>
                </a:lnSpc>
              </a:pPr>
              <a:r>
                <a:rPr lang="en-US" altLang="ko-KR" b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Paper Document</a:t>
              </a:r>
            </a:p>
          </p:txBody>
        </p:sp>
      </p:grpSp>
      <p:grpSp>
        <p:nvGrpSpPr>
          <p:cNvPr id="1049" name="그룹 1048">
            <a:extLst>
              <a:ext uri="{FF2B5EF4-FFF2-40B4-BE49-F238E27FC236}">
                <a16:creationId xmlns:a16="http://schemas.microsoft.com/office/drawing/2014/main" id="{8F793019-A656-1E38-F341-699242F7DB43}"/>
              </a:ext>
            </a:extLst>
          </p:cNvPr>
          <p:cNvGrpSpPr/>
          <p:nvPr/>
        </p:nvGrpSpPr>
        <p:grpSpPr>
          <a:xfrm>
            <a:off x="8264657" y="3709514"/>
            <a:ext cx="551192" cy="522655"/>
            <a:chOff x="7915503" y="3561319"/>
            <a:chExt cx="551192" cy="522655"/>
          </a:xfrm>
        </p:grpSpPr>
        <p:pic>
          <p:nvPicPr>
            <p:cNvPr id="1034" name="그림 1033" descr="블랙, 어둠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0ED80AA7-01BD-F7EE-6008-577839514B8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87885" y="3561319"/>
              <a:ext cx="406428" cy="406429"/>
            </a:xfrm>
            <a:prstGeom prst="rect">
              <a:avLst/>
            </a:prstGeom>
          </p:spPr>
        </p:pic>
        <p:sp>
          <p:nvSpPr>
            <p:cNvPr id="1047" name="TextBox 1046">
              <a:extLst>
                <a:ext uri="{FF2B5EF4-FFF2-40B4-BE49-F238E27FC236}">
                  <a16:creationId xmlns:a16="http://schemas.microsoft.com/office/drawing/2014/main" id="{1A57185B-F4FD-8F39-FF92-92F9D6D7CA9E}"/>
                </a:ext>
              </a:extLst>
            </p:cNvPr>
            <p:cNvSpPr txBox="1"/>
            <p:nvPr/>
          </p:nvSpPr>
          <p:spPr>
            <a:xfrm>
              <a:off x="7915503" y="3939886"/>
              <a:ext cx="551192" cy="144088"/>
            </a:xfrm>
            <a:prstGeom prst="rect">
              <a:avLst/>
            </a:prstGeom>
            <a:noFill/>
          </p:spPr>
          <p:txBody>
            <a:bodyPr wrap="square" lIns="0" rIns="0" rtlCol="0" anchor="ctr">
              <a:noAutofit/>
            </a:bodyPr>
            <a:lstStyle>
              <a:defPPr>
                <a:defRPr lang="en-US"/>
              </a:defPPr>
              <a:lvl1pPr algn="ctr">
                <a:defRPr sz="900" b="1" i="1">
                  <a:latin typeface="나눔스퀘어" panose="020B0600000101010101" pitchFamily="50" charset="-127"/>
                  <a:ea typeface="나눔스퀘어" panose="020B0600000101010101" pitchFamily="50" charset="-127"/>
                </a:defRPr>
              </a:lvl1pPr>
            </a:lstStyle>
            <a:p>
              <a:r>
                <a:rPr lang="en-US" altLang="ko-KR" b="0" i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Engineer</a:t>
              </a:r>
            </a:p>
          </p:txBody>
        </p:sp>
      </p:grpSp>
      <p:grpSp>
        <p:nvGrpSpPr>
          <p:cNvPr id="1050" name="그룹 1049">
            <a:extLst>
              <a:ext uri="{FF2B5EF4-FFF2-40B4-BE49-F238E27FC236}">
                <a16:creationId xmlns:a16="http://schemas.microsoft.com/office/drawing/2014/main" id="{2BC0F316-F57D-0E1D-8253-FCA0BA1D1A98}"/>
              </a:ext>
            </a:extLst>
          </p:cNvPr>
          <p:cNvGrpSpPr/>
          <p:nvPr/>
        </p:nvGrpSpPr>
        <p:grpSpPr>
          <a:xfrm>
            <a:off x="4821971" y="3709514"/>
            <a:ext cx="551192" cy="522655"/>
            <a:chOff x="7915503" y="3561319"/>
            <a:chExt cx="551192" cy="522655"/>
          </a:xfrm>
        </p:grpSpPr>
        <p:pic>
          <p:nvPicPr>
            <p:cNvPr id="1051" name="그림 1050" descr="블랙, 어둠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3458056B-BBDE-A7DB-4A29-A18CFB54C47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87885" y="3561319"/>
              <a:ext cx="406428" cy="406429"/>
            </a:xfrm>
            <a:prstGeom prst="rect">
              <a:avLst/>
            </a:prstGeom>
          </p:spPr>
        </p:pic>
        <p:sp>
          <p:nvSpPr>
            <p:cNvPr id="1052" name="TextBox 1051">
              <a:extLst>
                <a:ext uri="{FF2B5EF4-FFF2-40B4-BE49-F238E27FC236}">
                  <a16:creationId xmlns:a16="http://schemas.microsoft.com/office/drawing/2014/main" id="{C23687F5-8269-C127-1CC7-AD97AEF3651B}"/>
                </a:ext>
              </a:extLst>
            </p:cNvPr>
            <p:cNvSpPr txBox="1"/>
            <p:nvPr/>
          </p:nvSpPr>
          <p:spPr>
            <a:xfrm>
              <a:off x="7915503" y="3939886"/>
              <a:ext cx="551192" cy="144088"/>
            </a:xfrm>
            <a:prstGeom prst="rect">
              <a:avLst/>
            </a:prstGeom>
            <a:noFill/>
          </p:spPr>
          <p:txBody>
            <a:bodyPr wrap="square" lIns="0" rIns="0" rtlCol="0" anchor="ctr">
              <a:noAutofit/>
            </a:bodyPr>
            <a:lstStyle>
              <a:defPPr>
                <a:defRPr lang="en-US"/>
              </a:defPPr>
              <a:lvl1pPr algn="ctr">
                <a:defRPr sz="900" b="1" i="1">
                  <a:latin typeface="나눔스퀘어" panose="020B0600000101010101" pitchFamily="50" charset="-127"/>
                  <a:ea typeface="나눔스퀘어" panose="020B0600000101010101" pitchFamily="50" charset="-127"/>
                </a:defRPr>
              </a:lvl1pPr>
            </a:lstStyle>
            <a:p>
              <a:r>
                <a:rPr lang="en-US" altLang="ko-KR" b="0" i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Engineer</a:t>
              </a:r>
            </a:p>
          </p:txBody>
        </p:sp>
      </p:grpSp>
      <p:sp>
        <p:nvSpPr>
          <p:cNvPr id="1067" name="TextBox 1066">
            <a:extLst>
              <a:ext uri="{FF2B5EF4-FFF2-40B4-BE49-F238E27FC236}">
                <a16:creationId xmlns:a16="http://schemas.microsoft.com/office/drawing/2014/main" id="{3114F4E8-E0E0-ADC2-53DB-240767C6B721}"/>
              </a:ext>
            </a:extLst>
          </p:cNvPr>
          <p:cNvSpPr txBox="1"/>
          <p:nvPr/>
        </p:nvSpPr>
        <p:spPr>
          <a:xfrm>
            <a:off x="7058923" y="2220997"/>
            <a:ext cx="2268940" cy="572147"/>
          </a:xfrm>
          <a:prstGeom prst="rect">
            <a:avLst/>
          </a:prstGeom>
          <a:noFill/>
        </p:spPr>
        <p:txBody>
          <a:bodyPr wrap="square" lIns="0" rIns="0" anchor="ctr">
            <a:noAutofit/>
          </a:bodyPr>
          <a:lstStyle>
            <a:defPPr>
              <a:defRPr lang="en-US"/>
            </a:defPPr>
            <a:lvl1pPr algn="ctr">
              <a:spcAft>
                <a:spcPts val="300"/>
              </a:spcAft>
              <a:defRPr sz="1200" spc="-50">
                <a:ln>
                  <a:solidFill>
                    <a:schemeClr val="tx1">
                      <a:alpha val="0"/>
                    </a:schemeClr>
                  </a:solidFill>
                </a:ln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r>
              <a:rPr lang="ko-KR" altLang="en-US" spc="0"/>
              <a:t>공장 운영에 필요한 </a:t>
            </a:r>
            <a:r>
              <a:rPr lang="ko-KR" altLang="en-US" spc="0">
                <a:solidFill>
                  <a:srgbClr val="217CF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여러 정보를 직접 </a:t>
            </a:r>
            <a:r>
              <a:rPr lang="ko-KR" altLang="en-US" spc="0" err="1">
                <a:solidFill>
                  <a:srgbClr val="217CF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탐색ㆍ수집</a:t>
            </a:r>
            <a:r>
              <a:rPr lang="ko-KR" altLang="en-US" spc="0" err="1"/>
              <a:t>하고</a:t>
            </a:r>
            <a:r>
              <a:rPr lang="en-US" altLang="ko-KR" spc="0"/>
              <a:t>, </a:t>
            </a:r>
            <a:r>
              <a:rPr lang="ko-KR" altLang="en-US" spc="0"/>
              <a:t>각 업무 목적에 부합하는 </a:t>
            </a:r>
            <a:r>
              <a:rPr lang="ko-KR" altLang="en-US" spc="0">
                <a:solidFill>
                  <a:srgbClr val="217CF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정보로 수기 가공</a:t>
            </a:r>
            <a:endParaRPr lang="en-US" altLang="ko-KR" spc="0">
              <a:solidFill>
                <a:srgbClr val="217CFA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grpSp>
        <p:nvGrpSpPr>
          <p:cNvPr id="1095" name="그룹 1094">
            <a:extLst>
              <a:ext uri="{FF2B5EF4-FFF2-40B4-BE49-F238E27FC236}">
                <a16:creationId xmlns:a16="http://schemas.microsoft.com/office/drawing/2014/main" id="{5CBC4716-EBBE-D4BE-7962-0480B7D567E5}"/>
              </a:ext>
            </a:extLst>
          </p:cNvPr>
          <p:cNvGrpSpPr/>
          <p:nvPr/>
        </p:nvGrpSpPr>
        <p:grpSpPr>
          <a:xfrm>
            <a:off x="7136606" y="2819724"/>
            <a:ext cx="492049" cy="546847"/>
            <a:chOff x="7136606" y="2284410"/>
            <a:chExt cx="492049" cy="546847"/>
          </a:xfrm>
        </p:grpSpPr>
        <p:pic>
          <p:nvPicPr>
            <p:cNvPr id="1035" name="그래픽 1034" descr="남성 건설 노동자 윤곽선">
              <a:extLst>
                <a:ext uri="{FF2B5EF4-FFF2-40B4-BE49-F238E27FC236}">
                  <a16:creationId xmlns:a16="http://schemas.microsoft.com/office/drawing/2014/main" id="{A77C81A3-F506-65FF-62AA-FE7A84C34BB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flipH="1">
              <a:off x="7179231" y="2284410"/>
              <a:ext cx="406800" cy="406800"/>
            </a:xfrm>
            <a:prstGeom prst="rect">
              <a:avLst/>
            </a:prstGeom>
          </p:spPr>
        </p:pic>
        <p:sp>
          <p:nvSpPr>
            <p:cNvPr id="1068" name="TextBox 1067">
              <a:extLst>
                <a:ext uri="{FF2B5EF4-FFF2-40B4-BE49-F238E27FC236}">
                  <a16:creationId xmlns:a16="http://schemas.microsoft.com/office/drawing/2014/main" id="{7AEFF253-AD5F-9427-D2D0-94E424122589}"/>
                </a:ext>
              </a:extLst>
            </p:cNvPr>
            <p:cNvSpPr txBox="1"/>
            <p:nvPr/>
          </p:nvSpPr>
          <p:spPr>
            <a:xfrm>
              <a:off x="7136606" y="2648272"/>
              <a:ext cx="492049" cy="182985"/>
            </a:xfrm>
            <a:prstGeom prst="rect">
              <a:avLst/>
            </a:prstGeom>
            <a:noFill/>
          </p:spPr>
          <p:txBody>
            <a:bodyPr wrap="square" lIns="0" rIns="0" rtlCol="0" anchor="ctr">
              <a:noAutofit/>
            </a:bodyPr>
            <a:lstStyle>
              <a:defPPr>
                <a:defRPr lang="en-US"/>
              </a:defPPr>
              <a:lvl1pPr algn="ctr">
                <a:defRPr sz="900" b="1" i="1">
                  <a:latin typeface="나눔스퀘어" panose="020B0600000101010101" pitchFamily="50" charset="-127"/>
                  <a:ea typeface="나눔스퀘어" panose="020B0600000101010101" pitchFamily="50" charset="-127"/>
                </a:defRPr>
              </a:lvl1pPr>
            </a:lstStyle>
            <a:p>
              <a:r>
                <a:rPr lang="ko-KR" altLang="en-US" b="0" i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생산관리</a:t>
              </a:r>
              <a:endParaRPr lang="en-US" altLang="ko-KR" b="0" i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</p:grpSp>
      <p:grpSp>
        <p:nvGrpSpPr>
          <p:cNvPr id="1096" name="그룹 1095">
            <a:extLst>
              <a:ext uri="{FF2B5EF4-FFF2-40B4-BE49-F238E27FC236}">
                <a16:creationId xmlns:a16="http://schemas.microsoft.com/office/drawing/2014/main" id="{3B77F6F8-31BC-A2C1-2281-A53338E1D6C8}"/>
              </a:ext>
            </a:extLst>
          </p:cNvPr>
          <p:cNvGrpSpPr/>
          <p:nvPr/>
        </p:nvGrpSpPr>
        <p:grpSpPr>
          <a:xfrm>
            <a:off x="7926604" y="2819724"/>
            <a:ext cx="492049" cy="546847"/>
            <a:chOff x="7926604" y="2284410"/>
            <a:chExt cx="492049" cy="546847"/>
          </a:xfrm>
        </p:grpSpPr>
        <p:pic>
          <p:nvPicPr>
            <p:cNvPr id="1036" name="그래픽 1035" descr="남성 건설 노동자 윤곽선">
              <a:extLst>
                <a:ext uri="{FF2B5EF4-FFF2-40B4-BE49-F238E27FC236}">
                  <a16:creationId xmlns:a16="http://schemas.microsoft.com/office/drawing/2014/main" id="{D8B1BA6B-15F9-86FC-46D9-C8A390BAA53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flipH="1">
              <a:off x="7966230" y="2284410"/>
              <a:ext cx="406800" cy="406800"/>
            </a:xfrm>
            <a:prstGeom prst="rect">
              <a:avLst/>
            </a:prstGeom>
          </p:spPr>
        </p:pic>
        <p:sp>
          <p:nvSpPr>
            <p:cNvPr id="1069" name="TextBox 1068">
              <a:extLst>
                <a:ext uri="{FF2B5EF4-FFF2-40B4-BE49-F238E27FC236}">
                  <a16:creationId xmlns:a16="http://schemas.microsoft.com/office/drawing/2014/main" id="{93FCA9B4-6AF7-7B7D-3E4E-74D1254B5010}"/>
                </a:ext>
              </a:extLst>
            </p:cNvPr>
            <p:cNvSpPr txBox="1"/>
            <p:nvPr/>
          </p:nvSpPr>
          <p:spPr>
            <a:xfrm>
              <a:off x="7926604" y="2648272"/>
              <a:ext cx="492049" cy="182985"/>
            </a:xfrm>
            <a:prstGeom prst="rect">
              <a:avLst/>
            </a:prstGeom>
            <a:noFill/>
          </p:spPr>
          <p:txBody>
            <a:bodyPr wrap="square" lIns="0" rIns="0" rtlCol="0" anchor="ctr">
              <a:noAutofit/>
            </a:bodyPr>
            <a:lstStyle>
              <a:defPPr>
                <a:defRPr lang="en-US"/>
              </a:defPPr>
              <a:lvl1pPr algn="ctr">
                <a:defRPr sz="900" b="1" i="1">
                  <a:latin typeface="나눔스퀘어" panose="020B0600000101010101" pitchFamily="50" charset="-127"/>
                  <a:ea typeface="나눔스퀘어" panose="020B0600000101010101" pitchFamily="50" charset="-127"/>
                </a:defRPr>
              </a:lvl1pPr>
            </a:lstStyle>
            <a:p>
              <a:r>
                <a:rPr lang="en-US" altLang="ko-KR" b="0" i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SHE</a:t>
              </a:r>
            </a:p>
          </p:txBody>
        </p:sp>
      </p:grpSp>
      <p:grpSp>
        <p:nvGrpSpPr>
          <p:cNvPr id="1097" name="그룹 1096">
            <a:extLst>
              <a:ext uri="{FF2B5EF4-FFF2-40B4-BE49-F238E27FC236}">
                <a16:creationId xmlns:a16="http://schemas.microsoft.com/office/drawing/2014/main" id="{2FB8605B-C5ED-006F-7D86-AEE981DD6565}"/>
              </a:ext>
            </a:extLst>
          </p:cNvPr>
          <p:cNvGrpSpPr/>
          <p:nvPr/>
        </p:nvGrpSpPr>
        <p:grpSpPr>
          <a:xfrm>
            <a:off x="8716602" y="2819724"/>
            <a:ext cx="492049" cy="546847"/>
            <a:chOff x="8716602" y="2284410"/>
            <a:chExt cx="492049" cy="546847"/>
          </a:xfrm>
        </p:grpSpPr>
        <p:pic>
          <p:nvPicPr>
            <p:cNvPr id="1037" name="그래픽 1036" descr="남성 건설 노동자 윤곽선">
              <a:extLst>
                <a:ext uri="{FF2B5EF4-FFF2-40B4-BE49-F238E27FC236}">
                  <a16:creationId xmlns:a16="http://schemas.microsoft.com/office/drawing/2014/main" id="{284B1404-DF40-4383-F50A-69FFEAAEC51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flipH="1">
              <a:off x="8753230" y="2284410"/>
              <a:ext cx="406800" cy="406800"/>
            </a:xfrm>
            <a:prstGeom prst="rect">
              <a:avLst/>
            </a:prstGeom>
          </p:spPr>
        </p:pic>
        <p:sp>
          <p:nvSpPr>
            <p:cNvPr id="1070" name="TextBox 1069">
              <a:extLst>
                <a:ext uri="{FF2B5EF4-FFF2-40B4-BE49-F238E27FC236}">
                  <a16:creationId xmlns:a16="http://schemas.microsoft.com/office/drawing/2014/main" id="{77AF6A53-7DBA-E713-1590-4F6AEB91BA7A}"/>
                </a:ext>
              </a:extLst>
            </p:cNvPr>
            <p:cNvSpPr txBox="1"/>
            <p:nvPr/>
          </p:nvSpPr>
          <p:spPr>
            <a:xfrm>
              <a:off x="8716602" y="2648272"/>
              <a:ext cx="492049" cy="182985"/>
            </a:xfrm>
            <a:prstGeom prst="rect">
              <a:avLst/>
            </a:prstGeom>
            <a:noFill/>
          </p:spPr>
          <p:txBody>
            <a:bodyPr wrap="square" lIns="0" rIns="0" rtlCol="0" anchor="ctr">
              <a:noAutofit/>
            </a:bodyPr>
            <a:lstStyle>
              <a:defPPr>
                <a:defRPr lang="en-US"/>
              </a:defPPr>
              <a:lvl1pPr algn="ctr">
                <a:defRPr sz="900" b="1" i="1">
                  <a:latin typeface="나눔스퀘어" panose="020B0600000101010101" pitchFamily="50" charset="-127"/>
                  <a:ea typeface="나눔스퀘어" panose="020B0600000101010101" pitchFamily="50" charset="-127"/>
                </a:defRPr>
              </a:lvl1pPr>
            </a:lstStyle>
            <a:p>
              <a:r>
                <a:rPr lang="ko-KR" altLang="en-US" b="0" i="0" err="1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기술〮설비</a:t>
              </a:r>
              <a:endParaRPr lang="en-US" altLang="ko-KR" b="0" i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</p:grpSp>
      <p:sp>
        <p:nvSpPr>
          <p:cNvPr id="1076" name="사각형: 모서리가 접힌 도형 1075">
            <a:extLst>
              <a:ext uri="{FF2B5EF4-FFF2-40B4-BE49-F238E27FC236}">
                <a16:creationId xmlns:a16="http://schemas.microsoft.com/office/drawing/2014/main" id="{C524AED6-2333-B5AA-1579-C11E39F310FA}"/>
              </a:ext>
            </a:extLst>
          </p:cNvPr>
          <p:cNvSpPr/>
          <p:nvPr/>
        </p:nvSpPr>
        <p:spPr>
          <a:xfrm>
            <a:off x="8078488" y="3745214"/>
            <a:ext cx="182284" cy="298429"/>
          </a:xfrm>
          <a:prstGeom prst="foldedCorner">
            <a:avLst>
              <a:gd name="adj" fmla="val 39180"/>
            </a:avLst>
          </a:prstGeom>
          <a:solidFill>
            <a:schemeClr val="bg1"/>
          </a:solidFill>
          <a:ln w="158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36000" tIns="36000" rIns="36000" bIns="36000" rtlCol="0" anchor="t"/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ko-KR" sz="30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……….</a:t>
            </a:r>
          </a:p>
          <a:p>
            <a:pPr latinLnBrk="0">
              <a:defRPr/>
            </a:pPr>
            <a:r>
              <a:rPr kumimoji="0" lang="en-US" altLang="ko-KR" sz="30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……….</a:t>
            </a:r>
          </a:p>
          <a:p>
            <a:pPr latinLnBrk="0">
              <a:defRPr/>
            </a:pPr>
            <a:r>
              <a:rPr kumimoji="0" lang="en-US" altLang="ko-KR" sz="30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……</a:t>
            </a:r>
          </a:p>
        </p:txBody>
      </p:sp>
      <p:cxnSp>
        <p:nvCxnSpPr>
          <p:cNvPr id="1077" name="직선 화살표 연결선 1076">
            <a:extLst>
              <a:ext uri="{FF2B5EF4-FFF2-40B4-BE49-F238E27FC236}">
                <a16:creationId xmlns:a16="http://schemas.microsoft.com/office/drawing/2014/main" id="{0D4D0436-8DF3-E552-1E84-DBAD1216F31E}"/>
              </a:ext>
            </a:extLst>
          </p:cNvPr>
          <p:cNvCxnSpPr>
            <a:cxnSpLocks/>
          </p:cNvCxnSpPr>
          <p:nvPr/>
        </p:nvCxnSpPr>
        <p:spPr>
          <a:xfrm flipV="1">
            <a:off x="8308689" y="3366571"/>
            <a:ext cx="653938" cy="343882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3" name="TextBox 1082">
            <a:extLst>
              <a:ext uri="{FF2B5EF4-FFF2-40B4-BE49-F238E27FC236}">
                <a16:creationId xmlns:a16="http://schemas.microsoft.com/office/drawing/2014/main" id="{E6A7454D-C11E-9B79-2F97-6B726766F2DB}"/>
              </a:ext>
            </a:extLst>
          </p:cNvPr>
          <p:cNvSpPr txBox="1"/>
          <p:nvPr/>
        </p:nvSpPr>
        <p:spPr>
          <a:xfrm>
            <a:off x="8643510" y="3467689"/>
            <a:ext cx="689503" cy="122400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>
            <a:defPPr>
              <a:defRPr lang="en-US"/>
            </a:defPPr>
            <a:lvl1pPr algn="ctr">
              <a:defRPr sz="900" b="1" i="1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r>
              <a:rPr lang="ko-KR" altLang="en-US" b="0"/>
              <a:t>투자사업 경과</a:t>
            </a:r>
            <a:endParaRPr lang="en-US" altLang="ko-KR" b="0"/>
          </a:p>
        </p:txBody>
      </p:sp>
      <p:cxnSp>
        <p:nvCxnSpPr>
          <p:cNvPr id="1084" name="직선 화살표 연결선 1083">
            <a:extLst>
              <a:ext uri="{FF2B5EF4-FFF2-40B4-BE49-F238E27FC236}">
                <a16:creationId xmlns:a16="http://schemas.microsoft.com/office/drawing/2014/main" id="{4433DA77-6922-D399-08EF-7EA38C2E6A24}"/>
              </a:ext>
            </a:extLst>
          </p:cNvPr>
          <p:cNvCxnSpPr>
            <a:cxnSpLocks/>
          </p:cNvCxnSpPr>
          <p:nvPr/>
        </p:nvCxnSpPr>
        <p:spPr>
          <a:xfrm flipV="1">
            <a:off x="8172629" y="3366571"/>
            <a:ext cx="0" cy="308349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7" name="직선 화살표 연결선 1086">
            <a:extLst>
              <a:ext uri="{FF2B5EF4-FFF2-40B4-BE49-F238E27FC236}">
                <a16:creationId xmlns:a16="http://schemas.microsoft.com/office/drawing/2014/main" id="{4441D69F-3135-0CAC-9350-3AED8883A6E1}"/>
              </a:ext>
            </a:extLst>
          </p:cNvPr>
          <p:cNvCxnSpPr>
            <a:cxnSpLocks/>
          </p:cNvCxnSpPr>
          <p:nvPr/>
        </p:nvCxnSpPr>
        <p:spPr>
          <a:xfrm flipH="1" flipV="1">
            <a:off x="7382631" y="3366571"/>
            <a:ext cx="628109" cy="343882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3" name="TextBox 1092">
            <a:extLst>
              <a:ext uri="{FF2B5EF4-FFF2-40B4-BE49-F238E27FC236}">
                <a16:creationId xmlns:a16="http://schemas.microsoft.com/office/drawing/2014/main" id="{3C59F4F9-2BA8-D211-5639-29367D00FC99}"/>
              </a:ext>
            </a:extLst>
          </p:cNvPr>
          <p:cNvSpPr txBox="1"/>
          <p:nvPr/>
        </p:nvSpPr>
        <p:spPr>
          <a:xfrm>
            <a:off x="7804490" y="3467689"/>
            <a:ext cx="684701" cy="122400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>
            <a:defPPr>
              <a:defRPr lang="en-US"/>
            </a:defPPr>
            <a:lvl1pPr algn="ctr">
              <a:defRPr sz="900" b="1" i="1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r>
              <a:rPr lang="en-US" altLang="ko-KR" b="0"/>
              <a:t>SHE </a:t>
            </a:r>
            <a:r>
              <a:rPr lang="ko-KR" altLang="en-US" b="0"/>
              <a:t>운영정보</a:t>
            </a:r>
            <a:endParaRPr lang="en-US" altLang="ko-KR" b="0"/>
          </a:p>
        </p:txBody>
      </p:sp>
      <p:sp>
        <p:nvSpPr>
          <p:cNvPr id="1094" name="TextBox 1093">
            <a:extLst>
              <a:ext uri="{FF2B5EF4-FFF2-40B4-BE49-F238E27FC236}">
                <a16:creationId xmlns:a16="http://schemas.microsoft.com/office/drawing/2014/main" id="{892F1F32-1C1A-D4D2-BBB1-763B78EB5DEA}"/>
              </a:ext>
            </a:extLst>
          </p:cNvPr>
          <p:cNvSpPr txBox="1"/>
          <p:nvPr/>
        </p:nvSpPr>
        <p:spPr>
          <a:xfrm>
            <a:off x="7160626" y="3467689"/>
            <a:ext cx="470940" cy="122400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>
            <a:defPPr>
              <a:defRPr lang="en-US"/>
            </a:defPPr>
            <a:lvl1pPr algn="ctr">
              <a:defRPr sz="900" b="1" i="1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r>
              <a:rPr lang="ko-KR" altLang="en-US" b="0"/>
              <a:t>생산 현황</a:t>
            </a:r>
            <a:endParaRPr lang="en-US" altLang="ko-KR" b="0"/>
          </a:p>
        </p:txBody>
      </p:sp>
      <p:sp>
        <p:nvSpPr>
          <p:cNvPr id="1110" name="타원 1109">
            <a:extLst>
              <a:ext uri="{FF2B5EF4-FFF2-40B4-BE49-F238E27FC236}">
                <a16:creationId xmlns:a16="http://schemas.microsoft.com/office/drawing/2014/main" id="{22C6CC02-D364-CCA7-E5F4-1E3B3FD17EA2}"/>
              </a:ext>
            </a:extLst>
          </p:cNvPr>
          <p:cNvSpPr/>
          <p:nvPr/>
        </p:nvSpPr>
        <p:spPr>
          <a:xfrm>
            <a:off x="6847154" y="2236952"/>
            <a:ext cx="180000" cy="1800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bg1"/>
            </a:solidFill>
          </a:ln>
        </p:spPr>
        <p:txBody>
          <a:bodyPr wrap="none" lIns="36000" rIns="36000" rtlCol="0" anchor="ctr">
            <a:noAutofit/>
          </a:bodyPr>
          <a:lstStyle/>
          <a:p>
            <a:pPr algn="ctr"/>
            <a:r>
              <a:rPr lang="en-US" altLang="ko-KR" sz="110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</a:t>
            </a:r>
            <a:endParaRPr lang="ko-KR" altLang="en-US" sz="110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114" name="직사각형 1113">
            <a:extLst>
              <a:ext uri="{FF2B5EF4-FFF2-40B4-BE49-F238E27FC236}">
                <a16:creationId xmlns:a16="http://schemas.microsoft.com/office/drawing/2014/main" id="{1061FE31-CA7A-3174-C903-62D5052C956D}"/>
              </a:ext>
            </a:extLst>
          </p:cNvPr>
          <p:cNvSpPr/>
          <p:nvPr/>
        </p:nvSpPr>
        <p:spPr>
          <a:xfrm>
            <a:off x="4093628" y="2873516"/>
            <a:ext cx="828000" cy="3132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</p:spPr>
        <p:txBody>
          <a:bodyPr rot="0" spcFirstLastPara="0" vertOverflow="overflow" horzOverflow="overflow" vert="horz" wrap="square" lIns="0" tIns="3600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lnSpc>
                <a:spcPts val="11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00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운전 현황 </a:t>
            </a:r>
            <a:r>
              <a:rPr kumimoji="1" lang="en-US" altLang="ko-KR" sz="100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Monitoring</a:t>
            </a:r>
            <a:endParaRPr kumimoji="1" lang="ko-KR" altLang="en-US" sz="100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115" name="직사각형 1114">
            <a:extLst>
              <a:ext uri="{FF2B5EF4-FFF2-40B4-BE49-F238E27FC236}">
                <a16:creationId xmlns:a16="http://schemas.microsoft.com/office/drawing/2014/main" id="{8A269001-E307-FFB2-249C-0968F64BF3C1}"/>
              </a:ext>
            </a:extLst>
          </p:cNvPr>
          <p:cNvSpPr/>
          <p:nvPr/>
        </p:nvSpPr>
        <p:spPr>
          <a:xfrm>
            <a:off x="4985126" y="2873516"/>
            <a:ext cx="828000" cy="3132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</p:spPr>
        <p:txBody>
          <a:bodyPr rot="0" spcFirstLastPara="0" vertOverflow="overflow" horzOverflow="overflow" vert="horz" wrap="square" lIns="0" tIns="3600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lnSpc>
                <a:spcPts val="11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00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공정 </a:t>
            </a:r>
            <a:r>
              <a:rPr kumimoji="1" lang="en-US" altLang="ko-KR" sz="100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Trouble-shooting</a:t>
            </a:r>
            <a:endParaRPr kumimoji="1" lang="ko-KR" altLang="en-US" sz="100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116" name="직사각형 1115">
            <a:extLst>
              <a:ext uri="{FF2B5EF4-FFF2-40B4-BE49-F238E27FC236}">
                <a16:creationId xmlns:a16="http://schemas.microsoft.com/office/drawing/2014/main" id="{E1AFAAE3-AD99-1F5B-7570-6183AB9EF897}"/>
              </a:ext>
            </a:extLst>
          </p:cNvPr>
          <p:cNvSpPr/>
          <p:nvPr/>
        </p:nvSpPr>
        <p:spPr>
          <a:xfrm>
            <a:off x="4985126" y="3226073"/>
            <a:ext cx="828000" cy="3132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</p:spPr>
        <p:txBody>
          <a:bodyPr rot="0" spcFirstLastPara="0" vertOverflow="overflow" horzOverflow="overflow" vert="horz" wrap="square" lIns="0" tIns="3600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lnSpc>
                <a:spcPts val="11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00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공정 최적화</a:t>
            </a:r>
          </a:p>
        </p:txBody>
      </p:sp>
      <p:sp>
        <p:nvSpPr>
          <p:cNvPr id="1117" name="타원 1116">
            <a:extLst>
              <a:ext uri="{FF2B5EF4-FFF2-40B4-BE49-F238E27FC236}">
                <a16:creationId xmlns:a16="http://schemas.microsoft.com/office/drawing/2014/main" id="{F3425FA9-E3E5-C750-6F5D-BB510EBF2248}"/>
              </a:ext>
            </a:extLst>
          </p:cNvPr>
          <p:cNvSpPr/>
          <p:nvPr/>
        </p:nvSpPr>
        <p:spPr>
          <a:xfrm>
            <a:off x="4055877" y="2236952"/>
            <a:ext cx="180000" cy="1800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bg1"/>
            </a:solidFill>
          </a:ln>
        </p:spPr>
        <p:txBody>
          <a:bodyPr wrap="none" lIns="36000" rIns="36000" rtlCol="0" anchor="ctr">
            <a:noAutofit/>
          </a:bodyPr>
          <a:lstStyle/>
          <a:p>
            <a:pPr algn="ctr"/>
            <a:r>
              <a:rPr lang="en-US" altLang="ko-KR" sz="110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endParaRPr lang="ko-KR" altLang="en-US" sz="110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118" name="TextBox 1117">
            <a:extLst>
              <a:ext uri="{FF2B5EF4-FFF2-40B4-BE49-F238E27FC236}">
                <a16:creationId xmlns:a16="http://schemas.microsoft.com/office/drawing/2014/main" id="{7C8AC0C5-421D-BDE6-11ED-02B0BAFCDD7D}"/>
              </a:ext>
            </a:extLst>
          </p:cNvPr>
          <p:cNvSpPr txBox="1"/>
          <p:nvPr/>
        </p:nvSpPr>
        <p:spPr>
          <a:xfrm>
            <a:off x="4235877" y="2220997"/>
            <a:ext cx="2505104" cy="572147"/>
          </a:xfrm>
          <a:prstGeom prst="rect">
            <a:avLst/>
          </a:prstGeom>
          <a:noFill/>
        </p:spPr>
        <p:txBody>
          <a:bodyPr wrap="square" lIns="0" rIns="0" anchor="ctr">
            <a:noAutofit/>
          </a:bodyPr>
          <a:lstStyle>
            <a:defPPr>
              <a:defRPr lang="en-US"/>
            </a:defPPr>
            <a:lvl1pPr algn="ctr">
              <a:spcAft>
                <a:spcPts val="300"/>
              </a:spcAft>
              <a:defRPr sz="1200" spc="-50">
                <a:ln>
                  <a:solidFill>
                    <a:schemeClr val="tx1">
                      <a:alpha val="0"/>
                    </a:schemeClr>
                  </a:solidFill>
                </a:ln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r>
              <a:rPr lang="en-US" altLang="ko-KR"/>
              <a:t>RTDB Data</a:t>
            </a:r>
            <a:r>
              <a:rPr lang="ko-KR" altLang="en-US"/>
              <a:t>를 활용하여</a:t>
            </a:r>
            <a:r>
              <a:rPr lang="en-US" altLang="ko-KR"/>
              <a:t> </a:t>
            </a:r>
            <a:r>
              <a:rPr lang="ko-KR" altLang="en-US">
                <a:solidFill>
                  <a:srgbClr val="217CF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공정 운전 현황을 점검</a:t>
            </a:r>
            <a:r>
              <a:rPr lang="ko-KR" altLang="en-US"/>
              <a:t>하고</a:t>
            </a:r>
            <a:r>
              <a:rPr lang="en-US" altLang="ko-KR"/>
              <a:t>, </a:t>
            </a:r>
            <a:r>
              <a:rPr lang="ko-KR" altLang="en-US"/>
              <a:t>수집된 </a:t>
            </a:r>
            <a:r>
              <a:rPr lang="en-US" altLang="ko-KR"/>
              <a:t>Data</a:t>
            </a:r>
            <a:r>
              <a:rPr lang="ko-KR" altLang="en-US"/>
              <a:t>를 </a:t>
            </a:r>
            <a:r>
              <a:rPr lang="ko-KR" altLang="en-US">
                <a:solidFill>
                  <a:srgbClr val="217CF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각 엔지니어의 지식과 경험 기반으로 분석 및 활용</a:t>
            </a:r>
            <a:endParaRPr lang="en-US" altLang="ko-KR">
              <a:solidFill>
                <a:srgbClr val="217CFA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129" name="직사각형 1128">
            <a:extLst>
              <a:ext uri="{FF2B5EF4-FFF2-40B4-BE49-F238E27FC236}">
                <a16:creationId xmlns:a16="http://schemas.microsoft.com/office/drawing/2014/main" id="{E970C7DD-74FA-41B5-DC1D-1DC3B7D92DCB}"/>
              </a:ext>
            </a:extLst>
          </p:cNvPr>
          <p:cNvSpPr/>
          <p:nvPr/>
        </p:nvSpPr>
        <p:spPr>
          <a:xfrm>
            <a:off x="4093628" y="3226073"/>
            <a:ext cx="828000" cy="3132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</p:spPr>
        <p:txBody>
          <a:bodyPr rot="0" spcFirstLastPara="0" vertOverflow="overflow" horzOverflow="overflow" vert="horz" wrap="square" lIns="0" tIns="3600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lnSpc>
                <a:spcPts val="11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00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공정</a:t>
            </a:r>
            <a:br>
              <a:rPr kumimoji="1" lang="en-US" altLang="ko-KR" sz="100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kumimoji="1" lang="en-US" altLang="ko-KR" sz="100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Simulation</a:t>
            </a:r>
            <a:endParaRPr kumimoji="1" lang="ko-KR" altLang="en-US" sz="100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130" name="직사각형 1129">
            <a:extLst>
              <a:ext uri="{FF2B5EF4-FFF2-40B4-BE49-F238E27FC236}">
                <a16:creationId xmlns:a16="http://schemas.microsoft.com/office/drawing/2014/main" id="{1B9674E2-8930-27BA-7ECD-D548006EA55F}"/>
              </a:ext>
            </a:extLst>
          </p:cNvPr>
          <p:cNvSpPr/>
          <p:nvPr/>
        </p:nvSpPr>
        <p:spPr>
          <a:xfrm>
            <a:off x="5876624" y="2873516"/>
            <a:ext cx="828000" cy="3132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</p:spPr>
        <p:txBody>
          <a:bodyPr rot="0" spcFirstLastPara="0" vertOverflow="overflow" horzOverflow="overflow" vert="horz" wrap="square" lIns="0" tIns="3600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lnSpc>
                <a:spcPts val="11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S/U</a:t>
            </a:r>
            <a:r>
              <a:rPr kumimoji="1" lang="ko-KR" altLang="en-US" sz="100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〮</a:t>
            </a:r>
            <a:r>
              <a:rPr kumimoji="1" lang="en-US" altLang="ko-KR" sz="100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S/D</a:t>
            </a:r>
            <a:br>
              <a:rPr kumimoji="1" lang="en-US" altLang="ko-KR" sz="100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kumimoji="1" lang="ko-KR" altLang="en-US" sz="100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운전</a:t>
            </a:r>
            <a:r>
              <a:rPr kumimoji="1" lang="en-US" altLang="ko-KR" sz="100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kumimoji="1" lang="ko-KR" altLang="en-US" sz="100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지원</a:t>
            </a:r>
          </a:p>
        </p:txBody>
      </p:sp>
      <p:sp>
        <p:nvSpPr>
          <p:cNvPr id="1131" name="직사각형 1130">
            <a:extLst>
              <a:ext uri="{FF2B5EF4-FFF2-40B4-BE49-F238E27FC236}">
                <a16:creationId xmlns:a16="http://schemas.microsoft.com/office/drawing/2014/main" id="{95F61B3D-1FE4-8223-A0D2-56F4FE47B06A}"/>
              </a:ext>
            </a:extLst>
          </p:cNvPr>
          <p:cNvSpPr/>
          <p:nvPr/>
        </p:nvSpPr>
        <p:spPr>
          <a:xfrm>
            <a:off x="5876624" y="3226073"/>
            <a:ext cx="828000" cy="3132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</p:spPr>
        <p:txBody>
          <a:bodyPr rot="0" spcFirstLastPara="0" vertOverflow="overflow" horzOverflow="overflow" vert="horz" wrap="square" lIns="0" tIns="3600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lnSpc>
                <a:spcPts val="11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00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공정 개선</a:t>
            </a:r>
          </a:p>
        </p:txBody>
      </p:sp>
      <p:sp>
        <p:nvSpPr>
          <p:cNvPr id="1138" name="사각형: 모서리가 접힌 도형 1137">
            <a:extLst>
              <a:ext uri="{FF2B5EF4-FFF2-40B4-BE49-F238E27FC236}">
                <a16:creationId xmlns:a16="http://schemas.microsoft.com/office/drawing/2014/main" id="{4C090C8B-8C2C-8F3E-8763-3E068133359E}"/>
              </a:ext>
            </a:extLst>
          </p:cNvPr>
          <p:cNvSpPr/>
          <p:nvPr/>
        </p:nvSpPr>
        <p:spPr>
          <a:xfrm>
            <a:off x="6463051" y="3745214"/>
            <a:ext cx="182284" cy="298429"/>
          </a:xfrm>
          <a:prstGeom prst="foldedCorner">
            <a:avLst>
              <a:gd name="adj" fmla="val 39180"/>
            </a:avLst>
          </a:prstGeom>
          <a:solidFill>
            <a:schemeClr val="bg1"/>
          </a:solidFill>
          <a:ln w="158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36000" tIns="36000" rIns="36000" bIns="36000" rtlCol="0" anchor="t"/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ko-KR" sz="30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……….</a:t>
            </a:r>
          </a:p>
          <a:p>
            <a:pPr latinLnBrk="0">
              <a:defRPr/>
            </a:pPr>
            <a:r>
              <a:rPr kumimoji="0" lang="en-US" altLang="ko-KR" sz="30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……….</a:t>
            </a:r>
          </a:p>
          <a:p>
            <a:pPr latinLnBrk="0">
              <a:defRPr/>
            </a:pPr>
            <a:r>
              <a:rPr kumimoji="0" lang="en-US" altLang="ko-KR" sz="30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……</a:t>
            </a:r>
          </a:p>
        </p:txBody>
      </p:sp>
      <p:sp>
        <p:nvSpPr>
          <p:cNvPr id="1142" name="TextBox 1141">
            <a:extLst>
              <a:ext uri="{FF2B5EF4-FFF2-40B4-BE49-F238E27FC236}">
                <a16:creationId xmlns:a16="http://schemas.microsoft.com/office/drawing/2014/main" id="{80F3CBE7-D13A-A02F-D79B-8E2C05127F1A}"/>
              </a:ext>
            </a:extLst>
          </p:cNvPr>
          <p:cNvSpPr txBox="1"/>
          <p:nvPr/>
        </p:nvSpPr>
        <p:spPr>
          <a:xfrm>
            <a:off x="5387102" y="3622664"/>
            <a:ext cx="905865" cy="25648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>
              <a:lnSpc>
                <a:spcPts val="1000"/>
              </a:lnSpc>
            </a:pPr>
            <a:r>
              <a:rPr lang="en-US" altLang="ko-KR" sz="900" i="1">
                <a:latin typeface="나눔스퀘어" panose="020B0600000101010101" pitchFamily="50" charset="-127"/>
                <a:ea typeface="나눔스퀘어" panose="020B0600000101010101" pitchFamily="50" charset="-127"/>
              </a:rPr>
              <a:t>Data</a:t>
            </a:r>
            <a:r>
              <a:rPr lang="ko-KR" altLang="en-US" sz="900" i="1">
                <a:latin typeface="나눔스퀘어" panose="020B0600000101010101" pitchFamily="50" charset="-127"/>
                <a:ea typeface="나눔스퀘어" panose="020B0600000101010101" pitchFamily="50" charset="-127"/>
              </a:rPr>
              <a:t> 분석 도구</a:t>
            </a:r>
            <a:br>
              <a:rPr lang="en-US" altLang="ko-KR" sz="900" i="1"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lang="en-US" altLang="ko-KR" sz="900" i="1">
                <a:latin typeface="나눔스퀘어" panose="020B0600000101010101" pitchFamily="50" charset="-127"/>
                <a:ea typeface="나눔스퀘어" panose="020B0600000101010101" pitchFamily="50" charset="-127"/>
              </a:rPr>
              <a:t>(Excel / Python)</a:t>
            </a:r>
            <a:endParaRPr lang="ko-KR" altLang="en-US" sz="900" i="1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143" name="TextBox 1142">
            <a:extLst>
              <a:ext uri="{FF2B5EF4-FFF2-40B4-BE49-F238E27FC236}">
                <a16:creationId xmlns:a16="http://schemas.microsoft.com/office/drawing/2014/main" id="{8B5C3B31-55AB-AD23-B8AC-567616463E48}"/>
              </a:ext>
            </a:extLst>
          </p:cNvPr>
          <p:cNvSpPr txBox="1"/>
          <p:nvPr/>
        </p:nvSpPr>
        <p:spPr>
          <a:xfrm>
            <a:off x="5352048" y="3938053"/>
            <a:ext cx="996452" cy="25648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>
              <a:lnSpc>
                <a:spcPts val="1000"/>
              </a:lnSpc>
            </a:pPr>
            <a:r>
              <a:rPr lang="en-US" altLang="ko-KR" sz="900" i="1">
                <a:latin typeface="나눔스퀘어" panose="020B0600000101010101" pitchFamily="50" charset="-127"/>
                <a:ea typeface="나눔스퀘어" panose="020B0600000101010101" pitchFamily="50" charset="-127"/>
              </a:rPr>
              <a:t>Process Simulator </a:t>
            </a:r>
            <a:br>
              <a:rPr lang="en-US" altLang="ko-KR" sz="900" i="1"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lang="en-US" altLang="ko-KR" sz="900" i="1">
                <a:latin typeface="나눔스퀘어" panose="020B0600000101010101" pitchFamily="50" charset="-127"/>
                <a:ea typeface="나눔스퀘어" panose="020B0600000101010101" pitchFamily="50" charset="-127"/>
              </a:rPr>
              <a:t>(Aspen/ HYSYS)</a:t>
            </a:r>
            <a:endParaRPr lang="ko-KR" altLang="en-US" sz="900" i="1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1146" name="직선 화살표 연결선 1145">
            <a:extLst>
              <a:ext uri="{FF2B5EF4-FFF2-40B4-BE49-F238E27FC236}">
                <a16:creationId xmlns:a16="http://schemas.microsoft.com/office/drawing/2014/main" id="{ADEAA2E3-973E-BE47-91D9-56668F40FD56}"/>
              </a:ext>
            </a:extLst>
          </p:cNvPr>
          <p:cNvCxnSpPr>
            <a:cxnSpLocks/>
          </p:cNvCxnSpPr>
          <p:nvPr/>
        </p:nvCxnSpPr>
        <p:spPr>
          <a:xfrm>
            <a:off x="5333185" y="3903398"/>
            <a:ext cx="1059183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6" name="TextBox 1175">
            <a:extLst>
              <a:ext uri="{FF2B5EF4-FFF2-40B4-BE49-F238E27FC236}">
                <a16:creationId xmlns:a16="http://schemas.microsoft.com/office/drawing/2014/main" id="{A4938FFB-61DE-30B9-248F-30DD90B41FC3}"/>
              </a:ext>
            </a:extLst>
          </p:cNvPr>
          <p:cNvSpPr txBox="1"/>
          <p:nvPr/>
        </p:nvSpPr>
        <p:spPr>
          <a:xfrm>
            <a:off x="4057829" y="4471288"/>
            <a:ext cx="1872186" cy="808526"/>
          </a:xfrm>
          <a:prstGeom prst="rect">
            <a:avLst/>
          </a:prstGeom>
          <a:noFill/>
        </p:spPr>
        <p:txBody>
          <a:bodyPr wrap="square" lIns="0" rIns="0" anchor="ctr">
            <a:noAutofit/>
          </a:bodyPr>
          <a:lstStyle>
            <a:defPPr>
              <a:defRPr lang="en-US"/>
            </a:defPPr>
            <a:lvl1pPr algn="ctr">
              <a:spcAft>
                <a:spcPts val="300"/>
              </a:spcAft>
              <a:defRPr sz="1200" spc="-50">
                <a:ln>
                  <a:solidFill>
                    <a:schemeClr val="tx1">
                      <a:alpha val="0"/>
                    </a:schemeClr>
                  </a:solidFill>
                </a:ln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r>
              <a:rPr lang="ko-KR" altLang="en-US" spc="0"/>
              <a:t>공장 운영 </a:t>
            </a:r>
            <a:r>
              <a:rPr lang="ko-KR" altLang="en-US" spc="0">
                <a:solidFill>
                  <a:srgbClr val="217CF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핵심 정보는 시스템을 통해 관리</a:t>
            </a:r>
            <a:r>
              <a:rPr lang="ko-KR" altLang="en-US" spc="0"/>
              <a:t>하고 있으나</a:t>
            </a:r>
            <a:r>
              <a:rPr lang="en-US" altLang="ko-KR" spc="0"/>
              <a:t>, </a:t>
            </a:r>
            <a:r>
              <a:rPr lang="ko-KR" altLang="en-US" spc="0">
                <a:solidFill>
                  <a:srgbClr val="217CF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그 외 정보는 개인 판단에 따라 임의 저장</a:t>
            </a:r>
            <a:endParaRPr lang="en-US" altLang="ko-KR" spc="0">
              <a:solidFill>
                <a:srgbClr val="217CFA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177" name="타원 1176">
            <a:extLst>
              <a:ext uri="{FF2B5EF4-FFF2-40B4-BE49-F238E27FC236}">
                <a16:creationId xmlns:a16="http://schemas.microsoft.com/office/drawing/2014/main" id="{7A6A811F-F9FD-7220-2B4B-EE118DEDA90E}"/>
              </a:ext>
            </a:extLst>
          </p:cNvPr>
          <p:cNvSpPr/>
          <p:nvPr/>
        </p:nvSpPr>
        <p:spPr>
          <a:xfrm>
            <a:off x="4055877" y="4507880"/>
            <a:ext cx="180000" cy="1800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bg1"/>
            </a:solidFill>
          </a:ln>
        </p:spPr>
        <p:txBody>
          <a:bodyPr wrap="none" lIns="36000" rIns="36000" rtlCol="0" anchor="ctr">
            <a:noAutofit/>
          </a:bodyPr>
          <a:lstStyle/>
          <a:p>
            <a:pPr algn="ctr"/>
            <a:r>
              <a:rPr lang="en-US" altLang="ko-KR" sz="110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3</a:t>
            </a:r>
            <a:endParaRPr lang="ko-KR" altLang="en-US" sz="110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1183" name="직선 화살표 연결선 1182">
            <a:extLst>
              <a:ext uri="{FF2B5EF4-FFF2-40B4-BE49-F238E27FC236}">
                <a16:creationId xmlns:a16="http://schemas.microsoft.com/office/drawing/2014/main" id="{A67D5E62-436E-04C3-4541-CCB59823FAEA}"/>
              </a:ext>
            </a:extLst>
          </p:cNvPr>
          <p:cNvCxnSpPr>
            <a:cxnSpLocks/>
          </p:cNvCxnSpPr>
          <p:nvPr/>
        </p:nvCxnSpPr>
        <p:spPr>
          <a:xfrm>
            <a:off x="4503820" y="3903398"/>
            <a:ext cx="355200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3" name="직사각형 1192">
            <a:extLst>
              <a:ext uri="{FF2B5EF4-FFF2-40B4-BE49-F238E27FC236}">
                <a16:creationId xmlns:a16="http://schemas.microsoft.com/office/drawing/2014/main" id="{F12FB855-649E-3044-9F69-B235FB84101A}"/>
              </a:ext>
            </a:extLst>
          </p:cNvPr>
          <p:cNvSpPr/>
          <p:nvPr/>
        </p:nvSpPr>
        <p:spPr>
          <a:xfrm>
            <a:off x="4023695" y="4406962"/>
            <a:ext cx="5528726" cy="958320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94" name="연결선: 구부러짐 1193">
            <a:extLst>
              <a:ext uri="{FF2B5EF4-FFF2-40B4-BE49-F238E27FC236}">
                <a16:creationId xmlns:a16="http://schemas.microsoft.com/office/drawing/2014/main" id="{C8FFBD1B-113D-C023-125A-781FA5C816F7}"/>
              </a:ext>
            </a:extLst>
          </p:cNvPr>
          <p:cNvCxnSpPr>
            <a:cxnSpLocks/>
            <a:stCxn id="1076" idx="1"/>
          </p:cNvCxnSpPr>
          <p:nvPr/>
        </p:nvCxnSpPr>
        <p:spPr>
          <a:xfrm rot="10800000" flipH="1" flipV="1">
            <a:off x="8078487" y="3894429"/>
            <a:ext cx="214323" cy="656570"/>
          </a:xfrm>
          <a:prstGeom prst="curvedConnector4">
            <a:avLst>
              <a:gd name="adj1" fmla="val -106661"/>
              <a:gd name="adj2" fmla="val 61363"/>
            </a:avLst>
          </a:prstGeom>
          <a:ln w="6350">
            <a:solidFill>
              <a:srgbClr val="1C6AAC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7" name="연결선: 구부러짐 1196">
            <a:extLst>
              <a:ext uri="{FF2B5EF4-FFF2-40B4-BE49-F238E27FC236}">
                <a16:creationId xmlns:a16="http://schemas.microsoft.com/office/drawing/2014/main" id="{DF790A4E-1D9F-E311-EDBC-C0F081AFC0F7}"/>
              </a:ext>
            </a:extLst>
          </p:cNvPr>
          <p:cNvCxnSpPr>
            <a:cxnSpLocks/>
            <a:stCxn id="1138" idx="3"/>
          </p:cNvCxnSpPr>
          <p:nvPr/>
        </p:nvCxnSpPr>
        <p:spPr>
          <a:xfrm flipH="1">
            <a:off x="6546984" y="3894429"/>
            <a:ext cx="98351" cy="656570"/>
          </a:xfrm>
          <a:prstGeom prst="curvedConnector4">
            <a:avLst>
              <a:gd name="adj1" fmla="val -232433"/>
              <a:gd name="adj2" fmla="val 61363"/>
            </a:avLst>
          </a:prstGeom>
          <a:ln w="6350">
            <a:solidFill>
              <a:srgbClr val="1C6AAC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2" name="연결선: 구부러짐 1201">
            <a:extLst>
              <a:ext uri="{FF2B5EF4-FFF2-40B4-BE49-F238E27FC236}">
                <a16:creationId xmlns:a16="http://schemas.microsoft.com/office/drawing/2014/main" id="{AF797542-5610-4F0D-272D-8C211B837E75}"/>
              </a:ext>
            </a:extLst>
          </p:cNvPr>
          <p:cNvCxnSpPr>
            <a:cxnSpLocks/>
            <a:stCxn id="1138" idx="3"/>
          </p:cNvCxnSpPr>
          <p:nvPr/>
        </p:nvCxnSpPr>
        <p:spPr>
          <a:xfrm>
            <a:off x="6645335" y="3894429"/>
            <a:ext cx="771583" cy="656570"/>
          </a:xfrm>
          <a:prstGeom prst="curvedConnector2">
            <a:avLst/>
          </a:prstGeom>
          <a:ln w="6350">
            <a:solidFill>
              <a:srgbClr val="1C6AAC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7" name="연결선: 구부러짐 1206">
            <a:extLst>
              <a:ext uri="{FF2B5EF4-FFF2-40B4-BE49-F238E27FC236}">
                <a16:creationId xmlns:a16="http://schemas.microsoft.com/office/drawing/2014/main" id="{B01A2525-B778-CABB-B5BE-5D5A4639847D}"/>
              </a:ext>
            </a:extLst>
          </p:cNvPr>
          <p:cNvCxnSpPr>
            <a:cxnSpLocks/>
            <a:stCxn id="1076" idx="1"/>
          </p:cNvCxnSpPr>
          <p:nvPr/>
        </p:nvCxnSpPr>
        <p:spPr>
          <a:xfrm rot="10800000" flipH="1" flipV="1">
            <a:off x="8078487" y="3894429"/>
            <a:ext cx="1081617" cy="656570"/>
          </a:xfrm>
          <a:prstGeom prst="curvedConnector4">
            <a:avLst>
              <a:gd name="adj1" fmla="val -21135"/>
              <a:gd name="adj2" fmla="val 61363"/>
            </a:avLst>
          </a:prstGeom>
          <a:ln w="6350">
            <a:solidFill>
              <a:srgbClr val="1C6AAC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2" name="연결선: 구부러짐 1211">
            <a:extLst>
              <a:ext uri="{FF2B5EF4-FFF2-40B4-BE49-F238E27FC236}">
                <a16:creationId xmlns:a16="http://schemas.microsoft.com/office/drawing/2014/main" id="{1A083A7F-DF28-CA15-6F15-AF157C414515}"/>
              </a:ext>
            </a:extLst>
          </p:cNvPr>
          <p:cNvCxnSpPr>
            <a:cxnSpLocks/>
            <a:stCxn id="1076" idx="1"/>
          </p:cNvCxnSpPr>
          <p:nvPr/>
        </p:nvCxnSpPr>
        <p:spPr>
          <a:xfrm rot="10800000" flipV="1">
            <a:off x="7416918" y="3894429"/>
            <a:ext cx="661570" cy="656570"/>
          </a:xfrm>
          <a:prstGeom prst="curvedConnector2">
            <a:avLst/>
          </a:prstGeom>
          <a:ln w="6350">
            <a:solidFill>
              <a:srgbClr val="C0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5" name="Multiply 145">
            <a:extLst>
              <a:ext uri="{FF2B5EF4-FFF2-40B4-BE49-F238E27FC236}">
                <a16:creationId xmlns:a16="http://schemas.microsoft.com/office/drawing/2014/main" id="{3C407B56-339C-F118-64EC-AE229E96DE5F}"/>
              </a:ext>
            </a:extLst>
          </p:cNvPr>
          <p:cNvSpPr/>
          <p:nvPr/>
        </p:nvSpPr>
        <p:spPr>
          <a:xfrm rot="5400000">
            <a:off x="7521010" y="3957688"/>
            <a:ext cx="238356" cy="263565"/>
          </a:xfrm>
          <a:prstGeom prst="mathMultiply">
            <a:avLst>
              <a:gd name="adj1" fmla="val 9772"/>
            </a:avLst>
          </a:prstGeom>
          <a:solidFill>
            <a:srgbClr val="A8241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2075" indent="-92075" algn="ctr" latinLnBrk="0">
              <a:buFont typeface="Arial" pitchFamily="34" charset="0"/>
              <a:buChar char="•"/>
            </a:pPr>
            <a:endParaRPr lang="ko-KR" altLang="en-US" sz="1200">
              <a:solidFill>
                <a:schemeClr val="tx1"/>
              </a:solidFill>
              <a:latin typeface="Century Gothic" panose="020B0502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2D5C5F12-0B55-5AD6-C06E-BE260CCD8EAF}"/>
              </a:ext>
            </a:extLst>
          </p:cNvPr>
          <p:cNvSpPr/>
          <p:nvPr/>
        </p:nvSpPr>
        <p:spPr>
          <a:xfrm>
            <a:off x="4080050" y="5677808"/>
            <a:ext cx="180000" cy="1800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bg1"/>
            </a:solidFill>
          </a:ln>
        </p:spPr>
        <p:txBody>
          <a:bodyPr wrap="none" lIns="36000" rIns="36000" rtlCol="0" anchor="ctr">
            <a:noAutofit/>
          </a:bodyPr>
          <a:lstStyle/>
          <a:p>
            <a:pPr algn="ctr"/>
            <a:r>
              <a:rPr lang="en-US" altLang="ko-KR" sz="110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endParaRPr lang="ko-KR" altLang="en-US" sz="110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1501ECB6-284A-5968-99FB-52105AE1AB0B}"/>
              </a:ext>
            </a:extLst>
          </p:cNvPr>
          <p:cNvSpPr/>
          <p:nvPr/>
        </p:nvSpPr>
        <p:spPr>
          <a:xfrm>
            <a:off x="5980815" y="5677808"/>
            <a:ext cx="180000" cy="1800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bg1"/>
            </a:solidFill>
          </a:ln>
        </p:spPr>
        <p:txBody>
          <a:bodyPr wrap="none" lIns="36000" rIns="36000" rtlCol="0" anchor="ctr">
            <a:noAutofit/>
          </a:bodyPr>
          <a:lstStyle/>
          <a:p>
            <a:pPr algn="ctr"/>
            <a:r>
              <a:rPr lang="en-US" altLang="ko-KR" sz="110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</a:t>
            </a:r>
            <a:endParaRPr lang="ko-KR" altLang="en-US" sz="110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5B31B00E-8150-374B-C77B-AEE10A343692}"/>
              </a:ext>
            </a:extLst>
          </p:cNvPr>
          <p:cNvSpPr/>
          <p:nvPr/>
        </p:nvSpPr>
        <p:spPr>
          <a:xfrm>
            <a:off x="7871614" y="5677808"/>
            <a:ext cx="180000" cy="1800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bg1"/>
            </a:solidFill>
          </a:ln>
        </p:spPr>
        <p:txBody>
          <a:bodyPr wrap="none" lIns="36000" rIns="36000" rtlCol="0" anchor="ctr">
            <a:noAutofit/>
          </a:bodyPr>
          <a:lstStyle/>
          <a:p>
            <a:pPr algn="ctr"/>
            <a:r>
              <a:rPr lang="en-US" altLang="ko-KR" sz="110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3</a:t>
            </a:r>
            <a:endParaRPr lang="ko-KR" altLang="en-US" sz="110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7" name="그림 6">
            <a:hlinkClick r:id="rId6" action="ppaction://hlinksldjump"/>
            <a:extLst>
              <a:ext uri="{FF2B5EF4-FFF2-40B4-BE49-F238E27FC236}">
                <a16:creationId xmlns:a16="http://schemas.microsoft.com/office/drawing/2014/main" id="{7AF2635D-03E1-595D-81EE-9A35F99A0C8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89788" y="2709632"/>
            <a:ext cx="269541" cy="228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6644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322CC-7CD6-5CBD-5C32-E534D19B0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3874F85-DB1F-FC9B-84CB-FE19FF7E60D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55375" y="254884"/>
            <a:ext cx="3751925" cy="343235"/>
          </a:xfrm>
        </p:spPr>
        <p:txBody>
          <a:bodyPr/>
          <a:lstStyle/>
          <a:p>
            <a:r>
              <a:rPr lang="en-US" altLang="ko-KR" b="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To-Be </a:t>
            </a:r>
            <a:r>
              <a:rPr lang="ko-KR" altLang="en-US" b="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변화모습 </a:t>
            </a:r>
            <a:r>
              <a:rPr lang="en-US" altLang="ko-KR" b="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&gt; AI </a:t>
            </a:r>
            <a:r>
              <a:rPr lang="ko-KR" altLang="en-US" b="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생산 </a:t>
            </a:r>
            <a:r>
              <a:rPr lang="en-US" altLang="ko-KR" b="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Engineer</a:t>
            </a:r>
          </a:p>
        </p:txBody>
      </p:sp>
      <p:sp>
        <p:nvSpPr>
          <p:cNvPr id="10" name="텍스트 개체 틀 4">
            <a:extLst>
              <a:ext uri="{FF2B5EF4-FFF2-40B4-BE49-F238E27FC236}">
                <a16:creationId xmlns:a16="http://schemas.microsoft.com/office/drawing/2014/main" id="{366A7DEC-837E-7C40-AE48-B91C0D9244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3063" y="765175"/>
            <a:ext cx="9193040" cy="719138"/>
          </a:xfrm>
        </p:spPr>
        <p:txBody>
          <a:bodyPr vert="horz" lIns="91440" tIns="45720" rIns="91440" bIns="45720" rtlCol="0">
            <a:norm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</a:pPr>
            <a:r>
              <a:rPr lang="ko-KR" altLang="en-US" sz="1600" b="0"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ngal Pro" panose="020B0502040204020203" pitchFamily="2" charset="0"/>
              </a:rPr>
              <a:t> 생산</a:t>
            </a:r>
            <a:r>
              <a:rPr lang="en-US" altLang="ko-KR" sz="1600" b="0"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ngal Pro" panose="020B0502040204020203" pitchFamily="2" charset="0"/>
              </a:rPr>
              <a:t> </a:t>
            </a:r>
            <a:r>
              <a:rPr lang="ko-KR" altLang="en-US" sz="1600" b="0"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ngal Pro" panose="020B0502040204020203" pitchFamily="2" charset="0"/>
              </a:rPr>
              <a:t>엔지니어 업무 지원 및 대체를 위한 </a:t>
            </a:r>
            <a:r>
              <a:rPr lang="en-US" altLang="ko-KR" sz="1600" b="0"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ngal Pro" panose="020B0502040204020203" pitchFamily="2" charset="0"/>
              </a:rPr>
              <a:t>AI </a:t>
            </a:r>
            <a:r>
              <a:rPr lang="ko-KR" altLang="en-US" sz="1600" b="0"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ngal Pro" panose="020B0502040204020203" pitchFamily="2" charset="0"/>
              </a:rPr>
              <a:t>생산 </a:t>
            </a:r>
            <a:r>
              <a:rPr lang="en-US" altLang="ko-KR" sz="1600" b="0"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ngal Pro" panose="020B0502040204020203" pitchFamily="2" charset="0"/>
              </a:rPr>
              <a:t>Engineer </a:t>
            </a:r>
            <a:r>
              <a:rPr lang="ko-KR" altLang="en-US" sz="1600" b="0"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ngal Pro" panose="020B0502040204020203" pitchFamily="2" charset="0"/>
              </a:rPr>
              <a:t>구성 기술을 도출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100AA25-233A-0415-BC2B-4C70CDC2A14F}"/>
              </a:ext>
            </a:extLst>
          </p:cNvPr>
          <p:cNvSpPr txBox="1"/>
          <p:nvPr/>
        </p:nvSpPr>
        <p:spPr>
          <a:xfrm>
            <a:off x="344559" y="1450284"/>
            <a:ext cx="3698503" cy="32219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400">
                <a:ln>
                  <a:solidFill>
                    <a:schemeClr val="tx1">
                      <a:alpha val="0"/>
                    </a:schemeClr>
                  </a:solidFill>
                </a:ln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【 AI</a:t>
            </a:r>
            <a:r>
              <a:rPr lang="ko-KR" altLang="en-US" sz="1400">
                <a:ln>
                  <a:solidFill>
                    <a:schemeClr val="tx1">
                      <a:alpha val="0"/>
                    </a:schemeClr>
                  </a:solidFill>
                </a:ln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생산 </a:t>
            </a:r>
            <a:r>
              <a:rPr lang="en-US" altLang="ko-KR" sz="1400">
                <a:ln>
                  <a:solidFill>
                    <a:schemeClr val="tx1">
                      <a:alpha val="0"/>
                    </a:schemeClr>
                  </a:solidFill>
                </a:ln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Engineer</a:t>
            </a:r>
            <a:r>
              <a:rPr lang="ko-KR" altLang="en-US" sz="1400">
                <a:ln>
                  <a:solidFill>
                    <a:schemeClr val="tx1">
                      <a:alpha val="0"/>
                    </a:schemeClr>
                  </a:solidFill>
                </a:ln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업무 </a:t>
            </a:r>
            <a:r>
              <a:rPr lang="en-US" altLang="ko-KR" sz="1400">
                <a:ln>
                  <a:solidFill>
                    <a:schemeClr val="tx1">
                      <a:alpha val="0"/>
                    </a:schemeClr>
                  </a:solidFill>
                </a:ln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Coverage</a:t>
            </a:r>
            <a:r>
              <a:rPr lang="ko-KR" altLang="en-US" sz="1400">
                <a:ln>
                  <a:solidFill>
                    <a:schemeClr val="tx1">
                      <a:alpha val="0"/>
                    </a:schemeClr>
                  </a:solidFill>
                </a:ln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 sz="1400">
                <a:ln>
                  <a:solidFill>
                    <a:schemeClr val="tx1">
                      <a:alpha val="0"/>
                    </a:schemeClr>
                  </a:solidFill>
                </a:ln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】 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824787EF-A7CB-8ED1-2381-8E93416EEB9C}"/>
              </a:ext>
            </a:extLst>
          </p:cNvPr>
          <p:cNvSpPr/>
          <p:nvPr/>
        </p:nvSpPr>
        <p:spPr>
          <a:xfrm>
            <a:off x="2437794" y="1846438"/>
            <a:ext cx="1750031" cy="146143"/>
          </a:xfrm>
          <a:prstGeom prst="roundRect">
            <a:avLst>
              <a:gd name="adj" fmla="val 0"/>
            </a:avLst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Level 5 (EA)</a:t>
            </a:r>
            <a:endParaRPr kumimoji="1" lang="ko-KR" altLang="en-US" sz="1000" i="0" u="none" strike="noStrike" kern="1200" cap="none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5B33379E-0592-5E9E-5919-CA33C195B5A8}"/>
              </a:ext>
            </a:extLst>
          </p:cNvPr>
          <p:cNvSpPr/>
          <p:nvPr/>
        </p:nvSpPr>
        <p:spPr>
          <a:xfrm>
            <a:off x="2437007" y="2026438"/>
            <a:ext cx="367364" cy="142194"/>
          </a:xfrm>
          <a:prstGeom prst="roundRect">
            <a:avLst>
              <a:gd name="adj" fmla="val 0"/>
            </a:avLst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대상</a:t>
            </a:r>
            <a:endParaRPr kumimoji="1" lang="ko-KR" altLang="en-US" sz="900" i="0" u="none" strike="noStrike" kern="1200" cap="none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59C9F977-978A-05E8-61FF-B12A89A7A4B8}"/>
              </a:ext>
            </a:extLst>
          </p:cNvPr>
          <p:cNvSpPr/>
          <p:nvPr/>
        </p:nvSpPr>
        <p:spPr>
          <a:xfrm>
            <a:off x="344500" y="1846438"/>
            <a:ext cx="744131" cy="322194"/>
          </a:xfrm>
          <a:prstGeom prst="roundRect">
            <a:avLst>
              <a:gd name="adj" fmla="val 0"/>
            </a:avLst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Level 2</a:t>
            </a:r>
            <a:endParaRPr kumimoji="1" lang="ko-KR" altLang="en-US" sz="100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A71B596B-EAC1-7E49-D6B2-0ED25C1FCE7F}"/>
              </a:ext>
            </a:extLst>
          </p:cNvPr>
          <p:cNvSpPr/>
          <p:nvPr/>
        </p:nvSpPr>
        <p:spPr>
          <a:xfrm>
            <a:off x="1140996" y="1846438"/>
            <a:ext cx="1244433" cy="322194"/>
          </a:xfrm>
          <a:prstGeom prst="roundRect">
            <a:avLst>
              <a:gd name="adj" fmla="val 0"/>
            </a:avLst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Level 3</a:t>
            </a:r>
            <a:endParaRPr kumimoji="1" lang="ko-KR" altLang="en-US" sz="1000" i="0" u="none" strike="noStrike" kern="1200" cap="none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6A32326A-0935-F099-7BAB-604B7797CA85}"/>
              </a:ext>
            </a:extLst>
          </p:cNvPr>
          <p:cNvGrpSpPr/>
          <p:nvPr/>
        </p:nvGrpSpPr>
        <p:grpSpPr>
          <a:xfrm>
            <a:off x="8344249" y="1860911"/>
            <a:ext cx="1103008" cy="167400"/>
            <a:chOff x="8728586" y="1522286"/>
            <a:chExt cx="822039" cy="167400"/>
          </a:xfrm>
        </p:grpSpPr>
        <p:sp>
          <p:nvSpPr>
            <p:cNvPr id="39" name="사각형: 둥근 모서리 38">
              <a:extLst>
                <a:ext uri="{FF2B5EF4-FFF2-40B4-BE49-F238E27FC236}">
                  <a16:creationId xmlns:a16="http://schemas.microsoft.com/office/drawing/2014/main" id="{EEEBDD0B-3095-C148-9952-690344796E1F}"/>
                </a:ext>
              </a:extLst>
            </p:cNvPr>
            <p:cNvSpPr/>
            <p:nvPr/>
          </p:nvSpPr>
          <p:spPr>
            <a:xfrm>
              <a:off x="9164619" y="1522286"/>
              <a:ext cx="386006" cy="167400"/>
            </a:xfrm>
            <a:prstGeom prst="roundRect">
              <a:avLst>
                <a:gd name="adj" fmla="val 0"/>
              </a:avLst>
            </a:prstGeom>
            <a:solidFill>
              <a:srgbClr val="1C6AAC"/>
            </a:solidFill>
            <a:ln w="3175">
              <a:solidFill>
                <a:srgbClr val="1C6AAC"/>
              </a:solidFill>
            </a:ln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1000" kern="0">
                  <a:solidFill>
                    <a:schemeClr val="bg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Senior</a:t>
              </a:r>
            </a:p>
          </p:txBody>
        </p:sp>
        <p:sp>
          <p:nvSpPr>
            <p:cNvPr id="40" name="사각형: 둥근 모서리 39">
              <a:extLst>
                <a:ext uri="{FF2B5EF4-FFF2-40B4-BE49-F238E27FC236}">
                  <a16:creationId xmlns:a16="http://schemas.microsoft.com/office/drawing/2014/main" id="{A3CCB19E-1EC1-A76C-3DFF-A23DD209579C}"/>
                </a:ext>
              </a:extLst>
            </p:cNvPr>
            <p:cNvSpPr/>
            <p:nvPr/>
          </p:nvSpPr>
          <p:spPr>
            <a:xfrm>
              <a:off x="8728586" y="1522286"/>
              <a:ext cx="386006" cy="167400"/>
            </a:xfrm>
            <a:prstGeom prst="roundRect">
              <a:avLst>
                <a:gd name="adj" fmla="val 0"/>
              </a:avLst>
            </a:prstGeom>
            <a:solidFill>
              <a:srgbClr val="DAE9F8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1000" kern="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Junior</a:t>
              </a:r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8AD16073-2B5A-CBE9-E759-6C1B7CEC2FDC}"/>
              </a:ext>
            </a:extLst>
          </p:cNvPr>
          <p:cNvSpPr txBox="1"/>
          <p:nvPr/>
        </p:nvSpPr>
        <p:spPr>
          <a:xfrm>
            <a:off x="7516027" y="1611047"/>
            <a:ext cx="494592" cy="230832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lang="ko-KR" altLang="en-US" sz="900" i="1" spc="-50">
                <a:latin typeface="나눔스퀘어" panose="020B0600000101010101" pitchFamily="50" charset="-127"/>
                <a:ea typeface="나눔스퀘어" panose="020B0600000101010101" pitchFamily="50" charset="-127"/>
              </a:rPr>
              <a:t>공통 제외</a:t>
            </a:r>
            <a:endParaRPr lang="ko-KR" altLang="en-US" sz="900" i="1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579435A8-7CA7-90EE-3B00-218A92D05D6C}"/>
              </a:ext>
            </a:extLst>
          </p:cNvPr>
          <p:cNvSpPr/>
          <p:nvPr/>
        </p:nvSpPr>
        <p:spPr>
          <a:xfrm>
            <a:off x="4544888" y="1772479"/>
            <a:ext cx="5012647" cy="396154"/>
          </a:xfrm>
          <a:prstGeom prst="roundRect">
            <a:avLst>
              <a:gd name="adj" fmla="val 0"/>
            </a:avLst>
          </a:prstGeom>
          <a:noFill/>
          <a:ln w="3175">
            <a:noFill/>
          </a:ln>
          <a:effectLst/>
        </p:spPr>
        <p:txBody>
          <a:bodyPr rot="0" spcFirstLastPara="0" vertOverflow="overflow" horzOverflow="overflow" vert="horz" wrap="square" lIns="0" tIns="7200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400" i="0" u="sng" strike="noStrike" kern="1200" cap="none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AI </a:t>
            </a:r>
            <a:r>
              <a:rPr kumimoji="1" lang="ko-KR" altLang="en-US" sz="1400" i="0" u="sng" strike="noStrike" kern="1200" cap="none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생산 </a:t>
            </a:r>
            <a:r>
              <a:rPr kumimoji="1" lang="en-US" altLang="ko-KR" sz="1400" i="0" u="sng" strike="noStrike" kern="1200" cap="none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Engineer</a:t>
            </a:r>
            <a:r>
              <a:rPr kumimoji="1" lang="ko-KR" altLang="en-US" sz="1400" u="sng"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구성 기술 </a:t>
            </a:r>
            <a:r>
              <a:rPr kumimoji="1" lang="en-US" altLang="ko-KR" sz="1400" u="sng"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(6)</a:t>
            </a:r>
            <a:endParaRPr kumimoji="1" lang="ko-KR" altLang="en-US" sz="1400" i="0" u="sng" strike="noStrike" kern="1200" cap="none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E59309E2-00EE-6BEF-AB60-A6A98093BB17}"/>
              </a:ext>
            </a:extLst>
          </p:cNvPr>
          <p:cNvSpPr/>
          <p:nvPr/>
        </p:nvSpPr>
        <p:spPr>
          <a:xfrm>
            <a:off x="4544887" y="6056786"/>
            <a:ext cx="5021214" cy="531878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noFill/>
          </a:ln>
        </p:spPr>
        <p:txBody>
          <a:bodyPr rot="0" spcFirstLastPara="0" vertOverflow="overflow" horzOverflow="overflow" vert="horz" wrap="square" lIns="3600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14400" fontAlgn="base">
              <a:spcBef>
                <a:spcPct val="0"/>
              </a:spcBef>
              <a:spcAft>
                <a:spcPts val="300"/>
              </a:spcAft>
            </a:pPr>
            <a:r>
              <a:rPr kumimoji="1" lang="en-US" altLang="ko-KR" sz="100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[AI </a:t>
            </a:r>
            <a:r>
              <a:rPr kumimoji="1" lang="ko-KR" altLang="en-US" sz="100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생산 </a:t>
            </a:r>
            <a:r>
              <a:rPr kumimoji="1" lang="en-US" altLang="ko-KR" sz="100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Engineer</a:t>
            </a:r>
            <a:r>
              <a:rPr kumimoji="1" lang="ko-KR" altLang="en-US" sz="100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지원 기술</a:t>
            </a:r>
            <a:r>
              <a:rPr kumimoji="1" lang="en-US" altLang="ko-KR" sz="100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공정 최적화 모델 개발</a:t>
            </a:r>
            <a:r>
              <a:rPr kumimoji="1" lang="en-US" altLang="ko-KR" sz="9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(RTO </a:t>
            </a:r>
            <a:r>
              <a:rPr kumimoji="1" lang="ko-KR" altLang="en-US" sz="9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포함</a:t>
            </a:r>
            <a:r>
              <a:rPr kumimoji="1" lang="en-US" altLang="ko-KR" sz="9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), AI Sensor </a:t>
            </a:r>
            <a:r>
              <a:rPr kumimoji="1" lang="ko-KR" altLang="en-US" sz="9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개발</a:t>
            </a:r>
            <a:r>
              <a:rPr kumimoji="1" lang="en-US" altLang="ko-KR" sz="9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APC </a:t>
            </a:r>
            <a:r>
              <a:rPr kumimoji="1" lang="ko-KR" altLang="en-US" sz="9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고도화 </a:t>
            </a:r>
            <a:r>
              <a:rPr kumimoji="1" lang="en-US" altLang="ko-KR" sz="9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· </a:t>
            </a:r>
            <a:r>
              <a:rPr kumimoji="1" lang="ko-KR" altLang="en-US" sz="9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확대 적용</a:t>
            </a:r>
            <a:r>
              <a:rPr kumimoji="1" lang="en-US" altLang="ko-KR" sz="9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br>
              <a:rPr kumimoji="1" lang="en-US" altLang="ko-KR" sz="9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kumimoji="1" lang="ko-KR" altLang="en-US" sz="9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교육 포탈 기능 개선</a:t>
            </a:r>
            <a:r>
              <a:rPr kumimoji="1" lang="en-US" altLang="ko-KR" sz="9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kumimoji="1" lang="ko-KR" altLang="en-US" sz="9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교육 결과 관리</a:t>
            </a:r>
            <a:r>
              <a:rPr kumimoji="1" lang="en-US" altLang="ko-KR" sz="9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endParaRPr kumimoji="1" lang="ko-KR" altLang="en-US" sz="90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B09976FA-4C02-9C63-9EDC-091EC16F9A12}"/>
              </a:ext>
            </a:extLst>
          </p:cNvPr>
          <p:cNvSpPr/>
          <p:nvPr/>
        </p:nvSpPr>
        <p:spPr>
          <a:xfrm>
            <a:off x="343524" y="6108388"/>
            <a:ext cx="2041905" cy="236556"/>
          </a:xfrm>
          <a:prstGeom prst="roundRect">
            <a:avLst>
              <a:gd name="adj" fmla="val 0"/>
            </a:avLst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10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합계</a:t>
            </a: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7EA2A35D-4A40-D4B7-B715-601627EEE6E3}"/>
              </a:ext>
            </a:extLst>
          </p:cNvPr>
          <p:cNvSpPr/>
          <p:nvPr/>
        </p:nvSpPr>
        <p:spPr>
          <a:xfrm>
            <a:off x="2437007" y="6108387"/>
            <a:ext cx="367364" cy="23655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i="0" u="none" strike="noStrike" kern="1200" cap="none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259</a:t>
            </a:r>
            <a:endParaRPr kumimoji="1" lang="ko-KR" altLang="en-US" sz="1000" i="0" u="none" strike="noStrike" kern="1200" cap="none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F18C31FD-9391-FB58-8F35-A05EFEABCCD7}"/>
              </a:ext>
            </a:extLst>
          </p:cNvPr>
          <p:cNvSpPr/>
          <p:nvPr/>
        </p:nvSpPr>
        <p:spPr>
          <a:xfrm>
            <a:off x="2858597" y="2026438"/>
            <a:ext cx="1329228" cy="142194"/>
          </a:xfrm>
          <a:prstGeom prst="roundRect">
            <a:avLst>
              <a:gd name="adj" fmla="val 0"/>
            </a:avLst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spc="-5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AI </a:t>
            </a:r>
            <a:r>
              <a:rPr kumimoji="1" lang="ko-KR" altLang="en-US" sz="900" spc="-5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생산 </a:t>
            </a:r>
            <a:r>
              <a:rPr kumimoji="1" lang="en-US" altLang="ko-KR" sz="900" spc="-5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Engineer </a:t>
            </a:r>
            <a:r>
              <a:rPr kumimoji="1" lang="ko-KR" altLang="en-US" sz="900" spc="-5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수행</a:t>
            </a:r>
            <a:r>
              <a:rPr kumimoji="1" lang="en-US" altLang="ko-KR" sz="900" spc="-5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</a:t>
            </a:r>
            <a:r>
              <a:rPr kumimoji="1" lang="ko-KR" altLang="en-US" sz="900" spc="-5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지원</a:t>
            </a: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E8AF97D4-9DCF-9142-DD12-D4C0865D56DA}"/>
              </a:ext>
            </a:extLst>
          </p:cNvPr>
          <p:cNvSpPr/>
          <p:nvPr/>
        </p:nvSpPr>
        <p:spPr>
          <a:xfrm>
            <a:off x="2857713" y="6108387"/>
            <a:ext cx="926888" cy="23655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100" i="0" u="none" strike="noStrike" kern="1200" cap="none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66DCB871-3858-DD7F-5256-2A4B2BD48F7F}"/>
              </a:ext>
            </a:extLst>
          </p:cNvPr>
          <p:cNvCxnSpPr>
            <a:cxnSpLocks/>
          </p:cNvCxnSpPr>
          <p:nvPr/>
        </p:nvCxnSpPr>
        <p:spPr>
          <a:xfrm>
            <a:off x="4544887" y="6044665"/>
            <a:ext cx="5021215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3CCA2C5C-BE3D-D6E8-048F-1588C4D35661}"/>
              </a:ext>
            </a:extLst>
          </p:cNvPr>
          <p:cNvCxnSpPr>
            <a:cxnSpLocks/>
          </p:cNvCxnSpPr>
          <p:nvPr/>
        </p:nvCxnSpPr>
        <p:spPr>
          <a:xfrm>
            <a:off x="343524" y="6044130"/>
            <a:ext cx="3844301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1554E876-D57D-FABA-2935-831417721CF4}"/>
              </a:ext>
            </a:extLst>
          </p:cNvPr>
          <p:cNvSpPr/>
          <p:nvPr/>
        </p:nvSpPr>
        <p:spPr>
          <a:xfrm>
            <a:off x="3821250" y="6108387"/>
            <a:ext cx="367364" cy="236555"/>
          </a:xfrm>
          <a:prstGeom prst="roundRect">
            <a:avLst>
              <a:gd name="adj" fmla="val 0"/>
            </a:avLst>
          </a:prstGeom>
          <a:noFill/>
          <a:ln w="3175">
            <a:noFill/>
          </a:ln>
        </p:spPr>
        <p:txBody>
          <a:bodyPr rot="0" spcFirstLastPara="0" vertOverflow="overflow" horzOverflow="overflow" vert="horz" wrap="square" lIns="0" tIns="0" rIns="36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i="1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39</a:t>
            </a:r>
            <a:r>
              <a:rPr kumimoji="1" lang="en-US" altLang="ko-KR" sz="900" i="1" u="none" strike="noStrike" kern="1200" cap="none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</a:rPr>
              <a:t>%</a:t>
            </a:r>
            <a:endParaRPr kumimoji="1" lang="ko-KR" altLang="en-US" sz="900" i="1" u="none" strike="noStrike" kern="1200" cap="none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88" name="이등변 삼각형 87">
            <a:extLst>
              <a:ext uri="{FF2B5EF4-FFF2-40B4-BE49-F238E27FC236}">
                <a16:creationId xmlns:a16="http://schemas.microsoft.com/office/drawing/2014/main" id="{4CA35C4E-E364-87E7-F46B-19B474CFDC39}"/>
              </a:ext>
            </a:extLst>
          </p:cNvPr>
          <p:cNvSpPr/>
          <p:nvPr/>
        </p:nvSpPr>
        <p:spPr>
          <a:xfrm rot="5400000" flipH="1">
            <a:off x="2823695" y="3952301"/>
            <a:ext cx="3060266" cy="277208"/>
          </a:xfrm>
          <a:prstGeom prst="triangle">
            <a:avLst/>
          </a:prstGeom>
          <a:gradFill>
            <a:gsLst>
              <a:gs pos="0">
                <a:schemeClr val="bg1"/>
              </a:gs>
              <a:gs pos="31000">
                <a:schemeClr val="bg1">
                  <a:lumMod val="95000"/>
                </a:schemeClr>
              </a:gs>
              <a:gs pos="6400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16200000" scaled="0"/>
          </a:gradFill>
          <a:ln w="9525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ko-KR" altLang="en-US" sz="1400">
              <a:solidFill>
                <a:schemeClr val="tx1">
                  <a:lumMod val="65000"/>
                  <a:lumOff val="35000"/>
                </a:schemeClr>
              </a:solidFill>
              <a:latin typeface="Arial Narrow" panose="020B060602020203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200" name="사각형: 둥근 모서리 199">
            <a:extLst>
              <a:ext uri="{FF2B5EF4-FFF2-40B4-BE49-F238E27FC236}">
                <a16:creationId xmlns:a16="http://schemas.microsoft.com/office/drawing/2014/main" id="{26721929-1872-1A98-57D2-5A8ED49EAA09}"/>
              </a:ext>
            </a:extLst>
          </p:cNvPr>
          <p:cNvSpPr/>
          <p:nvPr/>
        </p:nvSpPr>
        <p:spPr>
          <a:xfrm>
            <a:off x="2857713" y="6108387"/>
            <a:ext cx="334800" cy="236198"/>
          </a:xfrm>
          <a:prstGeom prst="roundRect">
            <a:avLst>
              <a:gd name="adj" fmla="val 0"/>
            </a:avLst>
          </a:prstGeom>
          <a:solidFill>
            <a:srgbClr val="217CFA"/>
          </a:solidFill>
          <a:ln w="3175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i="1" u="none" strike="noStrike" kern="1200" cap="none" spc="-50" normalizeH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101</a:t>
            </a:r>
            <a:endParaRPr kumimoji="1" lang="ko-KR" altLang="en-US" sz="1000" i="1" u="none" strike="noStrike" kern="1200" cap="none" spc="-50" normalizeH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81941C6C-7DD2-31E8-FD4F-DEDBEC660197}"/>
              </a:ext>
            </a:extLst>
          </p:cNvPr>
          <p:cNvSpPr/>
          <p:nvPr/>
        </p:nvSpPr>
        <p:spPr>
          <a:xfrm>
            <a:off x="2857713" y="2220920"/>
            <a:ext cx="926888" cy="38918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100" i="0" u="none" strike="noStrike" kern="1200" cap="none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7D8FE375-E300-39FA-3515-BEEB888AE1D2}"/>
              </a:ext>
            </a:extLst>
          </p:cNvPr>
          <p:cNvSpPr/>
          <p:nvPr/>
        </p:nvSpPr>
        <p:spPr>
          <a:xfrm>
            <a:off x="2437007" y="2220920"/>
            <a:ext cx="367364" cy="38918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23</a:t>
            </a:r>
            <a:endParaRPr kumimoji="1" lang="ko-KR" altLang="en-US" sz="1000" i="0" u="none" strike="noStrike" kern="1200" cap="none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95CDAC8E-0139-E823-E6AD-718753ABDCD0}"/>
              </a:ext>
            </a:extLst>
          </p:cNvPr>
          <p:cNvSpPr/>
          <p:nvPr/>
        </p:nvSpPr>
        <p:spPr>
          <a:xfrm>
            <a:off x="2437007" y="2700103"/>
            <a:ext cx="367364" cy="38918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i="0" u="none" strike="noStrike" kern="1200" cap="none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11</a:t>
            </a:r>
            <a:endParaRPr kumimoji="1" lang="ko-KR" altLang="en-US" sz="1000" i="0" u="none" strike="noStrike" kern="1200" cap="none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B173DF92-2F8A-2235-3E17-D009D563FE36}"/>
              </a:ext>
            </a:extLst>
          </p:cNvPr>
          <p:cNvSpPr/>
          <p:nvPr/>
        </p:nvSpPr>
        <p:spPr>
          <a:xfrm>
            <a:off x="2437007" y="3179287"/>
            <a:ext cx="367364" cy="38918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i="0" u="none" strike="noStrike" kern="1200" cap="none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50</a:t>
            </a:r>
            <a:endParaRPr kumimoji="1" lang="ko-KR" altLang="en-US" sz="1000" i="0" u="none" strike="noStrike" kern="1200" cap="none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0E300041-E564-8542-1B29-92FDD06D1ABD}"/>
              </a:ext>
            </a:extLst>
          </p:cNvPr>
          <p:cNvSpPr/>
          <p:nvPr/>
        </p:nvSpPr>
        <p:spPr>
          <a:xfrm>
            <a:off x="2437007" y="3658472"/>
            <a:ext cx="367364" cy="38918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i="0" u="none" strike="noStrike" kern="1200" cap="none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57</a:t>
            </a:r>
            <a:endParaRPr kumimoji="1" lang="ko-KR" altLang="en-US" sz="1000" i="0" u="none" strike="noStrike" kern="1200" cap="none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D27C1D85-E692-C120-6B95-6313080E6096}"/>
              </a:ext>
            </a:extLst>
          </p:cNvPr>
          <p:cNvSpPr/>
          <p:nvPr/>
        </p:nvSpPr>
        <p:spPr>
          <a:xfrm>
            <a:off x="2437007" y="4153141"/>
            <a:ext cx="367364" cy="38918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i="0" u="none" strike="noStrike" kern="1200" cap="none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37</a:t>
            </a:r>
            <a:endParaRPr kumimoji="1" lang="ko-KR" altLang="en-US" sz="1000" i="0" u="none" strike="noStrike" kern="1200" cap="none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AC5E16E4-455B-8C6F-BC15-B25CFC4BDBD7}"/>
              </a:ext>
            </a:extLst>
          </p:cNvPr>
          <p:cNvSpPr/>
          <p:nvPr/>
        </p:nvSpPr>
        <p:spPr>
          <a:xfrm>
            <a:off x="2437007" y="4632325"/>
            <a:ext cx="367364" cy="38918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i="0" u="none" strike="noStrike" kern="1200" cap="none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14</a:t>
            </a:r>
            <a:endParaRPr kumimoji="1" lang="ko-KR" altLang="en-US" sz="1000" i="0" u="none" strike="noStrike" kern="1200" cap="none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F112E6E6-AAD1-EAD8-06C7-6BDAC89D6AAA}"/>
              </a:ext>
            </a:extLst>
          </p:cNvPr>
          <p:cNvSpPr/>
          <p:nvPr/>
        </p:nvSpPr>
        <p:spPr>
          <a:xfrm>
            <a:off x="2437007" y="5111508"/>
            <a:ext cx="367364" cy="38918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i="0" u="none" strike="noStrike" kern="1200" cap="none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50</a:t>
            </a:r>
            <a:endParaRPr kumimoji="1" lang="ko-KR" altLang="en-US" sz="1000" i="0" u="none" strike="noStrike" kern="1200" cap="none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4F362BF9-D8EC-7681-69F9-AD2B77FC6192}"/>
              </a:ext>
            </a:extLst>
          </p:cNvPr>
          <p:cNvSpPr/>
          <p:nvPr/>
        </p:nvSpPr>
        <p:spPr>
          <a:xfrm>
            <a:off x="2437007" y="5590690"/>
            <a:ext cx="367364" cy="38918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i="0" u="none" strike="noStrike" kern="1200" cap="none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17</a:t>
            </a:r>
            <a:endParaRPr kumimoji="1" lang="ko-KR" altLang="en-US" sz="1000" i="0" u="none" strike="noStrike" kern="1200" cap="none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A51ED350-2E26-076C-8237-C024704F8671}"/>
              </a:ext>
            </a:extLst>
          </p:cNvPr>
          <p:cNvSpPr/>
          <p:nvPr/>
        </p:nvSpPr>
        <p:spPr>
          <a:xfrm>
            <a:off x="343524" y="2220918"/>
            <a:ext cx="744131" cy="86836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공장 운영</a:t>
            </a:r>
            <a:endParaRPr kumimoji="1" lang="en-US" altLang="ko-KR" sz="90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기획</a:t>
            </a:r>
          </a:p>
        </p:txBody>
      </p: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2632809F-A4B9-51D1-56E9-50D7846C4B72}"/>
              </a:ext>
            </a:extLst>
          </p:cNvPr>
          <p:cNvSpPr/>
          <p:nvPr/>
        </p:nvSpPr>
        <p:spPr>
          <a:xfrm>
            <a:off x="1140091" y="2220920"/>
            <a:ext cx="1245411" cy="38918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i="0" u="none" strike="noStrike" kern="1200" cap="none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예산 수립 및 운영 최적화</a:t>
            </a:r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4C37150D-93A3-255C-F1BF-D44C6FDE758D}"/>
              </a:ext>
            </a:extLst>
          </p:cNvPr>
          <p:cNvSpPr/>
          <p:nvPr/>
        </p:nvSpPr>
        <p:spPr>
          <a:xfrm>
            <a:off x="1140091" y="2700103"/>
            <a:ext cx="1245411" cy="38918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투자 사업 기획 및 관리</a:t>
            </a:r>
            <a:endParaRPr kumimoji="1" lang="ko-KR" altLang="en-US" sz="900" i="0" u="none" strike="noStrike" kern="1200" cap="none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FD0E49C4-1C97-BF87-82C0-F9F7BA92B72A}"/>
              </a:ext>
            </a:extLst>
          </p:cNvPr>
          <p:cNvSpPr/>
          <p:nvPr/>
        </p:nvSpPr>
        <p:spPr>
          <a:xfrm>
            <a:off x="1140091" y="3179287"/>
            <a:ext cx="1245411" cy="38918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운전 지원 및</a:t>
            </a:r>
            <a:endParaRPr kumimoji="1" lang="en-US" altLang="ko-KR" sz="90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Troubleshooting</a:t>
            </a:r>
            <a:endParaRPr kumimoji="1" lang="ko-KR" altLang="en-US" sz="900" i="0" u="none" strike="noStrike" kern="1200" cap="none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A85AB25D-556B-2692-87EA-BA57029FA88A}"/>
              </a:ext>
            </a:extLst>
          </p:cNvPr>
          <p:cNvSpPr/>
          <p:nvPr/>
        </p:nvSpPr>
        <p:spPr>
          <a:xfrm>
            <a:off x="1140091" y="3658472"/>
            <a:ext cx="1245411" cy="38918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i="0" u="none" strike="noStrike" kern="1200" cap="none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공정 최적화 및 개선</a:t>
            </a: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98790055-4D2F-C862-0CF6-386E8C0674CA}"/>
              </a:ext>
            </a:extLst>
          </p:cNvPr>
          <p:cNvSpPr/>
          <p:nvPr/>
        </p:nvSpPr>
        <p:spPr>
          <a:xfrm>
            <a:off x="1140091" y="4153141"/>
            <a:ext cx="1245411" cy="38918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i="0" u="none" strike="noStrike" kern="1200" cap="none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전략 과제 기획 및 관리</a:t>
            </a:r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45444B8D-58DE-1F63-4E9C-98686E41AAB6}"/>
              </a:ext>
            </a:extLst>
          </p:cNvPr>
          <p:cNvSpPr/>
          <p:nvPr/>
        </p:nvSpPr>
        <p:spPr>
          <a:xfrm>
            <a:off x="1140091" y="4632325"/>
            <a:ext cx="1245411" cy="38918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공장 운영 및</a:t>
            </a:r>
            <a:endParaRPr kumimoji="1" lang="en-US" altLang="ko-KR" sz="90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운전 정보 제공</a:t>
            </a:r>
            <a:endParaRPr kumimoji="1" lang="ko-KR" altLang="en-US" sz="900" i="0" u="none" strike="noStrike" kern="1200" cap="none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DD4D53D2-6A0A-8432-F676-B670FAD13F4D}"/>
              </a:ext>
            </a:extLst>
          </p:cNvPr>
          <p:cNvSpPr/>
          <p:nvPr/>
        </p:nvSpPr>
        <p:spPr>
          <a:xfrm>
            <a:off x="1140091" y="5111508"/>
            <a:ext cx="1245411" cy="38918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안전</a:t>
            </a:r>
            <a:r>
              <a:rPr kumimoji="1" lang="en-US" altLang="ko-KR" sz="90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</a:t>
            </a:r>
            <a:r>
              <a:rPr kumimoji="1" lang="ko-KR" altLang="en-US" sz="90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환경 관리</a:t>
            </a:r>
            <a:endParaRPr kumimoji="1" lang="ko-KR" altLang="en-US" sz="900" i="0" u="none" strike="noStrike" kern="1200" cap="none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80" name="사각형: 둥근 모서리 79">
            <a:extLst>
              <a:ext uri="{FF2B5EF4-FFF2-40B4-BE49-F238E27FC236}">
                <a16:creationId xmlns:a16="http://schemas.microsoft.com/office/drawing/2014/main" id="{B9F8352A-5F03-E84E-776F-BC2F756F1922}"/>
              </a:ext>
            </a:extLst>
          </p:cNvPr>
          <p:cNvSpPr/>
          <p:nvPr/>
        </p:nvSpPr>
        <p:spPr>
          <a:xfrm>
            <a:off x="343524" y="4632323"/>
            <a:ext cx="744131" cy="134604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공장 운영</a:t>
            </a:r>
            <a:endParaRPr kumimoji="1" lang="en-US" altLang="ko-KR" sz="90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지원</a:t>
            </a:r>
          </a:p>
        </p:txBody>
      </p: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965413EE-234A-836D-948E-9EAA58998F14}"/>
              </a:ext>
            </a:extLst>
          </p:cNvPr>
          <p:cNvSpPr/>
          <p:nvPr/>
        </p:nvSpPr>
        <p:spPr>
          <a:xfrm>
            <a:off x="1140091" y="5590690"/>
            <a:ext cx="1245411" cy="38918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i="0" u="none" strike="noStrike" kern="1200" cap="none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기술 교육 및 역량 향상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50882DE-6A1C-828E-2E03-2F1A9B5C080F}"/>
              </a:ext>
            </a:extLst>
          </p:cNvPr>
          <p:cNvSpPr txBox="1"/>
          <p:nvPr/>
        </p:nvSpPr>
        <p:spPr>
          <a:xfrm>
            <a:off x="4544888" y="2212225"/>
            <a:ext cx="2453867" cy="389179"/>
          </a:xfrm>
          <a:prstGeom prst="rect">
            <a:avLst/>
          </a:prstGeom>
          <a:solidFill>
            <a:srgbClr val="DAE9F8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wrap="square" lIns="36000" tIns="36000" rIns="0" bIns="36000" anchor="ctr">
            <a:noAutofit/>
          </a:bodyPr>
          <a:lstStyle>
            <a:defPPr>
              <a:defRPr lang="en-US"/>
            </a:defPPr>
            <a:lvl1pPr>
              <a:defRPr sz="1000" spc="-50">
                <a:ln>
                  <a:solidFill>
                    <a:schemeClr val="tx1">
                      <a:alpha val="0"/>
                    </a:schemeClr>
                  </a:solidFill>
                </a:ln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r>
              <a:rPr lang="ko-KR" altLang="en-US"/>
              <a:t>생산 성과 분석 </a:t>
            </a:r>
            <a:r>
              <a:rPr lang="en-US" altLang="ko-KR"/>
              <a:t>AI</a:t>
            </a:r>
            <a:endParaRPr lang="ko-KR" alt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B8D79E4-FA6F-936E-8704-5A7D4E67038D}"/>
              </a:ext>
            </a:extLst>
          </p:cNvPr>
          <p:cNvSpPr txBox="1"/>
          <p:nvPr/>
        </p:nvSpPr>
        <p:spPr>
          <a:xfrm>
            <a:off x="4544888" y="2697448"/>
            <a:ext cx="2453866" cy="385800"/>
          </a:xfrm>
          <a:prstGeom prst="rect">
            <a:avLst/>
          </a:prstGeom>
          <a:solidFill>
            <a:srgbClr val="DAE9F8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wrap="square" lIns="36000" tIns="36000" rIns="0" bIns="36000" anchor="ctr">
            <a:noAutofit/>
          </a:bodyPr>
          <a:lstStyle>
            <a:defPPr>
              <a:defRPr lang="en-US"/>
            </a:defPPr>
            <a:lvl1pPr>
              <a:defRPr sz="1000" spc="-50">
                <a:ln>
                  <a:solidFill>
                    <a:schemeClr val="tx1">
                      <a:alpha val="0"/>
                    </a:schemeClr>
                  </a:solidFill>
                </a:ln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r>
              <a:rPr lang="ko-KR" altLang="en-US"/>
              <a:t>투자 사업 정보 저장 </a:t>
            </a:r>
            <a:r>
              <a:rPr lang="en-US" altLang="ko-KR"/>
              <a:t>· </a:t>
            </a:r>
            <a:r>
              <a:rPr lang="ko-KR" altLang="en-US"/>
              <a:t>분류 자동화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34B40686-5ECC-BB32-6E6E-2F8738088D75}"/>
              </a:ext>
            </a:extLst>
          </p:cNvPr>
          <p:cNvSpPr txBox="1"/>
          <p:nvPr/>
        </p:nvSpPr>
        <p:spPr>
          <a:xfrm>
            <a:off x="7103667" y="3658470"/>
            <a:ext cx="2453867" cy="389179"/>
          </a:xfrm>
          <a:prstGeom prst="rect">
            <a:avLst/>
          </a:prstGeom>
          <a:solidFill>
            <a:srgbClr val="DAE9F8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wrap="square" lIns="36000" tIns="36000" rIns="0" bIns="36000" anchor="ctr">
            <a:noAutofit/>
          </a:bodyPr>
          <a:lstStyle>
            <a:defPPr>
              <a:defRPr lang="en-US"/>
            </a:defPPr>
            <a:lvl1pPr>
              <a:defRPr sz="1000" spc="-50">
                <a:ln>
                  <a:solidFill>
                    <a:schemeClr val="tx1">
                      <a:alpha val="0"/>
                    </a:schemeClr>
                  </a:solidFill>
                </a:ln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r>
              <a:rPr lang="ko-KR" altLang="en-US"/>
              <a:t>촉매 구매 </a:t>
            </a:r>
            <a:r>
              <a:rPr lang="en-US" altLang="ko-KR"/>
              <a:t>ITB </a:t>
            </a:r>
            <a:r>
              <a:rPr lang="ko-KR" altLang="en-US"/>
              <a:t>작성 지원 </a:t>
            </a:r>
            <a:r>
              <a:rPr lang="en-US" altLang="ko-KR"/>
              <a:t>Agent</a:t>
            </a:r>
            <a:endParaRPr lang="ko-KR" altLang="en-US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F28CD90F-92A2-BCC1-5DDF-C94B257E0199}"/>
              </a:ext>
            </a:extLst>
          </p:cNvPr>
          <p:cNvSpPr txBox="1"/>
          <p:nvPr/>
        </p:nvSpPr>
        <p:spPr>
          <a:xfrm>
            <a:off x="4544888" y="4153141"/>
            <a:ext cx="2453867" cy="389179"/>
          </a:xfrm>
          <a:prstGeom prst="rect">
            <a:avLst/>
          </a:prstGeom>
          <a:solidFill>
            <a:srgbClr val="1C6AAC"/>
          </a:solidFill>
          <a:ln w="3175">
            <a:solidFill>
              <a:srgbClr val="1C6AAC"/>
            </a:solidFill>
          </a:ln>
        </p:spPr>
        <p:txBody>
          <a:bodyPr wrap="square" lIns="36000" tIns="36000" rIns="0" bIns="36000" anchor="ctr">
            <a:noAutofit/>
          </a:bodyPr>
          <a:lstStyle>
            <a:defPPr>
              <a:defRPr lang="en-US"/>
            </a:defPPr>
            <a:lvl1pPr>
              <a:defRPr sz="1100" spc="-50">
                <a:ln>
                  <a:solidFill>
                    <a:schemeClr val="tx1">
                      <a:alpha val="0"/>
                    </a:schemeClr>
                  </a:solidFill>
                </a:ln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r>
              <a:rPr lang="ko-KR" altLang="en-US" sz="1000">
                <a:solidFill>
                  <a:schemeClr val="bg1"/>
                </a:solidFill>
              </a:rPr>
              <a:t>기술 정보 수집 </a:t>
            </a:r>
            <a:r>
              <a:rPr lang="en-US" altLang="ko-KR" sz="1000">
                <a:solidFill>
                  <a:schemeClr val="bg1"/>
                </a:solidFill>
              </a:rPr>
              <a:t>Agent</a:t>
            </a:r>
            <a:endParaRPr lang="ko-KR" altLang="en-US" sz="1000">
              <a:solidFill>
                <a:schemeClr val="bg1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EE74A6BF-EE44-F364-1C4D-D69630DE26AD}"/>
              </a:ext>
            </a:extLst>
          </p:cNvPr>
          <p:cNvSpPr txBox="1"/>
          <p:nvPr/>
        </p:nvSpPr>
        <p:spPr>
          <a:xfrm>
            <a:off x="4544888" y="4632325"/>
            <a:ext cx="2453867" cy="389179"/>
          </a:xfrm>
          <a:prstGeom prst="rect">
            <a:avLst/>
          </a:prstGeom>
          <a:solidFill>
            <a:srgbClr val="DAE9F8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wrap="square" lIns="36000" tIns="36000" rIns="0" bIns="36000" anchor="ctr">
            <a:noAutofit/>
          </a:bodyPr>
          <a:lstStyle>
            <a:defPPr>
              <a:defRPr lang="en-US"/>
            </a:defPPr>
            <a:lvl1pPr>
              <a:defRPr sz="1100" spc="-50">
                <a:ln>
                  <a:solidFill>
                    <a:schemeClr val="tx1">
                      <a:alpha val="0"/>
                    </a:schemeClr>
                  </a:solidFill>
                </a:ln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r>
              <a:rPr lang="ko-KR" altLang="en-US" sz="1000"/>
              <a:t>생산 운영 정보 저장 </a:t>
            </a:r>
            <a:r>
              <a:rPr lang="en-US" altLang="ko-KR" sz="1000"/>
              <a:t>· </a:t>
            </a:r>
            <a:r>
              <a:rPr lang="ko-KR" altLang="en-US" sz="1000"/>
              <a:t>분류 자동화</a:t>
            </a:r>
          </a:p>
        </p:txBody>
      </p:sp>
      <p:sp>
        <p:nvSpPr>
          <p:cNvPr id="140" name="사각형: 둥근 모서리 139">
            <a:extLst>
              <a:ext uri="{FF2B5EF4-FFF2-40B4-BE49-F238E27FC236}">
                <a16:creationId xmlns:a16="http://schemas.microsoft.com/office/drawing/2014/main" id="{5D6BADDB-20B9-EE59-3451-E61146E97BAC}"/>
              </a:ext>
            </a:extLst>
          </p:cNvPr>
          <p:cNvSpPr/>
          <p:nvPr/>
        </p:nvSpPr>
        <p:spPr>
          <a:xfrm>
            <a:off x="2857713" y="2220920"/>
            <a:ext cx="388800" cy="389182"/>
          </a:xfrm>
          <a:prstGeom prst="roundRect">
            <a:avLst>
              <a:gd name="adj" fmla="val 0"/>
            </a:avLst>
          </a:prstGeom>
          <a:solidFill>
            <a:srgbClr val="217CFA"/>
          </a:solidFill>
          <a:ln w="3175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i="1" u="none" strike="noStrike" kern="1200" cap="none" spc="-50" normalizeH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10</a:t>
            </a:r>
            <a:endParaRPr kumimoji="1" lang="ko-KR" altLang="en-US" sz="1000" i="1" u="none" strike="noStrike" kern="1200" cap="none" spc="-50" normalizeH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41" name="사각형: 둥근 모서리 140">
            <a:extLst>
              <a:ext uri="{FF2B5EF4-FFF2-40B4-BE49-F238E27FC236}">
                <a16:creationId xmlns:a16="http://schemas.microsoft.com/office/drawing/2014/main" id="{226E9573-2430-2946-0863-1838C4B5E16F}"/>
              </a:ext>
            </a:extLst>
          </p:cNvPr>
          <p:cNvSpPr/>
          <p:nvPr/>
        </p:nvSpPr>
        <p:spPr>
          <a:xfrm>
            <a:off x="2857713" y="2700103"/>
            <a:ext cx="926888" cy="38918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100" i="0" u="none" strike="noStrike" kern="1200" cap="none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42" name="사각형: 둥근 모서리 141">
            <a:extLst>
              <a:ext uri="{FF2B5EF4-FFF2-40B4-BE49-F238E27FC236}">
                <a16:creationId xmlns:a16="http://schemas.microsoft.com/office/drawing/2014/main" id="{CE046018-1676-FB72-6F40-9EB2A222FC26}"/>
              </a:ext>
            </a:extLst>
          </p:cNvPr>
          <p:cNvSpPr/>
          <p:nvPr/>
        </p:nvSpPr>
        <p:spPr>
          <a:xfrm>
            <a:off x="2857713" y="3179287"/>
            <a:ext cx="926888" cy="38918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100" i="0" u="none" strike="noStrike" kern="1200" cap="none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43" name="사각형: 둥근 모서리 142">
            <a:extLst>
              <a:ext uri="{FF2B5EF4-FFF2-40B4-BE49-F238E27FC236}">
                <a16:creationId xmlns:a16="http://schemas.microsoft.com/office/drawing/2014/main" id="{1C1A153D-32DD-71DE-A0AE-7BB142115996}"/>
              </a:ext>
            </a:extLst>
          </p:cNvPr>
          <p:cNvSpPr/>
          <p:nvPr/>
        </p:nvSpPr>
        <p:spPr>
          <a:xfrm>
            <a:off x="2857713" y="3658472"/>
            <a:ext cx="926888" cy="38918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100" i="0" u="none" strike="noStrike" kern="1200" cap="none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45" name="사각형: 둥근 모서리 144">
            <a:extLst>
              <a:ext uri="{FF2B5EF4-FFF2-40B4-BE49-F238E27FC236}">
                <a16:creationId xmlns:a16="http://schemas.microsoft.com/office/drawing/2014/main" id="{BD285B9B-45D7-E53C-CDA5-6DE547A8A3D6}"/>
              </a:ext>
            </a:extLst>
          </p:cNvPr>
          <p:cNvSpPr/>
          <p:nvPr/>
        </p:nvSpPr>
        <p:spPr>
          <a:xfrm>
            <a:off x="2857713" y="4151451"/>
            <a:ext cx="926888" cy="38918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100" i="0" u="none" strike="noStrike" kern="1200" cap="none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46" name="사각형: 둥근 모서리 145">
            <a:extLst>
              <a:ext uri="{FF2B5EF4-FFF2-40B4-BE49-F238E27FC236}">
                <a16:creationId xmlns:a16="http://schemas.microsoft.com/office/drawing/2014/main" id="{4FD02D79-5C95-D892-8320-5072E4B9118E}"/>
              </a:ext>
            </a:extLst>
          </p:cNvPr>
          <p:cNvSpPr/>
          <p:nvPr/>
        </p:nvSpPr>
        <p:spPr>
          <a:xfrm>
            <a:off x="2857713" y="4632325"/>
            <a:ext cx="926888" cy="38918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100" i="0" u="none" strike="noStrike" kern="1200" cap="none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48" name="사각형: 둥근 모서리 147">
            <a:extLst>
              <a:ext uri="{FF2B5EF4-FFF2-40B4-BE49-F238E27FC236}">
                <a16:creationId xmlns:a16="http://schemas.microsoft.com/office/drawing/2014/main" id="{12F477A3-F7D6-8B7B-70DA-6814B3CDE550}"/>
              </a:ext>
            </a:extLst>
          </p:cNvPr>
          <p:cNvSpPr/>
          <p:nvPr/>
        </p:nvSpPr>
        <p:spPr>
          <a:xfrm>
            <a:off x="2857713" y="5111508"/>
            <a:ext cx="926888" cy="38918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100" i="0" u="none" strike="noStrike" kern="1200" cap="none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49" name="사각형: 둥근 모서리 148">
            <a:extLst>
              <a:ext uri="{FF2B5EF4-FFF2-40B4-BE49-F238E27FC236}">
                <a16:creationId xmlns:a16="http://schemas.microsoft.com/office/drawing/2014/main" id="{C7072BE4-F247-D455-E54B-D3E6DB19BE85}"/>
              </a:ext>
            </a:extLst>
          </p:cNvPr>
          <p:cNvSpPr/>
          <p:nvPr/>
        </p:nvSpPr>
        <p:spPr>
          <a:xfrm>
            <a:off x="2857713" y="5590690"/>
            <a:ext cx="926888" cy="38918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100" i="0" u="none" strike="noStrike" kern="1200" cap="none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56" name="사각형: 둥근 모서리 155">
            <a:extLst>
              <a:ext uri="{FF2B5EF4-FFF2-40B4-BE49-F238E27FC236}">
                <a16:creationId xmlns:a16="http://schemas.microsoft.com/office/drawing/2014/main" id="{365A6C04-83E0-07DA-D0D6-1F53F6442FCF}"/>
              </a:ext>
            </a:extLst>
          </p:cNvPr>
          <p:cNvSpPr/>
          <p:nvPr/>
        </p:nvSpPr>
        <p:spPr>
          <a:xfrm>
            <a:off x="2857713" y="2700103"/>
            <a:ext cx="158400" cy="389182"/>
          </a:xfrm>
          <a:prstGeom prst="roundRect">
            <a:avLst>
              <a:gd name="adj" fmla="val 0"/>
            </a:avLst>
          </a:prstGeom>
          <a:solidFill>
            <a:srgbClr val="217CFA"/>
          </a:solidFill>
          <a:ln w="3175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i="1" spc="-5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</a:t>
            </a:r>
            <a:endParaRPr kumimoji="1" lang="ko-KR" altLang="en-US" sz="1000" i="1" u="none" strike="noStrike" kern="1200" cap="none" spc="-50" normalizeH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57" name="사각형: 둥근 모서리 156">
            <a:extLst>
              <a:ext uri="{FF2B5EF4-FFF2-40B4-BE49-F238E27FC236}">
                <a16:creationId xmlns:a16="http://schemas.microsoft.com/office/drawing/2014/main" id="{00B9E019-657D-23BE-EA3A-628A2B674E47}"/>
              </a:ext>
            </a:extLst>
          </p:cNvPr>
          <p:cNvSpPr/>
          <p:nvPr/>
        </p:nvSpPr>
        <p:spPr>
          <a:xfrm>
            <a:off x="2857713" y="3179285"/>
            <a:ext cx="558000" cy="389182"/>
          </a:xfrm>
          <a:prstGeom prst="roundRect">
            <a:avLst>
              <a:gd name="adj" fmla="val 0"/>
            </a:avLst>
          </a:prstGeom>
          <a:solidFill>
            <a:srgbClr val="217CFA"/>
          </a:solidFill>
          <a:ln w="3175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i="1" spc="-5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32</a:t>
            </a:r>
            <a:endParaRPr kumimoji="1" lang="ko-KR" altLang="en-US" sz="1000" i="1" u="none" strike="noStrike" kern="1200" cap="none" spc="-50" normalizeH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58" name="사각형: 둥근 모서리 157">
            <a:extLst>
              <a:ext uri="{FF2B5EF4-FFF2-40B4-BE49-F238E27FC236}">
                <a16:creationId xmlns:a16="http://schemas.microsoft.com/office/drawing/2014/main" id="{F0AD9F56-3198-2458-87E4-0824A8FCEBDA}"/>
              </a:ext>
            </a:extLst>
          </p:cNvPr>
          <p:cNvSpPr/>
          <p:nvPr/>
        </p:nvSpPr>
        <p:spPr>
          <a:xfrm>
            <a:off x="3821250" y="2220920"/>
            <a:ext cx="367364" cy="389182"/>
          </a:xfrm>
          <a:prstGeom prst="roundRect">
            <a:avLst>
              <a:gd name="adj" fmla="val 0"/>
            </a:avLst>
          </a:prstGeom>
          <a:noFill/>
          <a:ln w="3175">
            <a:noFill/>
          </a:ln>
        </p:spPr>
        <p:txBody>
          <a:bodyPr rot="0" spcFirstLastPara="0" vertOverflow="overflow" horzOverflow="overflow" vert="horz" wrap="square" lIns="0" tIns="0" rIns="36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i="1" u="none" strike="noStrike" kern="1200" cap="none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</a:rPr>
              <a:t>43%</a:t>
            </a:r>
            <a:endParaRPr kumimoji="1" lang="ko-KR" altLang="en-US" sz="900" i="1" u="none" strike="noStrike" kern="1200" cap="none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59" name="사각형: 둥근 모서리 158">
            <a:extLst>
              <a:ext uri="{FF2B5EF4-FFF2-40B4-BE49-F238E27FC236}">
                <a16:creationId xmlns:a16="http://schemas.microsoft.com/office/drawing/2014/main" id="{196F9636-CD92-42AB-2657-09BE4172483F}"/>
              </a:ext>
            </a:extLst>
          </p:cNvPr>
          <p:cNvSpPr/>
          <p:nvPr/>
        </p:nvSpPr>
        <p:spPr>
          <a:xfrm>
            <a:off x="3821250" y="2700103"/>
            <a:ext cx="367364" cy="389182"/>
          </a:xfrm>
          <a:prstGeom prst="roundRect">
            <a:avLst>
              <a:gd name="adj" fmla="val 0"/>
            </a:avLst>
          </a:prstGeom>
          <a:noFill/>
          <a:ln w="3175">
            <a:noFill/>
          </a:ln>
        </p:spPr>
        <p:txBody>
          <a:bodyPr rot="0" spcFirstLastPara="0" vertOverflow="overflow" horzOverflow="overflow" vert="horz" wrap="square" lIns="0" tIns="0" rIns="36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i="1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18</a:t>
            </a:r>
            <a:r>
              <a:rPr kumimoji="1" lang="en-US" altLang="ko-KR" sz="900" i="1" u="none" strike="noStrike" kern="1200" cap="none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</a:rPr>
              <a:t>%</a:t>
            </a:r>
            <a:endParaRPr kumimoji="1" lang="ko-KR" altLang="en-US" sz="900" i="1" u="none" strike="noStrike" kern="1200" cap="none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60" name="사각형: 둥근 모서리 159">
            <a:extLst>
              <a:ext uri="{FF2B5EF4-FFF2-40B4-BE49-F238E27FC236}">
                <a16:creationId xmlns:a16="http://schemas.microsoft.com/office/drawing/2014/main" id="{D9CD3C86-735A-FA0F-6EBF-BC080B9F0A0F}"/>
              </a:ext>
            </a:extLst>
          </p:cNvPr>
          <p:cNvSpPr/>
          <p:nvPr/>
        </p:nvSpPr>
        <p:spPr>
          <a:xfrm>
            <a:off x="3821250" y="3179287"/>
            <a:ext cx="367364" cy="389182"/>
          </a:xfrm>
          <a:prstGeom prst="roundRect">
            <a:avLst>
              <a:gd name="adj" fmla="val 0"/>
            </a:avLst>
          </a:prstGeom>
          <a:noFill/>
          <a:ln w="3175">
            <a:noFill/>
          </a:ln>
        </p:spPr>
        <p:txBody>
          <a:bodyPr rot="0" spcFirstLastPara="0" vertOverflow="overflow" horzOverflow="overflow" vert="horz" wrap="square" lIns="0" tIns="0" rIns="36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i="1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64</a:t>
            </a:r>
            <a:r>
              <a:rPr kumimoji="1" lang="en-US" altLang="ko-KR" sz="900" i="1" u="none" strike="noStrike" kern="1200" cap="none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</a:rPr>
              <a:t>%</a:t>
            </a:r>
            <a:endParaRPr kumimoji="1" lang="ko-KR" altLang="en-US" sz="900" i="1" u="none" strike="noStrike" kern="1200" cap="none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61" name="사각형: 둥근 모서리 160">
            <a:extLst>
              <a:ext uri="{FF2B5EF4-FFF2-40B4-BE49-F238E27FC236}">
                <a16:creationId xmlns:a16="http://schemas.microsoft.com/office/drawing/2014/main" id="{94D334CE-CB79-F899-5D95-587EE712719D}"/>
              </a:ext>
            </a:extLst>
          </p:cNvPr>
          <p:cNvSpPr/>
          <p:nvPr/>
        </p:nvSpPr>
        <p:spPr>
          <a:xfrm>
            <a:off x="3821250" y="3658470"/>
            <a:ext cx="367364" cy="386399"/>
          </a:xfrm>
          <a:prstGeom prst="roundRect">
            <a:avLst>
              <a:gd name="adj" fmla="val 0"/>
            </a:avLst>
          </a:prstGeom>
          <a:noFill/>
          <a:ln w="3175">
            <a:noFill/>
          </a:ln>
        </p:spPr>
        <p:txBody>
          <a:bodyPr rot="0" spcFirstLastPara="0" vertOverflow="overflow" horzOverflow="overflow" vert="horz" wrap="square" lIns="0" tIns="0" rIns="36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i="1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54</a:t>
            </a:r>
            <a:r>
              <a:rPr kumimoji="1" lang="en-US" altLang="ko-KR" sz="900" i="1" u="none" strike="noStrike" kern="1200" cap="none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</a:rPr>
              <a:t>%</a:t>
            </a:r>
            <a:endParaRPr kumimoji="1" lang="ko-KR" altLang="en-US" sz="900" i="1" u="none" strike="noStrike" kern="1200" cap="none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63" name="사각형: 둥근 모서리 162">
            <a:extLst>
              <a:ext uri="{FF2B5EF4-FFF2-40B4-BE49-F238E27FC236}">
                <a16:creationId xmlns:a16="http://schemas.microsoft.com/office/drawing/2014/main" id="{876F0776-0B14-B066-C517-22EE914C8994}"/>
              </a:ext>
            </a:extLst>
          </p:cNvPr>
          <p:cNvSpPr/>
          <p:nvPr/>
        </p:nvSpPr>
        <p:spPr>
          <a:xfrm>
            <a:off x="3821250" y="4153141"/>
            <a:ext cx="367364" cy="389182"/>
          </a:xfrm>
          <a:prstGeom prst="roundRect">
            <a:avLst>
              <a:gd name="adj" fmla="val 0"/>
            </a:avLst>
          </a:prstGeom>
          <a:noFill/>
          <a:ln w="3175">
            <a:noFill/>
          </a:ln>
        </p:spPr>
        <p:txBody>
          <a:bodyPr rot="0" spcFirstLastPara="0" vertOverflow="overflow" horzOverflow="overflow" vert="horz" wrap="square" lIns="0" tIns="0" rIns="36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i="1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14</a:t>
            </a:r>
            <a:r>
              <a:rPr kumimoji="1" lang="en-US" altLang="ko-KR" sz="900" i="1" u="none" strike="noStrike" kern="1200" cap="none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</a:rPr>
              <a:t>%</a:t>
            </a:r>
            <a:endParaRPr kumimoji="1" lang="ko-KR" altLang="en-US" sz="900" i="1" u="none" strike="noStrike" kern="1200" cap="none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64" name="사각형: 둥근 모서리 163">
            <a:extLst>
              <a:ext uri="{FF2B5EF4-FFF2-40B4-BE49-F238E27FC236}">
                <a16:creationId xmlns:a16="http://schemas.microsoft.com/office/drawing/2014/main" id="{2FCB5759-2818-F901-985A-AC25604FF2CD}"/>
              </a:ext>
            </a:extLst>
          </p:cNvPr>
          <p:cNvSpPr/>
          <p:nvPr/>
        </p:nvSpPr>
        <p:spPr>
          <a:xfrm>
            <a:off x="3821250" y="4632325"/>
            <a:ext cx="367364" cy="389182"/>
          </a:xfrm>
          <a:prstGeom prst="roundRect">
            <a:avLst>
              <a:gd name="adj" fmla="val 0"/>
            </a:avLst>
          </a:prstGeom>
          <a:noFill/>
          <a:ln w="3175">
            <a:noFill/>
          </a:ln>
        </p:spPr>
        <p:txBody>
          <a:bodyPr rot="0" spcFirstLastPara="0" vertOverflow="overflow" horzOverflow="overflow" vert="horz" wrap="square" lIns="0" tIns="0" rIns="36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i="1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43</a:t>
            </a:r>
            <a:r>
              <a:rPr kumimoji="1" lang="en-US" altLang="ko-KR" sz="900" i="1" u="none" strike="noStrike" kern="1200" cap="none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</a:rPr>
              <a:t>%</a:t>
            </a:r>
            <a:endParaRPr kumimoji="1" lang="ko-KR" altLang="en-US" sz="900" i="1" u="none" strike="noStrike" kern="1200" cap="none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65" name="사각형: 둥근 모서리 164">
            <a:extLst>
              <a:ext uri="{FF2B5EF4-FFF2-40B4-BE49-F238E27FC236}">
                <a16:creationId xmlns:a16="http://schemas.microsoft.com/office/drawing/2014/main" id="{D29FF9C5-309E-8827-8FA2-7533A4210F43}"/>
              </a:ext>
            </a:extLst>
          </p:cNvPr>
          <p:cNvSpPr/>
          <p:nvPr/>
        </p:nvSpPr>
        <p:spPr>
          <a:xfrm>
            <a:off x="3821250" y="5111508"/>
            <a:ext cx="367364" cy="389182"/>
          </a:xfrm>
          <a:prstGeom prst="roundRect">
            <a:avLst>
              <a:gd name="adj" fmla="val 0"/>
            </a:avLst>
          </a:prstGeom>
          <a:noFill/>
          <a:ln w="3175">
            <a:noFill/>
          </a:ln>
        </p:spPr>
        <p:txBody>
          <a:bodyPr rot="0" spcFirstLastPara="0" vertOverflow="overflow" horzOverflow="overflow" vert="horz" wrap="square" lIns="0" tIns="0" rIns="36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i="1" u="none" strike="noStrike" kern="1200" cap="none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</a:rPr>
              <a:t>30%</a:t>
            </a:r>
            <a:endParaRPr kumimoji="1" lang="ko-KR" altLang="en-US" sz="900" i="1" u="none" strike="noStrike" kern="1200" cap="none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66" name="사각형: 둥근 모서리 165">
            <a:extLst>
              <a:ext uri="{FF2B5EF4-FFF2-40B4-BE49-F238E27FC236}">
                <a16:creationId xmlns:a16="http://schemas.microsoft.com/office/drawing/2014/main" id="{9327932C-7F69-B980-067E-AE7069619AD5}"/>
              </a:ext>
            </a:extLst>
          </p:cNvPr>
          <p:cNvSpPr/>
          <p:nvPr/>
        </p:nvSpPr>
        <p:spPr>
          <a:xfrm>
            <a:off x="3821250" y="5590690"/>
            <a:ext cx="367364" cy="389182"/>
          </a:xfrm>
          <a:prstGeom prst="roundRect">
            <a:avLst>
              <a:gd name="adj" fmla="val 0"/>
            </a:avLst>
          </a:prstGeom>
          <a:noFill/>
          <a:ln w="3175">
            <a:noFill/>
          </a:ln>
        </p:spPr>
        <p:txBody>
          <a:bodyPr rot="0" spcFirstLastPara="0" vertOverflow="overflow" horzOverflow="overflow" vert="horz" wrap="square" lIns="0" tIns="0" rIns="36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i="1" u="none" strike="noStrike" kern="1200" cap="none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</a:rPr>
              <a:t>0%</a:t>
            </a:r>
            <a:endParaRPr kumimoji="1" lang="ko-KR" altLang="en-US" sz="900" i="1" u="none" strike="noStrike" kern="1200" cap="none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9BC8C788-C6F8-437B-E01B-A9739015A01B}"/>
              </a:ext>
            </a:extLst>
          </p:cNvPr>
          <p:cNvSpPr txBox="1"/>
          <p:nvPr/>
        </p:nvSpPr>
        <p:spPr>
          <a:xfrm>
            <a:off x="4544888" y="3658470"/>
            <a:ext cx="2453867" cy="385800"/>
          </a:xfrm>
          <a:prstGeom prst="rect">
            <a:avLst/>
          </a:prstGeom>
          <a:solidFill>
            <a:srgbClr val="DAE9F8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wrap="square" lIns="36000" tIns="36000" rIns="0" bIns="36000" anchor="ctr">
            <a:noAutofit/>
          </a:bodyPr>
          <a:lstStyle>
            <a:defPPr>
              <a:defRPr lang="en-US"/>
            </a:defPPr>
            <a:lvl1pPr>
              <a:defRPr sz="1000" spc="-50">
                <a:ln>
                  <a:solidFill>
                    <a:schemeClr val="tx1">
                      <a:alpha val="0"/>
                    </a:schemeClr>
                  </a:solidFill>
                </a:ln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r>
              <a:rPr lang="en-US" altLang="ko-KR"/>
              <a:t>[</a:t>
            </a:r>
            <a:r>
              <a:rPr lang="ko-KR" altLang="en-US"/>
              <a:t>생산 공통</a:t>
            </a:r>
            <a:r>
              <a:rPr lang="en-US" altLang="ko-KR"/>
              <a:t>] </a:t>
            </a:r>
            <a:r>
              <a:rPr lang="ko-KR" altLang="en-US"/>
              <a:t>공정 </a:t>
            </a:r>
            <a:r>
              <a:rPr lang="en-US" altLang="ko-KR"/>
              <a:t>Data Smart Monitoring</a:t>
            </a:r>
            <a:endParaRPr lang="ko-KR" altLang="en-US"/>
          </a:p>
        </p:txBody>
      </p:sp>
      <p:sp>
        <p:nvSpPr>
          <p:cNvPr id="186" name="사각형: 둥근 모서리 185">
            <a:extLst>
              <a:ext uri="{FF2B5EF4-FFF2-40B4-BE49-F238E27FC236}">
                <a16:creationId xmlns:a16="http://schemas.microsoft.com/office/drawing/2014/main" id="{275E56A9-47B8-F005-987A-B22E2EA28698}"/>
              </a:ext>
            </a:extLst>
          </p:cNvPr>
          <p:cNvSpPr/>
          <p:nvPr/>
        </p:nvSpPr>
        <p:spPr>
          <a:xfrm>
            <a:off x="2857713" y="3658470"/>
            <a:ext cx="475200" cy="386401"/>
          </a:xfrm>
          <a:prstGeom prst="roundRect">
            <a:avLst>
              <a:gd name="adj" fmla="val 0"/>
            </a:avLst>
          </a:prstGeom>
          <a:solidFill>
            <a:srgbClr val="217CFA"/>
          </a:solidFill>
          <a:ln w="3175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i="1" u="none" strike="noStrike" kern="1200" cap="none" spc="-50" normalizeH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31</a:t>
            </a:r>
            <a:endParaRPr kumimoji="1" lang="ko-KR" altLang="en-US" sz="1000" i="1" u="none" strike="noStrike" kern="1200" cap="none" spc="-50" normalizeH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90" name="사각형: 둥근 모서리 189">
            <a:extLst>
              <a:ext uri="{FF2B5EF4-FFF2-40B4-BE49-F238E27FC236}">
                <a16:creationId xmlns:a16="http://schemas.microsoft.com/office/drawing/2014/main" id="{757DE274-C7E0-003E-B329-857C6752E7E1}"/>
              </a:ext>
            </a:extLst>
          </p:cNvPr>
          <p:cNvSpPr/>
          <p:nvPr/>
        </p:nvSpPr>
        <p:spPr>
          <a:xfrm>
            <a:off x="2857714" y="4152842"/>
            <a:ext cx="118800" cy="386401"/>
          </a:xfrm>
          <a:prstGeom prst="roundRect">
            <a:avLst>
              <a:gd name="adj" fmla="val 0"/>
            </a:avLst>
          </a:prstGeom>
          <a:solidFill>
            <a:srgbClr val="217CFA"/>
          </a:solidFill>
          <a:ln w="3175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i="1" u="none" strike="noStrike" kern="1200" cap="none" spc="-50" normalizeH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5</a:t>
            </a:r>
            <a:endParaRPr kumimoji="1" lang="ko-KR" altLang="en-US" sz="1000" i="1" u="none" strike="noStrike" kern="1200" cap="none" spc="-50" normalizeH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92" name="사각형: 둥근 모서리 191">
            <a:extLst>
              <a:ext uri="{FF2B5EF4-FFF2-40B4-BE49-F238E27FC236}">
                <a16:creationId xmlns:a16="http://schemas.microsoft.com/office/drawing/2014/main" id="{7F036939-80BA-87DA-B5F6-8B7C50B7D842}"/>
              </a:ext>
            </a:extLst>
          </p:cNvPr>
          <p:cNvSpPr/>
          <p:nvPr/>
        </p:nvSpPr>
        <p:spPr>
          <a:xfrm>
            <a:off x="2857713" y="4632325"/>
            <a:ext cx="388800" cy="389182"/>
          </a:xfrm>
          <a:prstGeom prst="roundRect">
            <a:avLst>
              <a:gd name="adj" fmla="val 0"/>
            </a:avLst>
          </a:prstGeom>
          <a:solidFill>
            <a:srgbClr val="217CFA"/>
          </a:solidFill>
          <a:ln w="3175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i="1" u="none" strike="noStrike" kern="1200" cap="none" spc="-50" normalizeH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6</a:t>
            </a:r>
            <a:endParaRPr kumimoji="1" lang="ko-KR" altLang="en-US" sz="1000" i="1" u="none" strike="noStrike" kern="1200" cap="none" spc="-50" normalizeH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93" name="사각형: 둥근 모서리 192">
            <a:extLst>
              <a:ext uri="{FF2B5EF4-FFF2-40B4-BE49-F238E27FC236}">
                <a16:creationId xmlns:a16="http://schemas.microsoft.com/office/drawing/2014/main" id="{9B41B109-880C-48EB-E6F9-0830B8428928}"/>
              </a:ext>
            </a:extLst>
          </p:cNvPr>
          <p:cNvSpPr/>
          <p:nvPr/>
        </p:nvSpPr>
        <p:spPr>
          <a:xfrm>
            <a:off x="2857714" y="5111508"/>
            <a:ext cx="288000" cy="389182"/>
          </a:xfrm>
          <a:prstGeom prst="roundRect">
            <a:avLst>
              <a:gd name="adj" fmla="val 0"/>
            </a:avLst>
          </a:prstGeom>
          <a:solidFill>
            <a:srgbClr val="217CFA"/>
          </a:solidFill>
          <a:ln w="3175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i="1" u="none" strike="noStrike" kern="1200" cap="none" spc="-50" normalizeH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15</a:t>
            </a:r>
            <a:endParaRPr kumimoji="1" lang="ko-KR" altLang="en-US" sz="1000" i="1" u="none" strike="noStrike" kern="1200" cap="none" spc="-50" normalizeH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15" name="사각형: 둥근 모서리 214">
            <a:extLst>
              <a:ext uri="{FF2B5EF4-FFF2-40B4-BE49-F238E27FC236}">
                <a16:creationId xmlns:a16="http://schemas.microsoft.com/office/drawing/2014/main" id="{9FE6114E-23AD-BD81-F6B1-1CF7F56AF898}"/>
              </a:ext>
            </a:extLst>
          </p:cNvPr>
          <p:cNvSpPr/>
          <p:nvPr/>
        </p:nvSpPr>
        <p:spPr>
          <a:xfrm>
            <a:off x="343524" y="3179287"/>
            <a:ext cx="744131" cy="136134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공정 기술</a:t>
            </a:r>
            <a:endParaRPr kumimoji="1" lang="en-US" altLang="ko-KR" sz="90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관리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02AB2850-BD49-2E42-635F-5F0F77D92641}"/>
              </a:ext>
            </a:extLst>
          </p:cNvPr>
          <p:cNvSpPr txBox="1"/>
          <p:nvPr/>
        </p:nvSpPr>
        <p:spPr>
          <a:xfrm>
            <a:off x="4544888" y="3179288"/>
            <a:ext cx="2453867" cy="170200"/>
          </a:xfrm>
          <a:prstGeom prst="rect">
            <a:avLst/>
          </a:prstGeom>
          <a:solidFill>
            <a:srgbClr val="DAE9F8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wrap="square" lIns="36000" tIns="36000" rIns="0" bIns="36000" anchor="ctr">
            <a:noAutofit/>
          </a:bodyPr>
          <a:lstStyle>
            <a:defPPr>
              <a:defRPr lang="en-US"/>
            </a:defPPr>
            <a:lvl1pPr>
              <a:defRPr sz="1000" spc="-50">
                <a:ln>
                  <a:solidFill>
                    <a:schemeClr val="tx1">
                      <a:alpha val="0"/>
                    </a:schemeClr>
                  </a:solidFill>
                </a:ln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r>
              <a:rPr lang="en-US" altLang="ko-KR"/>
              <a:t>Engineer </a:t>
            </a:r>
            <a:r>
              <a:rPr lang="ko-KR" altLang="en-US"/>
              <a:t>공정 분석 </a:t>
            </a:r>
            <a:r>
              <a:rPr lang="en-US" altLang="ko-KR"/>
              <a:t>AI</a:t>
            </a:r>
            <a:endParaRPr lang="ko-KR" altLang="en-US"/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D6F8537F-3E29-C980-AC51-821C5B828B09}"/>
              </a:ext>
            </a:extLst>
          </p:cNvPr>
          <p:cNvSpPr txBox="1"/>
          <p:nvPr/>
        </p:nvSpPr>
        <p:spPr>
          <a:xfrm>
            <a:off x="7112235" y="2697448"/>
            <a:ext cx="2453866" cy="385800"/>
          </a:xfrm>
          <a:prstGeom prst="rect">
            <a:avLst/>
          </a:prstGeom>
          <a:solidFill>
            <a:srgbClr val="1C6AAC"/>
          </a:solidFill>
          <a:ln w="3175">
            <a:solidFill>
              <a:srgbClr val="1C6AAC"/>
            </a:solidFill>
          </a:ln>
        </p:spPr>
        <p:txBody>
          <a:bodyPr wrap="square" lIns="36000" tIns="36000" rIns="0" bIns="36000" anchor="ctr">
            <a:noAutofit/>
          </a:bodyPr>
          <a:lstStyle>
            <a:defPPr>
              <a:defRPr lang="en-US"/>
            </a:defPPr>
            <a:lvl1pPr>
              <a:defRPr sz="1000" spc="-5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r>
              <a:rPr lang="en-US" altLang="ko-KR"/>
              <a:t>[SHE </a:t>
            </a:r>
            <a:r>
              <a:rPr lang="ko-KR" altLang="en-US"/>
              <a:t>공통</a:t>
            </a:r>
            <a:r>
              <a:rPr lang="en-US" altLang="ko-KR"/>
              <a:t>] CLX </a:t>
            </a:r>
            <a:r>
              <a:rPr lang="ko-KR" altLang="en-US"/>
              <a:t>법률 지식 </a:t>
            </a:r>
            <a:r>
              <a:rPr lang="en-US" altLang="ko-KR"/>
              <a:t>Q&amp;A Chat-Bot</a:t>
            </a:r>
            <a:endParaRPr lang="ko-KR" altLang="en-US"/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3803EB7E-0F72-C1A9-3DE7-2C313A3F6417}"/>
              </a:ext>
            </a:extLst>
          </p:cNvPr>
          <p:cNvSpPr txBox="1"/>
          <p:nvPr/>
        </p:nvSpPr>
        <p:spPr>
          <a:xfrm>
            <a:off x="7112234" y="3179287"/>
            <a:ext cx="2453867" cy="389179"/>
          </a:xfrm>
          <a:prstGeom prst="rect">
            <a:avLst/>
          </a:prstGeom>
          <a:solidFill>
            <a:srgbClr val="1C6AAC"/>
          </a:solidFill>
          <a:ln w="3175">
            <a:solidFill>
              <a:srgbClr val="1C6AAC"/>
            </a:solidFill>
          </a:ln>
        </p:spPr>
        <p:txBody>
          <a:bodyPr wrap="square" lIns="36000" tIns="36000" rIns="0" bIns="36000" anchor="ctr">
            <a:noAutofit/>
          </a:bodyPr>
          <a:lstStyle>
            <a:defPPr>
              <a:defRPr lang="en-US"/>
            </a:defPPr>
            <a:lvl1pPr>
              <a:defRPr sz="1000" spc="-5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r>
              <a:rPr lang="en-US" altLang="ko-KR"/>
              <a:t>[</a:t>
            </a:r>
            <a:r>
              <a:rPr lang="ko-KR" altLang="en-US"/>
              <a:t>설비</a:t>
            </a:r>
            <a:r>
              <a:rPr lang="en-US" altLang="ko-KR"/>
              <a:t> </a:t>
            </a:r>
            <a:r>
              <a:rPr lang="ko-KR" altLang="en-US"/>
              <a:t>공통</a:t>
            </a:r>
            <a:r>
              <a:rPr lang="en-US" altLang="ko-KR"/>
              <a:t>] </a:t>
            </a:r>
            <a:r>
              <a:rPr lang="ko-KR" altLang="en-US"/>
              <a:t>이상현상</a:t>
            </a:r>
            <a:r>
              <a:rPr lang="en-US" altLang="ko-KR"/>
              <a:t>/</a:t>
            </a:r>
            <a:r>
              <a:rPr lang="ko-KR" altLang="en-US"/>
              <a:t>고장증상 분석 </a:t>
            </a:r>
            <a:r>
              <a:rPr lang="en-US" altLang="ko-KR"/>
              <a:t>AI</a:t>
            </a:r>
            <a:endParaRPr lang="ko-KR" altLang="en-US"/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625C31F8-A692-5634-2C96-0F5A805407C7}"/>
              </a:ext>
            </a:extLst>
          </p:cNvPr>
          <p:cNvSpPr txBox="1"/>
          <p:nvPr/>
        </p:nvSpPr>
        <p:spPr>
          <a:xfrm>
            <a:off x="7112234" y="5111513"/>
            <a:ext cx="2453867" cy="389179"/>
          </a:xfrm>
          <a:prstGeom prst="rect">
            <a:avLst/>
          </a:prstGeom>
          <a:solidFill>
            <a:srgbClr val="DAE9F8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wrap="square" lIns="36000" tIns="36000" rIns="0" bIns="36000" anchor="ctr">
            <a:noAutofit/>
          </a:bodyPr>
          <a:lstStyle>
            <a:defPPr>
              <a:defRPr lang="en-US"/>
            </a:defPPr>
            <a:lvl1pPr>
              <a:defRPr sz="1100" spc="-50">
                <a:ln>
                  <a:solidFill>
                    <a:schemeClr val="tx1">
                      <a:alpha val="0"/>
                    </a:schemeClr>
                  </a:solidFill>
                </a:ln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r>
              <a:rPr lang="en-US" altLang="ko-KR" sz="1000"/>
              <a:t>[SHE </a:t>
            </a:r>
            <a:r>
              <a:rPr lang="ko-KR" altLang="en-US" sz="1000"/>
              <a:t>공통</a:t>
            </a:r>
            <a:r>
              <a:rPr lang="en-US" altLang="ko-KR" sz="1000"/>
              <a:t>] </a:t>
            </a:r>
            <a:r>
              <a:rPr lang="ko-KR" altLang="en-US" sz="1000"/>
              <a:t>사고분석 보고서 작성 </a:t>
            </a:r>
            <a:r>
              <a:rPr lang="en-US" altLang="ko-KR" sz="1000"/>
              <a:t>AI</a:t>
            </a: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A3C97AB8-12D6-04A5-7B3D-7CD3ACF72ABF}"/>
              </a:ext>
            </a:extLst>
          </p:cNvPr>
          <p:cNvSpPr txBox="1"/>
          <p:nvPr/>
        </p:nvSpPr>
        <p:spPr>
          <a:xfrm>
            <a:off x="4544888" y="3384773"/>
            <a:ext cx="2453867" cy="170200"/>
          </a:xfrm>
          <a:prstGeom prst="rect">
            <a:avLst/>
          </a:prstGeom>
          <a:solidFill>
            <a:srgbClr val="1C6AAC"/>
          </a:solidFill>
          <a:ln w="3175">
            <a:solidFill>
              <a:srgbClr val="1C6AAC"/>
            </a:solidFill>
          </a:ln>
        </p:spPr>
        <p:txBody>
          <a:bodyPr wrap="square" lIns="36000" tIns="36000" rIns="0" bIns="36000" anchor="ctr">
            <a:noAutofit/>
          </a:bodyPr>
          <a:lstStyle>
            <a:defPPr>
              <a:defRPr lang="en-US"/>
            </a:defPPr>
            <a:lvl1pPr>
              <a:defRPr sz="1000" spc="-5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r>
              <a:rPr lang="en-US" altLang="ko-KR"/>
              <a:t>[</a:t>
            </a:r>
            <a:r>
              <a:rPr lang="ko-KR" altLang="en-US"/>
              <a:t>생산 공통</a:t>
            </a:r>
            <a:r>
              <a:rPr lang="en-US" altLang="ko-KR"/>
              <a:t>] </a:t>
            </a:r>
            <a:r>
              <a:rPr lang="ko-KR" altLang="en-US"/>
              <a:t>공정 </a:t>
            </a:r>
            <a:r>
              <a:rPr lang="en-US" altLang="ko-KR"/>
              <a:t>Trouble </a:t>
            </a:r>
            <a:r>
              <a:rPr lang="ko-KR" altLang="en-US"/>
              <a:t>대응 지원 </a:t>
            </a:r>
            <a:r>
              <a:rPr lang="en-US" altLang="ko-KR"/>
              <a:t>AI</a:t>
            </a:r>
            <a:endParaRPr lang="ko-KR" altLang="en-US"/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A5268E66-7ABB-0BFE-3B0B-835DFAE0C2CE}"/>
              </a:ext>
            </a:extLst>
          </p:cNvPr>
          <p:cNvSpPr txBox="1"/>
          <p:nvPr/>
        </p:nvSpPr>
        <p:spPr>
          <a:xfrm>
            <a:off x="4544888" y="5111508"/>
            <a:ext cx="2453867" cy="170200"/>
          </a:xfrm>
          <a:prstGeom prst="rect">
            <a:avLst/>
          </a:prstGeom>
          <a:solidFill>
            <a:srgbClr val="DAE9F8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wrap="square" lIns="36000" tIns="36000" rIns="0" bIns="36000" anchor="ctr">
            <a:noAutofit/>
          </a:bodyPr>
          <a:lstStyle>
            <a:defPPr>
              <a:defRPr lang="en-US"/>
            </a:defPPr>
            <a:lvl1pPr>
              <a:defRPr sz="1000" spc="-50">
                <a:ln>
                  <a:solidFill>
                    <a:schemeClr val="tx1">
                      <a:alpha val="0"/>
                    </a:schemeClr>
                  </a:solidFill>
                </a:ln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r>
              <a:rPr lang="en-US" altLang="ko-KR" sz="1000"/>
              <a:t>[SHE </a:t>
            </a:r>
            <a:r>
              <a:rPr lang="ko-KR" altLang="en-US" sz="1000"/>
              <a:t>공통</a:t>
            </a:r>
            <a:r>
              <a:rPr lang="en-US" altLang="ko-KR" sz="1000"/>
              <a:t>] </a:t>
            </a:r>
            <a:r>
              <a:rPr lang="ko-KR" altLang="en-US" sz="1000"/>
              <a:t>화학물질 </a:t>
            </a:r>
            <a:r>
              <a:rPr lang="en-US" altLang="ko-KR" sz="1000"/>
              <a:t>Data </a:t>
            </a:r>
            <a:r>
              <a:rPr lang="ko-KR" altLang="en-US" sz="1000"/>
              <a:t>추출 및 비교 검증 </a:t>
            </a:r>
            <a:r>
              <a:rPr lang="en-US" altLang="ko-KR" sz="1000"/>
              <a:t>AI</a:t>
            </a:r>
            <a:endParaRPr lang="ko-KR" altLang="en-US" sz="1000"/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76398A12-C0C8-5B4A-6E22-7543B9D0D3D0}"/>
              </a:ext>
            </a:extLst>
          </p:cNvPr>
          <p:cNvSpPr txBox="1"/>
          <p:nvPr/>
        </p:nvSpPr>
        <p:spPr>
          <a:xfrm>
            <a:off x="4544888" y="5316993"/>
            <a:ext cx="2453867" cy="170200"/>
          </a:xfrm>
          <a:prstGeom prst="rect">
            <a:avLst/>
          </a:prstGeom>
          <a:solidFill>
            <a:srgbClr val="DAE9F8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wrap="square" lIns="36000" tIns="36000" rIns="0" bIns="36000" anchor="ctr">
            <a:noAutofit/>
          </a:bodyPr>
          <a:lstStyle>
            <a:defPPr>
              <a:defRPr lang="en-US"/>
            </a:defPPr>
            <a:lvl1pPr>
              <a:defRPr sz="1000" spc="-50">
                <a:ln>
                  <a:solidFill>
                    <a:schemeClr val="tx1">
                      <a:alpha val="0"/>
                    </a:schemeClr>
                  </a:solidFill>
                </a:ln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r>
              <a:rPr lang="en-US" altLang="ko-KR" sz="1000"/>
              <a:t>[SHE </a:t>
            </a:r>
            <a:r>
              <a:rPr lang="ko-KR" altLang="en-US" sz="1000"/>
              <a:t>공통</a:t>
            </a:r>
            <a:r>
              <a:rPr lang="en-US" altLang="ko-KR" sz="1000"/>
              <a:t>] </a:t>
            </a:r>
            <a:r>
              <a:rPr lang="ko-KR" altLang="en-US" sz="1000"/>
              <a:t>환경운영 </a:t>
            </a:r>
            <a:r>
              <a:rPr lang="en-US" altLang="ko-KR" sz="1000"/>
              <a:t>Data DB</a:t>
            </a:r>
            <a:r>
              <a:rPr lang="ko-KR" altLang="en-US" sz="1000"/>
              <a:t>화 및 검증 </a:t>
            </a:r>
            <a:r>
              <a:rPr lang="en-US" altLang="ko-KR" sz="1000"/>
              <a:t>Agent</a:t>
            </a:r>
            <a:endParaRPr lang="ko-KR" altLang="en-US" sz="1000"/>
          </a:p>
        </p:txBody>
      </p:sp>
    </p:spTree>
    <p:extLst>
      <p:ext uri="{BB962C8B-B14F-4D97-AF65-F5344CB8AC3E}">
        <p14:creationId xmlns:p14="http://schemas.microsoft.com/office/powerpoint/2010/main" val="10415733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F438A-514C-CCB8-CACC-390440DD1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직사각형 229">
            <a:extLst>
              <a:ext uri="{FF2B5EF4-FFF2-40B4-BE49-F238E27FC236}">
                <a16:creationId xmlns:a16="http://schemas.microsoft.com/office/drawing/2014/main" id="{37A387CC-3DD4-609C-9B76-D6AB48ED4DC4}"/>
              </a:ext>
            </a:extLst>
          </p:cNvPr>
          <p:cNvSpPr/>
          <p:nvPr/>
        </p:nvSpPr>
        <p:spPr>
          <a:xfrm>
            <a:off x="344484" y="2414293"/>
            <a:ext cx="9217026" cy="4038895"/>
          </a:xfrm>
          <a:prstGeom prst="rect">
            <a:avLst/>
          </a:prstGeom>
          <a:solidFill>
            <a:srgbClr val="EFF5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1" name="직사각형 230">
            <a:extLst>
              <a:ext uri="{FF2B5EF4-FFF2-40B4-BE49-F238E27FC236}">
                <a16:creationId xmlns:a16="http://schemas.microsoft.com/office/drawing/2014/main" id="{A3E91EE6-23D7-1CBA-0302-7F9ADFB305D3}"/>
              </a:ext>
            </a:extLst>
          </p:cNvPr>
          <p:cNvSpPr/>
          <p:nvPr/>
        </p:nvSpPr>
        <p:spPr>
          <a:xfrm>
            <a:off x="448165" y="2670280"/>
            <a:ext cx="9012276" cy="36823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6BFC70-9761-DC29-1BF2-F5980964E88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4487" y="254884"/>
            <a:ext cx="3751925" cy="343235"/>
          </a:xfrm>
          <a:solidFill>
            <a:schemeClr val="bg1"/>
          </a:solidFill>
        </p:spPr>
        <p:txBody>
          <a:bodyPr wrap="none" anchor="ctr">
            <a:spAutoFit/>
          </a:bodyPr>
          <a:lstStyle/>
          <a:p>
            <a:r>
              <a:rPr lang="en-US" altLang="ko-KR" b="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To-Be </a:t>
            </a:r>
            <a:r>
              <a:rPr lang="ko-KR" altLang="en-US" b="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변화모습 </a:t>
            </a:r>
            <a:r>
              <a:rPr lang="en-US" altLang="ko-KR" b="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&gt; AI</a:t>
            </a:r>
            <a:r>
              <a:rPr lang="ko-KR" altLang="en-US" b="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생산 </a:t>
            </a:r>
            <a:r>
              <a:rPr lang="en-US" altLang="ko-KR" b="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Engineer</a:t>
            </a:r>
          </a:p>
        </p:txBody>
      </p:sp>
      <p:sp>
        <p:nvSpPr>
          <p:cNvPr id="36" name="텍스트 개체 틀 4">
            <a:extLst>
              <a:ext uri="{FF2B5EF4-FFF2-40B4-BE49-F238E27FC236}">
                <a16:creationId xmlns:a16="http://schemas.microsoft.com/office/drawing/2014/main" id="{9F06983E-785D-0520-2360-DF43048DBC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3063" y="765175"/>
            <a:ext cx="9193040" cy="719138"/>
          </a:xfrm>
        </p:spPr>
        <p:txBody>
          <a:bodyPr vert="horz" lIns="91440" tIns="45720" rIns="91440" bIns="45720" rtlCol="0">
            <a:norm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</a:pPr>
            <a:r>
              <a:rPr lang="ko-KR" altLang="en-US" sz="1600" b="0"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ngal Pro" panose="020B0502040204020203" pitchFamily="2" charset="0"/>
              </a:rPr>
              <a:t>단순 </a:t>
            </a:r>
            <a:r>
              <a:rPr lang="en-US" altLang="ko-KR" sz="1600" b="0"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ngal Pro" panose="020B0502040204020203" pitchFamily="2" charset="0"/>
              </a:rPr>
              <a:t>· </a:t>
            </a:r>
            <a:r>
              <a:rPr lang="ko-KR" altLang="en-US" sz="1600" b="0"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ngal Pro" panose="020B0502040204020203" pitchFamily="2" charset="0"/>
              </a:rPr>
              <a:t>반복 업무는 </a:t>
            </a:r>
            <a:r>
              <a:rPr lang="en-US" altLang="ko-KR" sz="1600" b="0"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ngal Pro" panose="020B0502040204020203" pitchFamily="2" charset="0"/>
              </a:rPr>
              <a:t>AI</a:t>
            </a:r>
            <a:r>
              <a:rPr lang="ko-KR" altLang="en-US" sz="1600" b="0"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ngal Pro" panose="020B0502040204020203" pitchFamily="2" charset="0"/>
              </a:rPr>
              <a:t>로 대체하고 생산 </a:t>
            </a:r>
            <a:r>
              <a:rPr lang="en-US" altLang="ko-KR" sz="1600" b="0"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ngal Pro" panose="020B0502040204020203" pitchFamily="2" charset="0"/>
              </a:rPr>
              <a:t>Engineer</a:t>
            </a:r>
            <a:r>
              <a:rPr lang="ko-KR" altLang="en-US" sz="1600" b="0"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ngal Pro" panose="020B0502040204020203" pitchFamily="2" charset="0"/>
              </a:rPr>
              <a:t>는 </a:t>
            </a:r>
            <a:br>
              <a:rPr lang="en-US" altLang="ko-KR" sz="1600" b="0"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ngal Pro" panose="020B0502040204020203" pitchFamily="2" charset="0"/>
              </a:rPr>
            </a:br>
            <a:r>
              <a:rPr lang="ko-KR" altLang="en-US" sz="1600" b="0"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ngal Pro" panose="020B0502040204020203" pitchFamily="2" charset="0"/>
              </a:rPr>
              <a:t>공정 개선 및 생산성 향상을 위한 핵심 업무 수행에 집중</a:t>
            </a:r>
            <a:endParaRPr lang="en-US" altLang="ko-KR" sz="1600" b="0">
              <a:solidFill>
                <a:prstClr val="black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cs typeface="Mangal Pro" panose="020B0502040204020203" pitchFamily="2" charset="0"/>
            </a:endParaRPr>
          </a:p>
        </p:txBody>
      </p: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09D69C41-10C1-9D03-CDAE-854FD5B4C99D}"/>
              </a:ext>
            </a:extLst>
          </p:cNvPr>
          <p:cNvSpPr/>
          <p:nvPr/>
        </p:nvSpPr>
        <p:spPr>
          <a:xfrm>
            <a:off x="344484" y="1491456"/>
            <a:ext cx="9217028" cy="71913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3" name="사각형: 둥근 모서리 132">
            <a:extLst>
              <a:ext uri="{FF2B5EF4-FFF2-40B4-BE49-F238E27FC236}">
                <a16:creationId xmlns:a16="http://schemas.microsoft.com/office/drawing/2014/main" id="{54A0DD5F-EBAC-70A0-A224-F2D5DDFE0169}"/>
              </a:ext>
            </a:extLst>
          </p:cNvPr>
          <p:cNvSpPr/>
          <p:nvPr/>
        </p:nvSpPr>
        <p:spPr>
          <a:xfrm>
            <a:off x="446865" y="1583485"/>
            <a:ext cx="691055" cy="53508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현재의 모습</a:t>
            </a:r>
          </a:p>
        </p:txBody>
      </p:sp>
      <p:sp>
        <p:nvSpPr>
          <p:cNvPr id="134" name="사각형: 둥근 모서리 133">
            <a:extLst>
              <a:ext uri="{FF2B5EF4-FFF2-40B4-BE49-F238E27FC236}">
                <a16:creationId xmlns:a16="http://schemas.microsoft.com/office/drawing/2014/main" id="{D498D973-A95C-BEB8-120B-DCB955891E4D}"/>
              </a:ext>
            </a:extLst>
          </p:cNvPr>
          <p:cNvSpPr/>
          <p:nvPr/>
        </p:nvSpPr>
        <p:spPr>
          <a:xfrm>
            <a:off x="446865" y="2302623"/>
            <a:ext cx="1847448" cy="255988"/>
          </a:xfrm>
          <a:prstGeom prst="roundRect">
            <a:avLst>
              <a:gd name="adj" fmla="val 50000"/>
            </a:avLst>
          </a:prstGeom>
          <a:solidFill>
            <a:srgbClr val="1C6AA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20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변화 모습</a:t>
            </a:r>
            <a:r>
              <a:rPr lang="en-US" altLang="ko-KR" sz="120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(To-Be)</a:t>
            </a:r>
            <a:endParaRPr lang="ko-KR" altLang="en-US" sz="120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F250FB1E-41D4-9556-E268-A07036B487C2}"/>
              </a:ext>
            </a:extLst>
          </p:cNvPr>
          <p:cNvSpPr/>
          <p:nvPr/>
        </p:nvSpPr>
        <p:spPr>
          <a:xfrm>
            <a:off x="1240302" y="1583485"/>
            <a:ext cx="8218838" cy="535080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36000" rtlCol="0" anchor="ctr"/>
          <a:lstStyle/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US" altLang="ko-KR" sz="11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Data </a:t>
            </a:r>
            <a:r>
              <a:rPr lang="ko-KR" altLang="en-US" sz="11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수집 및 가공이 수작업 기반으로 수행되어</a:t>
            </a:r>
            <a:r>
              <a:rPr lang="en-US" altLang="ko-KR" sz="11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</a:t>
            </a:r>
            <a:r>
              <a:rPr lang="ko-KR" altLang="en-US" sz="11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10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주기</a:t>
            </a:r>
            <a:r>
              <a:rPr lang="en-US" altLang="ko-KR" sz="110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</a:t>
            </a:r>
            <a:r>
              <a:rPr lang="ko-KR" altLang="en-US" sz="110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반복 업무</a:t>
            </a:r>
            <a:r>
              <a:rPr lang="en-US" altLang="ko-KR" sz="110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110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생산 실적 분석</a:t>
            </a:r>
            <a:r>
              <a:rPr lang="en-US" altLang="ko-KR" sz="110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SHE </a:t>
            </a:r>
            <a:r>
              <a:rPr lang="ko-KR" altLang="en-US" sz="110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대응 등</a:t>
            </a:r>
            <a:r>
              <a:rPr lang="en-US" altLang="ko-KR" sz="110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r>
              <a:rPr lang="ko-KR" altLang="en-US" sz="110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에 소요되는 시간 과다 </a:t>
            </a:r>
            <a:endParaRPr lang="en-US" altLang="ko-KR" sz="1100">
              <a:solidFill>
                <a:schemeClr val="tx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1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엔지니어가 생성한 정보의 체계적 관리 부재로</a:t>
            </a:r>
            <a:r>
              <a:rPr lang="en-US" altLang="ko-KR" sz="11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10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지식 자산의 축적 및 활용 미흡</a:t>
            </a:r>
          </a:p>
        </p:txBody>
      </p:sp>
      <p:sp>
        <p:nvSpPr>
          <p:cNvPr id="217" name="사각형: 둥근 모서리 216">
            <a:extLst>
              <a:ext uri="{FF2B5EF4-FFF2-40B4-BE49-F238E27FC236}">
                <a16:creationId xmlns:a16="http://schemas.microsoft.com/office/drawing/2014/main" id="{BFBCBA0F-39C2-3CCB-3D8E-321C15E6C4F9}"/>
              </a:ext>
            </a:extLst>
          </p:cNvPr>
          <p:cNvSpPr/>
          <p:nvPr/>
        </p:nvSpPr>
        <p:spPr>
          <a:xfrm>
            <a:off x="759978" y="3876404"/>
            <a:ext cx="2858519" cy="1622677"/>
          </a:xfrm>
          <a:prstGeom prst="roundRect">
            <a:avLst>
              <a:gd name="adj" fmla="val 0"/>
            </a:avLst>
          </a:prstGeom>
          <a:noFill/>
          <a:ln w="6350">
            <a:solidFill>
              <a:schemeClr val="bg1">
                <a:lumMod val="65000"/>
              </a:schemeClr>
            </a:solidFill>
            <a:prstDash val="sysDash"/>
          </a:ln>
        </p:spPr>
        <p:txBody>
          <a:bodyPr rot="0" spcFirstLastPara="0" vertOverflow="overflow" horzOverflow="overflow" vert="horz" wrap="square" lIns="36000" tIns="72000" rIns="3600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buClrTx/>
              <a:buSzTx/>
              <a:buFontTx/>
              <a:buNone/>
              <a:tabLst/>
              <a:defRPr/>
            </a:pPr>
            <a:endParaRPr kumimoji="1" lang="en-US" altLang="ko-KR" sz="1100" i="1" strike="noStrike" kern="0" cap="none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44" name="사각형: 둥근 모서리 143">
            <a:extLst>
              <a:ext uri="{FF2B5EF4-FFF2-40B4-BE49-F238E27FC236}">
                <a16:creationId xmlns:a16="http://schemas.microsoft.com/office/drawing/2014/main" id="{A2BC4705-1F63-8257-ACC1-D10A28D44E46}"/>
              </a:ext>
            </a:extLst>
          </p:cNvPr>
          <p:cNvSpPr/>
          <p:nvPr/>
        </p:nvSpPr>
        <p:spPr>
          <a:xfrm>
            <a:off x="856694" y="3950051"/>
            <a:ext cx="1106176" cy="388467"/>
          </a:xfrm>
          <a:prstGeom prst="roundRect">
            <a:avLst>
              <a:gd name="adj" fmla="val 20189"/>
            </a:avLst>
          </a:prstGeom>
          <a:solidFill>
            <a:srgbClr val="DAE9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100" spc="-10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안전 운영 </a:t>
            </a:r>
            <a:r>
              <a:rPr lang="en-US" altLang="ko-KR" sz="1100" spc="-10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Data</a:t>
            </a:r>
            <a:br>
              <a:rPr lang="en-US" altLang="ko-KR" sz="1100" spc="-10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en-US" altLang="ko-KR" sz="1100" spc="-10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Update </a:t>
            </a:r>
            <a:r>
              <a:rPr lang="ko-KR" altLang="en-US" sz="1100" spc="-10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자동화</a:t>
            </a:r>
          </a:p>
        </p:txBody>
      </p:sp>
      <p:sp>
        <p:nvSpPr>
          <p:cNvPr id="228" name="직사각형 227">
            <a:extLst>
              <a:ext uri="{FF2B5EF4-FFF2-40B4-BE49-F238E27FC236}">
                <a16:creationId xmlns:a16="http://schemas.microsoft.com/office/drawing/2014/main" id="{2C921A88-DDD2-D30A-4B3A-7CF7953FF12C}"/>
              </a:ext>
            </a:extLst>
          </p:cNvPr>
          <p:cNvSpPr/>
          <p:nvPr/>
        </p:nvSpPr>
        <p:spPr>
          <a:xfrm>
            <a:off x="2020992" y="3948668"/>
            <a:ext cx="1451544" cy="388467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/>
        </p:spPr>
        <p:txBody>
          <a:bodyPr wrap="square" lIns="0" tIns="0" rIns="0" bIns="0" rtlCol="0" anchor="ctr"/>
          <a:lstStyle/>
          <a:p>
            <a:pPr algn="ctr" defTabSz="914400"/>
            <a:r>
              <a:rPr lang="ko-KR" altLang="en-US" sz="1000" i="1" kern="0" spc="-50">
                <a:latin typeface="나눔스퀘어" panose="020B0600000101010101" pitchFamily="50" charset="-127"/>
                <a:ea typeface="나눔스퀘어" panose="020B0600000101010101" pitchFamily="50" charset="-127"/>
              </a:rPr>
              <a:t>안전</a:t>
            </a:r>
            <a:r>
              <a:rPr lang="en-US" altLang="ko-KR" sz="1000" i="1" kern="0" spc="-50"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1000" i="1" kern="0" spc="-50">
                <a:latin typeface="나눔스퀘어" panose="020B0600000101010101" pitchFamily="50" charset="-127"/>
                <a:ea typeface="나눔스퀘어" panose="020B0600000101010101" pitchFamily="50" charset="-127"/>
              </a:rPr>
              <a:t>환경 운영 </a:t>
            </a:r>
            <a:r>
              <a:rPr lang="en-US" altLang="ko-KR" sz="1000" i="1" kern="0" spc="-50">
                <a:latin typeface="나눔스퀘어" panose="020B0600000101010101" pitchFamily="50" charset="-127"/>
                <a:ea typeface="나눔스퀘어" panose="020B0600000101010101" pitchFamily="50" charset="-127"/>
              </a:rPr>
              <a:t>DB </a:t>
            </a:r>
            <a:r>
              <a:rPr lang="ko-KR" altLang="en-US" sz="1000" i="1" kern="0" spc="-50">
                <a:latin typeface="나눔스퀘어" panose="020B0600000101010101" pitchFamily="50" charset="-127"/>
                <a:ea typeface="나눔스퀘어" panose="020B0600000101010101" pitchFamily="50" charset="-127"/>
              </a:rPr>
              <a:t>구축 및 자동 최신화</a:t>
            </a:r>
            <a:endParaRPr lang="en-US" altLang="ko-KR" sz="1000" i="1" kern="0" spc="-5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51" name="사각형: 둥근 모서리 150">
            <a:extLst>
              <a:ext uri="{FF2B5EF4-FFF2-40B4-BE49-F238E27FC236}">
                <a16:creationId xmlns:a16="http://schemas.microsoft.com/office/drawing/2014/main" id="{612B85F9-F159-68CE-D6B6-2F03D86AD7FC}"/>
              </a:ext>
            </a:extLst>
          </p:cNvPr>
          <p:cNvSpPr/>
          <p:nvPr/>
        </p:nvSpPr>
        <p:spPr>
          <a:xfrm>
            <a:off x="856694" y="4478078"/>
            <a:ext cx="1106175" cy="388800"/>
          </a:xfrm>
          <a:prstGeom prst="roundRect">
            <a:avLst>
              <a:gd name="adj" fmla="val 20189"/>
            </a:avLst>
          </a:prstGeom>
          <a:solidFill>
            <a:srgbClr val="217C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100" spc="-10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환경 운영 </a:t>
            </a:r>
            <a:r>
              <a:rPr lang="en-US" altLang="ko-KR" sz="1100" spc="-10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Data</a:t>
            </a:r>
            <a:br>
              <a:rPr lang="en-US" altLang="ko-KR" sz="1100" spc="-10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en-US" altLang="ko-KR" sz="1100" spc="-10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DB</a:t>
            </a:r>
            <a:r>
              <a:rPr lang="ko-KR" altLang="en-US" sz="1100" spc="-10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화 및 검증</a:t>
            </a:r>
          </a:p>
        </p:txBody>
      </p:sp>
      <p:sp>
        <p:nvSpPr>
          <p:cNvPr id="184" name="직사각형 183">
            <a:extLst>
              <a:ext uri="{FF2B5EF4-FFF2-40B4-BE49-F238E27FC236}">
                <a16:creationId xmlns:a16="http://schemas.microsoft.com/office/drawing/2014/main" id="{DC0CA612-9DC8-13CC-4D31-C4CAA0E58012}"/>
              </a:ext>
            </a:extLst>
          </p:cNvPr>
          <p:cNvSpPr/>
          <p:nvPr/>
        </p:nvSpPr>
        <p:spPr>
          <a:xfrm>
            <a:off x="2020991" y="4478833"/>
            <a:ext cx="1451544" cy="388046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/>
        </p:spPr>
        <p:txBody>
          <a:bodyPr wrap="square" lIns="0" tIns="0" rIns="0" bIns="0" rtlCol="0" anchor="ctr"/>
          <a:lstStyle/>
          <a:p>
            <a:pPr algn="ctr" defTabSz="914400"/>
            <a:r>
              <a:rPr lang="ko-KR" altLang="en-US" sz="1000" i="1" kern="0" spc="-50">
                <a:latin typeface="나눔스퀘어" panose="020B0600000101010101" pitchFamily="50" charset="-127"/>
                <a:ea typeface="나눔스퀘어" panose="020B0600000101010101" pitchFamily="50" charset="-127"/>
              </a:rPr>
              <a:t>점검 대응 등 </a:t>
            </a:r>
            <a:r>
              <a:rPr lang="en-US" altLang="ko-KR" sz="1000" i="1" kern="0" spc="-50">
                <a:latin typeface="나눔스퀘어" panose="020B0600000101010101" pitchFamily="50" charset="-127"/>
                <a:ea typeface="나눔스퀘어" panose="020B0600000101010101" pitchFamily="50" charset="-127"/>
              </a:rPr>
              <a:t>SHE </a:t>
            </a:r>
            <a:r>
              <a:rPr lang="ko-KR" altLang="en-US" sz="1000" i="1" kern="0" spc="-50">
                <a:latin typeface="나눔스퀘어" panose="020B0600000101010101" pitchFamily="50" charset="-127"/>
                <a:ea typeface="나눔스퀘어" panose="020B0600000101010101" pitchFamily="50" charset="-127"/>
              </a:rPr>
              <a:t>필요 </a:t>
            </a:r>
            <a:r>
              <a:rPr lang="en-US" altLang="ko-KR" sz="1000" i="1" kern="0" spc="-50">
                <a:latin typeface="나눔스퀘어" panose="020B0600000101010101" pitchFamily="50" charset="-127"/>
                <a:ea typeface="나눔스퀘어" panose="020B0600000101010101" pitchFamily="50" charset="-127"/>
              </a:rPr>
              <a:t>Data </a:t>
            </a:r>
            <a:r>
              <a:rPr lang="ko-KR" altLang="en-US" sz="1000" i="1" kern="0" spc="-50">
                <a:latin typeface="나눔스퀘어" panose="020B0600000101010101" pitchFamily="50" charset="-127"/>
                <a:ea typeface="나눔스퀘어" panose="020B0600000101010101" pitchFamily="50" charset="-127"/>
              </a:rPr>
              <a:t>추출 및 </a:t>
            </a:r>
            <a:r>
              <a:rPr lang="en-US" altLang="ko-KR" sz="1000" i="1" kern="0" spc="-50">
                <a:latin typeface="나눔스퀘어" panose="020B0600000101010101" pitchFamily="50" charset="-127"/>
                <a:ea typeface="나눔스퀘어" panose="020B0600000101010101" pitchFamily="50" charset="-127"/>
              </a:rPr>
              <a:t>Report </a:t>
            </a:r>
            <a:r>
              <a:rPr lang="ko-KR" altLang="en-US" sz="1000" i="1" kern="0" spc="-50">
                <a:latin typeface="나눔스퀘어" panose="020B0600000101010101" pitchFamily="50" charset="-127"/>
                <a:ea typeface="나눔스퀘어" panose="020B0600000101010101" pitchFamily="50" charset="-127"/>
              </a:rPr>
              <a:t>초안 제공</a:t>
            </a:r>
            <a:endParaRPr lang="en-US" altLang="ko-KR" sz="1000" i="1" kern="0" spc="-5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027" name="직사각형 1026">
            <a:extLst>
              <a:ext uri="{FF2B5EF4-FFF2-40B4-BE49-F238E27FC236}">
                <a16:creationId xmlns:a16="http://schemas.microsoft.com/office/drawing/2014/main" id="{BE203E9D-59E1-B260-9F2A-98D53A16F04C}"/>
              </a:ext>
            </a:extLst>
          </p:cNvPr>
          <p:cNvSpPr/>
          <p:nvPr/>
        </p:nvSpPr>
        <p:spPr>
          <a:xfrm>
            <a:off x="2667670" y="5949157"/>
            <a:ext cx="694925" cy="334071"/>
          </a:xfrm>
          <a:prstGeom prst="rect">
            <a:avLst/>
          </a:prstGeom>
          <a:noFill/>
          <a:ln w="3175">
            <a:noFill/>
          </a:ln>
          <a:effectLst/>
        </p:spPr>
        <p:txBody>
          <a:bodyPr wrap="square" lIns="36000" tIns="0" rIns="36000" bIns="0" rtlCol="0" anchor="ctr"/>
          <a:lstStyle/>
          <a:p>
            <a:pPr algn="ctr" defTabSz="914400" latinLnBrk="0"/>
            <a:r>
              <a:rPr lang="ko-KR" altLang="en-US" sz="1000" ker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공정 </a:t>
            </a:r>
            <a:r>
              <a:rPr lang="en-US" altLang="ko-KR" sz="1000" ker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Data</a:t>
            </a:r>
          </a:p>
          <a:p>
            <a:pPr algn="ctr" defTabSz="914400" latinLnBrk="0"/>
            <a:r>
              <a:rPr lang="en-US" altLang="ko-KR" sz="1000" kern="0">
                <a:latin typeface="나눔스퀘어" panose="020B0600000101010101" pitchFamily="50" charset="-127"/>
                <a:ea typeface="나눔스퀘어" panose="020B0600000101010101" pitchFamily="50" charset="-127"/>
              </a:rPr>
              <a:t>(RTDB)</a:t>
            </a:r>
            <a:endParaRPr lang="ko-KR" altLang="en-US" sz="1000" kern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042" name="직사각형 1041">
            <a:extLst>
              <a:ext uri="{FF2B5EF4-FFF2-40B4-BE49-F238E27FC236}">
                <a16:creationId xmlns:a16="http://schemas.microsoft.com/office/drawing/2014/main" id="{7C4EBCFE-E6DB-62A4-DF75-D04D27B64076}"/>
              </a:ext>
            </a:extLst>
          </p:cNvPr>
          <p:cNvSpPr/>
          <p:nvPr/>
        </p:nvSpPr>
        <p:spPr>
          <a:xfrm>
            <a:off x="3594648" y="5949157"/>
            <a:ext cx="694925" cy="334071"/>
          </a:xfrm>
          <a:prstGeom prst="rect">
            <a:avLst/>
          </a:prstGeom>
          <a:noFill/>
          <a:ln w="3175">
            <a:noFill/>
          </a:ln>
          <a:effectLst/>
        </p:spPr>
        <p:txBody>
          <a:bodyPr wrap="square" lIns="36000" tIns="0" rIns="36000" bIns="0" rtlCol="0" anchor="ctr"/>
          <a:lstStyle/>
          <a:p>
            <a:pPr algn="ctr" defTabSz="914400" latinLnBrk="0"/>
            <a:r>
              <a:rPr lang="ko-KR" altLang="en-US" sz="1000" ker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설비 </a:t>
            </a:r>
            <a:r>
              <a:rPr lang="en-US" altLang="ko-KR" sz="1000" ker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Data</a:t>
            </a:r>
          </a:p>
          <a:p>
            <a:pPr algn="ctr" defTabSz="914400" latinLnBrk="0"/>
            <a:r>
              <a:rPr lang="en-US" altLang="ko-KR" sz="1000" kern="0">
                <a:latin typeface="나눔스퀘어" panose="020B0600000101010101" pitchFamily="50" charset="-127"/>
                <a:ea typeface="나눔스퀘어" panose="020B0600000101010101" pitchFamily="50" charset="-127"/>
              </a:rPr>
              <a:t>(OCEAN-H)</a:t>
            </a:r>
            <a:endParaRPr lang="ko-KR" altLang="en-US" sz="1000" kern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045" name="직사각형 1044">
            <a:extLst>
              <a:ext uri="{FF2B5EF4-FFF2-40B4-BE49-F238E27FC236}">
                <a16:creationId xmlns:a16="http://schemas.microsoft.com/office/drawing/2014/main" id="{C58C28CE-D063-247A-3D32-CABD5E14FB2E}"/>
              </a:ext>
            </a:extLst>
          </p:cNvPr>
          <p:cNvSpPr/>
          <p:nvPr/>
        </p:nvSpPr>
        <p:spPr>
          <a:xfrm>
            <a:off x="4521626" y="5949157"/>
            <a:ext cx="694925" cy="334071"/>
          </a:xfrm>
          <a:prstGeom prst="rect">
            <a:avLst/>
          </a:prstGeom>
          <a:noFill/>
          <a:ln w="3175">
            <a:noFill/>
          </a:ln>
          <a:effectLst/>
        </p:spPr>
        <p:txBody>
          <a:bodyPr wrap="square" lIns="36000" tIns="0" rIns="36000" bIns="0" rtlCol="0" anchor="ctr"/>
          <a:lstStyle/>
          <a:p>
            <a:pPr algn="ctr" defTabSz="914400" latinLnBrk="0"/>
            <a:r>
              <a:rPr lang="ko-KR" altLang="en-US" sz="1000" ker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생산 </a:t>
            </a:r>
            <a:r>
              <a:rPr lang="en-US" altLang="ko-KR" sz="1000" ker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Data</a:t>
            </a:r>
          </a:p>
          <a:p>
            <a:pPr algn="ctr" defTabSz="914400" latinLnBrk="0"/>
            <a:r>
              <a:rPr lang="en-US" altLang="ko-KR" sz="1000" kern="0">
                <a:latin typeface="나눔스퀘어" panose="020B0600000101010101" pitchFamily="50" charset="-127"/>
                <a:ea typeface="나눔스퀘어" panose="020B0600000101010101" pitchFamily="50" charset="-127"/>
              </a:rPr>
              <a:t>(OASIS)</a:t>
            </a:r>
            <a:endParaRPr lang="ko-KR" altLang="en-US" sz="1000" kern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062" name="직사각형 1061">
            <a:extLst>
              <a:ext uri="{FF2B5EF4-FFF2-40B4-BE49-F238E27FC236}">
                <a16:creationId xmlns:a16="http://schemas.microsoft.com/office/drawing/2014/main" id="{C5C3CAE7-C501-383E-C3C9-6B321FE8D83F}"/>
              </a:ext>
            </a:extLst>
          </p:cNvPr>
          <p:cNvSpPr/>
          <p:nvPr/>
        </p:nvSpPr>
        <p:spPr>
          <a:xfrm>
            <a:off x="5448604" y="5949157"/>
            <a:ext cx="694925" cy="334071"/>
          </a:xfrm>
          <a:prstGeom prst="rect">
            <a:avLst/>
          </a:prstGeom>
          <a:noFill/>
          <a:ln w="3175">
            <a:noFill/>
          </a:ln>
          <a:effectLst/>
        </p:spPr>
        <p:txBody>
          <a:bodyPr wrap="square" lIns="36000" tIns="0" rIns="36000" bIns="0" rtlCol="0" anchor="ctr"/>
          <a:lstStyle/>
          <a:p>
            <a:pPr algn="ctr" defTabSz="914400" latinLnBrk="0"/>
            <a:r>
              <a:rPr lang="ko-KR" altLang="en-US" sz="1000" ker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개인 문서</a:t>
            </a:r>
            <a:endParaRPr lang="en-US" altLang="ko-KR" sz="1000" ker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 defTabSz="914400" latinLnBrk="0"/>
            <a:r>
              <a:rPr lang="en-US" altLang="ko-KR" sz="1000" kern="0">
                <a:latin typeface="나눔스퀘어" panose="020B0600000101010101" pitchFamily="50" charset="-127"/>
                <a:ea typeface="나눔스퀘어" panose="020B0600000101010101" pitchFamily="50" charset="-127"/>
              </a:rPr>
              <a:t>(Teams)</a:t>
            </a:r>
            <a:endParaRPr lang="ko-KR" altLang="en-US" sz="1000" kern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068" name="직사각형 1067">
            <a:extLst>
              <a:ext uri="{FF2B5EF4-FFF2-40B4-BE49-F238E27FC236}">
                <a16:creationId xmlns:a16="http://schemas.microsoft.com/office/drawing/2014/main" id="{C3EC1F45-BE5A-5FA4-F820-8DD448DFAFC4}"/>
              </a:ext>
            </a:extLst>
          </p:cNvPr>
          <p:cNvSpPr/>
          <p:nvPr/>
        </p:nvSpPr>
        <p:spPr>
          <a:xfrm>
            <a:off x="6375582" y="5949157"/>
            <a:ext cx="694925" cy="334071"/>
          </a:xfrm>
          <a:prstGeom prst="rect">
            <a:avLst/>
          </a:prstGeom>
          <a:noFill/>
          <a:ln w="3175">
            <a:noFill/>
          </a:ln>
          <a:effectLst/>
        </p:spPr>
        <p:txBody>
          <a:bodyPr wrap="square" lIns="36000" tIns="0" rIns="36000" bIns="0" rtlCol="0" anchor="ctr"/>
          <a:lstStyle/>
          <a:p>
            <a:pPr algn="ctr" defTabSz="914400" latinLnBrk="0"/>
            <a:r>
              <a:rPr lang="ko-KR" altLang="en-US" sz="1000" ker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기술자료</a:t>
            </a:r>
            <a:endParaRPr lang="en-US" altLang="ko-KR" sz="1000" ker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 defTabSz="914400" latinLnBrk="0"/>
            <a:r>
              <a:rPr lang="en-US" altLang="ko-KR" sz="1000" kern="0">
                <a:latin typeface="나눔스퀘어" panose="020B0600000101010101" pitchFamily="50" charset="-127"/>
                <a:ea typeface="나눔스퀘어" panose="020B0600000101010101" pitchFamily="50" charset="-127"/>
              </a:rPr>
              <a:t>(TDMS)</a:t>
            </a:r>
            <a:endParaRPr lang="ko-KR" altLang="en-US" sz="1000" kern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1034" name="연결선: 꺾임 1033">
            <a:extLst>
              <a:ext uri="{FF2B5EF4-FFF2-40B4-BE49-F238E27FC236}">
                <a16:creationId xmlns:a16="http://schemas.microsoft.com/office/drawing/2014/main" id="{74A8FB12-DBE7-8583-3443-538D3FB1FADA}"/>
              </a:ext>
            </a:extLst>
          </p:cNvPr>
          <p:cNvCxnSpPr>
            <a:cxnSpLocks/>
            <a:stCxn id="1079" idx="0"/>
          </p:cNvCxnSpPr>
          <p:nvPr/>
        </p:nvCxnSpPr>
        <p:spPr>
          <a:xfrm rot="16200000" flipV="1">
            <a:off x="7487899" y="3611897"/>
            <a:ext cx="296785" cy="662629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7" name="연결선: 꺾임 1036">
            <a:extLst>
              <a:ext uri="{FF2B5EF4-FFF2-40B4-BE49-F238E27FC236}">
                <a16:creationId xmlns:a16="http://schemas.microsoft.com/office/drawing/2014/main" id="{DA6FA34D-76C7-68E6-A73E-926ABBA27606}"/>
              </a:ext>
            </a:extLst>
          </p:cNvPr>
          <p:cNvCxnSpPr>
            <a:cxnSpLocks/>
            <a:stCxn id="37" idx="0"/>
          </p:cNvCxnSpPr>
          <p:nvPr/>
        </p:nvCxnSpPr>
        <p:spPr>
          <a:xfrm rot="5400000" flipH="1" flipV="1">
            <a:off x="6158740" y="2945369"/>
            <a:ext cx="296785" cy="1995687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id="{436DD335-3BEB-0D7A-8E88-E10DEF81F685}"/>
              </a:ext>
            </a:extLst>
          </p:cNvPr>
          <p:cNvSpPr/>
          <p:nvPr/>
        </p:nvSpPr>
        <p:spPr>
          <a:xfrm>
            <a:off x="5501477" y="2744835"/>
            <a:ext cx="3369258" cy="286595"/>
          </a:xfrm>
          <a:prstGeom prst="rect">
            <a:avLst/>
          </a:prstGeom>
          <a:noFill/>
          <a:ln w="635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t"/>
          <a:lstStyle/>
          <a:p>
            <a:pPr algn="ctr"/>
            <a:r>
              <a:rPr lang="ko-KR" altLang="en-US" sz="1300" u="sng">
                <a:solidFill>
                  <a:schemeClr val="tx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생산 </a:t>
            </a:r>
            <a:r>
              <a:rPr lang="en-US" altLang="ko-KR" sz="1300" u="sng">
                <a:solidFill>
                  <a:schemeClr val="tx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Engineer </a:t>
            </a:r>
            <a:r>
              <a:rPr lang="ko-KR" altLang="en-US" sz="1300" u="sng">
                <a:solidFill>
                  <a:schemeClr val="tx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핵심 업무 집중</a:t>
            </a:r>
            <a:endParaRPr lang="ko-KR" altLang="en-US" sz="1300" u="sng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pSp>
        <p:nvGrpSpPr>
          <p:cNvPr id="202" name="그룹 201">
            <a:extLst>
              <a:ext uri="{FF2B5EF4-FFF2-40B4-BE49-F238E27FC236}">
                <a16:creationId xmlns:a16="http://schemas.microsoft.com/office/drawing/2014/main" id="{E28F0A50-4E02-418F-0D6A-449CF83E0BC6}"/>
              </a:ext>
            </a:extLst>
          </p:cNvPr>
          <p:cNvGrpSpPr/>
          <p:nvPr/>
        </p:nvGrpSpPr>
        <p:grpSpPr>
          <a:xfrm>
            <a:off x="5593249" y="3276658"/>
            <a:ext cx="3321396" cy="693681"/>
            <a:chOff x="1166796" y="3078138"/>
            <a:chExt cx="3321396" cy="693681"/>
          </a:xfrm>
        </p:grpSpPr>
        <p:grpSp>
          <p:nvGrpSpPr>
            <p:cNvPr id="141" name="그룹 140">
              <a:extLst>
                <a:ext uri="{FF2B5EF4-FFF2-40B4-BE49-F238E27FC236}">
                  <a16:creationId xmlns:a16="http://schemas.microsoft.com/office/drawing/2014/main" id="{FDA6F205-8459-0F5A-0DDD-BD357736DD9B}"/>
                </a:ext>
              </a:extLst>
            </p:cNvPr>
            <p:cNvGrpSpPr/>
            <p:nvPr/>
          </p:nvGrpSpPr>
          <p:grpSpPr>
            <a:xfrm>
              <a:off x="1166796" y="3078138"/>
              <a:ext cx="3321396" cy="682371"/>
              <a:chOff x="938996" y="3078138"/>
              <a:chExt cx="3321396" cy="682371"/>
            </a:xfrm>
          </p:grpSpPr>
          <p:grpSp>
            <p:nvGrpSpPr>
              <p:cNvPr id="220" name="그룹 219">
                <a:extLst>
                  <a:ext uri="{FF2B5EF4-FFF2-40B4-BE49-F238E27FC236}">
                    <a16:creationId xmlns:a16="http://schemas.microsoft.com/office/drawing/2014/main" id="{5BE6A548-7C02-1A48-ADD8-01E7A23B5DF4}"/>
                  </a:ext>
                </a:extLst>
              </p:cNvPr>
              <p:cNvGrpSpPr/>
              <p:nvPr/>
            </p:nvGrpSpPr>
            <p:grpSpPr>
              <a:xfrm>
                <a:off x="2173321" y="3098363"/>
                <a:ext cx="965512" cy="497936"/>
                <a:chOff x="-1005781" y="3878268"/>
                <a:chExt cx="965512" cy="497936"/>
              </a:xfrm>
            </p:grpSpPr>
            <p:grpSp>
              <p:nvGrpSpPr>
                <p:cNvPr id="221" name="그룹 220">
                  <a:extLst>
                    <a:ext uri="{FF2B5EF4-FFF2-40B4-BE49-F238E27FC236}">
                      <a16:creationId xmlns:a16="http://schemas.microsoft.com/office/drawing/2014/main" id="{2622E35A-B728-05EA-166C-15B8C2AAE151}"/>
                    </a:ext>
                  </a:extLst>
                </p:cNvPr>
                <p:cNvGrpSpPr/>
                <p:nvPr/>
              </p:nvGrpSpPr>
              <p:grpSpPr>
                <a:xfrm>
                  <a:off x="-830360" y="3878268"/>
                  <a:ext cx="603961" cy="497936"/>
                  <a:chOff x="1619513" y="3542503"/>
                  <a:chExt cx="603961" cy="497936"/>
                </a:xfrm>
              </p:grpSpPr>
              <p:pic>
                <p:nvPicPr>
                  <p:cNvPr id="224" name="그래픽 223" descr="남성 건설 노동자 윤곽선">
                    <a:extLst>
                      <a:ext uri="{FF2B5EF4-FFF2-40B4-BE49-F238E27FC236}">
                        <a16:creationId xmlns:a16="http://schemas.microsoft.com/office/drawing/2014/main" id="{F14D6B89-E173-2198-E7BA-848C563E04C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758806" y="3542503"/>
                    <a:ext cx="337569" cy="337569"/>
                  </a:xfrm>
                  <a:prstGeom prst="rect">
                    <a:avLst/>
                  </a:prstGeom>
                </p:spPr>
              </p:pic>
              <p:sp>
                <p:nvSpPr>
                  <p:cNvPr id="225" name="직사각형 224">
                    <a:extLst>
                      <a:ext uri="{FF2B5EF4-FFF2-40B4-BE49-F238E27FC236}">
                        <a16:creationId xmlns:a16="http://schemas.microsoft.com/office/drawing/2014/main" id="{A1982567-9E05-9685-00DA-F0AA396EA30C}"/>
                      </a:ext>
                    </a:extLst>
                  </p:cNvPr>
                  <p:cNvSpPr/>
                  <p:nvPr/>
                </p:nvSpPr>
                <p:spPr>
                  <a:xfrm>
                    <a:off x="1619513" y="3889375"/>
                    <a:ext cx="603961" cy="151064"/>
                  </a:xfrm>
                  <a:prstGeom prst="rect">
                    <a:avLst/>
                  </a:prstGeom>
                  <a:noFill/>
                  <a:ln w="3175">
                    <a:noFill/>
                  </a:ln>
                  <a:effectLst/>
                </p:spPr>
                <p:txBody>
                  <a:bodyPr wrap="square" lIns="0" tIns="0" rIns="0" bIns="0" rtlCol="0" anchor="ctr"/>
                  <a:lstStyle/>
                  <a:p>
                    <a:pPr algn="ctr" defTabSz="914400" latinLnBrk="0"/>
                    <a:r>
                      <a:rPr lang="en-US" altLang="ko-KR" sz="1000" kern="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rPr>
                      <a:t>Engineer</a:t>
                    </a:r>
                    <a:endParaRPr lang="ko-KR" altLang="en-US" sz="1000" kern="0">
                      <a:latin typeface="나눔스퀘어 Bold" panose="020B0600000101010101" pitchFamily="50" charset="-127"/>
                      <a:ea typeface="나눔스퀘어 Bold" panose="020B0600000101010101" pitchFamily="50" charset="-127"/>
                    </a:endParaRPr>
                  </a:p>
                </p:txBody>
              </p:sp>
            </p:grpSp>
            <p:pic>
              <p:nvPicPr>
                <p:cNvPr id="222" name="그래픽 221" descr="왼쪽 화살표가 있는 원 단색으로 채워진">
                  <a:extLst>
                    <a:ext uri="{FF2B5EF4-FFF2-40B4-BE49-F238E27FC236}">
                      <a16:creationId xmlns:a16="http://schemas.microsoft.com/office/drawing/2014/main" id="{F67D4B62-B500-0AC6-80EC-4D6031F794D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 flipH="1">
                  <a:off x="-1005781" y="4040107"/>
                  <a:ext cx="174259" cy="174259"/>
                </a:xfrm>
                <a:prstGeom prst="rect">
                  <a:avLst/>
                </a:prstGeom>
              </p:spPr>
            </p:pic>
            <p:pic>
              <p:nvPicPr>
                <p:cNvPr id="223" name="그래픽 222" descr="왼쪽 화살표가 있는 원 단색으로 채워진">
                  <a:extLst>
                    <a:ext uri="{FF2B5EF4-FFF2-40B4-BE49-F238E27FC236}">
                      <a16:creationId xmlns:a16="http://schemas.microsoft.com/office/drawing/2014/main" id="{B95D4665-8A04-ABC9-91DD-7752B4539E9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 flipH="1">
                  <a:off x="-214528" y="4040107"/>
                  <a:ext cx="174259" cy="174259"/>
                </a:xfrm>
                <a:prstGeom prst="rect">
                  <a:avLst/>
                </a:prstGeom>
              </p:spPr>
            </p:pic>
          </p:grpSp>
          <p:sp>
            <p:nvSpPr>
              <p:cNvPr id="226" name="직사각형 225">
                <a:extLst>
                  <a:ext uri="{FF2B5EF4-FFF2-40B4-BE49-F238E27FC236}">
                    <a16:creationId xmlns:a16="http://schemas.microsoft.com/office/drawing/2014/main" id="{EFF8462C-667A-64A0-9E88-790827F2F8CC}"/>
                  </a:ext>
                </a:extLst>
              </p:cNvPr>
              <p:cNvSpPr/>
              <p:nvPr/>
            </p:nvSpPr>
            <p:spPr>
              <a:xfrm>
                <a:off x="938996" y="3078138"/>
                <a:ext cx="1226493" cy="532917"/>
              </a:xfrm>
              <a:prstGeom prst="rect">
                <a:avLst/>
              </a:prstGeom>
              <a:noFill/>
              <a:ln w="3175">
                <a:noFill/>
              </a:ln>
              <a:effectLst/>
            </p:spPr>
            <p:txBody>
              <a:bodyPr wrap="square" lIns="0" tIns="0" rIns="0" bIns="0" rtlCol="0" anchor="ctr"/>
              <a:lstStyle/>
              <a:p>
                <a:pPr marL="72000" indent="-72000" defTabSz="914400">
                  <a:buFont typeface="Wingdings" panose="05000000000000000000" pitchFamily="2" charset="2"/>
                  <a:buChar char="§"/>
                </a:pPr>
                <a:r>
                  <a:rPr lang="ko-KR" altLang="en-US" sz="1000" i="1" kern="0" spc="-5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공정 이상 원인 분석</a:t>
                </a:r>
                <a:endParaRPr lang="en-US" altLang="ko-KR" sz="1000" i="1" kern="0" spc="-5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  <a:p>
                <a:pPr marL="72000" indent="-72000" defTabSz="914400">
                  <a:buFont typeface="Wingdings" panose="05000000000000000000" pitchFamily="2" charset="2"/>
                  <a:buChar char="§"/>
                </a:pPr>
                <a:r>
                  <a:rPr lang="ko-KR" altLang="en-US" sz="1000" i="1" kern="0" spc="-5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문제 해결 방안 도출</a:t>
                </a:r>
                <a:endParaRPr lang="en-US" altLang="ko-KR" sz="1000" i="1" kern="0" spc="-5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  <a:p>
                <a:pPr marL="72000" indent="-72000" defTabSz="914400">
                  <a:buFont typeface="Wingdings" panose="05000000000000000000" pitchFamily="2" charset="2"/>
                  <a:buChar char="§"/>
                </a:pPr>
                <a:r>
                  <a:rPr lang="ko-KR" altLang="en-US" sz="1000" i="1" kern="0" spc="-5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공정 개선 과제 수행</a:t>
                </a:r>
                <a:endParaRPr lang="en-US" altLang="ko-KR" sz="1000" i="1" kern="0" spc="-5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  <p:sp>
            <p:nvSpPr>
              <p:cNvPr id="219" name="사각형: 모서리가 접힌 도형 218">
                <a:extLst>
                  <a:ext uri="{FF2B5EF4-FFF2-40B4-BE49-F238E27FC236}">
                    <a16:creationId xmlns:a16="http://schemas.microsoft.com/office/drawing/2014/main" id="{2BCA80A2-2EF2-4415-ECD3-B712304214CA}"/>
                  </a:ext>
                </a:extLst>
              </p:cNvPr>
              <p:cNvSpPr/>
              <p:nvPr/>
            </p:nvSpPr>
            <p:spPr>
              <a:xfrm>
                <a:off x="3292954" y="3183674"/>
                <a:ext cx="182284" cy="298429"/>
              </a:xfrm>
              <a:prstGeom prst="foldedCorner">
                <a:avLst>
                  <a:gd name="adj" fmla="val 39180"/>
                </a:avLst>
              </a:prstGeom>
              <a:solidFill>
                <a:schemeClr val="bg1"/>
              </a:solidFill>
              <a:ln w="158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lIns="36000" tIns="36000" rIns="36000" bIns="36000" rtlCol="0" anchor="t"/>
              <a:lstStyle/>
              <a:p>
                <a:pPr marR="0" lvl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r>
                  <a:rPr kumimoji="0" lang="en-US" altLang="ko-KR" sz="300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맑은 고딕" panose="020B0503020000020004" pitchFamily="50" charset="-127"/>
                    <a:cs typeface="+mn-cs"/>
                  </a:rPr>
                  <a:t>……….</a:t>
                </a:r>
              </a:p>
              <a:p>
                <a:pPr latinLnBrk="0">
                  <a:defRPr/>
                </a:pPr>
                <a:r>
                  <a:rPr kumimoji="0" lang="en-US" altLang="ko-KR" sz="300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맑은 고딕" panose="020B0503020000020004" pitchFamily="50" charset="-127"/>
                    <a:cs typeface="+mn-cs"/>
                  </a:rPr>
                  <a:t>……….</a:t>
                </a:r>
              </a:p>
              <a:p>
                <a:pPr latinLnBrk="0">
                  <a:defRPr/>
                </a:pPr>
                <a:r>
                  <a:rPr kumimoji="0" lang="en-US" altLang="ko-KR" sz="300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맑은 고딕" panose="020B0503020000020004" pitchFamily="50" charset="-127"/>
                    <a:cs typeface="+mn-cs"/>
                  </a:rPr>
                  <a:t>……</a:t>
                </a:r>
              </a:p>
            </p:txBody>
          </p:sp>
          <p:grpSp>
            <p:nvGrpSpPr>
              <p:cNvPr id="30" name="그룹 29">
                <a:extLst>
                  <a:ext uri="{FF2B5EF4-FFF2-40B4-BE49-F238E27FC236}">
                    <a16:creationId xmlns:a16="http://schemas.microsoft.com/office/drawing/2014/main" id="{FB834024-5DCD-DA41-5439-4BB8D0D99143}"/>
                  </a:ext>
                </a:extLst>
              </p:cNvPr>
              <p:cNvGrpSpPr/>
              <p:nvPr/>
            </p:nvGrpSpPr>
            <p:grpSpPr>
              <a:xfrm>
                <a:off x="3417034" y="3211029"/>
                <a:ext cx="843358" cy="549480"/>
                <a:chOff x="8966397" y="3200837"/>
                <a:chExt cx="843358" cy="549480"/>
              </a:xfrm>
            </p:grpSpPr>
            <p:sp>
              <p:nvSpPr>
                <p:cNvPr id="31" name="직사각형 30">
                  <a:extLst>
                    <a:ext uri="{FF2B5EF4-FFF2-40B4-BE49-F238E27FC236}">
                      <a16:creationId xmlns:a16="http://schemas.microsoft.com/office/drawing/2014/main" id="{21AD1421-3CD5-F880-DBB8-FC28D16E5AE6}"/>
                    </a:ext>
                  </a:extLst>
                </p:cNvPr>
                <p:cNvSpPr/>
                <p:nvPr/>
              </p:nvSpPr>
              <p:spPr>
                <a:xfrm>
                  <a:off x="8966397" y="3365586"/>
                  <a:ext cx="843358" cy="384731"/>
                </a:xfrm>
                <a:prstGeom prst="rect">
                  <a:avLst/>
                </a:prstGeom>
                <a:noFill/>
                <a:ln w="3175">
                  <a:noFill/>
                </a:ln>
                <a:effectLst/>
              </p:spPr>
              <p:txBody>
                <a:bodyPr wrap="square" lIns="0" tIns="0" rIns="0" bIns="0" rtlCol="0" anchor="ctr"/>
                <a:lstStyle/>
                <a:p>
                  <a:pPr algn="ctr" defTabSz="914400"/>
                  <a:r>
                    <a:rPr lang="ko-KR" altLang="en-US" sz="900" i="1" kern="0" spc="-5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나눔스퀘어" panose="020B0600000101010101" pitchFamily="50" charset="-127"/>
                      <a:ea typeface="나눔스퀘어" panose="020B0600000101010101" pitchFamily="50" charset="-127"/>
                    </a:rPr>
                    <a:t>업무 노하우</a:t>
                  </a:r>
                  <a:endParaRPr lang="en-US" altLang="ko-KR" sz="900" i="1" kern="0" spc="-5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endParaRPr>
                </a:p>
                <a:p>
                  <a:pPr algn="ctr" defTabSz="914400"/>
                  <a:r>
                    <a:rPr lang="ko-KR" altLang="en-US" sz="900" i="1" kern="0" spc="-50" err="1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나눔스퀘어" panose="020B0600000101010101" pitchFamily="50" charset="-127"/>
                      <a:ea typeface="나눔스퀘어" panose="020B0600000101010101" pitchFamily="50" charset="-127"/>
                    </a:rPr>
                    <a:t>재축적</a:t>
                  </a:r>
                  <a:endParaRPr lang="en-US" altLang="ko-KR" sz="900" i="1" kern="0" spc="-5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endParaRPr>
                </a:p>
              </p:txBody>
            </p:sp>
            <p:grpSp>
              <p:nvGrpSpPr>
                <p:cNvPr id="32" name="그룹 31">
                  <a:extLst>
                    <a:ext uri="{FF2B5EF4-FFF2-40B4-BE49-F238E27FC236}">
                      <a16:creationId xmlns:a16="http://schemas.microsoft.com/office/drawing/2014/main" id="{A7BC223C-54F6-6FB4-E960-2E6F4FEADCD6}"/>
                    </a:ext>
                  </a:extLst>
                </p:cNvPr>
                <p:cNvGrpSpPr/>
                <p:nvPr/>
              </p:nvGrpSpPr>
              <p:grpSpPr>
                <a:xfrm>
                  <a:off x="9282654" y="3200837"/>
                  <a:ext cx="228191" cy="216000"/>
                  <a:chOff x="811233" y="3947876"/>
                  <a:chExt cx="285007" cy="298222"/>
                </a:xfrm>
              </p:grpSpPr>
              <p:sp>
                <p:nvSpPr>
                  <p:cNvPr id="33" name="화살표: 아래로 구부러짐 32">
                    <a:extLst>
                      <a:ext uri="{FF2B5EF4-FFF2-40B4-BE49-F238E27FC236}">
                        <a16:creationId xmlns:a16="http://schemas.microsoft.com/office/drawing/2014/main" id="{756B17D8-4888-04C7-8F2C-4C0EF35BCF9D}"/>
                      </a:ext>
                    </a:extLst>
                  </p:cNvPr>
                  <p:cNvSpPr/>
                  <p:nvPr/>
                </p:nvSpPr>
                <p:spPr>
                  <a:xfrm>
                    <a:off x="844241" y="3947876"/>
                    <a:ext cx="251999" cy="144000"/>
                  </a:xfrm>
                  <a:prstGeom prst="curvedDownArrow">
                    <a:avLst>
                      <a:gd name="adj1" fmla="val 25000"/>
                      <a:gd name="adj2" fmla="val 50000"/>
                      <a:gd name="adj3" fmla="val 37557"/>
                    </a:avLst>
                  </a:prstGeom>
                  <a:solidFill>
                    <a:schemeClr val="bg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4" name="화살표: 아래로 구부러짐 33">
                    <a:extLst>
                      <a:ext uri="{FF2B5EF4-FFF2-40B4-BE49-F238E27FC236}">
                        <a16:creationId xmlns:a16="http://schemas.microsoft.com/office/drawing/2014/main" id="{C3AB1800-EDBA-8801-B35D-9C4705E66550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811233" y="4102098"/>
                    <a:ext cx="251999" cy="144000"/>
                  </a:xfrm>
                  <a:prstGeom prst="curvedDownArrow">
                    <a:avLst>
                      <a:gd name="adj1" fmla="val 25000"/>
                      <a:gd name="adj2" fmla="val 50000"/>
                      <a:gd name="adj3" fmla="val 37557"/>
                    </a:avLst>
                  </a:prstGeom>
                  <a:solidFill>
                    <a:schemeClr val="bg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</p:grpSp>
        <p:sp>
          <p:nvSpPr>
            <p:cNvPr id="142" name="직사각형 141">
              <a:extLst>
                <a:ext uri="{FF2B5EF4-FFF2-40B4-BE49-F238E27FC236}">
                  <a16:creationId xmlns:a16="http://schemas.microsoft.com/office/drawing/2014/main" id="{3FC016DE-F8F9-0EA1-40EB-19713D1A6B5D}"/>
                </a:ext>
              </a:extLst>
            </p:cNvPr>
            <p:cNvSpPr/>
            <p:nvPr/>
          </p:nvSpPr>
          <p:spPr>
            <a:xfrm rot="5400000">
              <a:off x="1540763" y="3519321"/>
              <a:ext cx="298587" cy="206409"/>
            </a:xfrm>
            <a:prstGeom prst="rect">
              <a:avLst/>
            </a:prstGeom>
            <a:noFill/>
            <a:ln w="3175">
              <a:noFill/>
            </a:ln>
            <a:effectLst/>
          </p:spPr>
          <p:txBody>
            <a:bodyPr wrap="square" lIns="0" tIns="0" rIns="0" bIns="0" rtlCol="0" anchor="ctr"/>
            <a:lstStyle/>
            <a:p>
              <a:pPr algn="ctr" defTabSz="914400"/>
              <a:r>
                <a:rPr lang="en-US" altLang="ko-KR" sz="1000" i="1" kern="0" spc="-200">
                  <a:latin typeface="맑은 고딕" panose="020B0503020000020004" pitchFamily="50" charset="-127"/>
                  <a:ea typeface="맑은 고딕" panose="020B0503020000020004" pitchFamily="50" charset="-127"/>
                </a:rPr>
                <a:t>〮 〮 〮</a:t>
              </a:r>
              <a:endParaRPr lang="en-US" altLang="ko-KR" sz="1000" i="1" kern="0" spc="-20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</p:grpSp>
      <p:sp>
        <p:nvSpPr>
          <p:cNvPr id="234" name="직사각형 233">
            <a:extLst>
              <a:ext uri="{FF2B5EF4-FFF2-40B4-BE49-F238E27FC236}">
                <a16:creationId xmlns:a16="http://schemas.microsoft.com/office/drawing/2014/main" id="{53D96D91-061F-6164-3641-C2EBE83A2F19}"/>
              </a:ext>
            </a:extLst>
          </p:cNvPr>
          <p:cNvSpPr/>
          <p:nvPr/>
        </p:nvSpPr>
        <p:spPr>
          <a:xfrm>
            <a:off x="5501477" y="2999627"/>
            <a:ext cx="3369258" cy="261165"/>
          </a:xfrm>
          <a:prstGeom prst="rect">
            <a:avLst/>
          </a:prstGeom>
          <a:noFill/>
          <a:ln w="3175">
            <a:noFill/>
          </a:ln>
          <a:effectLst/>
        </p:spPr>
        <p:txBody>
          <a:bodyPr wrap="square" lIns="0" tIns="0" rIns="0" bIns="0" rtlCol="0" anchor="ctr"/>
          <a:lstStyle/>
          <a:p>
            <a:pPr algn="ctr" defTabSz="914400"/>
            <a:r>
              <a:rPr lang="en-US" altLang="ko-KR" sz="1200" i="1" kern="0">
                <a:solidFill>
                  <a:srgbClr val="217CF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AI </a:t>
            </a:r>
            <a:r>
              <a:rPr lang="ko-KR" altLang="en-US" sz="1200" i="1" kern="0">
                <a:solidFill>
                  <a:srgbClr val="217CF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지원 下 </a:t>
            </a:r>
            <a:r>
              <a:rPr lang="en-US" altLang="ko-KR" sz="1200" i="1" kern="0">
                <a:solidFill>
                  <a:srgbClr val="217CF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Troubleshooting · </a:t>
            </a:r>
            <a:r>
              <a:rPr lang="ko-KR" altLang="en-US" sz="1200" i="1" kern="0">
                <a:solidFill>
                  <a:srgbClr val="217CF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공정 최적화 업무 집중</a:t>
            </a:r>
            <a:endParaRPr lang="en-US" altLang="ko-KR" sz="1200" i="1" kern="0">
              <a:solidFill>
                <a:srgbClr val="217CFA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96955FD-DFD1-0B00-DCA6-5F4DAD7DFBF7}"/>
              </a:ext>
            </a:extLst>
          </p:cNvPr>
          <p:cNvGrpSpPr/>
          <p:nvPr/>
        </p:nvGrpSpPr>
        <p:grpSpPr>
          <a:xfrm>
            <a:off x="4144990" y="4762651"/>
            <a:ext cx="2574792" cy="565329"/>
            <a:chOff x="664078" y="4293726"/>
            <a:chExt cx="2574792" cy="565329"/>
          </a:xfrm>
        </p:grpSpPr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73CEA332-9B9B-C5CD-EC55-2E3232FEEDD2}"/>
                </a:ext>
              </a:extLst>
            </p:cNvPr>
            <p:cNvSpPr/>
            <p:nvPr/>
          </p:nvSpPr>
          <p:spPr>
            <a:xfrm>
              <a:off x="664078" y="4293726"/>
              <a:ext cx="2328598" cy="565329"/>
            </a:xfrm>
            <a:prstGeom prst="roundRect">
              <a:avLst/>
            </a:prstGeom>
            <a:solidFill>
              <a:srgbClr val="217CFA"/>
            </a:solidFill>
            <a:ln w="9525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rtlCol="0" anchor="ctr"/>
            <a:lstStyle/>
            <a:p>
              <a:r>
                <a:rPr lang="ko-KR" altLang="en-US" sz="1100" u="sng">
                  <a:solidFill>
                    <a:schemeClr val="bg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공정 </a:t>
              </a:r>
              <a:r>
                <a:rPr lang="en-US" altLang="ko-KR" sz="1100" u="sng">
                  <a:solidFill>
                    <a:schemeClr val="bg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Trouble </a:t>
              </a:r>
              <a:r>
                <a:rPr lang="ko-KR" altLang="en-US" sz="1100" u="sng">
                  <a:solidFill>
                    <a:schemeClr val="bg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대응 지원 </a:t>
              </a:r>
              <a:r>
                <a:rPr lang="en-US" altLang="ko-KR" sz="1100" u="sng">
                  <a:solidFill>
                    <a:schemeClr val="bg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AI</a:t>
              </a:r>
            </a:p>
            <a:p>
              <a:pPr marL="171450" indent="-171450">
                <a:buFont typeface="Wingdings" panose="05000000000000000000" pitchFamily="2" charset="2"/>
                <a:buChar char="ü"/>
              </a:pPr>
              <a:r>
                <a:rPr lang="ko-KR" altLang="en-US" sz="1000">
                  <a:solidFill>
                    <a:schemeClr val="bg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공정 </a:t>
              </a:r>
              <a:r>
                <a:rPr lang="en-US" altLang="ko-KR" sz="1000">
                  <a:solidFill>
                    <a:schemeClr val="bg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Trouble </a:t>
              </a:r>
              <a:r>
                <a:rPr lang="ko-KR" altLang="en-US" sz="1000">
                  <a:solidFill>
                    <a:schemeClr val="bg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상황 분류</a:t>
              </a:r>
              <a:endParaRPr lang="en-US" altLang="ko-KR" sz="100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  <a:p>
              <a:pPr marL="171450" indent="-171450">
                <a:buFont typeface="Wingdings" panose="05000000000000000000" pitchFamily="2" charset="2"/>
                <a:buChar char="ü"/>
              </a:pPr>
              <a:r>
                <a:rPr lang="ko-KR" altLang="en-US" sz="1000">
                  <a:solidFill>
                    <a:schemeClr val="bg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유사 사례 기반 조치 방안 제안</a:t>
              </a: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D1162242-6BC3-79FB-E905-C9BAE9E522EC}"/>
                </a:ext>
              </a:extLst>
            </p:cNvPr>
            <p:cNvSpPr/>
            <p:nvPr/>
          </p:nvSpPr>
          <p:spPr>
            <a:xfrm>
              <a:off x="2710994" y="4312452"/>
              <a:ext cx="527876" cy="527876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217CFA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0"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6" name="그래픽 15" descr="남성 건설 노동자 윤곽선">
              <a:extLst>
                <a:ext uri="{FF2B5EF4-FFF2-40B4-BE49-F238E27FC236}">
                  <a16:creationId xmlns:a16="http://schemas.microsoft.com/office/drawing/2014/main" id="{34062008-DA11-E76C-00EC-3892960AB44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770703" y="4372161"/>
              <a:ext cx="408459" cy="408459"/>
            </a:xfrm>
            <a:prstGeom prst="rect">
              <a:avLst/>
            </a:prstGeom>
            <a:effectLst/>
          </p:spPr>
        </p:pic>
        <p:pic>
          <p:nvPicPr>
            <p:cNvPr id="21" name="그림 20" descr="블랙, 어둠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F38AC462-B0F4-6F54-5144-D1C801F59AE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811" b="-1"/>
            <a:stretch/>
          </p:blipFill>
          <p:spPr>
            <a:xfrm>
              <a:off x="2872643" y="4383822"/>
              <a:ext cx="204578" cy="196785"/>
            </a:xfrm>
            <a:prstGeom prst="rect">
              <a:avLst/>
            </a:prstGeom>
            <a:solidFill>
              <a:schemeClr val="bg1"/>
            </a:solidFill>
            <a:effectLst/>
          </p:spPr>
        </p:pic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2946E713-1179-1197-3C46-B970B0188D46}"/>
              </a:ext>
            </a:extLst>
          </p:cNvPr>
          <p:cNvGrpSpPr/>
          <p:nvPr/>
        </p:nvGrpSpPr>
        <p:grpSpPr>
          <a:xfrm>
            <a:off x="4144990" y="4091604"/>
            <a:ext cx="2574792" cy="565329"/>
            <a:chOff x="664078" y="4293726"/>
            <a:chExt cx="2574792" cy="565329"/>
          </a:xfrm>
        </p:grpSpPr>
        <p:sp>
          <p:nvSpPr>
            <p:cNvPr id="37" name="사각형: 둥근 모서리 36">
              <a:extLst>
                <a:ext uri="{FF2B5EF4-FFF2-40B4-BE49-F238E27FC236}">
                  <a16:creationId xmlns:a16="http://schemas.microsoft.com/office/drawing/2014/main" id="{673177F3-C3C4-4071-E5A2-840767233111}"/>
                </a:ext>
              </a:extLst>
            </p:cNvPr>
            <p:cNvSpPr/>
            <p:nvPr/>
          </p:nvSpPr>
          <p:spPr>
            <a:xfrm>
              <a:off x="664078" y="4293726"/>
              <a:ext cx="2328598" cy="565329"/>
            </a:xfrm>
            <a:prstGeom prst="roundRect">
              <a:avLst/>
            </a:prstGeom>
            <a:solidFill>
              <a:srgbClr val="217CFA"/>
            </a:solidFill>
            <a:ln w="9525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rtlCol="0" anchor="ctr"/>
            <a:lstStyle/>
            <a:p>
              <a:r>
                <a:rPr lang="en-US" altLang="ko-KR" sz="1100" u="sng">
                  <a:solidFill>
                    <a:schemeClr val="bg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Engineer </a:t>
              </a:r>
              <a:r>
                <a:rPr lang="ko-KR" altLang="en-US" sz="1100" u="sng">
                  <a:solidFill>
                    <a:schemeClr val="bg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공정 분석 </a:t>
              </a:r>
              <a:r>
                <a:rPr lang="en-US" altLang="ko-KR" sz="1100" u="sng">
                  <a:solidFill>
                    <a:schemeClr val="bg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AI</a:t>
              </a:r>
            </a:p>
            <a:p>
              <a:pPr marL="171450" indent="-171450">
                <a:buFont typeface="Wingdings" panose="05000000000000000000" pitchFamily="2" charset="2"/>
                <a:buChar char="ü"/>
              </a:pPr>
              <a:r>
                <a:rPr lang="ko-KR" altLang="en-US" sz="1000">
                  <a:solidFill>
                    <a:schemeClr val="bg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공정 운전 실적 분석</a:t>
              </a:r>
              <a:endParaRPr lang="en-US" altLang="ko-KR" sz="100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  <a:p>
              <a:pPr marL="171450" indent="-171450">
                <a:buFont typeface="Wingdings" panose="05000000000000000000" pitchFamily="2" charset="2"/>
                <a:buChar char="ü"/>
              </a:pPr>
              <a:r>
                <a:rPr lang="ko-KR" altLang="en-US" sz="1000">
                  <a:solidFill>
                    <a:schemeClr val="bg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생산계획 대비 실적 분석</a:t>
              </a: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37625CD2-C2F1-2ECD-77C5-E83F285C1DAC}"/>
                </a:ext>
              </a:extLst>
            </p:cNvPr>
            <p:cNvSpPr/>
            <p:nvPr/>
          </p:nvSpPr>
          <p:spPr>
            <a:xfrm>
              <a:off x="2710994" y="4312452"/>
              <a:ext cx="527876" cy="527876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217CFA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0"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46" name="그래픽 45" descr="남성 건설 노동자 윤곽선">
              <a:extLst>
                <a:ext uri="{FF2B5EF4-FFF2-40B4-BE49-F238E27FC236}">
                  <a16:creationId xmlns:a16="http://schemas.microsoft.com/office/drawing/2014/main" id="{6F1381A2-B180-0DEB-8BA1-F5578E6191D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770703" y="4372161"/>
              <a:ext cx="408459" cy="408459"/>
            </a:xfrm>
            <a:prstGeom prst="rect">
              <a:avLst/>
            </a:prstGeom>
            <a:effectLst/>
          </p:spPr>
        </p:pic>
        <p:pic>
          <p:nvPicPr>
            <p:cNvPr id="47" name="그림 46" descr="블랙, 어둠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ACD53796-4226-BF73-978C-F21BCE3025B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811" b="-1"/>
            <a:stretch/>
          </p:blipFill>
          <p:spPr>
            <a:xfrm>
              <a:off x="2872643" y="4383822"/>
              <a:ext cx="204578" cy="196785"/>
            </a:xfrm>
            <a:prstGeom prst="rect">
              <a:avLst/>
            </a:prstGeom>
            <a:solidFill>
              <a:schemeClr val="bg1"/>
            </a:solidFill>
            <a:effectLst/>
          </p:spPr>
        </p:pic>
      </p:grpSp>
      <p:grpSp>
        <p:nvGrpSpPr>
          <p:cNvPr id="1069" name="그룹 1068">
            <a:extLst>
              <a:ext uri="{FF2B5EF4-FFF2-40B4-BE49-F238E27FC236}">
                <a16:creationId xmlns:a16="http://schemas.microsoft.com/office/drawing/2014/main" id="{FBD0B644-FEAA-317F-280C-1199746B1614}"/>
              </a:ext>
            </a:extLst>
          </p:cNvPr>
          <p:cNvGrpSpPr/>
          <p:nvPr/>
        </p:nvGrpSpPr>
        <p:grpSpPr>
          <a:xfrm>
            <a:off x="6803306" y="4762651"/>
            <a:ext cx="2574792" cy="565329"/>
            <a:chOff x="664078" y="4293726"/>
            <a:chExt cx="2574792" cy="565329"/>
          </a:xfrm>
        </p:grpSpPr>
        <p:sp>
          <p:nvSpPr>
            <p:cNvPr id="1072" name="사각형: 둥근 모서리 1071">
              <a:extLst>
                <a:ext uri="{FF2B5EF4-FFF2-40B4-BE49-F238E27FC236}">
                  <a16:creationId xmlns:a16="http://schemas.microsoft.com/office/drawing/2014/main" id="{FC6E931A-1FD2-DA38-5BD4-087C28DE57BF}"/>
                </a:ext>
              </a:extLst>
            </p:cNvPr>
            <p:cNvSpPr/>
            <p:nvPr/>
          </p:nvSpPr>
          <p:spPr>
            <a:xfrm>
              <a:off x="664078" y="4293726"/>
              <a:ext cx="2328598" cy="565329"/>
            </a:xfrm>
            <a:prstGeom prst="roundRect">
              <a:avLst/>
            </a:prstGeom>
            <a:solidFill>
              <a:srgbClr val="DAE9F8"/>
            </a:solidFill>
            <a:ln w="9525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rtlCol="0" anchor="ctr"/>
            <a:lstStyle/>
            <a:p>
              <a:r>
                <a:rPr lang="ko-KR" altLang="en-US" sz="1100" u="sng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공정 </a:t>
              </a:r>
              <a:r>
                <a:rPr lang="en-US" altLang="ko-KR" sz="1100" u="sng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Data Smart Monitoring</a:t>
              </a:r>
            </a:p>
            <a:p>
              <a:pPr marL="171450" indent="-171450">
                <a:buFont typeface="Wingdings" panose="05000000000000000000" pitchFamily="2" charset="2"/>
                <a:buChar char="ü"/>
              </a:pPr>
              <a:r>
                <a:rPr lang="ko-KR" altLang="en-US" sz="100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공정 全 </a:t>
              </a:r>
              <a:r>
                <a:rPr lang="en-US" altLang="ko-KR" sz="100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Tag Trend </a:t>
              </a:r>
              <a:r>
                <a:rPr lang="ko-KR" altLang="en-US" sz="100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모니터링</a:t>
              </a:r>
              <a:endParaRPr lang="en-US" altLang="ko-KR" sz="10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  <a:p>
              <a:pPr marL="171450" indent="-171450">
                <a:buFont typeface="Wingdings" panose="05000000000000000000" pitchFamily="2" charset="2"/>
                <a:buChar char="ü"/>
              </a:pPr>
              <a:r>
                <a:rPr lang="ko-KR" altLang="en-US" sz="100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핵심 </a:t>
              </a:r>
              <a:r>
                <a:rPr lang="en-US" altLang="ko-KR" sz="100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Tag · </a:t>
              </a:r>
              <a:r>
                <a:rPr lang="ko-KR" altLang="en-US" sz="100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주요 지표 확인</a:t>
              </a:r>
            </a:p>
          </p:txBody>
        </p:sp>
        <p:sp>
          <p:nvSpPr>
            <p:cNvPr id="1073" name="타원 1072">
              <a:extLst>
                <a:ext uri="{FF2B5EF4-FFF2-40B4-BE49-F238E27FC236}">
                  <a16:creationId xmlns:a16="http://schemas.microsoft.com/office/drawing/2014/main" id="{1D5D714D-4783-35F8-8162-13D0B702981D}"/>
                </a:ext>
              </a:extLst>
            </p:cNvPr>
            <p:cNvSpPr/>
            <p:nvPr/>
          </p:nvSpPr>
          <p:spPr>
            <a:xfrm>
              <a:off x="2710994" y="4312452"/>
              <a:ext cx="527876" cy="52787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2">
                  <a:lumMod val="10000"/>
                  <a:lumOff val="90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0"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075" name="그래픽 1074" descr="남성 건설 노동자 윤곽선">
              <a:extLst>
                <a:ext uri="{FF2B5EF4-FFF2-40B4-BE49-F238E27FC236}">
                  <a16:creationId xmlns:a16="http://schemas.microsoft.com/office/drawing/2014/main" id="{4897862A-8A23-FADE-47D0-BD7E7D4A045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770703" y="4372161"/>
              <a:ext cx="408459" cy="408459"/>
            </a:xfrm>
            <a:prstGeom prst="rect">
              <a:avLst/>
            </a:prstGeom>
            <a:effectLst/>
          </p:spPr>
        </p:pic>
        <p:pic>
          <p:nvPicPr>
            <p:cNvPr id="1076" name="그림 1075" descr="블랙, 어둠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2E65B8F8-946A-13F0-8081-8696B71A41A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811" b="-1"/>
            <a:stretch/>
          </p:blipFill>
          <p:spPr>
            <a:xfrm>
              <a:off x="2872643" y="4383822"/>
              <a:ext cx="204578" cy="196785"/>
            </a:xfrm>
            <a:prstGeom prst="rect">
              <a:avLst/>
            </a:prstGeom>
            <a:solidFill>
              <a:schemeClr val="bg1"/>
            </a:solidFill>
            <a:effectLst/>
          </p:spPr>
        </p:pic>
      </p:grpSp>
      <p:grpSp>
        <p:nvGrpSpPr>
          <p:cNvPr id="1078" name="그룹 1077">
            <a:extLst>
              <a:ext uri="{FF2B5EF4-FFF2-40B4-BE49-F238E27FC236}">
                <a16:creationId xmlns:a16="http://schemas.microsoft.com/office/drawing/2014/main" id="{86146E72-A7B3-1235-7574-A54F8F4CB14D}"/>
              </a:ext>
            </a:extLst>
          </p:cNvPr>
          <p:cNvGrpSpPr/>
          <p:nvPr/>
        </p:nvGrpSpPr>
        <p:grpSpPr>
          <a:xfrm>
            <a:off x="6803306" y="4091604"/>
            <a:ext cx="2574792" cy="565329"/>
            <a:chOff x="664078" y="4293726"/>
            <a:chExt cx="2574792" cy="565329"/>
          </a:xfrm>
        </p:grpSpPr>
        <p:sp>
          <p:nvSpPr>
            <p:cNvPr id="1079" name="사각형: 둥근 모서리 1078">
              <a:extLst>
                <a:ext uri="{FF2B5EF4-FFF2-40B4-BE49-F238E27FC236}">
                  <a16:creationId xmlns:a16="http://schemas.microsoft.com/office/drawing/2014/main" id="{A1944C61-CF33-5627-FBA1-A02A9B35CE55}"/>
                </a:ext>
              </a:extLst>
            </p:cNvPr>
            <p:cNvSpPr/>
            <p:nvPr/>
          </p:nvSpPr>
          <p:spPr>
            <a:xfrm>
              <a:off x="664078" y="4293726"/>
              <a:ext cx="2328598" cy="565329"/>
            </a:xfrm>
            <a:prstGeom prst="roundRect">
              <a:avLst/>
            </a:prstGeom>
            <a:solidFill>
              <a:srgbClr val="217CFA"/>
            </a:solidFill>
            <a:ln w="9525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rtlCol="0" anchor="ctr"/>
            <a:lstStyle/>
            <a:p>
              <a:r>
                <a:rPr lang="ko-KR" altLang="en-US" sz="1100" u="sng">
                  <a:solidFill>
                    <a:schemeClr val="bg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생산 성과 분석 </a:t>
              </a:r>
              <a:r>
                <a:rPr lang="en-US" altLang="ko-KR" sz="1100" u="sng">
                  <a:solidFill>
                    <a:schemeClr val="bg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AI</a:t>
              </a:r>
            </a:p>
            <a:p>
              <a:pPr marL="171450" indent="-171450">
                <a:buFont typeface="Wingdings" panose="05000000000000000000" pitchFamily="2" charset="2"/>
                <a:buChar char="ü"/>
              </a:pPr>
              <a:r>
                <a:rPr lang="ko-KR" altLang="en-US" sz="1000">
                  <a:solidFill>
                    <a:schemeClr val="bg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예산 대비 미달 원인 분석</a:t>
              </a:r>
              <a:endParaRPr lang="en-US" altLang="ko-KR" sz="100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  <a:p>
              <a:pPr marL="171450" indent="-171450">
                <a:buFont typeface="Wingdings" panose="05000000000000000000" pitchFamily="2" charset="2"/>
                <a:buChar char="ü"/>
              </a:pPr>
              <a:r>
                <a:rPr lang="en-US" altLang="ko-KR" sz="1000">
                  <a:solidFill>
                    <a:schemeClr val="bg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O/I </a:t>
              </a:r>
              <a:r>
                <a:rPr lang="ko-KR" altLang="en-US" sz="1000">
                  <a:solidFill>
                    <a:schemeClr val="bg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과제 성과 모니터링</a:t>
              </a:r>
            </a:p>
          </p:txBody>
        </p:sp>
        <p:sp>
          <p:nvSpPr>
            <p:cNvPr id="1080" name="타원 1079">
              <a:extLst>
                <a:ext uri="{FF2B5EF4-FFF2-40B4-BE49-F238E27FC236}">
                  <a16:creationId xmlns:a16="http://schemas.microsoft.com/office/drawing/2014/main" id="{E1EB3D6E-C11F-4227-EF64-0866DD0A8BD8}"/>
                </a:ext>
              </a:extLst>
            </p:cNvPr>
            <p:cNvSpPr/>
            <p:nvPr/>
          </p:nvSpPr>
          <p:spPr>
            <a:xfrm>
              <a:off x="2710994" y="4312452"/>
              <a:ext cx="527876" cy="527876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217CFA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0"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081" name="그래픽 1080" descr="남성 건설 노동자 윤곽선">
              <a:extLst>
                <a:ext uri="{FF2B5EF4-FFF2-40B4-BE49-F238E27FC236}">
                  <a16:creationId xmlns:a16="http://schemas.microsoft.com/office/drawing/2014/main" id="{D72B92C8-E0C5-11CE-FEDE-B9E70D50CA5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770703" y="4372161"/>
              <a:ext cx="408459" cy="408459"/>
            </a:xfrm>
            <a:prstGeom prst="rect">
              <a:avLst/>
            </a:prstGeom>
            <a:effectLst/>
          </p:spPr>
        </p:pic>
        <p:pic>
          <p:nvPicPr>
            <p:cNvPr id="1082" name="그림 1081" descr="블랙, 어둠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A759BBD7-283F-7D9D-80B1-533C6EC273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811" b="-1"/>
            <a:stretch/>
          </p:blipFill>
          <p:spPr>
            <a:xfrm>
              <a:off x="2872643" y="4383822"/>
              <a:ext cx="204578" cy="196785"/>
            </a:xfrm>
            <a:prstGeom prst="rect">
              <a:avLst/>
            </a:prstGeom>
            <a:solidFill>
              <a:schemeClr val="bg1"/>
            </a:solidFill>
            <a:effectLst/>
          </p:spPr>
        </p:pic>
      </p:grpSp>
      <p:cxnSp>
        <p:nvCxnSpPr>
          <p:cNvPr id="195" name="연결선: 꺾임 194">
            <a:extLst>
              <a:ext uri="{FF2B5EF4-FFF2-40B4-BE49-F238E27FC236}">
                <a16:creationId xmlns:a16="http://schemas.microsoft.com/office/drawing/2014/main" id="{BBACB43E-5553-CB15-5570-8CE961BEA5DA}"/>
              </a:ext>
            </a:extLst>
          </p:cNvPr>
          <p:cNvCxnSpPr>
            <a:cxnSpLocks/>
            <a:stCxn id="1027" idx="0"/>
            <a:endCxn id="193" idx="2"/>
          </p:cNvCxnSpPr>
          <p:nvPr/>
        </p:nvCxnSpPr>
        <p:spPr>
          <a:xfrm rot="5400000" flipH="1" flipV="1">
            <a:off x="3025255" y="5357237"/>
            <a:ext cx="581798" cy="602042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연결선: 꺾임 208">
            <a:extLst>
              <a:ext uri="{FF2B5EF4-FFF2-40B4-BE49-F238E27FC236}">
                <a16:creationId xmlns:a16="http://schemas.microsoft.com/office/drawing/2014/main" id="{EA3950CC-06A0-6F03-9068-BA5C279012D3}"/>
              </a:ext>
            </a:extLst>
          </p:cNvPr>
          <p:cNvCxnSpPr>
            <a:cxnSpLocks/>
            <a:stCxn id="1045" idx="0"/>
            <a:endCxn id="193" idx="2"/>
          </p:cNvCxnSpPr>
          <p:nvPr/>
        </p:nvCxnSpPr>
        <p:spPr>
          <a:xfrm rot="16200000" flipV="1">
            <a:off x="3952233" y="5032301"/>
            <a:ext cx="581798" cy="1251914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연결선: 꺾임 215">
            <a:extLst>
              <a:ext uri="{FF2B5EF4-FFF2-40B4-BE49-F238E27FC236}">
                <a16:creationId xmlns:a16="http://schemas.microsoft.com/office/drawing/2014/main" id="{C7194610-E1E1-654D-F819-CB4FB7209ADF}"/>
              </a:ext>
            </a:extLst>
          </p:cNvPr>
          <p:cNvCxnSpPr>
            <a:cxnSpLocks/>
            <a:stCxn id="1062" idx="0"/>
            <a:endCxn id="193" idx="2"/>
          </p:cNvCxnSpPr>
          <p:nvPr/>
        </p:nvCxnSpPr>
        <p:spPr>
          <a:xfrm rot="16200000" flipV="1">
            <a:off x="4415722" y="4568812"/>
            <a:ext cx="581798" cy="2178892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연결선: 꺾임 235">
            <a:extLst>
              <a:ext uri="{FF2B5EF4-FFF2-40B4-BE49-F238E27FC236}">
                <a16:creationId xmlns:a16="http://schemas.microsoft.com/office/drawing/2014/main" id="{B44AE559-455B-EFF3-C648-ACEBC5A23239}"/>
              </a:ext>
            </a:extLst>
          </p:cNvPr>
          <p:cNvCxnSpPr>
            <a:cxnSpLocks/>
            <a:stCxn id="1068" idx="0"/>
            <a:endCxn id="193" idx="2"/>
          </p:cNvCxnSpPr>
          <p:nvPr/>
        </p:nvCxnSpPr>
        <p:spPr>
          <a:xfrm rot="16200000" flipV="1">
            <a:off x="4879211" y="4105323"/>
            <a:ext cx="581798" cy="3105870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83AF3716-7561-ABBA-5FCD-DF4E0C3CDB62}"/>
              </a:ext>
            </a:extLst>
          </p:cNvPr>
          <p:cNvSpPr/>
          <p:nvPr/>
        </p:nvSpPr>
        <p:spPr>
          <a:xfrm>
            <a:off x="863490" y="2744835"/>
            <a:ext cx="2651495" cy="286595"/>
          </a:xfrm>
          <a:prstGeom prst="rect">
            <a:avLst/>
          </a:prstGeom>
          <a:noFill/>
          <a:ln w="635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t"/>
          <a:lstStyle/>
          <a:p>
            <a:pPr algn="ctr"/>
            <a:r>
              <a:rPr lang="ko-KR" altLang="en-US" sz="1300" u="sng">
                <a:solidFill>
                  <a:schemeClr val="tx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비 부가가치 업무 </a:t>
            </a:r>
            <a:r>
              <a:rPr lang="en-US" altLang="ko-KR" sz="1300" u="sng">
                <a:solidFill>
                  <a:schemeClr val="tx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AI</a:t>
            </a:r>
            <a:r>
              <a:rPr lang="ko-KR" altLang="en-US" sz="1300" u="sng">
                <a:solidFill>
                  <a:schemeClr val="tx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전담 수행</a:t>
            </a:r>
          </a:p>
        </p:txBody>
      </p:sp>
      <p:sp>
        <p:nvSpPr>
          <p:cNvPr id="215" name="직사각형 214">
            <a:extLst>
              <a:ext uri="{FF2B5EF4-FFF2-40B4-BE49-F238E27FC236}">
                <a16:creationId xmlns:a16="http://schemas.microsoft.com/office/drawing/2014/main" id="{A9E2AE75-4479-75B5-F753-228887332BCE}"/>
              </a:ext>
            </a:extLst>
          </p:cNvPr>
          <p:cNvSpPr/>
          <p:nvPr/>
        </p:nvSpPr>
        <p:spPr>
          <a:xfrm>
            <a:off x="765466" y="3288270"/>
            <a:ext cx="1100266" cy="532800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/>
        </p:spPr>
        <p:txBody>
          <a:bodyPr wrap="square" lIns="0" tIns="0" rIns="0" bIns="0" rtlCol="0" anchor="ctr"/>
          <a:lstStyle/>
          <a:p>
            <a:pPr marL="72000" indent="-72000" defTabSz="914400">
              <a:buFont typeface="Wingdings" panose="05000000000000000000" pitchFamily="2" charset="2"/>
              <a:buChar char="§"/>
            </a:pPr>
            <a:r>
              <a:rPr lang="ko-KR" altLang="en-US" sz="1000" i="1" kern="0" spc="-5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000" i="1" kern="0" spc="-50">
                <a:latin typeface="나눔스퀘어" panose="020B0600000101010101" pitchFamily="50" charset="-127"/>
                <a:ea typeface="나눔스퀘어" panose="020B0600000101010101" pitchFamily="50" charset="-127"/>
              </a:rPr>
              <a:t>SHE </a:t>
            </a:r>
            <a:r>
              <a:rPr lang="ko-KR" altLang="en-US" sz="1000" i="1" kern="0" spc="-50">
                <a:latin typeface="나눔스퀘어" panose="020B0600000101010101" pitchFamily="50" charset="-127"/>
                <a:ea typeface="나눔스퀘어" panose="020B0600000101010101" pitchFamily="50" charset="-127"/>
              </a:rPr>
              <a:t>부서 대응 업무</a:t>
            </a:r>
            <a:endParaRPr lang="en-US" altLang="ko-KR" sz="1000" i="1" kern="0" spc="-5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72000" indent="-72000" defTabSz="914400">
              <a:buFont typeface="Wingdings" panose="05000000000000000000" pitchFamily="2" charset="2"/>
              <a:buChar char="§"/>
            </a:pPr>
            <a:r>
              <a:rPr lang="ko-KR" altLang="en-US" sz="1000" i="1" kern="0" spc="-50">
                <a:latin typeface="나눔스퀘어" panose="020B0600000101010101" pitchFamily="50" charset="-127"/>
                <a:ea typeface="나눔스퀘어" panose="020B0600000101010101" pitchFamily="50" charset="-127"/>
              </a:rPr>
              <a:t>공장 현황 정보 요청</a:t>
            </a:r>
            <a:endParaRPr lang="en-US" altLang="ko-KR" sz="1000" i="1" kern="0" spc="-5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14" name="직사각형 213">
            <a:extLst>
              <a:ext uri="{FF2B5EF4-FFF2-40B4-BE49-F238E27FC236}">
                <a16:creationId xmlns:a16="http://schemas.microsoft.com/office/drawing/2014/main" id="{2962E992-1055-CDD4-2125-ACA6119BDFA6}"/>
              </a:ext>
            </a:extLst>
          </p:cNvPr>
          <p:cNvSpPr/>
          <p:nvPr/>
        </p:nvSpPr>
        <p:spPr>
          <a:xfrm>
            <a:off x="1887257" y="3650878"/>
            <a:ext cx="603961" cy="151064"/>
          </a:xfrm>
          <a:prstGeom prst="rect">
            <a:avLst/>
          </a:prstGeom>
          <a:noFill/>
          <a:ln w="3175">
            <a:noFill/>
          </a:ln>
          <a:effectLst/>
        </p:spPr>
        <p:txBody>
          <a:bodyPr wrap="square" lIns="36000" tIns="0" rIns="36000" bIns="0" rtlCol="0" anchor="ctr"/>
          <a:lstStyle/>
          <a:p>
            <a:pPr algn="ctr" defTabSz="914400" latinLnBrk="0"/>
            <a:r>
              <a:rPr lang="en-US" altLang="ko-KR" sz="1000" ker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AI</a:t>
            </a:r>
            <a:endParaRPr lang="ko-KR" altLang="en-US" sz="1000" ker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57" name="그림 56" descr="블랙, 어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A13AA18-3466-85A5-F42D-193CF754FE7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11" b="-1"/>
          <a:stretch/>
        </p:blipFill>
        <p:spPr>
          <a:xfrm>
            <a:off x="2034112" y="3321988"/>
            <a:ext cx="310250" cy="298429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233" name="직사각형 232">
            <a:extLst>
              <a:ext uri="{FF2B5EF4-FFF2-40B4-BE49-F238E27FC236}">
                <a16:creationId xmlns:a16="http://schemas.microsoft.com/office/drawing/2014/main" id="{A6D7D9D7-71B5-66B6-8B10-8129E2802660}"/>
              </a:ext>
            </a:extLst>
          </p:cNvPr>
          <p:cNvSpPr/>
          <p:nvPr/>
        </p:nvSpPr>
        <p:spPr>
          <a:xfrm>
            <a:off x="556247" y="2999627"/>
            <a:ext cx="3265981" cy="261165"/>
          </a:xfrm>
          <a:prstGeom prst="rect">
            <a:avLst/>
          </a:prstGeom>
          <a:noFill/>
          <a:ln w="3175">
            <a:noFill/>
          </a:ln>
          <a:effectLst/>
        </p:spPr>
        <p:txBody>
          <a:bodyPr wrap="square" lIns="0" tIns="0" rIns="0" bIns="0" rtlCol="0" anchor="ctr"/>
          <a:lstStyle/>
          <a:p>
            <a:pPr algn="ctr" defTabSz="914400"/>
            <a:r>
              <a:rPr lang="ko-KR" altLang="en-US" sz="1200" i="1" kern="0">
                <a:solidFill>
                  <a:srgbClr val="217CF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단순 정보 제공 및 반복 보고 업무 </a:t>
            </a:r>
            <a:r>
              <a:rPr lang="en-US" altLang="ko-KR" sz="1200" i="1" kern="0">
                <a:solidFill>
                  <a:srgbClr val="217CF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AI</a:t>
            </a:r>
            <a:r>
              <a:rPr lang="ko-KR" altLang="en-US" sz="1200" i="1" kern="0">
                <a:solidFill>
                  <a:srgbClr val="217CF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가 全 과정 수행</a:t>
            </a:r>
            <a:endParaRPr lang="en-US" altLang="ko-KR" sz="1200" i="1" kern="0">
              <a:solidFill>
                <a:srgbClr val="217CFA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76" name="화살표: 오른쪽 275">
            <a:extLst>
              <a:ext uri="{FF2B5EF4-FFF2-40B4-BE49-F238E27FC236}">
                <a16:creationId xmlns:a16="http://schemas.microsoft.com/office/drawing/2014/main" id="{646DDFBB-CEF6-D71B-0AD7-C2F3AAA4CEE6}"/>
              </a:ext>
            </a:extLst>
          </p:cNvPr>
          <p:cNvSpPr/>
          <p:nvPr/>
        </p:nvSpPr>
        <p:spPr>
          <a:xfrm>
            <a:off x="4059893" y="3305033"/>
            <a:ext cx="1226493" cy="440075"/>
          </a:xfrm>
          <a:prstGeom prst="rightArrow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7" name="직사각형 276">
            <a:extLst>
              <a:ext uri="{FF2B5EF4-FFF2-40B4-BE49-F238E27FC236}">
                <a16:creationId xmlns:a16="http://schemas.microsoft.com/office/drawing/2014/main" id="{E1BF3448-534C-C4DB-A254-FFE20200AC8B}"/>
              </a:ext>
            </a:extLst>
          </p:cNvPr>
          <p:cNvSpPr/>
          <p:nvPr/>
        </p:nvSpPr>
        <p:spPr>
          <a:xfrm>
            <a:off x="4251460" y="3332705"/>
            <a:ext cx="843358" cy="384731"/>
          </a:xfrm>
          <a:prstGeom prst="rect">
            <a:avLst/>
          </a:prstGeom>
          <a:noFill/>
          <a:ln w="3175">
            <a:noFill/>
          </a:ln>
          <a:effectLst/>
        </p:spPr>
        <p:txBody>
          <a:bodyPr wrap="square" lIns="0" tIns="0" rIns="0" bIns="0" rtlCol="0" anchor="ctr"/>
          <a:lstStyle/>
          <a:p>
            <a:pPr algn="ctr" defTabSz="914400"/>
            <a:r>
              <a:rPr lang="ko-KR" altLang="en-US" sz="1000" i="1" kern="0" spc="-5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핵심 업무</a:t>
            </a:r>
            <a:endParaRPr lang="en-US" altLang="ko-KR" sz="1000" i="1" kern="0" spc="-5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algn="ctr" defTabSz="914400"/>
            <a:r>
              <a:rPr lang="ko-KR" altLang="en-US" sz="1000" i="1" kern="0" spc="-5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수행 시간 확보</a:t>
            </a:r>
            <a:endParaRPr lang="en-US" altLang="ko-KR" sz="1000" i="1" kern="0" spc="-5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79" name="직사각형 278">
            <a:extLst>
              <a:ext uri="{FF2B5EF4-FFF2-40B4-BE49-F238E27FC236}">
                <a16:creationId xmlns:a16="http://schemas.microsoft.com/office/drawing/2014/main" id="{ADCC3047-3949-D9B0-87CB-202477CF4301}"/>
              </a:ext>
            </a:extLst>
          </p:cNvPr>
          <p:cNvSpPr/>
          <p:nvPr/>
        </p:nvSpPr>
        <p:spPr>
          <a:xfrm>
            <a:off x="863490" y="5525406"/>
            <a:ext cx="1429261" cy="369304"/>
          </a:xfrm>
          <a:prstGeom prst="rect">
            <a:avLst/>
          </a:prstGeom>
          <a:noFill/>
          <a:ln w="3175">
            <a:noFill/>
          </a:ln>
          <a:effectLst/>
        </p:spPr>
        <p:txBody>
          <a:bodyPr wrap="square" lIns="0" tIns="0" rIns="0" bIns="0" rtlCol="0" anchor="ctr"/>
          <a:lstStyle/>
          <a:p>
            <a:pPr marL="171450" indent="-171450" defTabSz="914400">
              <a:buFont typeface="Wingdings" panose="05000000000000000000" pitchFamily="2" charset="2"/>
              <a:buChar char="ü"/>
            </a:pPr>
            <a:r>
              <a:rPr lang="ko-KR" altLang="en-US" sz="1000" i="1" kern="0" spc="-5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000" i="1" kern="0" spc="-50">
                <a:latin typeface="나눔스퀘어" panose="020B0600000101010101" pitchFamily="50" charset="-127"/>
                <a:ea typeface="나눔스퀘어" panose="020B0600000101010101" pitchFamily="50" charset="-127"/>
              </a:rPr>
              <a:t>Data </a:t>
            </a:r>
            <a:r>
              <a:rPr lang="ko-KR" altLang="en-US" sz="1000" i="1" kern="0" spc="-50">
                <a:latin typeface="나눔스퀘어" panose="020B0600000101010101" pitchFamily="50" charset="-127"/>
                <a:ea typeface="나눔스퀘어" panose="020B0600000101010101" pitchFamily="50" charset="-127"/>
              </a:rPr>
              <a:t>자동 분류</a:t>
            </a:r>
            <a:r>
              <a:rPr lang="en-US" altLang="ko-KR" sz="1000" i="1" kern="0" spc="-50"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1000" i="1" kern="0" spc="-50">
                <a:latin typeface="나눔스퀘어" panose="020B0600000101010101" pitchFamily="50" charset="-127"/>
                <a:ea typeface="나눔스퀘어" panose="020B0600000101010101" pitchFamily="50" charset="-127"/>
              </a:rPr>
              <a:t>저장</a:t>
            </a:r>
            <a:endParaRPr lang="en-US" altLang="ko-KR" sz="1000" i="1" kern="0" spc="-5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171450" indent="-171450" defTabSz="914400">
              <a:buFont typeface="Wingdings" panose="05000000000000000000" pitchFamily="2" charset="2"/>
              <a:buChar char="ü"/>
            </a:pPr>
            <a:r>
              <a:rPr lang="ko-KR" altLang="en-US" sz="1000" i="1" kern="0" spc="-50">
                <a:latin typeface="나눔스퀘어" panose="020B0600000101010101" pitchFamily="50" charset="-127"/>
                <a:ea typeface="나눔스퀘어" panose="020B0600000101010101" pitchFamily="50" charset="-127"/>
              </a:rPr>
              <a:t>필요 </a:t>
            </a:r>
            <a:r>
              <a:rPr lang="en-US" altLang="ko-KR" sz="1000" i="1" kern="0" spc="-50">
                <a:latin typeface="나눔스퀘어" panose="020B0600000101010101" pitchFamily="50" charset="-127"/>
                <a:ea typeface="나눔스퀘어" panose="020B0600000101010101" pitchFamily="50" charset="-127"/>
              </a:rPr>
              <a:t>Data </a:t>
            </a:r>
            <a:r>
              <a:rPr lang="ko-KR" altLang="en-US" sz="1000" i="1" kern="0" spc="-50">
                <a:latin typeface="나눔스퀘어" panose="020B0600000101010101" pitchFamily="50" charset="-127"/>
                <a:ea typeface="나눔스퀘어" panose="020B0600000101010101" pitchFamily="50" charset="-127"/>
              </a:rPr>
              <a:t>자동 추출</a:t>
            </a:r>
            <a:r>
              <a:rPr lang="en-US" altLang="ko-KR" sz="1000" i="1" kern="0" spc="-50"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1000" i="1" kern="0" spc="-50">
                <a:latin typeface="나눔스퀘어" panose="020B0600000101010101" pitchFamily="50" charset="-127"/>
                <a:ea typeface="나눔스퀘어" panose="020B0600000101010101" pitchFamily="50" charset="-127"/>
              </a:rPr>
              <a:t>가공</a:t>
            </a:r>
            <a:endParaRPr lang="en-US" altLang="ko-KR" sz="1000" i="1" kern="0" spc="-5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307" name="직선 화살표 연결선 306">
            <a:extLst>
              <a:ext uri="{FF2B5EF4-FFF2-40B4-BE49-F238E27FC236}">
                <a16:creationId xmlns:a16="http://schemas.microsoft.com/office/drawing/2014/main" id="{6E887419-962E-4B1B-DBA9-B05810AE279B}"/>
              </a:ext>
            </a:extLst>
          </p:cNvPr>
          <p:cNvCxnSpPr>
            <a:cxnSpLocks/>
            <a:stCxn id="217" idx="0"/>
            <a:endCxn id="214" idx="2"/>
          </p:cNvCxnSpPr>
          <p:nvPr/>
        </p:nvCxnSpPr>
        <p:spPr>
          <a:xfrm flipV="1">
            <a:off x="2189238" y="3801942"/>
            <a:ext cx="0" cy="74462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oval" w="sm" len="sm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9" name="사각형: 둥근 모서리 308">
            <a:extLst>
              <a:ext uri="{FF2B5EF4-FFF2-40B4-BE49-F238E27FC236}">
                <a16:creationId xmlns:a16="http://schemas.microsoft.com/office/drawing/2014/main" id="{2386E9A5-06D9-A476-0A2A-3C90127A4CA4}"/>
              </a:ext>
            </a:extLst>
          </p:cNvPr>
          <p:cNvSpPr/>
          <p:nvPr/>
        </p:nvSpPr>
        <p:spPr>
          <a:xfrm>
            <a:off x="856694" y="5005923"/>
            <a:ext cx="1106175" cy="388800"/>
          </a:xfrm>
          <a:prstGeom prst="roundRect">
            <a:avLst>
              <a:gd name="adj" fmla="val 20189"/>
            </a:avLst>
          </a:prstGeom>
          <a:solidFill>
            <a:srgbClr val="DAE9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>
              <a:spcAft>
                <a:spcPts val="300"/>
              </a:spcAft>
            </a:pPr>
            <a:r>
              <a:rPr lang="ko-KR" altLang="en-US" sz="1100" spc="-10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생산 운영 정보</a:t>
            </a:r>
            <a:br>
              <a:rPr lang="en-US" altLang="ko-KR" sz="1100" spc="-10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ko-KR" altLang="en-US" sz="1100" spc="-10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저장 </a:t>
            </a:r>
            <a:r>
              <a:rPr lang="en-US" altLang="ko-KR" sz="1100" spc="-10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· </a:t>
            </a:r>
            <a:r>
              <a:rPr lang="ko-KR" altLang="en-US" sz="1100" spc="-10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분류 자동화</a:t>
            </a:r>
            <a:endParaRPr lang="en-US" altLang="ko-KR" sz="1100" spc="-100">
              <a:solidFill>
                <a:schemeClr val="tx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088" name="직사각형 1087">
            <a:extLst>
              <a:ext uri="{FF2B5EF4-FFF2-40B4-BE49-F238E27FC236}">
                <a16:creationId xmlns:a16="http://schemas.microsoft.com/office/drawing/2014/main" id="{B6C55474-F778-4803-22F8-58B8ECE6E77D}"/>
              </a:ext>
            </a:extLst>
          </p:cNvPr>
          <p:cNvSpPr/>
          <p:nvPr/>
        </p:nvSpPr>
        <p:spPr>
          <a:xfrm>
            <a:off x="2492741" y="3288270"/>
            <a:ext cx="1100266" cy="532800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/>
        </p:spPr>
        <p:txBody>
          <a:bodyPr wrap="square" lIns="0" tIns="0" rIns="0" bIns="0" rtlCol="0" anchor="ctr"/>
          <a:lstStyle/>
          <a:p>
            <a:pPr marL="72000" indent="-72000" defTabSz="914400">
              <a:buFont typeface="Wingdings" panose="05000000000000000000" pitchFamily="2" charset="2"/>
              <a:buChar char="§"/>
            </a:pPr>
            <a:r>
              <a:rPr lang="ko-KR" altLang="en-US" sz="1000" i="1" kern="0" spc="-50">
                <a:latin typeface="나눔스퀘어" panose="020B0600000101010101" pitchFamily="50" charset="-127"/>
                <a:ea typeface="나눔스퀘어" panose="020B0600000101010101" pitchFamily="50" charset="-127"/>
              </a:rPr>
              <a:t> 필요 자료 검색</a:t>
            </a:r>
            <a:endParaRPr lang="en-US" altLang="ko-KR" sz="1000" i="1" kern="0" spc="-5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72000" indent="-72000" defTabSz="914400">
              <a:buFont typeface="Wingdings" panose="05000000000000000000" pitchFamily="2" charset="2"/>
              <a:buChar char="§"/>
            </a:pPr>
            <a:r>
              <a:rPr lang="ko-KR" altLang="en-US" sz="1000" i="1" kern="0" spc="-50">
                <a:latin typeface="나눔스퀘어" panose="020B0600000101010101" pitchFamily="50" charset="-127"/>
                <a:ea typeface="나눔스퀘어" panose="020B0600000101010101" pitchFamily="50" charset="-127"/>
              </a:rPr>
              <a:t>기초 자료 작성</a:t>
            </a:r>
            <a:endParaRPr lang="en-US" altLang="ko-KR" sz="1000" i="1" kern="0" spc="-5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099" name="직사각형 1098">
            <a:extLst>
              <a:ext uri="{FF2B5EF4-FFF2-40B4-BE49-F238E27FC236}">
                <a16:creationId xmlns:a16="http://schemas.microsoft.com/office/drawing/2014/main" id="{885BF551-2315-8C3B-061E-FE13DF68519F}"/>
              </a:ext>
            </a:extLst>
          </p:cNvPr>
          <p:cNvSpPr/>
          <p:nvPr/>
        </p:nvSpPr>
        <p:spPr>
          <a:xfrm>
            <a:off x="2020992" y="5006090"/>
            <a:ext cx="1451544" cy="388467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/>
        </p:spPr>
        <p:txBody>
          <a:bodyPr wrap="square" lIns="0" tIns="0" rIns="0" bIns="0" rtlCol="0" anchor="ctr"/>
          <a:lstStyle/>
          <a:p>
            <a:pPr algn="ctr" defTabSz="914400"/>
            <a:r>
              <a:rPr lang="ko-KR" altLang="en-US" sz="1000" i="1" kern="0" spc="-50">
                <a:latin typeface="나눔스퀘어" panose="020B0600000101010101" pitchFamily="50" charset="-127"/>
                <a:ea typeface="나눔스퀘어" panose="020B0600000101010101" pitchFamily="50" charset="-127"/>
              </a:rPr>
              <a:t>생산팀별 업무 </a:t>
            </a:r>
            <a:r>
              <a:rPr lang="en-US" altLang="ko-KR" sz="1000" i="1" kern="0" spc="-50">
                <a:latin typeface="나눔스퀘어" panose="020B0600000101010101" pitchFamily="50" charset="-127"/>
                <a:ea typeface="나눔스퀘어" panose="020B0600000101010101" pitchFamily="50" charset="-127"/>
              </a:rPr>
              <a:t>Knowhow</a:t>
            </a:r>
          </a:p>
          <a:p>
            <a:pPr algn="ctr" defTabSz="914400"/>
            <a:r>
              <a:rPr lang="ko-KR" altLang="en-US" sz="1000" i="1" kern="0" spc="-50">
                <a:latin typeface="나눔스퀘어" panose="020B0600000101010101" pitchFamily="50" charset="-127"/>
                <a:ea typeface="나눔스퀘어" panose="020B0600000101010101" pitchFamily="50" charset="-127"/>
              </a:rPr>
              <a:t>체계적 축적</a:t>
            </a:r>
            <a:endParaRPr lang="en-US" altLang="ko-KR" sz="1000" i="1" kern="0" spc="-5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110" name="직사각형 1109">
            <a:extLst>
              <a:ext uri="{FF2B5EF4-FFF2-40B4-BE49-F238E27FC236}">
                <a16:creationId xmlns:a16="http://schemas.microsoft.com/office/drawing/2014/main" id="{1F569057-97C8-5F64-4F07-8D2C89C6625A}"/>
              </a:ext>
            </a:extLst>
          </p:cNvPr>
          <p:cNvSpPr/>
          <p:nvPr/>
        </p:nvSpPr>
        <p:spPr>
          <a:xfrm>
            <a:off x="3463703" y="5033288"/>
            <a:ext cx="306944" cy="334071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/>
        </p:spPr>
        <p:txBody>
          <a:bodyPr wrap="square" lIns="36000" tIns="0" rIns="36000" bIns="0" rtlCol="0" anchor="ctr"/>
          <a:lstStyle/>
          <a:p>
            <a:pPr algn="ctr" defTabSz="914400" latinLnBrk="0"/>
            <a:endParaRPr lang="ko-KR" altLang="en-US" sz="1000" kern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205" name="연결선: 꺾임 204">
            <a:extLst>
              <a:ext uri="{FF2B5EF4-FFF2-40B4-BE49-F238E27FC236}">
                <a16:creationId xmlns:a16="http://schemas.microsoft.com/office/drawing/2014/main" id="{6405D8E3-23FF-5FDF-EB42-588FF175D285}"/>
              </a:ext>
            </a:extLst>
          </p:cNvPr>
          <p:cNvCxnSpPr>
            <a:cxnSpLocks/>
            <a:stCxn id="1042" idx="0"/>
            <a:endCxn id="193" idx="2"/>
          </p:cNvCxnSpPr>
          <p:nvPr/>
        </p:nvCxnSpPr>
        <p:spPr>
          <a:xfrm rot="16200000" flipV="1">
            <a:off x="3488744" y="5495790"/>
            <a:ext cx="581798" cy="324936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3" name="그래픽 192" descr="데이터베이스 윤곽선">
            <a:extLst>
              <a:ext uri="{FF2B5EF4-FFF2-40B4-BE49-F238E27FC236}">
                <a16:creationId xmlns:a16="http://schemas.microsoft.com/office/drawing/2014/main" id="{BA584BF1-F053-1FBC-317C-04AD4FDE69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50139" y="5033287"/>
            <a:ext cx="334072" cy="334072"/>
          </a:xfrm>
          <a:prstGeom prst="rect">
            <a:avLst/>
          </a:prstGeom>
        </p:spPr>
      </p:pic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AF7987F-1AD3-3155-AC6D-90331DEA5BA1}"/>
              </a:ext>
            </a:extLst>
          </p:cNvPr>
          <p:cNvSpPr/>
          <p:nvPr/>
        </p:nvSpPr>
        <p:spPr>
          <a:xfrm>
            <a:off x="8213309" y="2275370"/>
            <a:ext cx="557159" cy="240518"/>
          </a:xfrm>
          <a:prstGeom prst="roundRect">
            <a:avLst>
              <a:gd name="adj" fmla="val 0"/>
            </a:avLst>
          </a:prstGeom>
          <a:solidFill>
            <a:srgbClr val="DAE9F8"/>
          </a:solidFill>
          <a:ln w="3175">
            <a:solidFill>
              <a:srgbClr val="217CF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100" spc="-5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Junior</a:t>
            </a:r>
            <a:endParaRPr lang="ko-KR" altLang="en-US" sz="1100" spc="-50">
              <a:solidFill>
                <a:schemeClr val="tx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DBC46D71-83CD-CC1F-2A68-E52133C737EC}"/>
              </a:ext>
            </a:extLst>
          </p:cNvPr>
          <p:cNvSpPr/>
          <p:nvPr/>
        </p:nvSpPr>
        <p:spPr>
          <a:xfrm>
            <a:off x="8818887" y="2275370"/>
            <a:ext cx="557159" cy="240518"/>
          </a:xfrm>
          <a:prstGeom prst="roundRect">
            <a:avLst>
              <a:gd name="adj" fmla="val 0"/>
            </a:avLst>
          </a:prstGeom>
          <a:solidFill>
            <a:srgbClr val="217CFA"/>
          </a:solidFill>
          <a:ln w="3175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100" spc="-5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Senior</a:t>
            </a:r>
            <a:endParaRPr lang="ko-KR" altLang="en-US" sz="1100" spc="-5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145824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068CD-7257-E9FC-4F7A-F7335C5EE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361EF0D-424B-47F4-C2FE-7E9EDAB1823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4490" y="765175"/>
            <a:ext cx="9217024" cy="719138"/>
          </a:xfrm>
        </p:spPr>
        <p:txBody>
          <a:bodyPr vert="horz" lIns="91440" tIns="45720" rIns="91440" bIns="45720" rtlCol="0">
            <a:norm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</a:pPr>
            <a:r>
              <a:rPr lang="en-US" altLang="ko-KR" sz="1600" b="0"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ngal Pro" panose="020B0502040204020203" pitchFamily="2" charset="0"/>
              </a:rPr>
              <a:t>2030</a:t>
            </a:r>
            <a:r>
              <a:rPr lang="ko-KR" altLang="en-US" sz="1600" b="0"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ngal Pro" panose="020B0502040204020203" pitchFamily="2" charset="0"/>
              </a:rPr>
              <a:t>년까지 구성원과 </a:t>
            </a:r>
            <a:r>
              <a:rPr lang="en-US" altLang="ko-KR" sz="1600" b="0"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ngal Pro" panose="020B0502040204020203" pitchFamily="2" charset="0"/>
              </a:rPr>
              <a:t>AI</a:t>
            </a:r>
            <a:r>
              <a:rPr lang="ko-KR" altLang="en-US" sz="1600" b="0"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ngal Pro" panose="020B0502040204020203" pitchFamily="2" charset="0"/>
              </a:rPr>
              <a:t>의 협업체계를 구현하여 세대교체에 완벽히 대응하고자 함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E5415EB-17E6-F338-CDE6-E3F762DEB70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55375" y="254884"/>
            <a:ext cx="2448106" cy="343235"/>
          </a:xfrm>
        </p:spPr>
        <p:txBody>
          <a:bodyPr/>
          <a:lstStyle/>
          <a:p>
            <a:r>
              <a:rPr lang="ko-KR" altLang="en-US" b="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추진 방안 </a:t>
            </a:r>
            <a:r>
              <a:rPr lang="en-US" altLang="ko-KR" b="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&gt; </a:t>
            </a:r>
            <a:r>
              <a:rPr lang="ko-KR" altLang="en-US" b="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추진 방향성</a:t>
            </a:r>
            <a:endParaRPr lang="en-US" altLang="ko-KR" b="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354DF94-8B20-650A-26AE-254AA5EFC290}"/>
              </a:ext>
            </a:extLst>
          </p:cNvPr>
          <p:cNvGrpSpPr/>
          <p:nvPr/>
        </p:nvGrpSpPr>
        <p:grpSpPr>
          <a:xfrm>
            <a:off x="344488" y="5963330"/>
            <a:ext cx="584767" cy="458460"/>
            <a:chOff x="344488" y="1499855"/>
            <a:chExt cx="584767" cy="458460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E9BD6EA5-FC53-7653-EC1B-C2E71F4C804A}"/>
                </a:ext>
              </a:extLst>
            </p:cNvPr>
            <p:cNvSpPr/>
            <p:nvPr/>
          </p:nvSpPr>
          <p:spPr>
            <a:xfrm>
              <a:off x="344488" y="1588983"/>
              <a:ext cx="584767" cy="369332"/>
            </a:xfrm>
            <a:prstGeom prst="rect">
              <a:avLst/>
            </a:prstGeom>
          </p:spPr>
          <p:txBody>
            <a:bodyPr wrap="square" lIns="0" tIns="0" rIns="0" bIns="0" anchor="t">
              <a:spAutoFit/>
            </a:bodyPr>
            <a:lstStyle/>
            <a:p>
              <a:pPr algn="ctr" defTabSz="957743" fontAlgn="base">
                <a:tabLst>
                  <a:tab pos="0" algn="l"/>
                </a:tabLst>
              </a:pPr>
              <a:r>
                <a:rPr kumimoji="1" lang="ko-KR" altLang="en-US" sz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추진</a:t>
              </a:r>
              <a:endParaRPr kumimoji="1" lang="en-US" altLang="ko-KR" sz="120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  <a:p>
              <a:pPr algn="ctr" defTabSz="957743" fontAlgn="base">
                <a:tabLst>
                  <a:tab pos="0" algn="l"/>
                </a:tabLst>
              </a:pPr>
              <a:r>
                <a:rPr kumimoji="1" lang="ko-KR" altLang="en-US" sz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방식</a:t>
              </a:r>
            </a:p>
          </p:txBody>
        </p: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04A08668-E011-C9A0-6F79-23CE8850E655}"/>
                </a:ext>
              </a:extLst>
            </p:cNvPr>
            <p:cNvGrpSpPr/>
            <p:nvPr/>
          </p:nvGrpSpPr>
          <p:grpSpPr>
            <a:xfrm>
              <a:off x="344489" y="1499855"/>
              <a:ext cx="584766" cy="0"/>
              <a:chOff x="452436" y="5635537"/>
              <a:chExt cx="719589" cy="0"/>
            </a:xfrm>
          </p:grpSpPr>
          <p:cxnSp>
            <p:nvCxnSpPr>
              <p:cNvPr id="25" name="직선 연결선 24">
                <a:extLst>
                  <a:ext uri="{FF2B5EF4-FFF2-40B4-BE49-F238E27FC236}">
                    <a16:creationId xmlns:a16="http://schemas.microsoft.com/office/drawing/2014/main" id="{DC470FEE-C35C-219D-C965-61E49358DF0B}"/>
                  </a:ext>
                </a:extLst>
              </p:cNvPr>
              <p:cNvCxnSpPr/>
              <p:nvPr/>
            </p:nvCxnSpPr>
            <p:spPr>
              <a:xfrm>
                <a:off x="452436" y="5635537"/>
                <a:ext cx="719589" cy="0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직선 연결선 27">
                <a:extLst>
                  <a:ext uri="{FF2B5EF4-FFF2-40B4-BE49-F238E27FC236}">
                    <a16:creationId xmlns:a16="http://schemas.microsoft.com/office/drawing/2014/main" id="{8BCBD8AE-640F-2712-C016-16FFF53BFD5E}"/>
                  </a:ext>
                </a:extLst>
              </p:cNvPr>
              <p:cNvCxnSpPr/>
              <p:nvPr/>
            </p:nvCxnSpPr>
            <p:spPr>
              <a:xfrm>
                <a:off x="452436" y="5635537"/>
                <a:ext cx="308651" cy="0"/>
              </a:xfrm>
              <a:prstGeom prst="line">
                <a:avLst/>
              </a:prstGeom>
              <a:ln w="25400">
                <a:solidFill>
                  <a:schemeClr val="accent1">
                    <a:lumMod val="40000"/>
                    <a:lumOff val="60000"/>
                  </a:scheme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직선 연결선 31">
                <a:extLst>
                  <a:ext uri="{FF2B5EF4-FFF2-40B4-BE49-F238E27FC236}">
                    <a16:creationId xmlns:a16="http://schemas.microsoft.com/office/drawing/2014/main" id="{60C1D589-DC1A-338B-9CFF-77A8135D978D}"/>
                  </a:ext>
                </a:extLst>
              </p:cNvPr>
              <p:cNvCxnSpPr/>
              <p:nvPr/>
            </p:nvCxnSpPr>
            <p:spPr>
              <a:xfrm>
                <a:off x="452436" y="5635537"/>
                <a:ext cx="149768" cy="0"/>
              </a:xfrm>
              <a:prstGeom prst="line">
                <a:avLst/>
              </a:prstGeom>
              <a:ln w="25400">
                <a:solidFill>
                  <a:srgbClr val="217CFA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5249AEE2-7C7B-8913-964A-489FC6FC3552}"/>
              </a:ext>
            </a:extLst>
          </p:cNvPr>
          <p:cNvSpPr txBox="1"/>
          <p:nvPr/>
        </p:nvSpPr>
        <p:spPr>
          <a:xfrm>
            <a:off x="6865791" y="1444013"/>
            <a:ext cx="2695723" cy="490665"/>
          </a:xfrm>
          <a:prstGeom prst="roundRect">
            <a:avLst>
              <a:gd name="adj" fmla="val 0"/>
            </a:avLst>
          </a:prstGeom>
          <a:solidFill>
            <a:srgbClr val="217CFA"/>
          </a:solidFill>
          <a:ln w="3175">
            <a:noFill/>
          </a:ln>
        </p:spPr>
        <p:txBody>
          <a:bodyPr wrap="square" lIns="0" tIns="108000" rIns="0" bIns="0" anchor="ctr">
            <a:noAutofit/>
          </a:bodyPr>
          <a:lstStyle>
            <a:defPPr>
              <a:defRPr lang="en-US"/>
            </a:defPPr>
            <a:lvl1pPr>
              <a:defRPr sz="1100" spc="-5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pPr algn="ctr"/>
            <a:r>
              <a:rPr lang="en-US" altLang="ko-KR" sz="140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AI - </a:t>
            </a:r>
            <a:r>
              <a:rPr lang="ko-KR" altLang="en-US" sz="140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구성원 협업체계 구축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D4695CD-B01A-D521-2EE2-E670CD014E6A}"/>
              </a:ext>
            </a:extLst>
          </p:cNvPr>
          <p:cNvSpPr txBox="1"/>
          <p:nvPr/>
        </p:nvSpPr>
        <p:spPr>
          <a:xfrm>
            <a:off x="1153108" y="1444013"/>
            <a:ext cx="2695723" cy="490665"/>
          </a:xfrm>
          <a:prstGeom prst="roundRect">
            <a:avLst>
              <a:gd name="adj" fmla="val 0"/>
            </a:avLst>
          </a:prstGeom>
          <a:solidFill>
            <a:srgbClr val="BCD7FD"/>
          </a:solidFill>
          <a:ln w="3175">
            <a:noFill/>
          </a:ln>
        </p:spPr>
        <p:txBody>
          <a:bodyPr wrap="square" lIns="0" tIns="108000" rIns="0" bIns="0" anchor="ctr">
            <a:noAutofit/>
          </a:bodyPr>
          <a:lstStyle>
            <a:defPPr>
              <a:defRPr lang="en-US"/>
            </a:defPPr>
            <a:lvl1pPr>
              <a:defRPr sz="1100" spc="-5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pPr algn="ctr"/>
            <a:r>
              <a:rPr lang="en-US" altLang="ko-KR" sz="140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CLX AI </a:t>
            </a:r>
            <a:r>
              <a:rPr lang="ko-KR" altLang="en-US" sz="140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구성원</a:t>
            </a:r>
            <a:r>
              <a:rPr lang="en-US" altLang="ko-KR" sz="140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ko-KR" altLang="en-US" sz="140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도입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A13E317-46B3-3191-2050-2E0B03C7012B}"/>
              </a:ext>
            </a:extLst>
          </p:cNvPr>
          <p:cNvSpPr txBox="1"/>
          <p:nvPr/>
        </p:nvSpPr>
        <p:spPr>
          <a:xfrm>
            <a:off x="1981310" y="1318581"/>
            <a:ext cx="1039318" cy="229120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txBody>
          <a:bodyPr wrap="square" lIns="36000" tIns="36000" rIns="0" bIns="36000" anchor="ctr">
            <a:noAutofit/>
          </a:bodyPr>
          <a:lstStyle>
            <a:defPPr>
              <a:defRPr lang="en-US"/>
            </a:defPPr>
            <a:lvl1pPr>
              <a:defRPr sz="1100" spc="-5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pPr algn="ctr"/>
            <a:r>
              <a:rPr lang="en-US" altLang="ko-KR" spc="0">
                <a:solidFill>
                  <a:schemeClr val="tx1"/>
                </a:solidFill>
              </a:rPr>
              <a:t>1</a:t>
            </a:r>
            <a:r>
              <a:rPr lang="ko-KR" altLang="en-US" spc="0">
                <a:solidFill>
                  <a:schemeClr val="tx1"/>
                </a:solidFill>
              </a:rPr>
              <a:t>단계 </a:t>
            </a:r>
            <a:r>
              <a:rPr lang="en-US" altLang="ko-KR" sz="1000" spc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(’25~’26)</a:t>
            </a:r>
            <a:endParaRPr lang="ko-KR" altLang="en-US" sz="1000" spc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81727FE-CF1C-625D-E418-E7980B80EEAC}"/>
              </a:ext>
            </a:extLst>
          </p:cNvPr>
          <p:cNvSpPr txBox="1"/>
          <p:nvPr/>
        </p:nvSpPr>
        <p:spPr>
          <a:xfrm>
            <a:off x="4009450" y="1444013"/>
            <a:ext cx="2695723" cy="490665"/>
          </a:xfrm>
          <a:prstGeom prst="roundRect">
            <a:avLst>
              <a:gd name="adj" fmla="val 0"/>
            </a:avLst>
          </a:prstGeom>
          <a:solidFill>
            <a:srgbClr val="90BDFC"/>
          </a:solidFill>
          <a:ln w="3175">
            <a:noFill/>
          </a:ln>
        </p:spPr>
        <p:txBody>
          <a:bodyPr wrap="square" lIns="0" tIns="108000" rIns="0" bIns="0" anchor="ctr">
            <a:noAutofit/>
          </a:bodyPr>
          <a:lstStyle>
            <a:defPPr>
              <a:defRPr lang="en-US"/>
            </a:defPPr>
            <a:lvl1pPr>
              <a:defRPr sz="1100" spc="-5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pPr algn="ctr"/>
            <a:r>
              <a:rPr lang="en-US" altLang="ko-KR" sz="140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CLX AI</a:t>
            </a:r>
            <a:r>
              <a:rPr lang="ko-KR" altLang="en-US" sz="140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구성원 </a:t>
            </a:r>
            <a:r>
              <a:rPr lang="ko-KR" altLang="en-US" sz="140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확산ㆍ역량</a:t>
            </a:r>
            <a:r>
              <a:rPr lang="ko-KR" altLang="en-US" sz="140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강화</a:t>
            </a: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BC881EB2-9B60-72E3-6878-4A4EDACB0E99}"/>
              </a:ext>
            </a:extLst>
          </p:cNvPr>
          <p:cNvGrpSpPr/>
          <p:nvPr/>
        </p:nvGrpSpPr>
        <p:grpSpPr>
          <a:xfrm>
            <a:off x="344488" y="1380524"/>
            <a:ext cx="584767" cy="458460"/>
            <a:chOff x="344488" y="1499855"/>
            <a:chExt cx="584767" cy="458460"/>
          </a:xfrm>
        </p:grpSpPr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02FF8991-3CC4-198A-AA7C-D2DA23C98B91}"/>
                </a:ext>
              </a:extLst>
            </p:cNvPr>
            <p:cNvSpPr/>
            <p:nvPr/>
          </p:nvSpPr>
          <p:spPr>
            <a:xfrm>
              <a:off x="344488" y="1588983"/>
              <a:ext cx="584767" cy="369332"/>
            </a:xfrm>
            <a:prstGeom prst="rect">
              <a:avLst/>
            </a:prstGeom>
          </p:spPr>
          <p:txBody>
            <a:bodyPr wrap="square" lIns="0" tIns="0" rIns="0" bIns="0" anchor="t">
              <a:spAutoFit/>
            </a:bodyPr>
            <a:lstStyle/>
            <a:p>
              <a:pPr algn="ctr" defTabSz="957743" fontAlgn="base">
                <a:tabLst>
                  <a:tab pos="0" algn="l"/>
                </a:tabLst>
              </a:pPr>
              <a:r>
                <a:rPr kumimoji="1" lang="ko-KR" altLang="en-US" sz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추진</a:t>
              </a:r>
              <a:endParaRPr kumimoji="1" lang="en-US" altLang="ko-KR" sz="120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  <a:p>
              <a:pPr algn="ctr" defTabSz="957743" fontAlgn="base">
                <a:tabLst>
                  <a:tab pos="0" algn="l"/>
                </a:tabLst>
              </a:pPr>
              <a:r>
                <a:rPr kumimoji="1" lang="ko-KR" altLang="en-US" sz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단계</a:t>
              </a:r>
            </a:p>
          </p:txBody>
        </p:sp>
        <p:grpSp>
          <p:nvGrpSpPr>
            <p:cNvPr id="54" name="그룹 53">
              <a:extLst>
                <a:ext uri="{FF2B5EF4-FFF2-40B4-BE49-F238E27FC236}">
                  <a16:creationId xmlns:a16="http://schemas.microsoft.com/office/drawing/2014/main" id="{A6DA4533-6F9E-FCBE-0DBB-F85D2A5E0D3D}"/>
                </a:ext>
              </a:extLst>
            </p:cNvPr>
            <p:cNvGrpSpPr/>
            <p:nvPr/>
          </p:nvGrpSpPr>
          <p:grpSpPr>
            <a:xfrm>
              <a:off x="344489" y="1499855"/>
              <a:ext cx="584766" cy="0"/>
              <a:chOff x="452436" y="5635537"/>
              <a:chExt cx="719589" cy="0"/>
            </a:xfrm>
          </p:grpSpPr>
          <p:cxnSp>
            <p:nvCxnSpPr>
              <p:cNvPr id="55" name="직선 연결선 54">
                <a:extLst>
                  <a:ext uri="{FF2B5EF4-FFF2-40B4-BE49-F238E27FC236}">
                    <a16:creationId xmlns:a16="http://schemas.microsoft.com/office/drawing/2014/main" id="{3205FA03-D46C-4C62-BD9F-AD74B497766A}"/>
                  </a:ext>
                </a:extLst>
              </p:cNvPr>
              <p:cNvCxnSpPr/>
              <p:nvPr/>
            </p:nvCxnSpPr>
            <p:spPr>
              <a:xfrm>
                <a:off x="452436" y="5635537"/>
                <a:ext cx="719589" cy="0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직선 연결선 55">
                <a:extLst>
                  <a:ext uri="{FF2B5EF4-FFF2-40B4-BE49-F238E27FC236}">
                    <a16:creationId xmlns:a16="http://schemas.microsoft.com/office/drawing/2014/main" id="{B1A28E41-5706-5203-6316-B28460AAD06C}"/>
                  </a:ext>
                </a:extLst>
              </p:cNvPr>
              <p:cNvCxnSpPr/>
              <p:nvPr/>
            </p:nvCxnSpPr>
            <p:spPr>
              <a:xfrm>
                <a:off x="452436" y="5635537"/>
                <a:ext cx="308651" cy="0"/>
              </a:xfrm>
              <a:prstGeom prst="line">
                <a:avLst/>
              </a:prstGeom>
              <a:ln w="25400">
                <a:solidFill>
                  <a:schemeClr val="accent1">
                    <a:lumMod val="40000"/>
                    <a:lumOff val="60000"/>
                  </a:scheme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직선 연결선 56">
                <a:extLst>
                  <a:ext uri="{FF2B5EF4-FFF2-40B4-BE49-F238E27FC236}">
                    <a16:creationId xmlns:a16="http://schemas.microsoft.com/office/drawing/2014/main" id="{0E7646C9-1F06-F46A-9773-3DC8EB1B43B3}"/>
                  </a:ext>
                </a:extLst>
              </p:cNvPr>
              <p:cNvCxnSpPr/>
              <p:nvPr/>
            </p:nvCxnSpPr>
            <p:spPr>
              <a:xfrm>
                <a:off x="452436" y="5635537"/>
                <a:ext cx="149768" cy="0"/>
              </a:xfrm>
              <a:prstGeom prst="line">
                <a:avLst/>
              </a:prstGeom>
              <a:ln w="25400">
                <a:solidFill>
                  <a:srgbClr val="217CFA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1B73552A-DAB6-F287-97C3-724EB7600A61}"/>
              </a:ext>
            </a:extLst>
          </p:cNvPr>
          <p:cNvSpPr txBox="1"/>
          <p:nvPr/>
        </p:nvSpPr>
        <p:spPr>
          <a:xfrm>
            <a:off x="4837652" y="1318581"/>
            <a:ext cx="1039318" cy="229120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txBody>
          <a:bodyPr wrap="square" lIns="36000" tIns="36000" rIns="0" bIns="36000" anchor="ctr">
            <a:noAutofit/>
          </a:bodyPr>
          <a:lstStyle>
            <a:defPPr>
              <a:defRPr lang="en-US"/>
            </a:defPPr>
            <a:lvl1pPr>
              <a:defRPr sz="1100" spc="-5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pPr algn="ctr"/>
            <a:r>
              <a:rPr lang="en-US" altLang="ko-KR" spc="0">
                <a:solidFill>
                  <a:schemeClr val="tx1"/>
                </a:solidFill>
              </a:rPr>
              <a:t>2</a:t>
            </a:r>
            <a:r>
              <a:rPr lang="ko-KR" altLang="en-US" spc="0">
                <a:solidFill>
                  <a:schemeClr val="tx1"/>
                </a:solidFill>
              </a:rPr>
              <a:t>단계 </a:t>
            </a:r>
            <a:r>
              <a:rPr lang="en-US" altLang="ko-KR" sz="1000" spc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(’27~’28)</a:t>
            </a:r>
            <a:endParaRPr lang="ko-KR" altLang="en-US" sz="1000" spc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4D8BD8C-CFEB-0E0E-B6E5-FB9E33ECB273}"/>
              </a:ext>
            </a:extLst>
          </p:cNvPr>
          <p:cNvSpPr txBox="1"/>
          <p:nvPr/>
        </p:nvSpPr>
        <p:spPr>
          <a:xfrm>
            <a:off x="7693993" y="1318581"/>
            <a:ext cx="1039318" cy="229120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txBody>
          <a:bodyPr wrap="square" lIns="36000" tIns="36000" rIns="0" bIns="36000" anchor="ctr">
            <a:noAutofit/>
          </a:bodyPr>
          <a:lstStyle>
            <a:defPPr>
              <a:defRPr lang="en-US"/>
            </a:defPPr>
            <a:lvl1pPr>
              <a:defRPr sz="1100" spc="-5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pPr algn="ctr"/>
            <a:r>
              <a:rPr lang="en-US" altLang="ko-KR" spc="0">
                <a:solidFill>
                  <a:schemeClr val="tx1"/>
                </a:solidFill>
              </a:rPr>
              <a:t>3</a:t>
            </a:r>
            <a:r>
              <a:rPr lang="ko-KR" altLang="en-US" spc="0">
                <a:solidFill>
                  <a:schemeClr val="tx1"/>
                </a:solidFill>
              </a:rPr>
              <a:t>단계 </a:t>
            </a:r>
            <a:r>
              <a:rPr lang="en-US" altLang="ko-KR" sz="1000" spc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(’29~)</a:t>
            </a:r>
            <a:endParaRPr lang="ko-KR" altLang="en-US" sz="1000" spc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CD2C7141-A1BA-BE96-C794-11ED1AB9001E}"/>
              </a:ext>
            </a:extLst>
          </p:cNvPr>
          <p:cNvGrpSpPr/>
          <p:nvPr/>
        </p:nvGrpSpPr>
        <p:grpSpPr>
          <a:xfrm>
            <a:off x="3803729" y="1563935"/>
            <a:ext cx="250821" cy="250821"/>
            <a:chOff x="3803729" y="1618729"/>
            <a:chExt cx="250821" cy="250821"/>
          </a:xfrm>
        </p:grpSpPr>
        <p:sp>
          <p:nvSpPr>
            <p:cNvPr id="63" name="타원 62">
              <a:extLst>
                <a:ext uri="{FF2B5EF4-FFF2-40B4-BE49-F238E27FC236}">
                  <a16:creationId xmlns:a16="http://schemas.microsoft.com/office/drawing/2014/main" id="{A55B5E00-F76A-1EAB-9879-D6CE624E2BDF}"/>
                </a:ext>
              </a:extLst>
            </p:cNvPr>
            <p:cNvSpPr/>
            <p:nvPr/>
          </p:nvSpPr>
          <p:spPr>
            <a:xfrm>
              <a:off x="3803729" y="1618729"/>
              <a:ext cx="250821" cy="25082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6658D9B5-9471-BC36-13C8-2E4A870659D8}"/>
                </a:ext>
              </a:extLst>
            </p:cNvPr>
            <p:cNvGrpSpPr/>
            <p:nvPr/>
          </p:nvGrpSpPr>
          <p:grpSpPr>
            <a:xfrm>
              <a:off x="3871335" y="1675892"/>
              <a:ext cx="115608" cy="136495"/>
              <a:chOff x="3870858" y="1799186"/>
              <a:chExt cx="115608" cy="136495"/>
            </a:xfrm>
          </p:grpSpPr>
          <p:grpSp>
            <p:nvGrpSpPr>
              <p:cNvPr id="65" name="그룹 64">
                <a:extLst>
                  <a:ext uri="{FF2B5EF4-FFF2-40B4-BE49-F238E27FC236}">
                    <a16:creationId xmlns:a16="http://schemas.microsoft.com/office/drawing/2014/main" id="{F22141E9-F1A5-FF26-6117-721F93C1BC67}"/>
                  </a:ext>
                </a:extLst>
              </p:cNvPr>
              <p:cNvGrpSpPr/>
              <p:nvPr/>
            </p:nvGrpSpPr>
            <p:grpSpPr>
              <a:xfrm>
                <a:off x="3917849" y="1799186"/>
                <a:ext cx="68617" cy="136495"/>
                <a:chOff x="3920771" y="1413862"/>
                <a:chExt cx="68617" cy="145882"/>
              </a:xfrm>
            </p:grpSpPr>
            <p:cxnSp>
              <p:nvCxnSpPr>
                <p:cNvPr id="79" name="직선 연결선 78">
                  <a:extLst>
                    <a:ext uri="{FF2B5EF4-FFF2-40B4-BE49-F238E27FC236}">
                      <a16:creationId xmlns:a16="http://schemas.microsoft.com/office/drawing/2014/main" id="{BFB6A534-06E9-AD79-9454-4F8F5F667B4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920771" y="1413862"/>
                  <a:ext cx="68617" cy="78388"/>
                </a:xfrm>
                <a:prstGeom prst="line">
                  <a:avLst/>
                </a:prstGeom>
                <a:ln w="15875">
                  <a:solidFill>
                    <a:srgbClr val="1C6AAC"/>
                  </a:solidFill>
                  <a:headEnd type="none" w="sm" len="sm"/>
                  <a:tailEnd type="none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" name="직선 연결선 79">
                  <a:extLst>
                    <a:ext uri="{FF2B5EF4-FFF2-40B4-BE49-F238E27FC236}">
                      <a16:creationId xmlns:a16="http://schemas.microsoft.com/office/drawing/2014/main" id="{82CF39FF-2F72-C010-FB74-3FC0F8D1C2A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920771" y="1481356"/>
                  <a:ext cx="68617" cy="78388"/>
                </a:xfrm>
                <a:prstGeom prst="line">
                  <a:avLst/>
                </a:prstGeom>
                <a:ln w="15875">
                  <a:solidFill>
                    <a:srgbClr val="1C6AAC"/>
                  </a:solidFill>
                  <a:headEnd type="none" w="sm" len="sm"/>
                  <a:tailEnd type="none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3" name="그룹 72">
                <a:extLst>
                  <a:ext uri="{FF2B5EF4-FFF2-40B4-BE49-F238E27FC236}">
                    <a16:creationId xmlns:a16="http://schemas.microsoft.com/office/drawing/2014/main" id="{5F788E73-7D32-4BF1-8494-7908613DC860}"/>
                  </a:ext>
                </a:extLst>
              </p:cNvPr>
              <p:cNvGrpSpPr/>
              <p:nvPr/>
            </p:nvGrpSpPr>
            <p:grpSpPr>
              <a:xfrm>
                <a:off x="3870858" y="1799186"/>
                <a:ext cx="68617" cy="136495"/>
                <a:chOff x="3915055" y="1413862"/>
                <a:chExt cx="68617" cy="145882"/>
              </a:xfrm>
            </p:grpSpPr>
            <p:cxnSp>
              <p:nvCxnSpPr>
                <p:cNvPr id="74" name="직선 연결선 73">
                  <a:extLst>
                    <a:ext uri="{FF2B5EF4-FFF2-40B4-BE49-F238E27FC236}">
                      <a16:creationId xmlns:a16="http://schemas.microsoft.com/office/drawing/2014/main" id="{89817D5D-646A-A13F-CE9A-B7838969075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915055" y="1413862"/>
                  <a:ext cx="68617" cy="78388"/>
                </a:xfrm>
                <a:prstGeom prst="line">
                  <a:avLst/>
                </a:prstGeom>
                <a:ln w="15875">
                  <a:solidFill>
                    <a:srgbClr val="1C6AAC"/>
                  </a:solidFill>
                  <a:headEnd type="none" w="sm" len="sm"/>
                  <a:tailEnd type="none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5" name="직선 연결선 74">
                  <a:extLst>
                    <a:ext uri="{FF2B5EF4-FFF2-40B4-BE49-F238E27FC236}">
                      <a16:creationId xmlns:a16="http://schemas.microsoft.com/office/drawing/2014/main" id="{51417316-DDAF-7997-795B-4202BC9BD5B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915055" y="1481356"/>
                  <a:ext cx="68617" cy="78388"/>
                </a:xfrm>
                <a:prstGeom prst="line">
                  <a:avLst/>
                </a:prstGeom>
                <a:ln w="15875">
                  <a:solidFill>
                    <a:srgbClr val="1C6AAC"/>
                  </a:solidFill>
                  <a:headEnd type="none" w="sm" len="sm"/>
                  <a:tailEnd type="none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883A4C8C-430F-981E-4C47-0208068F9833}"/>
              </a:ext>
            </a:extLst>
          </p:cNvPr>
          <p:cNvGrpSpPr/>
          <p:nvPr/>
        </p:nvGrpSpPr>
        <p:grpSpPr>
          <a:xfrm>
            <a:off x="6660071" y="1563935"/>
            <a:ext cx="250821" cy="250821"/>
            <a:chOff x="6660071" y="1618729"/>
            <a:chExt cx="250821" cy="250821"/>
          </a:xfrm>
        </p:grpSpPr>
        <p:sp>
          <p:nvSpPr>
            <p:cNvPr id="83" name="타원 82">
              <a:extLst>
                <a:ext uri="{FF2B5EF4-FFF2-40B4-BE49-F238E27FC236}">
                  <a16:creationId xmlns:a16="http://schemas.microsoft.com/office/drawing/2014/main" id="{9BBBC52A-72B0-6ABE-E8F1-7F7BAB3848FB}"/>
                </a:ext>
              </a:extLst>
            </p:cNvPr>
            <p:cNvSpPr/>
            <p:nvPr/>
          </p:nvSpPr>
          <p:spPr>
            <a:xfrm>
              <a:off x="6660071" y="1618729"/>
              <a:ext cx="250821" cy="25082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84" name="그룹 83">
              <a:extLst>
                <a:ext uri="{FF2B5EF4-FFF2-40B4-BE49-F238E27FC236}">
                  <a16:creationId xmlns:a16="http://schemas.microsoft.com/office/drawing/2014/main" id="{2FE45D5A-51B7-1729-18C6-1D363DCEFED6}"/>
                </a:ext>
              </a:extLst>
            </p:cNvPr>
            <p:cNvGrpSpPr/>
            <p:nvPr/>
          </p:nvGrpSpPr>
          <p:grpSpPr>
            <a:xfrm>
              <a:off x="6727678" y="1675892"/>
              <a:ext cx="115608" cy="136495"/>
              <a:chOff x="3870858" y="1799186"/>
              <a:chExt cx="115608" cy="136495"/>
            </a:xfrm>
          </p:grpSpPr>
          <p:grpSp>
            <p:nvGrpSpPr>
              <p:cNvPr id="85" name="그룹 84">
                <a:extLst>
                  <a:ext uri="{FF2B5EF4-FFF2-40B4-BE49-F238E27FC236}">
                    <a16:creationId xmlns:a16="http://schemas.microsoft.com/office/drawing/2014/main" id="{C310E27E-9BF3-ED50-2E5E-EFED6A013732}"/>
                  </a:ext>
                </a:extLst>
              </p:cNvPr>
              <p:cNvGrpSpPr/>
              <p:nvPr/>
            </p:nvGrpSpPr>
            <p:grpSpPr>
              <a:xfrm>
                <a:off x="3917849" y="1799186"/>
                <a:ext cx="68617" cy="136495"/>
                <a:chOff x="3920771" y="1413862"/>
                <a:chExt cx="68617" cy="145882"/>
              </a:xfrm>
            </p:grpSpPr>
            <p:cxnSp>
              <p:nvCxnSpPr>
                <p:cNvPr id="89" name="직선 연결선 88">
                  <a:extLst>
                    <a:ext uri="{FF2B5EF4-FFF2-40B4-BE49-F238E27FC236}">
                      <a16:creationId xmlns:a16="http://schemas.microsoft.com/office/drawing/2014/main" id="{CF41E16E-F07F-A74C-D408-2AB14D4D4DD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920771" y="1413862"/>
                  <a:ext cx="68617" cy="78388"/>
                </a:xfrm>
                <a:prstGeom prst="line">
                  <a:avLst/>
                </a:prstGeom>
                <a:ln w="15875">
                  <a:solidFill>
                    <a:srgbClr val="1C6AAC"/>
                  </a:solidFill>
                  <a:headEnd type="none" w="sm" len="sm"/>
                  <a:tailEnd type="none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0" name="직선 연결선 89">
                  <a:extLst>
                    <a:ext uri="{FF2B5EF4-FFF2-40B4-BE49-F238E27FC236}">
                      <a16:creationId xmlns:a16="http://schemas.microsoft.com/office/drawing/2014/main" id="{A239F2C3-E9EB-6FA5-584F-35C41430C19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920771" y="1481356"/>
                  <a:ext cx="68617" cy="78388"/>
                </a:xfrm>
                <a:prstGeom prst="line">
                  <a:avLst/>
                </a:prstGeom>
                <a:ln w="15875">
                  <a:solidFill>
                    <a:srgbClr val="1C6AAC"/>
                  </a:solidFill>
                  <a:headEnd type="none" w="sm" len="sm"/>
                  <a:tailEnd type="none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6" name="그룹 85">
                <a:extLst>
                  <a:ext uri="{FF2B5EF4-FFF2-40B4-BE49-F238E27FC236}">
                    <a16:creationId xmlns:a16="http://schemas.microsoft.com/office/drawing/2014/main" id="{BD886DB8-45AC-747C-F34D-83115E0DA991}"/>
                  </a:ext>
                </a:extLst>
              </p:cNvPr>
              <p:cNvGrpSpPr/>
              <p:nvPr/>
            </p:nvGrpSpPr>
            <p:grpSpPr>
              <a:xfrm>
                <a:off x="3870858" y="1799186"/>
                <a:ext cx="68617" cy="136495"/>
                <a:chOff x="3915055" y="1413862"/>
                <a:chExt cx="68617" cy="145882"/>
              </a:xfrm>
            </p:grpSpPr>
            <p:cxnSp>
              <p:nvCxnSpPr>
                <p:cNvPr id="87" name="직선 연결선 86">
                  <a:extLst>
                    <a:ext uri="{FF2B5EF4-FFF2-40B4-BE49-F238E27FC236}">
                      <a16:creationId xmlns:a16="http://schemas.microsoft.com/office/drawing/2014/main" id="{0B78F908-E31A-8BD1-3203-3CB8F942AF5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915055" y="1413862"/>
                  <a:ext cx="68617" cy="78388"/>
                </a:xfrm>
                <a:prstGeom prst="line">
                  <a:avLst/>
                </a:prstGeom>
                <a:ln w="15875">
                  <a:solidFill>
                    <a:srgbClr val="1C6AAC"/>
                  </a:solidFill>
                  <a:headEnd type="none" w="sm" len="sm"/>
                  <a:tailEnd type="none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8" name="직선 연결선 87">
                  <a:extLst>
                    <a:ext uri="{FF2B5EF4-FFF2-40B4-BE49-F238E27FC236}">
                      <a16:creationId xmlns:a16="http://schemas.microsoft.com/office/drawing/2014/main" id="{5007623B-B5D0-169C-D207-A74C069E1AC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915055" y="1481356"/>
                  <a:ext cx="68617" cy="78388"/>
                </a:xfrm>
                <a:prstGeom prst="line">
                  <a:avLst/>
                </a:prstGeom>
                <a:ln w="15875">
                  <a:solidFill>
                    <a:srgbClr val="1C6AAC"/>
                  </a:solidFill>
                  <a:headEnd type="none" w="sm" len="sm"/>
                  <a:tailEnd type="none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99" name="그룹 98">
            <a:extLst>
              <a:ext uri="{FF2B5EF4-FFF2-40B4-BE49-F238E27FC236}">
                <a16:creationId xmlns:a16="http://schemas.microsoft.com/office/drawing/2014/main" id="{64E4E1D8-7352-6A32-A23D-E05E13F325FF}"/>
              </a:ext>
            </a:extLst>
          </p:cNvPr>
          <p:cNvGrpSpPr/>
          <p:nvPr/>
        </p:nvGrpSpPr>
        <p:grpSpPr>
          <a:xfrm>
            <a:off x="344488" y="2083474"/>
            <a:ext cx="584767" cy="458460"/>
            <a:chOff x="344488" y="1499855"/>
            <a:chExt cx="584767" cy="458460"/>
          </a:xfrm>
        </p:grpSpPr>
        <p:sp>
          <p:nvSpPr>
            <p:cNvPr id="100" name="직사각형 99">
              <a:extLst>
                <a:ext uri="{FF2B5EF4-FFF2-40B4-BE49-F238E27FC236}">
                  <a16:creationId xmlns:a16="http://schemas.microsoft.com/office/drawing/2014/main" id="{04D077E9-BC8A-4823-D72F-9BEA0909E603}"/>
                </a:ext>
              </a:extLst>
            </p:cNvPr>
            <p:cNvSpPr/>
            <p:nvPr/>
          </p:nvSpPr>
          <p:spPr>
            <a:xfrm>
              <a:off x="344488" y="1588983"/>
              <a:ext cx="584767" cy="369332"/>
            </a:xfrm>
            <a:prstGeom prst="rect">
              <a:avLst/>
            </a:prstGeom>
          </p:spPr>
          <p:txBody>
            <a:bodyPr wrap="square" lIns="0" tIns="0" rIns="0" bIns="0" anchor="t">
              <a:spAutoFit/>
            </a:bodyPr>
            <a:lstStyle/>
            <a:p>
              <a:pPr algn="ctr" defTabSz="957743" fontAlgn="base">
                <a:tabLst>
                  <a:tab pos="0" algn="l"/>
                </a:tabLst>
              </a:pPr>
              <a:r>
                <a:rPr kumimoji="1" lang="ko-KR" altLang="en-US" sz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추진</a:t>
              </a:r>
              <a:endParaRPr kumimoji="1" lang="en-US" altLang="ko-KR" sz="120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  <a:p>
              <a:pPr algn="ctr" defTabSz="957743" fontAlgn="base">
                <a:tabLst>
                  <a:tab pos="0" algn="l"/>
                </a:tabLst>
              </a:pPr>
              <a:r>
                <a:rPr kumimoji="1" lang="ko-KR" altLang="en-US" sz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방향성</a:t>
              </a:r>
            </a:p>
          </p:txBody>
        </p:sp>
        <p:grpSp>
          <p:nvGrpSpPr>
            <p:cNvPr id="101" name="그룹 100">
              <a:extLst>
                <a:ext uri="{FF2B5EF4-FFF2-40B4-BE49-F238E27FC236}">
                  <a16:creationId xmlns:a16="http://schemas.microsoft.com/office/drawing/2014/main" id="{3FB64A82-9F70-CA1C-F084-7621C29DD9FD}"/>
                </a:ext>
              </a:extLst>
            </p:cNvPr>
            <p:cNvGrpSpPr/>
            <p:nvPr/>
          </p:nvGrpSpPr>
          <p:grpSpPr>
            <a:xfrm>
              <a:off x="344489" y="1499855"/>
              <a:ext cx="584766" cy="0"/>
              <a:chOff x="452436" y="5635537"/>
              <a:chExt cx="719589" cy="0"/>
            </a:xfrm>
          </p:grpSpPr>
          <p:cxnSp>
            <p:nvCxnSpPr>
              <p:cNvPr id="106" name="직선 연결선 105">
                <a:extLst>
                  <a:ext uri="{FF2B5EF4-FFF2-40B4-BE49-F238E27FC236}">
                    <a16:creationId xmlns:a16="http://schemas.microsoft.com/office/drawing/2014/main" id="{6316D575-19AE-C3A5-AC0F-B422B28A4B67}"/>
                  </a:ext>
                </a:extLst>
              </p:cNvPr>
              <p:cNvCxnSpPr/>
              <p:nvPr/>
            </p:nvCxnSpPr>
            <p:spPr>
              <a:xfrm>
                <a:off x="452436" y="5635537"/>
                <a:ext cx="719589" cy="0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직선 연결선 112">
                <a:extLst>
                  <a:ext uri="{FF2B5EF4-FFF2-40B4-BE49-F238E27FC236}">
                    <a16:creationId xmlns:a16="http://schemas.microsoft.com/office/drawing/2014/main" id="{A0D6C7CB-419E-BC94-242B-ED2482701D43}"/>
                  </a:ext>
                </a:extLst>
              </p:cNvPr>
              <p:cNvCxnSpPr/>
              <p:nvPr/>
            </p:nvCxnSpPr>
            <p:spPr>
              <a:xfrm>
                <a:off x="452436" y="5635537"/>
                <a:ext cx="308651" cy="0"/>
              </a:xfrm>
              <a:prstGeom prst="line">
                <a:avLst/>
              </a:prstGeom>
              <a:ln w="25400">
                <a:solidFill>
                  <a:schemeClr val="accent1">
                    <a:lumMod val="40000"/>
                    <a:lumOff val="60000"/>
                  </a:scheme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직선 연결선 114">
                <a:extLst>
                  <a:ext uri="{FF2B5EF4-FFF2-40B4-BE49-F238E27FC236}">
                    <a16:creationId xmlns:a16="http://schemas.microsoft.com/office/drawing/2014/main" id="{9C73FA1E-6056-4142-5348-3A34CC40F93D}"/>
                  </a:ext>
                </a:extLst>
              </p:cNvPr>
              <p:cNvCxnSpPr/>
              <p:nvPr/>
            </p:nvCxnSpPr>
            <p:spPr>
              <a:xfrm>
                <a:off x="452436" y="5635537"/>
                <a:ext cx="149768" cy="0"/>
              </a:xfrm>
              <a:prstGeom prst="line">
                <a:avLst/>
              </a:prstGeom>
              <a:ln w="25400">
                <a:solidFill>
                  <a:srgbClr val="217CFA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91" name="TextBox 90">
            <a:extLst>
              <a:ext uri="{FF2B5EF4-FFF2-40B4-BE49-F238E27FC236}">
                <a16:creationId xmlns:a16="http://schemas.microsoft.com/office/drawing/2014/main" id="{A053EC9D-5713-D438-3FCF-84A9512F7BB2}"/>
              </a:ext>
            </a:extLst>
          </p:cNvPr>
          <p:cNvSpPr txBox="1"/>
          <p:nvPr/>
        </p:nvSpPr>
        <p:spPr>
          <a:xfrm>
            <a:off x="1153108" y="3263727"/>
            <a:ext cx="2695723" cy="402948"/>
          </a:xfrm>
          <a:prstGeom prst="rect">
            <a:avLst/>
          </a:prstGeom>
          <a:noFill/>
          <a:ln w="3175">
            <a:noFill/>
          </a:ln>
        </p:spPr>
        <p:txBody>
          <a:bodyPr wrap="square" lIns="36000" tIns="36000" rIns="0" bIns="0" anchor="t">
            <a:noAutofit/>
          </a:bodyPr>
          <a:lstStyle>
            <a:defPPr>
              <a:defRPr lang="en-US"/>
            </a:defPPr>
            <a:lvl1pPr marL="171450" indent="-171450">
              <a:buFont typeface="Wingdings" panose="05000000000000000000" pitchFamily="2" charset="2"/>
              <a:buChar char="ü"/>
              <a:defRPr sz="1100" spc="0">
                <a:ln>
                  <a:solidFill>
                    <a:schemeClr val="tx1">
                      <a:alpha val="0"/>
                    </a:schemeClr>
                  </a:solidFill>
                </a:ln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>
              <a:spcAft>
                <a:spcPts val="300"/>
              </a:spcAft>
            </a:pPr>
            <a:r>
              <a:rPr lang="ko-KR" altLang="en-US"/>
              <a:t>도입 용이한 난이도 低 업무 우선 자동화</a:t>
            </a:r>
            <a:endParaRPr lang="en-US" altLang="ko-KR"/>
          </a:p>
          <a:p>
            <a:pPr>
              <a:spcAft>
                <a:spcPts val="300"/>
              </a:spcAft>
            </a:pPr>
            <a:r>
              <a:rPr lang="ko-KR" altLang="en-US"/>
              <a:t>업무 활용 </a:t>
            </a:r>
            <a:r>
              <a:rPr lang="en-US" altLang="ko-KR"/>
              <a:t>Data </a:t>
            </a:r>
            <a:r>
              <a:rPr lang="ko-KR" altLang="en-US"/>
              <a:t>단위 연계성 구축 要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CA802820-CAE4-0129-3751-0B3611B8718C}"/>
              </a:ext>
            </a:extLst>
          </p:cNvPr>
          <p:cNvSpPr txBox="1"/>
          <p:nvPr/>
        </p:nvSpPr>
        <p:spPr>
          <a:xfrm>
            <a:off x="1153109" y="2637201"/>
            <a:ext cx="2695720" cy="555947"/>
          </a:xfrm>
          <a:prstGeom prst="roundRect">
            <a:avLst/>
          </a:prstGeom>
          <a:solidFill>
            <a:schemeClr val="bg1"/>
          </a:solidFill>
          <a:ln w="3175"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anchor="ctr">
            <a:noAutofit/>
          </a:bodyPr>
          <a:lstStyle>
            <a:defPPr>
              <a:defRPr lang="en-US"/>
            </a:defPPr>
            <a:lvl1pPr>
              <a:defRPr sz="1100" spc="-5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pPr algn="ctr">
              <a:spcAft>
                <a:spcPts val="300"/>
              </a:spcAft>
            </a:pPr>
            <a:r>
              <a:rPr lang="ko-KR" altLang="en-US" sz="1200">
                <a:solidFill>
                  <a:srgbClr val="217CFA"/>
                </a:solidFill>
              </a:rPr>
              <a:t>정보 활용도 </a:t>
            </a:r>
            <a:r>
              <a:rPr lang="en-US" altLang="ko-KR" sz="1200">
                <a:solidFill>
                  <a:srgbClr val="217CFA"/>
                </a:solidFill>
              </a:rPr>
              <a:t>·</a:t>
            </a:r>
            <a:r>
              <a:rPr lang="ko-KR" altLang="en-US" sz="1200">
                <a:solidFill>
                  <a:srgbClr val="217CFA"/>
                </a:solidFill>
              </a:rPr>
              <a:t> 정확도 제고</a:t>
            </a:r>
            <a:endParaRPr lang="en-US" altLang="ko-KR" sz="1200">
              <a:solidFill>
                <a:srgbClr val="217CFA"/>
              </a:solidFill>
            </a:endParaRPr>
          </a:p>
          <a:p>
            <a:pPr algn="ctr">
              <a:spcAft>
                <a:spcPts val="300"/>
              </a:spcAft>
            </a:pPr>
            <a:r>
              <a:rPr lang="en-US" altLang="ko-KR" sz="1400">
                <a:solidFill>
                  <a:schemeClr val="tx1"/>
                </a:solidFill>
              </a:rPr>
              <a:t>CLX AI Assistant </a:t>
            </a:r>
            <a:r>
              <a:rPr lang="ko-KR" altLang="en-US" sz="1400">
                <a:solidFill>
                  <a:schemeClr val="tx1"/>
                </a:solidFill>
              </a:rPr>
              <a:t>활용 업무 수행</a:t>
            </a:r>
            <a:endParaRPr lang="en-US" altLang="ko-KR" sz="140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A285A2-0092-91F9-77A0-4DA7131008D3}"/>
              </a:ext>
            </a:extLst>
          </p:cNvPr>
          <p:cNvSpPr txBox="1"/>
          <p:nvPr/>
        </p:nvSpPr>
        <p:spPr>
          <a:xfrm>
            <a:off x="1153108" y="2408358"/>
            <a:ext cx="2695723" cy="210665"/>
          </a:xfrm>
          <a:prstGeom prst="rect">
            <a:avLst/>
          </a:prstGeom>
          <a:noFill/>
          <a:ln w="3175">
            <a:noFill/>
          </a:ln>
        </p:spPr>
        <p:txBody>
          <a:bodyPr wrap="square" lIns="0" tIns="36000" rIns="0" bIns="0" anchor="t">
            <a:noAutofit/>
          </a:bodyPr>
          <a:lstStyle>
            <a:defPPr>
              <a:defRPr lang="en-US"/>
            </a:defPPr>
            <a:lvl1pPr>
              <a:defRPr sz="1100" spc="-5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pPr algn="ctr">
              <a:spcAft>
                <a:spcPts val="300"/>
              </a:spcAft>
            </a:pPr>
            <a:r>
              <a:rPr lang="en-US" altLang="ko-KR" sz="1000" i="1" spc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Quick-win</a:t>
            </a:r>
            <a:endParaRPr lang="ko-KR" altLang="en-US" sz="1000" i="1" spc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1B62A62-35E6-66F5-0169-C627DC09E845}"/>
              </a:ext>
            </a:extLst>
          </p:cNvPr>
          <p:cNvSpPr txBox="1"/>
          <p:nvPr/>
        </p:nvSpPr>
        <p:spPr>
          <a:xfrm>
            <a:off x="4009449" y="3098223"/>
            <a:ext cx="2695723" cy="385211"/>
          </a:xfrm>
          <a:prstGeom prst="rect">
            <a:avLst/>
          </a:prstGeom>
          <a:noFill/>
          <a:ln w="3175">
            <a:noFill/>
          </a:ln>
        </p:spPr>
        <p:txBody>
          <a:bodyPr wrap="square" lIns="36000" tIns="36000" rIns="0" bIns="0" anchor="t">
            <a:noAutofit/>
          </a:bodyPr>
          <a:lstStyle>
            <a:defPPr>
              <a:defRPr lang="en-US"/>
            </a:defPPr>
            <a:lvl1pPr>
              <a:defRPr sz="1100" spc="-5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ko-KR" altLang="en-US" spc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활용 </a:t>
            </a:r>
            <a:r>
              <a:rPr lang="en-US" altLang="ko-KR" spc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Tool </a:t>
            </a:r>
            <a:r>
              <a:rPr lang="ko-KR" altLang="en-US" spc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확장 및 데이터 확보 </a:t>
            </a:r>
            <a:endParaRPr lang="en-US" altLang="ko-KR" spc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ko-KR" altLang="en-US" spc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제작자 ∙ 사용자 피드백</a:t>
            </a:r>
            <a:r>
              <a:rPr lang="en-US" altLang="ko-KR" spc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pc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기반 학습</a:t>
            </a:r>
            <a:endParaRPr lang="en-US" altLang="ko-KR" spc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87233A71-7364-F5CE-60DA-DE2B561FC060}"/>
              </a:ext>
            </a:extLst>
          </p:cNvPr>
          <p:cNvSpPr txBox="1"/>
          <p:nvPr/>
        </p:nvSpPr>
        <p:spPr>
          <a:xfrm>
            <a:off x="4009447" y="2470455"/>
            <a:ext cx="2695720" cy="555947"/>
          </a:xfrm>
          <a:prstGeom prst="roundRect">
            <a:avLst/>
          </a:prstGeom>
          <a:solidFill>
            <a:schemeClr val="bg1"/>
          </a:solidFill>
          <a:ln w="3175"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anchor="ctr">
            <a:noAutofit/>
          </a:bodyPr>
          <a:lstStyle>
            <a:defPPr>
              <a:defRPr lang="en-US"/>
            </a:defPPr>
            <a:lvl1pPr>
              <a:defRPr sz="1100" spc="-5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pPr algn="ctr">
              <a:spcAft>
                <a:spcPts val="300"/>
              </a:spcAft>
            </a:pPr>
            <a:r>
              <a:rPr lang="en-US" altLang="ko-KR" sz="1200">
                <a:solidFill>
                  <a:srgbClr val="217CFA"/>
                </a:solidFill>
              </a:rPr>
              <a:t>LKM </a:t>
            </a:r>
            <a:r>
              <a:rPr lang="ko-KR" altLang="en-US" sz="1200">
                <a:solidFill>
                  <a:srgbClr val="217CFA"/>
                </a:solidFill>
              </a:rPr>
              <a:t>기반 </a:t>
            </a:r>
            <a:r>
              <a:rPr lang="en-US" altLang="ko-KR" sz="1200">
                <a:solidFill>
                  <a:srgbClr val="217CFA"/>
                </a:solidFill>
              </a:rPr>
              <a:t>routine </a:t>
            </a:r>
            <a:r>
              <a:rPr lang="ko-KR" altLang="en-US" sz="1200">
                <a:solidFill>
                  <a:srgbClr val="217CFA"/>
                </a:solidFill>
              </a:rPr>
              <a:t>업무 지원</a:t>
            </a:r>
            <a:endParaRPr lang="en-US" altLang="ko-KR" sz="1200">
              <a:solidFill>
                <a:srgbClr val="217CFA"/>
              </a:solidFill>
            </a:endParaRPr>
          </a:p>
          <a:p>
            <a:pPr algn="ctr">
              <a:spcAft>
                <a:spcPts val="300"/>
              </a:spcAft>
            </a:pPr>
            <a:r>
              <a:rPr lang="en-US" altLang="ko-KR" sz="1400">
                <a:solidFill>
                  <a:schemeClr val="tx1"/>
                </a:solidFill>
              </a:rPr>
              <a:t>Junior</a:t>
            </a:r>
            <a:r>
              <a:rPr lang="ko-KR" altLang="en-US" sz="1400">
                <a:solidFill>
                  <a:schemeClr val="tx1"/>
                </a:solidFill>
              </a:rPr>
              <a:t> </a:t>
            </a:r>
            <a:r>
              <a:rPr lang="en-US" altLang="ko-KR" sz="1400">
                <a:solidFill>
                  <a:schemeClr val="tx1"/>
                </a:solidFill>
              </a:rPr>
              <a:t>AI </a:t>
            </a:r>
            <a:r>
              <a:rPr lang="ko-KR" altLang="en-US" sz="1400">
                <a:solidFill>
                  <a:schemeClr val="tx1"/>
                </a:solidFill>
              </a:rPr>
              <a:t>구성원</a:t>
            </a:r>
            <a:endParaRPr lang="en-US" altLang="ko-KR" sz="140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DFC5FC-A541-0467-DFB3-D9F3BF5DDAC1}"/>
              </a:ext>
            </a:extLst>
          </p:cNvPr>
          <p:cNvSpPr txBox="1"/>
          <p:nvPr/>
        </p:nvSpPr>
        <p:spPr>
          <a:xfrm>
            <a:off x="4009446" y="2252180"/>
            <a:ext cx="2695723" cy="210665"/>
          </a:xfrm>
          <a:prstGeom prst="rect">
            <a:avLst/>
          </a:prstGeom>
          <a:noFill/>
          <a:ln w="3175">
            <a:noFill/>
          </a:ln>
        </p:spPr>
        <p:txBody>
          <a:bodyPr wrap="square" lIns="0" tIns="36000" rIns="0" bIns="0" anchor="t">
            <a:noAutofit/>
          </a:bodyPr>
          <a:lstStyle>
            <a:defPPr>
              <a:defRPr lang="en-US"/>
            </a:defPPr>
            <a:lvl1pPr>
              <a:defRPr sz="1100" spc="-5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pPr algn="ctr">
              <a:spcAft>
                <a:spcPts val="300"/>
              </a:spcAft>
            </a:pPr>
            <a:r>
              <a:rPr lang="en-US" altLang="ko-KR" sz="1000" i="1" spc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BP</a:t>
            </a:r>
            <a:r>
              <a:rPr lang="ko-KR" altLang="en-US" sz="1000" i="1" spc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확보 후 </a:t>
            </a:r>
            <a:r>
              <a:rPr lang="en-US" altLang="ko-KR" sz="1000" i="1" spc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CLX </a:t>
            </a:r>
            <a:r>
              <a:rPr lang="ko-KR" altLang="en-US" sz="1000" i="1" spc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전체 확산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90365819-08A6-66DB-BE71-4418C1C8ED70}"/>
              </a:ext>
            </a:extLst>
          </p:cNvPr>
          <p:cNvSpPr txBox="1"/>
          <p:nvPr/>
        </p:nvSpPr>
        <p:spPr>
          <a:xfrm>
            <a:off x="6865791" y="2942045"/>
            <a:ext cx="2695723" cy="385211"/>
          </a:xfrm>
          <a:prstGeom prst="rect">
            <a:avLst/>
          </a:prstGeom>
          <a:noFill/>
          <a:ln w="3175">
            <a:noFill/>
          </a:ln>
        </p:spPr>
        <p:txBody>
          <a:bodyPr wrap="square" lIns="36000" tIns="36000" rIns="0" bIns="0" anchor="t">
            <a:noAutofit/>
          </a:bodyPr>
          <a:lstStyle>
            <a:defPPr>
              <a:defRPr lang="en-US"/>
            </a:defPPr>
            <a:lvl1pPr marL="171450" indent="-171450">
              <a:buFont typeface="Wingdings" panose="05000000000000000000" pitchFamily="2" charset="2"/>
              <a:buChar char="ü"/>
              <a:defRPr sz="1100" spc="0">
                <a:ln>
                  <a:solidFill>
                    <a:schemeClr val="tx1">
                      <a:alpha val="0"/>
                    </a:schemeClr>
                  </a:solidFill>
                </a:ln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>
              <a:spcAft>
                <a:spcPts val="300"/>
              </a:spcAft>
            </a:pPr>
            <a:r>
              <a:rPr lang="ko-KR" altLang="en-US"/>
              <a:t>지속적인 자동화 ∙ 지능화 영역 확대</a:t>
            </a:r>
            <a:endParaRPr lang="en-US" altLang="ko-KR"/>
          </a:p>
          <a:p>
            <a:pPr>
              <a:spcAft>
                <a:spcPts val="300"/>
              </a:spcAft>
            </a:pPr>
            <a:r>
              <a:rPr lang="en-US" altLang="ko-KR"/>
              <a:t>AI </a:t>
            </a:r>
            <a:r>
              <a:rPr lang="ko-KR" altLang="en-US"/>
              <a:t>구성원 협업 결과 검증 및 고도화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E1F5123D-A809-1140-CF7A-1CEA54F67F04}"/>
              </a:ext>
            </a:extLst>
          </p:cNvPr>
          <p:cNvSpPr txBox="1"/>
          <p:nvPr/>
        </p:nvSpPr>
        <p:spPr>
          <a:xfrm>
            <a:off x="6865792" y="2316999"/>
            <a:ext cx="2695720" cy="555947"/>
          </a:xfrm>
          <a:prstGeom prst="roundRect">
            <a:avLst/>
          </a:prstGeom>
          <a:solidFill>
            <a:schemeClr val="bg1"/>
          </a:solidFill>
          <a:ln w="3175"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anchor="ctr">
            <a:noAutofit/>
          </a:bodyPr>
          <a:lstStyle>
            <a:defPPr>
              <a:defRPr lang="en-US"/>
            </a:defPPr>
            <a:lvl1pPr>
              <a:defRPr sz="1100" spc="-5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pPr algn="ctr">
              <a:spcAft>
                <a:spcPts val="300"/>
              </a:spcAft>
            </a:pPr>
            <a:r>
              <a:rPr lang="en-US" altLang="ko-KR" sz="1200">
                <a:solidFill>
                  <a:srgbClr val="217CFA"/>
                </a:solidFill>
              </a:rPr>
              <a:t>Process Group </a:t>
            </a:r>
            <a:r>
              <a:rPr lang="ko-KR" altLang="en-US" sz="1200">
                <a:solidFill>
                  <a:srgbClr val="217CFA"/>
                </a:solidFill>
              </a:rPr>
              <a:t>단위 업무 완결형 수행</a:t>
            </a:r>
            <a:endParaRPr lang="en-US" altLang="ko-KR" sz="1200">
              <a:solidFill>
                <a:srgbClr val="217CFA"/>
              </a:solidFill>
            </a:endParaRPr>
          </a:p>
          <a:p>
            <a:pPr algn="ctr">
              <a:spcAft>
                <a:spcPts val="300"/>
              </a:spcAft>
            </a:pPr>
            <a:r>
              <a:rPr lang="en-US" altLang="ko-KR" sz="1400">
                <a:solidFill>
                  <a:schemeClr val="tx1"/>
                </a:solidFill>
              </a:rPr>
              <a:t>Senior</a:t>
            </a:r>
            <a:r>
              <a:rPr lang="ko-KR" altLang="en-US" sz="1400">
                <a:solidFill>
                  <a:schemeClr val="tx1"/>
                </a:solidFill>
              </a:rPr>
              <a:t> </a:t>
            </a:r>
            <a:r>
              <a:rPr lang="en-US" altLang="ko-KR" sz="1400">
                <a:solidFill>
                  <a:schemeClr val="tx1"/>
                </a:solidFill>
              </a:rPr>
              <a:t>AI </a:t>
            </a:r>
            <a:r>
              <a:rPr lang="ko-KR" altLang="en-US" sz="1400">
                <a:solidFill>
                  <a:schemeClr val="tx1"/>
                </a:solidFill>
              </a:rPr>
              <a:t>구성원</a:t>
            </a:r>
            <a:endParaRPr lang="en-US" altLang="ko-KR" sz="1400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D590696-F61E-3E22-575D-C8C7B64BBC3F}"/>
              </a:ext>
            </a:extLst>
          </p:cNvPr>
          <p:cNvSpPr txBox="1"/>
          <p:nvPr/>
        </p:nvSpPr>
        <p:spPr>
          <a:xfrm>
            <a:off x="6865784" y="2083474"/>
            <a:ext cx="2695723" cy="210665"/>
          </a:xfrm>
          <a:prstGeom prst="rect">
            <a:avLst/>
          </a:prstGeom>
          <a:noFill/>
          <a:ln w="3175">
            <a:noFill/>
          </a:ln>
        </p:spPr>
        <p:txBody>
          <a:bodyPr wrap="square" lIns="0" tIns="36000" rIns="0" bIns="0" anchor="t">
            <a:noAutofit/>
          </a:bodyPr>
          <a:lstStyle>
            <a:defPPr>
              <a:defRPr lang="en-US"/>
            </a:defPPr>
            <a:lvl1pPr>
              <a:defRPr sz="1100" spc="-5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pPr algn="ctr">
              <a:spcAft>
                <a:spcPts val="300"/>
              </a:spcAft>
            </a:pPr>
            <a:r>
              <a:rPr lang="ko-KR" altLang="en-US" sz="1000" i="1" spc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비용</a:t>
            </a:r>
            <a:r>
              <a:rPr lang="en-US" altLang="ko-KR" sz="1000" i="1" spc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1000" i="1" spc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효익 검토 기반 추진 대상 선정</a:t>
            </a:r>
          </a:p>
        </p:txBody>
      </p:sp>
      <p:pic>
        <p:nvPicPr>
          <p:cNvPr id="121" name="그래픽 120" descr="뒤로 단색으로 채워진">
            <a:extLst>
              <a:ext uri="{FF2B5EF4-FFF2-40B4-BE49-F238E27FC236}">
                <a16:creationId xmlns:a16="http://schemas.microsoft.com/office/drawing/2014/main" id="{E43D5CD0-F7A3-A9D4-E96B-6933359E87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58767" y="2660557"/>
            <a:ext cx="340736" cy="340736"/>
          </a:xfrm>
          <a:prstGeom prst="rect">
            <a:avLst/>
          </a:prstGeom>
        </p:spPr>
      </p:pic>
      <p:pic>
        <p:nvPicPr>
          <p:cNvPr id="122" name="그래픽 121" descr="뒤로 단색으로 채워진">
            <a:extLst>
              <a:ext uri="{FF2B5EF4-FFF2-40B4-BE49-F238E27FC236}">
                <a16:creationId xmlns:a16="http://schemas.microsoft.com/office/drawing/2014/main" id="{78FCB56D-A17C-6797-9900-F8CFCA4925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5111" y="2504379"/>
            <a:ext cx="340736" cy="340736"/>
          </a:xfrm>
          <a:prstGeom prst="rect">
            <a:avLst/>
          </a:prstGeom>
        </p:spPr>
      </p:pic>
      <p:grpSp>
        <p:nvGrpSpPr>
          <p:cNvPr id="164" name="그룹 163">
            <a:extLst>
              <a:ext uri="{FF2B5EF4-FFF2-40B4-BE49-F238E27FC236}">
                <a16:creationId xmlns:a16="http://schemas.microsoft.com/office/drawing/2014/main" id="{D43D123C-A4DB-7626-70EB-2552EF369D80}"/>
              </a:ext>
            </a:extLst>
          </p:cNvPr>
          <p:cNvGrpSpPr/>
          <p:nvPr/>
        </p:nvGrpSpPr>
        <p:grpSpPr>
          <a:xfrm>
            <a:off x="344488" y="3883706"/>
            <a:ext cx="584767" cy="458460"/>
            <a:chOff x="344488" y="1499855"/>
            <a:chExt cx="584767" cy="458460"/>
          </a:xfrm>
        </p:grpSpPr>
        <p:sp>
          <p:nvSpPr>
            <p:cNvPr id="165" name="직사각형 164">
              <a:extLst>
                <a:ext uri="{FF2B5EF4-FFF2-40B4-BE49-F238E27FC236}">
                  <a16:creationId xmlns:a16="http://schemas.microsoft.com/office/drawing/2014/main" id="{2DFD8588-AE7F-EC00-4A45-4F304F2FACC1}"/>
                </a:ext>
              </a:extLst>
            </p:cNvPr>
            <p:cNvSpPr/>
            <p:nvPr/>
          </p:nvSpPr>
          <p:spPr>
            <a:xfrm>
              <a:off x="344488" y="1588983"/>
              <a:ext cx="584767" cy="369332"/>
            </a:xfrm>
            <a:prstGeom prst="rect">
              <a:avLst/>
            </a:prstGeom>
          </p:spPr>
          <p:txBody>
            <a:bodyPr wrap="square" lIns="0" tIns="0" rIns="0" bIns="0" anchor="t">
              <a:spAutoFit/>
            </a:bodyPr>
            <a:lstStyle/>
            <a:p>
              <a:pPr algn="ctr" defTabSz="957743" fontAlgn="base">
                <a:tabLst>
                  <a:tab pos="0" algn="l"/>
                </a:tabLst>
              </a:pPr>
              <a:r>
                <a:rPr kumimoji="1" lang="ko-KR" altLang="en-US" sz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목표</a:t>
              </a:r>
              <a:endParaRPr kumimoji="1" lang="en-US" altLang="ko-KR" sz="120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  <a:p>
              <a:pPr algn="ctr" defTabSz="957743" fontAlgn="base">
                <a:tabLst>
                  <a:tab pos="0" algn="l"/>
                </a:tabLst>
              </a:pPr>
              <a:r>
                <a:rPr kumimoji="1" lang="ko-KR" altLang="en-US" sz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이미지</a:t>
              </a:r>
            </a:p>
          </p:txBody>
        </p:sp>
        <p:grpSp>
          <p:nvGrpSpPr>
            <p:cNvPr id="169" name="그룹 168">
              <a:extLst>
                <a:ext uri="{FF2B5EF4-FFF2-40B4-BE49-F238E27FC236}">
                  <a16:creationId xmlns:a16="http://schemas.microsoft.com/office/drawing/2014/main" id="{4E6306D5-2486-1E0E-5D9B-14F0CF51145A}"/>
                </a:ext>
              </a:extLst>
            </p:cNvPr>
            <p:cNvGrpSpPr/>
            <p:nvPr/>
          </p:nvGrpSpPr>
          <p:grpSpPr>
            <a:xfrm>
              <a:off x="344489" y="1499855"/>
              <a:ext cx="584766" cy="0"/>
              <a:chOff x="452436" y="5635537"/>
              <a:chExt cx="719589" cy="0"/>
            </a:xfrm>
          </p:grpSpPr>
          <p:cxnSp>
            <p:nvCxnSpPr>
              <p:cNvPr id="172" name="직선 연결선 171">
                <a:extLst>
                  <a:ext uri="{FF2B5EF4-FFF2-40B4-BE49-F238E27FC236}">
                    <a16:creationId xmlns:a16="http://schemas.microsoft.com/office/drawing/2014/main" id="{E8150CE3-7C42-B78C-93A5-2008E84D331D}"/>
                  </a:ext>
                </a:extLst>
              </p:cNvPr>
              <p:cNvCxnSpPr/>
              <p:nvPr/>
            </p:nvCxnSpPr>
            <p:spPr>
              <a:xfrm>
                <a:off x="452436" y="5635537"/>
                <a:ext cx="719589" cy="0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직선 연결선 172">
                <a:extLst>
                  <a:ext uri="{FF2B5EF4-FFF2-40B4-BE49-F238E27FC236}">
                    <a16:creationId xmlns:a16="http://schemas.microsoft.com/office/drawing/2014/main" id="{DA4250D9-C41F-A500-1DFD-AFEEAD84478C}"/>
                  </a:ext>
                </a:extLst>
              </p:cNvPr>
              <p:cNvCxnSpPr/>
              <p:nvPr/>
            </p:nvCxnSpPr>
            <p:spPr>
              <a:xfrm>
                <a:off x="452436" y="5635537"/>
                <a:ext cx="308651" cy="0"/>
              </a:xfrm>
              <a:prstGeom prst="line">
                <a:avLst/>
              </a:prstGeom>
              <a:ln w="25400">
                <a:solidFill>
                  <a:schemeClr val="accent1">
                    <a:lumMod val="40000"/>
                    <a:lumOff val="60000"/>
                  </a:scheme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직선 연결선 173">
                <a:extLst>
                  <a:ext uri="{FF2B5EF4-FFF2-40B4-BE49-F238E27FC236}">
                    <a16:creationId xmlns:a16="http://schemas.microsoft.com/office/drawing/2014/main" id="{647D85D0-D706-1AF3-9AC3-146C143EEF71}"/>
                  </a:ext>
                </a:extLst>
              </p:cNvPr>
              <p:cNvCxnSpPr/>
              <p:nvPr/>
            </p:nvCxnSpPr>
            <p:spPr>
              <a:xfrm>
                <a:off x="452436" y="5635537"/>
                <a:ext cx="149768" cy="0"/>
              </a:xfrm>
              <a:prstGeom prst="line">
                <a:avLst/>
              </a:prstGeom>
              <a:ln w="25400">
                <a:solidFill>
                  <a:srgbClr val="217CFA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03A43474-02F0-EF0B-81D1-1478750793F4}"/>
              </a:ext>
            </a:extLst>
          </p:cNvPr>
          <p:cNvSpPr txBox="1"/>
          <p:nvPr/>
        </p:nvSpPr>
        <p:spPr>
          <a:xfrm>
            <a:off x="1153108" y="3878455"/>
            <a:ext cx="2695721" cy="188160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0" tIns="72000" rIns="0" bIns="0" anchor="t">
            <a:noAutofit/>
          </a:bodyPr>
          <a:lstStyle>
            <a:defPPr>
              <a:defRPr lang="en-US"/>
            </a:defPPr>
            <a:lvl1pPr>
              <a:defRPr sz="1100" spc="-5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pPr algn="ctr"/>
            <a:endParaRPr lang="en-US" altLang="ko-KR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7DE105F-72F9-0D55-188A-9931E7C6F6DB}"/>
              </a:ext>
            </a:extLst>
          </p:cNvPr>
          <p:cNvSpPr txBox="1"/>
          <p:nvPr/>
        </p:nvSpPr>
        <p:spPr>
          <a:xfrm>
            <a:off x="4009446" y="3878455"/>
            <a:ext cx="2695721" cy="188160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0" tIns="72000" rIns="0" bIns="0" anchor="t">
            <a:noAutofit/>
          </a:bodyPr>
          <a:lstStyle>
            <a:defPPr>
              <a:defRPr lang="en-US"/>
            </a:defPPr>
            <a:lvl1pPr algn="ctr">
              <a:defRPr sz="1100" spc="-50">
                <a:ln>
                  <a:solidFill>
                    <a:schemeClr val="tx1">
                      <a:alpha val="0"/>
                    </a:schemeClr>
                  </a:solidFill>
                </a:ln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E71D1DD-DBE8-E293-2FA5-D3D7CD579190}"/>
              </a:ext>
            </a:extLst>
          </p:cNvPr>
          <p:cNvSpPr txBox="1"/>
          <p:nvPr/>
        </p:nvSpPr>
        <p:spPr>
          <a:xfrm>
            <a:off x="6865784" y="3878455"/>
            <a:ext cx="2695721" cy="188160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0" tIns="72000" rIns="0" bIns="0" anchor="t">
            <a:noAutofit/>
          </a:bodyPr>
          <a:lstStyle>
            <a:defPPr>
              <a:defRPr lang="en-US"/>
            </a:defPPr>
            <a:lvl1pPr algn="ctr">
              <a:defRPr sz="1100" spc="-50">
                <a:ln>
                  <a:solidFill>
                    <a:schemeClr val="tx1">
                      <a:alpha val="0"/>
                    </a:schemeClr>
                  </a:solidFill>
                </a:ln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00E841C-FDF8-F86D-D8EF-2A6346BC5012}"/>
              </a:ext>
            </a:extLst>
          </p:cNvPr>
          <p:cNvSpPr txBox="1"/>
          <p:nvPr/>
        </p:nvSpPr>
        <p:spPr>
          <a:xfrm>
            <a:off x="344486" y="5390720"/>
            <a:ext cx="584766" cy="287652"/>
          </a:xfrm>
          <a:prstGeom prst="roundRect">
            <a:avLst>
              <a:gd name="adj" fmla="val 0"/>
            </a:avLst>
          </a:prstGeom>
          <a:noFill/>
          <a:ln w="3175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lang="en-US"/>
            </a:defPPr>
            <a:lvl1pPr>
              <a:defRPr sz="1100" spc="-5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pPr algn="r"/>
            <a:r>
              <a:rPr lang="en-US" altLang="ko-KR" sz="1000" i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CLX</a:t>
            </a:r>
          </a:p>
          <a:p>
            <a:pPr algn="r"/>
            <a:r>
              <a:rPr lang="en-US" altLang="ko-KR" sz="1000" i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LKM</a:t>
            </a:r>
            <a:endParaRPr lang="ko-KR" altLang="en-US" sz="1000" i="1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97AB8806-C33A-5794-A284-584F805022AB}"/>
              </a:ext>
            </a:extLst>
          </p:cNvPr>
          <p:cNvSpPr/>
          <p:nvPr/>
        </p:nvSpPr>
        <p:spPr>
          <a:xfrm>
            <a:off x="1230434" y="5401463"/>
            <a:ext cx="2541069" cy="287652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10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現 </a:t>
            </a:r>
            <a:r>
              <a:rPr lang="en-US" altLang="ko-KR" sz="110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Data·</a:t>
            </a:r>
            <a:r>
              <a:rPr lang="ko-KR" altLang="en-US" sz="110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문서 정비 및 온톨로지 구축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69473165-5613-3F2F-3E16-BC37A5519235}"/>
              </a:ext>
            </a:extLst>
          </p:cNvPr>
          <p:cNvSpPr/>
          <p:nvPr/>
        </p:nvSpPr>
        <p:spPr>
          <a:xfrm>
            <a:off x="3959717" y="5401463"/>
            <a:ext cx="2795176" cy="287652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10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활용 가능한 지식</a:t>
            </a:r>
            <a:r>
              <a:rPr lang="en-US" altLang="ko-KR" sz="110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110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범위 확대 및 품질 고도화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2EA2CF38-2454-B8AE-6D9D-352526071C13}"/>
              </a:ext>
            </a:extLst>
          </p:cNvPr>
          <p:cNvSpPr/>
          <p:nvPr/>
        </p:nvSpPr>
        <p:spPr>
          <a:xfrm>
            <a:off x="6816055" y="5401463"/>
            <a:ext cx="2795176" cy="287652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10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핵심 업무 간 연계 下 </a:t>
            </a:r>
            <a:r>
              <a:rPr lang="en-US" altLang="ko-KR" sz="110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CLX </a:t>
            </a:r>
            <a:r>
              <a:rPr lang="ko-KR" altLang="en-US" sz="110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지식 축적 자동화</a:t>
            </a:r>
          </a:p>
        </p:txBody>
      </p:sp>
      <p:grpSp>
        <p:nvGrpSpPr>
          <p:cNvPr id="362" name="그룹 361">
            <a:extLst>
              <a:ext uri="{FF2B5EF4-FFF2-40B4-BE49-F238E27FC236}">
                <a16:creationId xmlns:a16="http://schemas.microsoft.com/office/drawing/2014/main" id="{8E6721AB-BF8E-6145-64F1-F0DF39BFEA24}"/>
              </a:ext>
            </a:extLst>
          </p:cNvPr>
          <p:cNvGrpSpPr/>
          <p:nvPr/>
        </p:nvGrpSpPr>
        <p:grpSpPr>
          <a:xfrm>
            <a:off x="1153108" y="5896763"/>
            <a:ext cx="2695721" cy="555947"/>
            <a:chOff x="1153108" y="5896763"/>
            <a:chExt cx="2695721" cy="555947"/>
          </a:xfrm>
          <a:solidFill>
            <a:schemeClr val="bg1">
              <a:lumMod val="95000"/>
            </a:schemeClr>
          </a:solidFill>
        </p:grpSpPr>
        <p:sp>
          <p:nvSpPr>
            <p:cNvPr id="356" name="TextBox 355">
              <a:extLst>
                <a:ext uri="{FF2B5EF4-FFF2-40B4-BE49-F238E27FC236}">
                  <a16:creationId xmlns:a16="http://schemas.microsoft.com/office/drawing/2014/main" id="{C8866B28-65A2-00DB-9AE6-3D44CB2FB6D2}"/>
                </a:ext>
              </a:extLst>
            </p:cNvPr>
            <p:cNvSpPr txBox="1"/>
            <p:nvPr/>
          </p:nvSpPr>
          <p:spPr>
            <a:xfrm>
              <a:off x="1153108" y="5896763"/>
              <a:ext cx="1296000" cy="555947"/>
            </a:xfrm>
            <a:prstGeom prst="roundRect">
              <a:avLst/>
            </a:prstGeom>
            <a:grpFill/>
            <a:ln w="3175">
              <a:noFill/>
            </a:ln>
            <a:effectLst>
              <a:outerShdw blurRad="25400" dist="127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lIns="0" tIns="0" rIns="0" bIns="0" anchor="ctr">
              <a:noAutofit/>
            </a:bodyPr>
            <a:lstStyle>
              <a:defPPr>
                <a:defRPr lang="en-US"/>
              </a:defPPr>
              <a:lvl1pPr>
                <a:defRPr sz="1100" spc="-5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defRPr>
              </a:lvl1pPr>
            </a:lstStyle>
            <a:p>
              <a:pPr algn="ctr">
                <a:spcAft>
                  <a:spcPts val="300"/>
                </a:spcAft>
              </a:pPr>
              <a:r>
                <a:rPr lang="ko-KR" altLang="en-US" sz="1050">
                  <a:solidFill>
                    <a:srgbClr val="217CFA"/>
                  </a:solidFill>
                </a:rPr>
                <a:t>울산 </a:t>
              </a:r>
              <a:r>
                <a:rPr lang="en-US" altLang="ko-KR" sz="1050">
                  <a:solidFill>
                    <a:srgbClr val="217CFA"/>
                  </a:solidFill>
                </a:rPr>
                <a:t>CLX</a:t>
              </a:r>
            </a:p>
            <a:p>
              <a:pPr algn="ctr">
                <a:spcAft>
                  <a:spcPts val="300"/>
                </a:spcAft>
              </a:pPr>
              <a:r>
                <a:rPr lang="ko-KR" altLang="en-US">
                  <a:solidFill>
                    <a:schemeClr val="tx1"/>
                  </a:solidFill>
                </a:rPr>
                <a:t>업무 別 </a:t>
              </a:r>
              <a:r>
                <a:rPr lang="en-US" altLang="ko-KR">
                  <a:solidFill>
                    <a:schemeClr val="tx1"/>
                  </a:solidFill>
                </a:rPr>
                <a:t>Data List </a:t>
              </a:r>
              <a:r>
                <a:rPr lang="ko-KR" altLang="en-US">
                  <a:solidFill>
                    <a:schemeClr val="tx1"/>
                  </a:solidFill>
                </a:rPr>
                <a:t>제공</a:t>
              </a:r>
              <a:endParaRPr lang="en-US" altLang="ko-KR">
                <a:solidFill>
                  <a:schemeClr val="tx1"/>
                </a:solidFill>
              </a:endParaRPr>
            </a:p>
          </p:txBody>
        </p:sp>
        <p:sp>
          <p:nvSpPr>
            <p:cNvPr id="357" name="TextBox 356">
              <a:extLst>
                <a:ext uri="{FF2B5EF4-FFF2-40B4-BE49-F238E27FC236}">
                  <a16:creationId xmlns:a16="http://schemas.microsoft.com/office/drawing/2014/main" id="{A809ABF3-875B-8B34-2856-AD3E038C8D40}"/>
                </a:ext>
              </a:extLst>
            </p:cNvPr>
            <p:cNvSpPr txBox="1"/>
            <p:nvPr/>
          </p:nvSpPr>
          <p:spPr>
            <a:xfrm>
              <a:off x="2552829" y="5896763"/>
              <a:ext cx="1296000" cy="555947"/>
            </a:xfrm>
            <a:prstGeom prst="roundRect">
              <a:avLst/>
            </a:prstGeom>
            <a:grpFill/>
            <a:ln w="3175">
              <a:noFill/>
            </a:ln>
            <a:effectLst>
              <a:outerShdw blurRad="25400" dist="127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lIns="0" tIns="0" rIns="0" bIns="0" anchor="ctr">
              <a:noAutofit/>
            </a:bodyPr>
            <a:lstStyle>
              <a:defPPr>
                <a:defRPr lang="en-US"/>
              </a:defPPr>
              <a:lvl1pPr>
                <a:defRPr sz="1100" spc="-5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defRPr>
              </a:lvl1pPr>
            </a:lstStyle>
            <a:p>
              <a:pPr algn="ctr">
                <a:spcAft>
                  <a:spcPts val="300"/>
                </a:spcAft>
              </a:pPr>
              <a:r>
                <a:rPr lang="en-US" altLang="ko-KR" sz="1050">
                  <a:solidFill>
                    <a:srgbClr val="217CFA"/>
                  </a:solidFill>
                </a:rPr>
                <a:t>DT </a:t>
              </a:r>
              <a:r>
                <a:rPr lang="ko-KR" altLang="en-US" sz="1050" err="1">
                  <a:solidFill>
                    <a:srgbClr val="217CFA"/>
                  </a:solidFill>
                </a:rPr>
                <a:t>추진실</a:t>
              </a:r>
              <a:endParaRPr lang="en-US" altLang="ko-KR" sz="1050">
                <a:solidFill>
                  <a:srgbClr val="217CFA"/>
                </a:solidFill>
              </a:endParaRPr>
            </a:p>
            <a:p>
              <a:pPr algn="ctr">
                <a:spcAft>
                  <a:spcPts val="300"/>
                </a:spcAft>
              </a:pPr>
              <a:r>
                <a:rPr lang="en-US" altLang="ko-KR">
                  <a:solidFill>
                    <a:schemeClr val="tx1"/>
                  </a:solidFill>
                </a:rPr>
                <a:t>Data </a:t>
              </a:r>
              <a:r>
                <a:rPr lang="ko-KR" altLang="en-US">
                  <a:solidFill>
                    <a:schemeClr val="tx1"/>
                  </a:solidFill>
                </a:rPr>
                <a:t>활용 환경 제공</a:t>
              </a:r>
              <a:endParaRPr lang="en-US" altLang="ko-KR">
                <a:solidFill>
                  <a:schemeClr val="tx1"/>
                </a:solidFill>
              </a:endParaRPr>
            </a:p>
          </p:txBody>
        </p:sp>
      </p:grpSp>
      <p:grpSp>
        <p:nvGrpSpPr>
          <p:cNvPr id="363" name="그룹 362">
            <a:extLst>
              <a:ext uri="{FF2B5EF4-FFF2-40B4-BE49-F238E27FC236}">
                <a16:creationId xmlns:a16="http://schemas.microsoft.com/office/drawing/2014/main" id="{7F65EA1D-4AE2-346D-B045-124CD00987C0}"/>
              </a:ext>
            </a:extLst>
          </p:cNvPr>
          <p:cNvGrpSpPr/>
          <p:nvPr/>
        </p:nvGrpSpPr>
        <p:grpSpPr>
          <a:xfrm>
            <a:off x="4017586" y="5896763"/>
            <a:ext cx="2695721" cy="555947"/>
            <a:chOff x="1153108" y="5896763"/>
            <a:chExt cx="2695721" cy="555947"/>
          </a:xfrm>
          <a:solidFill>
            <a:schemeClr val="bg1">
              <a:lumMod val="95000"/>
            </a:schemeClr>
          </a:solidFill>
        </p:grpSpPr>
        <p:sp>
          <p:nvSpPr>
            <p:cNvPr id="364" name="TextBox 363">
              <a:extLst>
                <a:ext uri="{FF2B5EF4-FFF2-40B4-BE49-F238E27FC236}">
                  <a16:creationId xmlns:a16="http://schemas.microsoft.com/office/drawing/2014/main" id="{67E913F3-9089-264E-887E-79E42A25C563}"/>
                </a:ext>
              </a:extLst>
            </p:cNvPr>
            <p:cNvSpPr txBox="1"/>
            <p:nvPr/>
          </p:nvSpPr>
          <p:spPr>
            <a:xfrm>
              <a:off x="1153108" y="5896763"/>
              <a:ext cx="1296000" cy="555947"/>
            </a:xfrm>
            <a:prstGeom prst="roundRect">
              <a:avLst/>
            </a:prstGeom>
            <a:grpFill/>
            <a:ln w="3175">
              <a:noFill/>
            </a:ln>
            <a:effectLst>
              <a:outerShdw blurRad="25400" dist="127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lIns="0" tIns="0" rIns="0" bIns="0" anchor="ctr">
              <a:noAutofit/>
            </a:bodyPr>
            <a:lstStyle>
              <a:defPPr>
                <a:defRPr lang="en-US"/>
              </a:defPPr>
              <a:lvl1pPr>
                <a:defRPr sz="1100" spc="-5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defRPr>
              </a:lvl1pPr>
            </a:lstStyle>
            <a:p>
              <a:pPr algn="ctr">
                <a:spcAft>
                  <a:spcPts val="300"/>
                </a:spcAft>
              </a:pPr>
              <a:r>
                <a:rPr lang="ko-KR" altLang="en-US" sz="1050">
                  <a:solidFill>
                    <a:srgbClr val="217CFA"/>
                  </a:solidFill>
                </a:rPr>
                <a:t>울산 </a:t>
              </a:r>
              <a:r>
                <a:rPr lang="en-US" altLang="ko-KR" sz="1050">
                  <a:solidFill>
                    <a:srgbClr val="217CFA"/>
                  </a:solidFill>
                </a:rPr>
                <a:t>CLX</a:t>
              </a:r>
            </a:p>
            <a:p>
              <a:pPr algn="ctr">
                <a:spcAft>
                  <a:spcPts val="300"/>
                </a:spcAft>
              </a:pPr>
              <a:r>
                <a:rPr lang="en-US" altLang="ko-KR">
                  <a:solidFill>
                    <a:schemeClr val="tx1"/>
                  </a:solidFill>
                </a:rPr>
                <a:t>AI </a:t>
              </a:r>
              <a:r>
                <a:rPr lang="ko-KR" altLang="en-US">
                  <a:solidFill>
                    <a:schemeClr val="tx1"/>
                  </a:solidFill>
                </a:rPr>
                <a:t>구성원 활용 피드백</a:t>
              </a:r>
              <a:endParaRPr lang="en-US" altLang="ko-KR">
                <a:solidFill>
                  <a:schemeClr val="tx1"/>
                </a:solidFill>
              </a:endParaRPr>
            </a:p>
          </p:txBody>
        </p:sp>
        <p:sp>
          <p:nvSpPr>
            <p:cNvPr id="365" name="TextBox 364">
              <a:extLst>
                <a:ext uri="{FF2B5EF4-FFF2-40B4-BE49-F238E27FC236}">
                  <a16:creationId xmlns:a16="http://schemas.microsoft.com/office/drawing/2014/main" id="{EB5C1998-891D-9381-5575-538ABB1588CA}"/>
                </a:ext>
              </a:extLst>
            </p:cNvPr>
            <p:cNvSpPr txBox="1"/>
            <p:nvPr/>
          </p:nvSpPr>
          <p:spPr>
            <a:xfrm>
              <a:off x="2552829" y="5896763"/>
              <a:ext cx="1296000" cy="555947"/>
            </a:xfrm>
            <a:prstGeom prst="roundRect">
              <a:avLst/>
            </a:prstGeom>
            <a:grpFill/>
            <a:ln w="3175">
              <a:noFill/>
            </a:ln>
            <a:effectLst>
              <a:outerShdw blurRad="25400" dist="127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lIns="0" tIns="0" rIns="0" bIns="0" anchor="ctr">
              <a:noAutofit/>
            </a:bodyPr>
            <a:lstStyle>
              <a:defPPr>
                <a:defRPr lang="en-US"/>
              </a:defPPr>
              <a:lvl1pPr>
                <a:defRPr sz="1100" spc="-5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defRPr>
              </a:lvl1pPr>
            </a:lstStyle>
            <a:p>
              <a:pPr algn="ctr">
                <a:spcAft>
                  <a:spcPts val="300"/>
                </a:spcAft>
              </a:pPr>
              <a:r>
                <a:rPr lang="en-US" altLang="ko-KR" sz="1050">
                  <a:solidFill>
                    <a:srgbClr val="217CFA"/>
                  </a:solidFill>
                </a:rPr>
                <a:t>DT </a:t>
              </a:r>
              <a:r>
                <a:rPr lang="ko-KR" altLang="en-US" sz="1050" err="1">
                  <a:solidFill>
                    <a:srgbClr val="217CFA"/>
                  </a:solidFill>
                </a:rPr>
                <a:t>추진실</a:t>
              </a:r>
              <a:endParaRPr lang="en-US" altLang="ko-KR" sz="1050">
                <a:solidFill>
                  <a:srgbClr val="217CFA"/>
                </a:solidFill>
              </a:endParaRPr>
            </a:p>
            <a:p>
              <a:pPr algn="ctr">
                <a:spcAft>
                  <a:spcPts val="300"/>
                </a:spcAft>
              </a:pPr>
              <a:r>
                <a:rPr lang="en-US" altLang="ko-KR">
                  <a:solidFill>
                    <a:schemeClr val="tx1"/>
                  </a:solidFill>
                </a:rPr>
                <a:t>AI</a:t>
              </a:r>
              <a:r>
                <a:rPr lang="ko-KR" altLang="en-US">
                  <a:solidFill>
                    <a:schemeClr val="tx1"/>
                  </a:solidFill>
                </a:rPr>
                <a:t> 구성원 기능 제공</a:t>
              </a:r>
              <a:endParaRPr lang="en-US" altLang="ko-KR">
                <a:solidFill>
                  <a:schemeClr val="tx1"/>
                </a:solidFill>
              </a:endParaRPr>
            </a:p>
          </p:txBody>
        </p:sp>
      </p:grpSp>
      <p:sp>
        <p:nvSpPr>
          <p:cNvPr id="367" name="TextBox 366">
            <a:extLst>
              <a:ext uri="{FF2B5EF4-FFF2-40B4-BE49-F238E27FC236}">
                <a16:creationId xmlns:a16="http://schemas.microsoft.com/office/drawing/2014/main" id="{902B72AF-2D4C-2892-0C45-B167F43BAA22}"/>
              </a:ext>
            </a:extLst>
          </p:cNvPr>
          <p:cNvSpPr txBox="1"/>
          <p:nvPr/>
        </p:nvSpPr>
        <p:spPr>
          <a:xfrm>
            <a:off x="6866255" y="5896763"/>
            <a:ext cx="1296000" cy="55594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anchor="ctr">
            <a:noAutofit/>
          </a:bodyPr>
          <a:lstStyle>
            <a:defPPr>
              <a:defRPr lang="en-US"/>
            </a:defPPr>
            <a:lvl1pPr>
              <a:defRPr sz="1100" spc="-5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pPr algn="ctr">
              <a:spcAft>
                <a:spcPts val="300"/>
              </a:spcAft>
            </a:pPr>
            <a:r>
              <a:rPr lang="ko-KR" altLang="en-US" sz="1050">
                <a:solidFill>
                  <a:srgbClr val="217CFA"/>
                </a:solidFill>
              </a:rPr>
              <a:t>울산 </a:t>
            </a:r>
            <a:r>
              <a:rPr lang="en-US" altLang="ko-KR" sz="1050">
                <a:solidFill>
                  <a:srgbClr val="217CFA"/>
                </a:solidFill>
              </a:rPr>
              <a:t>CLX</a:t>
            </a:r>
          </a:p>
          <a:p>
            <a:pPr algn="ctr">
              <a:spcAft>
                <a:spcPts val="300"/>
              </a:spcAft>
            </a:pPr>
            <a:r>
              <a:rPr lang="en-US" altLang="ko-KR">
                <a:solidFill>
                  <a:schemeClr val="tx1"/>
                </a:solidFill>
              </a:rPr>
              <a:t>Work Redesign</a:t>
            </a:r>
          </a:p>
        </p:txBody>
      </p:sp>
      <p:sp>
        <p:nvSpPr>
          <p:cNvPr id="368" name="TextBox 367">
            <a:extLst>
              <a:ext uri="{FF2B5EF4-FFF2-40B4-BE49-F238E27FC236}">
                <a16:creationId xmlns:a16="http://schemas.microsoft.com/office/drawing/2014/main" id="{6D2719BC-4BD7-C680-C346-295A463C6E26}"/>
              </a:ext>
            </a:extLst>
          </p:cNvPr>
          <p:cNvSpPr txBox="1"/>
          <p:nvPr/>
        </p:nvSpPr>
        <p:spPr>
          <a:xfrm>
            <a:off x="8265976" y="5896763"/>
            <a:ext cx="1296000" cy="55594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anchor="ctr">
            <a:noAutofit/>
          </a:bodyPr>
          <a:lstStyle>
            <a:defPPr>
              <a:defRPr lang="en-US"/>
            </a:defPPr>
            <a:lvl1pPr>
              <a:defRPr sz="1100" spc="-5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pPr algn="ctr">
              <a:spcAft>
                <a:spcPts val="300"/>
              </a:spcAft>
            </a:pPr>
            <a:r>
              <a:rPr lang="en-US" altLang="ko-KR" sz="1050">
                <a:solidFill>
                  <a:srgbClr val="217CFA"/>
                </a:solidFill>
              </a:rPr>
              <a:t>DT </a:t>
            </a:r>
            <a:r>
              <a:rPr lang="ko-KR" altLang="en-US" sz="1050" err="1">
                <a:solidFill>
                  <a:srgbClr val="217CFA"/>
                </a:solidFill>
              </a:rPr>
              <a:t>추진실</a:t>
            </a:r>
            <a:endParaRPr lang="en-US" altLang="ko-KR" sz="1050">
              <a:solidFill>
                <a:srgbClr val="217CFA"/>
              </a:solidFill>
            </a:endParaRPr>
          </a:p>
          <a:p>
            <a:pPr algn="ctr">
              <a:spcAft>
                <a:spcPts val="300"/>
              </a:spcAft>
            </a:pPr>
            <a:r>
              <a:rPr lang="ko-KR" altLang="en-US">
                <a:solidFill>
                  <a:schemeClr val="tx1"/>
                </a:solidFill>
              </a:rPr>
              <a:t>실시간 데이터 연계</a:t>
            </a:r>
            <a:endParaRPr lang="en-US" altLang="ko-KR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F8E88E-97CC-A42A-167D-D1539EEAF3F7}"/>
              </a:ext>
            </a:extLst>
          </p:cNvPr>
          <p:cNvSpPr txBox="1"/>
          <p:nvPr/>
        </p:nvSpPr>
        <p:spPr>
          <a:xfrm>
            <a:off x="1616167" y="4074506"/>
            <a:ext cx="776469" cy="249725"/>
          </a:xfrm>
          <a:prstGeom prst="rect">
            <a:avLst/>
          </a:prstGeom>
          <a:noFill/>
          <a:ln w="3175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lang="en-US"/>
            </a:defPPr>
            <a:lvl1pPr>
              <a:defRPr sz="1100" spc="-5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pPr algn="ctr">
              <a:spcAft>
                <a:spcPts val="300"/>
              </a:spcAft>
            </a:pPr>
            <a:r>
              <a:rPr lang="ko-KR" altLang="en-US" i="1" spc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사용자 질문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E981F7-CA07-A0D1-AC16-52AE89DC4402}"/>
              </a:ext>
            </a:extLst>
          </p:cNvPr>
          <p:cNvSpPr txBox="1"/>
          <p:nvPr/>
        </p:nvSpPr>
        <p:spPr>
          <a:xfrm>
            <a:off x="1446833" y="5097729"/>
            <a:ext cx="2108269" cy="249725"/>
          </a:xfrm>
          <a:prstGeom prst="rect">
            <a:avLst/>
          </a:prstGeom>
          <a:noFill/>
          <a:ln w="3175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lang="en-US"/>
            </a:defPPr>
            <a:lvl1pPr>
              <a:defRPr sz="1100" spc="-5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pPr algn="ctr">
              <a:spcAft>
                <a:spcPts val="300"/>
              </a:spcAft>
            </a:pPr>
            <a:r>
              <a:rPr lang="ko-KR" altLang="en-US" i="1" spc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답변</a:t>
            </a:r>
          </a:p>
        </p:txBody>
      </p:sp>
      <p:cxnSp>
        <p:nvCxnSpPr>
          <p:cNvPr id="12" name="연결선: 구부러짐 11">
            <a:extLst>
              <a:ext uri="{FF2B5EF4-FFF2-40B4-BE49-F238E27FC236}">
                <a16:creationId xmlns:a16="http://schemas.microsoft.com/office/drawing/2014/main" id="{07DB6E05-C4EF-39DB-D8C1-13C5C50BB635}"/>
              </a:ext>
            </a:extLst>
          </p:cNvPr>
          <p:cNvCxnSpPr>
            <a:cxnSpLocks/>
            <a:stCxn id="4" idx="2"/>
            <a:endCxn id="42" idx="0"/>
          </p:cNvCxnSpPr>
          <p:nvPr/>
        </p:nvCxnSpPr>
        <p:spPr>
          <a:xfrm rot="16200000" flipH="1">
            <a:off x="2144557" y="4184076"/>
            <a:ext cx="216255" cy="496566"/>
          </a:xfrm>
          <a:prstGeom prst="curved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연결선: 구부러짐 19">
            <a:extLst>
              <a:ext uri="{FF2B5EF4-FFF2-40B4-BE49-F238E27FC236}">
                <a16:creationId xmlns:a16="http://schemas.microsoft.com/office/drawing/2014/main" id="{62143D07-EADB-113E-1BBA-60BD907E6B99}"/>
              </a:ext>
            </a:extLst>
          </p:cNvPr>
          <p:cNvCxnSpPr>
            <a:cxnSpLocks/>
            <a:stCxn id="62" idx="2"/>
            <a:endCxn id="42" idx="0"/>
          </p:cNvCxnSpPr>
          <p:nvPr/>
        </p:nvCxnSpPr>
        <p:spPr>
          <a:xfrm rot="5400000">
            <a:off x="2641124" y="4184076"/>
            <a:ext cx="216255" cy="496567"/>
          </a:xfrm>
          <a:prstGeom prst="curved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8F707FE0-4F9E-8DC7-AFF2-12FC62A9F500}"/>
              </a:ext>
            </a:extLst>
          </p:cNvPr>
          <p:cNvCxnSpPr>
            <a:cxnSpLocks/>
            <a:stCxn id="42" idx="2"/>
            <a:endCxn id="7" idx="0"/>
          </p:cNvCxnSpPr>
          <p:nvPr/>
        </p:nvCxnSpPr>
        <p:spPr>
          <a:xfrm>
            <a:off x="2500968" y="4881474"/>
            <a:ext cx="0" cy="216255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00CA36A7-A3E3-C36B-F2D6-6122515F0569}"/>
              </a:ext>
            </a:extLst>
          </p:cNvPr>
          <p:cNvSpPr/>
          <p:nvPr/>
        </p:nvSpPr>
        <p:spPr>
          <a:xfrm>
            <a:off x="1446833" y="4540487"/>
            <a:ext cx="2108269" cy="340987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rgbClr val="217CFA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100" kern="0">
                <a:solidFill>
                  <a:srgbClr val="217CF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CLX AI Assistant</a:t>
            </a:r>
            <a:endParaRPr kumimoji="1" lang="en-US" altLang="ko-KR" sz="1100" i="0" u="none" strike="noStrike" kern="0" cap="none" spc="0" normalizeH="0" baseline="0" noProof="0">
              <a:ln>
                <a:noFill/>
              </a:ln>
              <a:solidFill>
                <a:srgbClr val="217CFA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BC62F5A-F289-C864-2B99-6EA0A629B3A0}"/>
              </a:ext>
            </a:extLst>
          </p:cNvPr>
          <p:cNvSpPr txBox="1"/>
          <p:nvPr/>
        </p:nvSpPr>
        <p:spPr>
          <a:xfrm>
            <a:off x="2609300" y="4074506"/>
            <a:ext cx="776469" cy="249725"/>
          </a:xfrm>
          <a:prstGeom prst="rect">
            <a:avLst/>
          </a:prstGeom>
          <a:noFill/>
          <a:ln w="3175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lang="en-US"/>
            </a:defPPr>
            <a:lvl1pPr>
              <a:defRPr sz="1100" spc="-5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pPr algn="ctr">
              <a:spcAft>
                <a:spcPts val="300"/>
              </a:spcAft>
            </a:pPr>
            <a:r>
              <a:rPr lang="ko-KR" altLang="en-US" i="1" spc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상황 발생</a:t>
            </a:r>
          </a:p>
        </p:txBody>
      </p:sp>
      <p:sp>
        <p:nvSpPr>
          <p:cNvPr id="232" name="화살표: 오른쪽 231">
            <a:extLst>
              <a:ext uri="{FF2B5EF4-FFF2-40B4-BE49-F238E27FC236}">
                <a16:creationId xmlns:a16="http://schemas.microsoft.com/office/drawing/2014/main" id="{E321F5B5-A1A3-BF96-C75A-76A1647BD244}"/>
              </a:ext>
            </a:extLst>
          </p:cNvPr>
          <p:cNvSpPr/>
          <p:nvPr/>
        </p:nvSpPr>
        <p:spPr>
          <a:xfrm>
            <a:off x="4676019" y="4822737"/>
            <a:ext cx="1415926" cy="254149"/>
          </a:xfrm>
          <a:prstGeom prst="rightArrow">
            <a:avLst>
              <a:gd name="adj1" fmla="val 50000"/>
              <a:gd name="adj2" fmla="val 48143"/>
            </a:avLst>
          </a:prstGeom>
          <a:solidFill>
            <a:srgbClr val="A6CAEC"/>
          </a:solidFill>
          <a:ln w="3175">
            <a:solidFill>
              <a:srgbClr val="1C6AAC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endParaRPr lang="ko-KR" altLang="en-US" sz="1400" spc="-50">
              <a:ln>
                <a:solidFill>
                  <a:prstClr val="black">
                    <a:alpha val="0"/>
                  </a:prstClr>
                </a:solidFill>
              </a:ln>
              <a:solidFill>
                <a:prstClr val="black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39" name="화살표: 오른쪽 238">
            <a:extLst>
              <a:ext uri="{FF2B5EF4-FFF2-40B4-BE49-F238E27FC236}">
                <a16:creationId xmlns:a16="http://schemas.microsoft.com/office/drawing/2014/main" id="{B84660A9-DBAB-C94D-6AF1-75ABA6D1D258}"/>
              </a:ext>
            </a:extLst>
          </p:cNvPr>
          <p:cNvSpPr/>
          <p:nvPr/>
        </p:nvSpPr>
        <p:spPr>
          <a:xfrm>
            <a:off x="4676019" y="4202068"/>
            <a:ext cx="1415926" cy="254149"/>
          </a:xfrm>
          <a:prstGeom prst="rightArrow">
            <a:avLst>
              <a:gd name="adj1" fmla="val 50000"/>
              <a:gd name="adj2" fmla="val 48143"/>
            </a:avLst>
          </a:prstGeom>
          <a:solidFill>
            <a:srgbClr val="A6CAEC"/>
          </a:solidFill>
          <a:ln w="3175">
            <a:solidFill>
              <a:srgbClr val="1C6AAC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endParaRPr lang="ko-KR" altLang="en-US" sz="1400" spc="-50">
              <a:ln>
                <a:solidFill>
                  <a:prstClr val="black">
                    <a:alpha val="0"/>
                  </a:prstClr>
                </a:solidFill>
              </a:ln>
              <a:solidFill>
                <a:prstClr val="black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40" name="화살표: 오각형 239">
            <a:extLst>
              <a:ext uri="{FF2B5EF4-FFF2-40B4-BE49-F238E27FC236}">
                <a16:creationId xmlns:a16="http://schemas.microsoft.com/office/drawing/2014/main" id="{2353A019-FCC0-F539-47FC-5A4F3DEFB4FB}"/>
              </a:ext>
            </a:extLst>
          </p:cNvPr>
          <p:cNvSpPr/>
          <p:nvPr/>
        </p:nvSpPr>
        <p:spPr>
          <a:xfrm>
            <a:off x="4804264" y="4132613"/>
            <a:ext cx="347277" cy="982272"/>
          </a:xfrm>
          <a:prstGeom prst="homePlate">
            <a:avLst>
              <a:gd name="adj" fmla="val 22233"/>
            </a:avLst>
          </a:prstGeom>
          <a:solidFill>
            <a:srgbClr val="217CFA"/>
          </a:solidFill>
          <a:ln w="12700">
            <a:solidFill>
              <a:srgbClr val="217CFA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정보</a:t>
            </a:r>
            <a:br>
              <a:rPr kumimoji="1" lang="en-US" altLang="ko-KR" sz="900" ker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</a:br>
            <a:r>
              <a:rPr kumimoji="1" lang="ko-KR" altLang="en-US" sz="900" ker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수집</a:t>
            </a:r>
          </a:p>
        </p:txBody>
      </p:sp>
      <p:sp>
        <p:nvSpPr>
          <p:cNvPr id="241" name="화살표: 오각형 240">
            <a:extLst>
              <a:ext uri="{FF2B5EF4-FFF2-40B4-BE49-F238E27FC236}">
                <a16:creationId xmlns:a16="http://schemas.microsoft.com/office/drawing/2014/main" id="{D0DB7A13-E644-4D4D-30DC-53B76B5AC4A2}"/>
              </a:ext>
            </a:extLst>
          </p:cNvPr>
          <p:cNvSpPr/>
          <p:nvPr/>
        </p:nvSpPr>
        <p:spPr>
          <a:xfrm>
            <a:off x="5191809" y="4132613"/>
            <a:ext cx="347277" cy="373766"/>
          </a:xfrm>
          <a:prstGeom prst="homePlate">
            <a:avLst>
              <a:gd name="adj" fmla="val 22233"/>
            </a:avLst>
          </a:prstGeom>
          <a:solidFill>
            <a:srgbClr val="217CFA"/>
          </a:solidFill>
          <a:ln w="12700">
            <a:solidFill>
              <a:srgbClr val="217CFA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정보</a:t>
            </a:r>
            <a:br>
              <a:rPr kumimoji="1" lang="en-US" altLang="ko-KR" sz="900" ker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</a:br>
            <a:r>
              <a:rPr kumimoji="1" lang="ko-KR" altLang="en-US" sz="900" ker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가공</a:t>
            </a:r>
          </a:p>
        </p:txBody>
      </p:sp>
      <p:sp>
        <p:nvSpPr>
          <p:cNvPr id="244" name="화살표: 오각형 243">
            <a:extLst>
              <a:ext uri="{FF2B5EF4-FFF2-40B4-BE49-F238E27FC236}">
                <a16:creationId xmlns:a16="http://schemas.microsoft.com/office/drawing/2014/main" id="{9834B500-2095-1968-54C8-F053D59B6AB4}"/>
              </a:ext>
            </a:extLst>
          </p:cNvPr>
          <p:cNvSpPr/>
          <p:nvPr/>
        </p:nvSpPr>
        <p:spPr>
          <a:xfrm>
            <a:off x="5191809" y="4741119"/>
            <a:ext cx="347277" cy="373766"/>
          </a:xfrm>
          <a:prstGeom prst="homePlate">
            <a:avLst>
              <a:gd name="adj" fmla="val 22233"/>
            </a:avLst>
          </a:prstGeom>
          <a:solidFill>
            <a:srgbClr val="217CFA"/>
          </a:solidFill>
          <a:ln w="12700">
            <a:solidFill>
              <a:srgbClr val="217CFA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정보</a:t>
            </a:r>
            <a:br>
              <a:rPr kumimoji="1" lang="en-US" altLang="ko-KR" sz="900" ker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</a:br>
            <a:r>
              <a:rPr kumimoji="1" lang="ko-KR" altLang="en-US" sz="900" ker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분류</a:t>
            </a:r>
          </a:p>
        </p:txBody>
      </p:sp>
      <p:sp>
        <p:nvSpPr>
          <p:cNvPr id="245" name="화살표: 오각형 244">
            <a:extLst>
              <a:ext uri="{FF2B5EF4-FFF2-40B4-BE49-F238E27FC236}">
                <a16:creationId xmlns:a16="http://schemas.microsoft.com/office/drawing/2014/main" id="{D0AC5652-040F-058B-B580-63ED9EA7360A}"/>
              </a:ext>
            </a:extLst>
          </p:cNvPr>
          <p:cNvSpPr/>
          <p:nvPr/>
        </p:nvSpPr>
        <p:spPr>
          <a:xfrm>
            <a:off x="5579355" y="4741119"/>
            <a:ext cx="347277" cy="373766"/>
          </a:xfrm>
          <a:prstGeom prst="homePlate">
            <a:avLst>
              <a:gd name="adj" fmla="val 22233"/>
            </a:avLst>
          </a:prstGeom>
          <a:solidFill>
            <a:srgbClr val="217CFA"/>
          </a:solidFill>
          <a:ln w="12700">
            <a:solidFill>
              <a:srgbClr val="217CFA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정보</a:t>
            </a:r>
            <a:br>
              <a:rPr kumimoji="1" lang="en-US" altLang="ko-KR" sz="900" ker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</a:br>
            <a:r>
              <a:rPr kumimoji="1" lang="ko-KR" altLang="en-US" sz="900" ker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검증</a:t>
            </a:r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00A324DF-6A00-555F-89BA-C0821F18D774}"/>
              </a:ext>
            </a:extLst>
          </p:cNvPr>
          <p:cNvSpPr txBox="1"/>
          <p:nvPr/>
        </p:nvSpPr>
        <p:spPr>
          <a:xfrm>
            <a:off x="3994018" y="4710363"/>
            <a:ext cx="697686" cy="4672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>
                <a:latin typeface="나눔스퀘어" panose="020B0600000101010101" pitchFamily="50" charset="-127"/>
                <a:ea typeface="나눔스퀘어" panose="020B0600000101010101" pitchFamily="50" charset="-127"/>
              </a:rPr>
              <a:t>Junior</a:t>
            </a:r>
            <a:br>
              <a:rPr lang="en-US" altLang="ko-KR" sz="1050"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lang="en-US" altLang="ko-KR" sz="1050">
                <a:latin typeface="나눔스퀘어" panose="020B0600000101010101" pitchFamily="50" charset="-127"/>
                <a:ea typeface="나눔스퀘어" panose="020B0600000101010101" pitchFamily="50" charset="-127"/>
              </a:rPr>
              <a:t>AI </a:t>
            </a:r>
            <a:r>
              <a:rPr lang="ko-KR" altLang="en-US" sz="1050">
                <a:latin typeface="나눔스퀘어" panose="020B0600000101010101" pitchFamily="50" charset="-127"/>
                <a:ea typeface="나눔스퀘어" panose="020B0600000101010101" pitchFamily="50" charset="-127"/>
              </a:rPr>
              <a:t>구성원</a:t>
            </a:r>
          </a:p>
        </p:txBody>
      </p:sp>
      <p:grpSp>
        <p:nvGrpSpPr>
          <p:cNvPr id="261" name="그룹 260">
            <a:extLst>
              <a:ext uri="{FF2B5EF4-FFF2-40B4-BE49-F238E27FC236}">
                <a16:creationId xmlns:a16="http://schemas.microsoft.com/office/drawing/2014/main" id="{C55CD917-542C-E2AC-E692-CC5A3166DA05}"/>
              </a:ext>
            </a:extLst>
          </p:cNvPr>
          <p:cNvGrpSpPr/>
          <p:nvPr/>
        </p:nvGrpSpPr>
        <p:grpSpPr>
          <a:xfrm>
            <a:off x="4126288" y="4219531"/>
            <a:ext cx="436261" cy="467237"/>
            <a:chOff x="8812016" y="4543637"/>
            <a:chExt cx="527876" cy="527876"/>
          </a:xfrm>
        </p:grpSpPr>
        <p:sp>
          <p:nvSpPr>
            <p:cNvPr id="258" name="타원 257">
              <a:extLst>
                <a:ext uri="{FF2B5EF4-FFF2-40B4-BE49-F238E27FC236}">
                  <a16:creationId xmlns:a16="http://schemas.microsoft.com/office/drawing/2014/main" id="{E5FABE8F-4469-9A28-FE5B-BAAC61BEFEB6}"/>
                </a:ext>
              </a:extLst>
            </p:cNvPr>
            <p:cNvSpPr/>
            <p:nvPr/>
          </p:nvSpPr>
          <p:spPr>
            <a:xfrm>
              <a:off x="8812016" y="4543637"/>
              <a:ext cx="527876" cy="527876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217CFA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0"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59" name="그래픽 258" descr="남성 건설 노동자 윤곽선">
              <a:extLst>
                <a:ext uri="{FF2B5EF4-FFF2-40B4-BE49-F238E27FC236}">
                  <a16:creationId xmlns:a16="http://schemas.microsoft.com/office/drawing/2014/main" id="{E678EEB9-7316-8E29-224E-DAA0F235BB2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871725" y="4603346"/>
              <a:ext cx="408459" cy="408459"/>
            </a:xfrm>
            <a:prstGeom prst="rect">
              <a:avLst/>
            </a:prstGeom>
            <a:effectLst/>
          </p:spPr>
        </p:pic>
        <p:pic>
          <p:nvPicPr>
            <p:cNvPr id="260" name="그림 259" descr="블랙, 어둠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3FCBF3BB-3FC6-F795-88E8-6567D926483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811" b="-1"/>
            <a:stretch/>
          </p:blipFill>
          <p:spPr>
            <a:xfrm>
              <a:off x="8973665" y="4615007"/>
              <a:ext cx="204578" cy="196785"/>
            </a:xfrm>
            <a:prstGeom prst="rect">
              <a:avLst/>
            </a:prstGeom>
            <a:solidFill>
              <a:schemeClr val="bg1"/>
            </a:solidFill>
            <a:effectLst/>
          </p:spPr>
        </p:pic>
      </p:grpSp>
      <p:sp>
        <p:nvSpPr>
          <p:cNvPr id="231" name="사각형: 둥근 모서리 230">
            <a:extLst>
              <a:ext uri="{FF2B5EF4-FFF2-40B4-BE49-F238E27FC236}">
                <a16:creationId xmlns:a16="http://schemas.microsoft.com/office/drawing/2014/main" id="{323867B6-934E-D683-C5F4-AE4EBD828685}"/>
              </a:ext>
            </a:extLst>
          </p:cNvPr>
          <p:cNvSpPr/>
          <p:nvPr/>
        </p:nvSpPr>
        <p:spPr>
          <a:xfrm>
            <a:off x="6166623" y="4098727"/>
            <a:ext cx="432506" cy="1126530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217CFA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100" kern="0">
                <a:solidFill>
                  <a:srgbClr val="217CF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반복</a:t>
            </a:r>
            <a:br>
              <a:rPr kumimoji="1" lang="en-US" altLang="ko-KR" sz="1100" kern="0">
                <a:solidFill>
                  <a:srgbClr val="217CF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</a:br>
            <a:r>
              <a:rPr kumimoji="1" lang="ko-KR" altLang="en-US" sz="1100" kern="0">
                <a:solidFill>
                  <a:srgbClr val="217CF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업무</a:t>
            </a:r>
            <a:br>
              <a:rPr kumimoji="1" lang="en-US" altLang="ko-KR" sz="1100" kern="0">
                <a:solidFill>
                  <a:srgbClr val="217CF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</a:br>
            <a:r>
              <a:rPr kumimoji="1" lang="ko-KR" altLang="en-US" sz="1100" kern="0">
                <a:solidFill>
                  <a:srgbClr val="217CF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지원</a:t>
            </a:r>
          </a:p>
        </p:txBody>
      </p:sp>
      <p:sp>
        <p:nvSpPr>
          <p:cNvPr id="346" name="화살표: 오각형 345">
            <a:extLst>
              <a:ext uri="{FF2B5EF4-FFF2-40B4-BE49-F238E27FC236}">
                <a16:creationId xmlns:a16="http://schemas.microsoft.com/office/drawing/2014/main" id="{5C1AF18D-C530-86EC-71BE-731CAB62ECA9}"/>
              </a:ext>
            </a:extLst>
          </p:cNvPr>
          <p:cNvSpPr/>
          <p:nvPr/>
        </p:nvSpPr>
        <p:spPr>
          <a:xfrm>
            <a:off x="5579355" y="4132613"/>
            <a:ext cx="347277" cy="373766"/>
          </a:xfrm>
          <a:prstGeom prst="homePlate">
            <a:avLst>
              <a:gd name="adj" fmla="val 22233"/>
            </a:avLst>
          </a:prstGeom>
          <a:solidFill>
            <a:srgbClr val="217CFA"/>
          </a:solidFill>
          <a:ln w="12700">
            <a:solidFill>
              <a:srgbClr val="217CFA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정보</a:t>
            </a:r>
            <a:br>
              <a:rPr kumimoji="1" lang="en-US" altLang="ko-KR" sz="900" ker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</a:br>
            <a:r>
              <a:rPr kumimoji="1" lang="ko-KR" altLang="en-US" sz="900" ker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입력</a:t>
            </a:r>
          </a:p>
        </p:txBody>
      </p:sp>
      <p:sp>
        <p:nvSpPr>
          <p:cNvPr id="269" name="AutoShape 31">
            <a:extLst>
              <a:ext uri="{FF2B5EF4-FFF2-40B4-BE49-F238E27FC236}">
                <a16:creationId xmlns:a16="http://schemas.microsoft.com/office/drawing/2014/main" id="{3D178013-01C9-EEFC-F325-C7C2CA3E59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9523" y="4974425"/>
            <a:ext cx="544317" cy="290831"/>
          </a:xfrm>
          <a:prstGeom prst="roundRect">
            <a:avLst>
              <a:gd name="adj" fmla="val 16667"/>
            </a:avLst>
          </a:prstGeom>
          <a:solidFill>
            <a:srgbClr val="217CFA"/>
          </a:solidFill>
          <a:ln w="12700">
            <a:solidFill>
              <a:srgbClr val="217CFA"/>
            </a:solidFill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계획 수립</a:t>
            </a:r>
            <a:endParaRPr kumimoji="1" lang="en-US" altLang="ko-KR" sz="900" ker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82" name="AutoShape 31">
            <a:extLst>
              <a:ext uri="{FF2B5EF4-FFF2-40B4-BE49-F238E27FC236}">
                <a16:creationId xmlns:a16="http://schemas.microsoft.com/office/drawing/2014/main" id="{6BF8BFA9-5DCE-1849-5468-9DCDD73171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05151" y="4974425"/>
            <a:ext cx="544317" cy="290831"/>
          </a:xfrm>
          <a:prstGeom prst="roundRect">
            <a:avLst>
              <a:gd name="adj" fmla="val 16667"/>
            </a:avLst>
          </a:prstGeom>
          <a:solidFill>
            <a:srgbClr val="217CFA"/>
          </a:solidFill>
          <a:ln w="12700">
            <a:solidFill>
              <a:srgbClr val="217CFA"/>
            </a:solidFill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대응 지원</a:t>
            </a:r>
            <a:endParaRPr kumimoji="1" lang="en-US" altLang="ko-KR" sz="900" ker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87" name="AutoShape 31">
            <a:extLst>
              <a:ext uri="{FF2B5EF4-FFF2-40B4-BE49-F238E27FC236}">
                <a16:creationId xmlns:a16="http://schemas.microsoft.com/office/drawing/2014/main" id="{8402C3A5-EE08-118F-9B1D-6DDAB5F1BA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3275" y="4974425"/>
            <a:ext cx="544317" cy="290831"/>
          </a:xfrm>
          <a:prstGeom prst="roundRect">
            <a:avLst>
              <a:gd name="adj" fmla="val 16667"/>
            </a:avLst>
          </a:prstGeom>
          <a:solidFill>
            <a:srgbClr val="217CFA"/>
          </a:solidFill>
          <a:ln w="12700">
            <a:solidFill>
              <a:srgbClr val="217CFA"/>
            </a:solidFill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ker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Risk </a:t>
            </a:r>
            <a:r>
              <a:rPr kumimoji="1" lang="ko-KR" altLang="en-US" sz="900" ker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감지</a:t>
            </a:r>
            <a:endParaRPr kumimoji="1" lang="en-US" altLang="ko-KR" sz="900" ker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88" name="AutoShape 31">
            <a:extLst>
              <a:ext uri="{FF2B5EF4-FFF2-40B4-BE49-F238E27FC236}">
                <a16:creationId xmlns:a16="http://schemas.microsoft.com/office/drawing/2014/main" id="{36ADCAEE-CF98-A899-1033-FDA290F337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97026" y="4974425"/>
            <a:ext cx="194878" cy="290831"/>
          </a:xfrm>
          <a:prstGeom prst="roundRect">
            <a:avLst>
              <a:gd name="adj" fmla="val 16667"/>
            </a:avLst>
          </a:prstGeom>
          <a:solidFill>
            <a:srgbClr val="217CFA"/>
          </a:solidFill>
          <a:ln w="12700">
            <a:solidFill>
              <a:srgbClr val="217CFA"/>
            </a:solidFill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ker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294" name="TextBox 293">
            <a:extLst>
              <a:ext uri="{FF2B5EF4-FFF2-40B4-BE49-F238E27FC236}">
                <a16:creationId xmlns:a16="http://schemas.microsoft.com/office/drawing/2014/main" id="{8294985B-A0C7-ABF4-C5A0-983E74CFCCFE}"/>
              </a:ext>
            </a:extLst>
          </p:cNvPr>
          <p:cNvSpPr txBox="1"/>
          <p:nvPr/>
        </p:nvSpPr>
        <p:spPr>
          <a:xfrm>
            <a:off x="8588577" y="4036573"/>
            <a:ext cx="763666" cy="492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>
                <a:latin typeface="나눔스퀘어" panose="020B0600000101010101" pitchFamily="50" charset="-127"/>
                <a:ea typeface="나눔스퀘어" panose="020B0600000101010101" pitchFamily="50" charset="-127"/>
              </a:rPr>
              <a:t>Senior</a:t>
            </a:r>
            <a:br>
              <a:rPr lang="en-US" altLang="ko-KR" sz="1050"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lang="en-US" altLang="ko-KR" sz="1050">
                <a:latin typeface="나눔스퀘어" panose="020B0600000101010101" pitchFamily="50" charset="-127"/>
                <a:ea typeface="나눔스퀘어" panose="020B0600000101010101" pitchFamily="50" charset="-127"/>
              </a:rPr>
              <a:t>AI </a:t>
            </a:r>
            <a:r>
              <a:rPr lang="ko-KR" altLang="en-US" sz="1050">
                <a:latin typeface="나눔스퀘어" panose="020B0600000101010101" pitchFamily="50" charset="-127"/>
                <a:ea typeface="나눔스퀘어" panose="020B0600000101010101" pitchFamily="50" charset="-127"/>
              </a:rPr>
              <a:t>구성원</a:t>
            </a:r>
          </a:p>
        </p:txBody>
      </p:sp>
      <p:grpSp>
        <p:nvGrpSpPr>
          <p:cNvPr id="295" name="그룹 294">
            <a:extLst>
              <a:ext uri="{FF2B5EF4-FFF2-40B4-BE49-F238E27FC236}">
                <a16:creationId xmlns:a16="http://schemas.microsoft.com/office/drawing/2014/main" id="{53FEE104-1967-6430-6F8A-0375CB60004E}"/>
              </a:ext>
            </a:extLst>
          </p:cNvPr>
          <p:cNvGrpSpPr/>
          <p:nvPr/>
        </p:nvGrpSpPr>
        <p:grpSpPr>
          <a:xfrm>
            <a:off x="7995514" y="4093710"/>
            <a:ext cx="436261" cy="467237"/>
            <a:chOff x="8812016" y="4543637"/>
            <a:chExt cx="527876" cy="527876"/>
          </a:xfrm>
        </p:grpSpPr>
        <p:sp>
          <p:nvSpPr>
            <p:cNvPr id="296" name="타원 295">
              <a:extLst>
                <a:ext uri="{FF2B5EF4-FFF2-40B4-BE49-F238E27FC236}">
                  <a16:creationId xmlns:a16="http://schemas.microsoft.com/office/drawing/2014/main" id="{726D66B2-4066-7244-67CA-3F9B7838EED1}"/>
                </a:ext>
              </a:extLst>
            </p:cNvPr>
            <p:cNvSpPr/>
            <p:nvPr/>
          </p:nvSpPr>
          <p:spPr>
            <a:xfrm>
              <a:off x="8812016" y="4543637"/>
              <a:ext cx="527876" cy="527876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217CFA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0"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97" name="그래픽 296" descr="남성 건설 노동자 윤곽선">
              <a:extLst>
                <a:ext uri="{FF2B5EF4-FFF2-40B4-BE49-F238E27FC236}">
                  <a16:creationId xmlns:a16="http://schemas.microsoft.com/office/drawing/2014/main" id="{28F2133F-5977-0079-A959-2D11E79F58C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871725" y="4603346"/>
              <a:ext cx="408459" cy="408459"/>
            </a:xfrm>
            <a:prstGeom prst="rect">
              <a:avLst/>
            </a:prstGeom>
            <a:effectLst/>
          </p:spPr>
        </p:pic>
        <p:pic>
          <p:nvPicPr>
            <p:cNvPr id="298" name="그림 297" descr="블랙, 어둠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FE3C5E45-B045-3E3E-40C2-8245FEB8B3A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811" b="-1"/>
            <a:stretch/>
          </p:blipFill>
          <p:spPr>
            <a:xfrm>
              <a:off x="8973665" y="4615007"/>
              <a:ext cx="204578" cy="196785"/>
            </a:xfrm>
            <a:prstGeom prst="rect">
              <a:avLst/>
            </a:prstGeom>
            <a:solidFill>
              <a:schemeClr val="bg1"/>
            </a:solidFill>
            <a:effectLst/>
          </p:spPr>
        </p:pic>
      </p:grpSp>
      <p:sp>
        <p:nvSpPr>
          <p:cNvPr id="286" name="AutoShape 31">
            <a:extLst>
              <a:ext uri="{FF2B5EF4-FFF2-40B4-BE49-F238E27FC236}">
                <a16:creationId xmlns:a16="http://schemas.microsoft.com/office/drawing/2014/main" id="{90A07404-5639-E33B-4074-A8E9C7C4CB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1399" y="4974425"/>
            <a:ext cx="544317" cy="290831"/>
          </a:xfrm>
          <a:prstGeom prst="roundRect">
            <a:avLst>
              <a:gd name="adj" fmla="val 16667"/>
            </a:avLst>
          </a:prstGeom>
          <a:solidFill>
            <a:srgbClr val="217CFA"/>
          </a:solidFill>
          <a:ln w="12700">
            <a:solidFill>
              <a:srgbClr val="217CFA"/>
            </a:solidFill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현황 파악</a:t>
            </a:r>
            <a:endParaRPr kumimoji="1" lang="en-US" altLang="ko-KR" sz="900" ker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Arial" panose="020B0604020202020204" pitchFamily="34" charset="0"/>
            </a:endParaRPr>
          </a:p>
        </p:txBody>
      </p:sp>
      <p:cxnSp>
        <p:nvCxnSpPr>
          <p:cNvPr id="342" name="연결선: 꺾임 341">
            <a:extLst>
              <a:ext uri="{FF2B5EF4-FFF2-40B4-BE49-F238E27FC236}">
                <a16:creationId xmlns:a16="http://schemas.microsoft.com/office/drawing/2014/main" id="{CB5ADD3F-9445-35B7-46BC-4EDC39AB4D49}"/>
              </a:ext>
            </a:extLst>
          </p:cNvPr>
          <p:cNvCxnSpPr>
            <a:cxnSpLocks/>
            <a:endCxn id="269" idx="0"/>
          </p:cNvCxnSpPr>
          <p:nvPr/>
        </p:nvCxnSpPr>
        <p:spPr>
          <a:xfrm rot="5400000">
            <a:off x="7500925" y="4261706"/>
            <a:ext cx="413477" cy="1011963"/>
          </a:xfrm>
          <a:prstGeom prst="bentConnector3">
            <a:avLst/>
          </a:prstGeom>
          <a:ln>
            <a:solidFill>
              <a:srgbClr val="A6CAEC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3" name="연결선: 꺾임 342">
            <a:extLst>
              <a:ext uri="{FF2B5EF4-FFF2-40B4-BE49-F238E27FC236}">
                <a16:creationId xmlns:a16="http://schemas.microsoft.com/office/drawing/2014/main" id="{E9F146AF-D61D-3C2D-8E10-4CF38E8934C5}"/>
              </a:ext>
            </a:extLst>
          </p:cNvPr>
          <p:cNvCxnSpPr>
            <a:cxnSpLocks/>
            <a:stCxn id="296" idx="4"/>
            <a:endCxn id="286" idx="0"/>
          </p:cNvCxnSpPr>
          <p:nvPr/>
        </p:nvCxnSpPr>
        <p:spPr>
          <a:xfrm rot="5400000">
            <a:off x="7796863" y="4557643"/>
            <a:ext cx="413478" cy="420087"/>
          </a:xfrm>
          <a:prstGeom prst="bentConnector3">
            <a:avLst>
              <a:gd name="adj1" fmla="val 50000"/>
            </a:avLst>
          </a:prstGeom>
          <a:ln>
            <a:solidFill>
              <a:srgbClr val="A6CAEC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" name="연결선: 꺾임 346">
            <a:extLst>
              <a:ext uri="{FF2B5EF4-FFF2-40B4-BE49-F238E27FC236}">
                <a16:creationId xmlns:a16="http://schemas.microsoft.com/office/drawing/2014/main" id="{15EADEC5-8C89-39E8-B6C0-CE5C053FAE70}"/>
              </a:ext>
            </a:extLst>
          </p:cNvPr>
          <p:cNvCxnSpPr>
            <a:cxnSpLocks/>
            <a:endCxn id="287" idx="0"/>
          </p:cNvCxnSpPr>
          <p:nvPr/>
        </p:nvCxnSpPr>
        <p:spPr>
          <a:xfrm rot="16200000" flipH="1">
            <a:off x="8092800" y="4681792"/>
            <a:ext cx="413477" cy="171789"/>
          </a:xfrm>
          <a:prstGeom prst="bentConnector3">
            <a:avLst>
              <a:gd name="adj1" fmla="val 50000"/>
            </a:avLst>
          </a:prstGeom>
          <a:ln>
            <a:solidFill>
              <a:srgbClr val="A6CAEC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0" name="연결선: 꺾임 349">
            <a:extLst>
              <a:ext uri="{FF2B5EF4-FFF2-40B4-BE49-F238E27FC236}">
                <a16:creationId xmlns:a16="http://schemas.microsoft.com/office/drawing/2014/main" id="{58FB61DF-D4CA-4D16-CD18-035087B6C540}"/>
              </a:ext>
            </a:extLst>
          </p:cNvPr>
          <p:cNvCxnSpPr>
            <a:cxnSpLocks/>
            <a:endCxn id="282" idx="0"/>
          </p:cNvCxnSpPr>
          <p:nvPr/>
        </p:nvCxnSpPr>
        <p:spPr>
          <a:xfrm rot="16200000" flipH="1">
            <a:off x="8388738" y="4385854"/>
            <a:ext cx="413477" cy="763665"/>
          </a:xfrm>
          <a:prstGeom prst="bentConnector3">
            <a:avLst>
              <a:gd name="adj1" fmla="val 50000"/>
            </a:avLst>
          </a:prstGeom>
          <a:ln>
            <a:solidFill>
              <a:srgbClr val="A6CAEC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" name="연결선: 꺾임 351">
            <a:extLst>
              <a:ext uri="{FF2B5EF4-FFF2-40B4-BE49-F238E27FC236}">
                <a16:creationId xmlns:a16="http://schemas.microsoft.com/office/drawing/2014/main" id="{28FFF047-A28C-812D-1B11-7349381A4197}"/>
              </a:ext>
            </a:extLst>
          </p:cNvPr>
          <p:cNvCxnSpPr>
            <a:cxnSpLocks/>
            <a:endCxn id="288" idx="0"/>
          </p:cNvCxnSpPr>
          <p:nvPr/>
        </p:nvCxnSpPr>
        <p:spPr>
          <a:xfrm rot="16200000" flipH="1">
            <a:off x="8597316" y="4177277"/>
            <a:ext cx="413477" cy="1180820"/>
          </a:xfrm>
          <a:prstGeom prst="bentConnector3">
            <a:avLst>
              <a:gd name="adj1" fmla="val 50000"/>
            </a:avLst>
          </a:prstGeom>
          <a:ln>
            <a:solidFill>
              <a:srgbClr val="A6CAEC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0" name="직사각형 369">
            <a:extLst>
              <a:ext uri="{FF2B5EF4-FFF2-40B4-BE49-F238E27FC236}">
                <a16:creationId xmlns:a16="http://schemas.microsoft.com/office/drawing/2014/main" id="{81358524-57E3-D82A-280A-D59643EA4659}"/>
              </a:ext>
            </a:extLst>
          </p:cNvPr>
          <p:cNvSpPr/>
          <p:nvPr/>
        </p:nvSpPr>
        <p:spPr>
          <a:xfrm>
            <a:off x="6984653" y="4052492"/>
            <a:ext cx="891993" cy="492537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algn="ctr"/>
            <a:r>
              <a:rPr lang="ko-KR" altLang="en-US" sz="1050" i="1">
                <a:solidFill>
                  <a:srgbClr val="217CF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핵심 업무</a:t>
            </a:r>
            <a:endParaRPr lang="en-US" altLang="ko-KR" sz="1050" i="1">
              <a:solidFill>
                <a:srgbClr val="217CFA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1050" i="1">
                <a:solidFill>
                  <a:srgbClr val="217CF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수행 </a:t>
            </a:r>
            <a:r>
              <a:rPr lang="en-US" altLang="ko-KR" sz="1050" i="1">
                <a:solidFill>
                  <a:srgbClr val="217CF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· </a:t>
            </a:r>
            <a:r>
              <a:rPr lang="ko-KR" altLang="en-US" sz="1050" i="1">
                <a:solidFill>
                  <a:srgbClr val="217CF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지원</a:t>
            </a:r>
          </a:p>
        </p:txBody>
      </p:sp>
    </p:spTree>
    <p:extLst>
      <p:ext uri="{BB962C8B-B14F-4D97-AF65-F5344CB8AC3E}">
        <p14:creationId xmlns:p14="http://schemas.microsoft.com/office/powerpoint/2010/main" val="27700566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AC0ED-EEB9-A9F1-7AD9-ED7E63034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65542C6-E83D-B4E4-41D8-8464B841D07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4487" y="254884"/>
            <a:ext cx="3842014" cy="343235"/>
          </a:xfrm>
          <a:solidFill>
            <a:schemeClr val="bg1"/>
          </a:solidFill>
        </p:spPr>
        <p:txBody>
          <a:bodyPr wrap="none" anchor="ctr">
            <a:spAutoFit/>
          </a:bodyPr>
          <a:lstStyle/>
          <a:p>
            <a:r>
              <a:rPr lang="en-US" altLang="ko-KR" b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Appendix. </a:t>
            </a:r>
            <a:r>
              <a:rPr lang="ko-KR" altLang="en-US" b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생산기술 업무 </a:t>
            </a:r>
            <a:r>
              <a:rPr lang="en-US" altLang="ko-KR" b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Hierarchy</a:t>
            </a:r>
          </a:p>
        </p:txBody>
      </p:sp>
      <p:sp>
        <p:nvSpPr>
          <p:cNvPr id="36" name="텍스트 개체 틀 4">
            <a:extLst>
              <a:ext uri="{FF2B5EF4-FFF2-40B4-BE49-F238E27FC236}">
                <a16:creationId xmlns:a16="http://schemas.microsoft.com/office/drawing/2014/main" id="{AE48A5E2-994E-C923-D082-7426D608A4C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3063" y="765175"/>
            <a:ext cx="9193040" cy="719138"/>
          </a:xfrm>
        </p:spPr>
        <p:txBody>
          <a:bodyPr vert="horz" lIns="91440" tIns="45720" rIns="91440" bIns="45720" rtlCol="0">
            <a:norm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</a:pPr>
            <a:r>
              <a:rPr lang="ko-KR" altLang="en-US" sz="1600" b="0"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ngal Pro" panose="020B0502040204020203" pitchFamily="2" charset="0"/>
              </a:rPr>
              <a:t>생산기술팀 직접 수행 업무에 대해 </a:t>
            </a:r>
            <a:r>
              <a:rPr lang="en-US" altLang="ko-KR" sz="1600" b="0"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ngal Pro" panose="020B0502040204020203" pitchFamily="2" charset="0"/>
              </a:rPr>
              <a:t>26</a:t>
            </a:r>
            <a:r>
              <a:rPr lang="ko-KR" altLang="en-US" sz="1600" b="0"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ngal Pro" panose="020B0502040204020203" pitchFamily="2" charset="0"/>
              </a:rPr>
              <a:t>개의 </a:t>
            </a:r>
            <a:r>
              <a:rPr lang="en-US" altLang="ko-KR" sz="1600" b="0"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ngal Pro" panose="020B0502040204020203" pitchFamily="2" charset="0"/>
              </a:rPr>
              <a:t>Process</a:t>
            </a:r>
            <a:r>
              <a:rPr lang="ko-KR" altLang="en-US" sz="1600" b="0"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ngal Pro" panose="020B0502040204020203" pitchFamily="2" charset="0"/>
              </a:rPr>
              <a:t>로 구분하여 </a:t>
            </a:r>
            <a:r>
              <a:rPr lang="en-US" altLang="ko-KR" sz="1600" b="0"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ngal Pro" panose="020B0502040204020203" pitchFamily="2" charset="0"/>
              </a:rPr>
              <a:t>Hierarchy </a:t>
            </a:r>
            <a:r>
              <a:rPr lang="ko-KR" altLang="en-US" sz="1600" b="0"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ngal Pro" panose="020B0502040204020203" pitchFamily="2" charset="0"/>
              </a:rPr>
              <a:t>형태로 구조화 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D3244A6C-64CB-3B60-A182-92F8F00B6091}"/>
              </a:ext>
            </a:extLst>
          </p:cNvPr>
          <p:cNvGrpSpPr/>
          <p:nvPr/>
        </p:nvGrpSpPr>
        <p:grpSpPr>
          <a:xfrm>
            <a:off x="344488" y="1421951"/>
            <a:ext cx="9217024" cy="346893"/>
            <a:chOff x="4011711" y="1782863"/>
            <a:chExt cx="5549802" cy="346893"/>
          </a:xfrm>
        </p:grpSpPr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5F42F13E-FAC4-89B4-B45D-0D30E40537E8}"/>
                </a:ext>
              </a:extLst>
            </p:cNvPr>
            <p:cNvCxnSpPr>
              <a:cxnSpLocks/>
            </p:cNvCxnSpPr>
            <p:nvPr/>
          </p:nvCxnSpPr>
          <p:spPr>
            <a:xfrm>
              <a:off x="4011713" y="2129756"/>
              <a:ext cx="5549800" cy="0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DC6D307-19D5-C0B8-9DEF-C2C90F6D4FB0}"/>
                </a:ext>
              </a:extLst>
            </p:cNvPr>
            <p:cNvSpPr txBox="1"/>
            <p:nvPr/>
          </p:nvSpPr>
          <p:spPr>
            <a:xfrm>
              <a:off x="4011711" y="1782863"/>
              <a:ext cx="5549799" cy="34323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lang="ko-KR" altLang="en-US" sz="1400">
                  <a:ln>
                    <a:solidFill>
                      <a:schemeClr val="tx1">
                        <a:alpha val="0"/>
                      </a:schemeClr>
                    </a:solidFill>
                  </a:ln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울산</a:t>
              </a:r>
              <a:r>
                <a:rPr lang="en-US" altLang="ko-KR" sz="1400">
                  <a:ln>
                    <a:solidFill>
                      <a:schemeClr val="tx1">
                        <a:alpha val="0"/>
                      </a:schemeClr>
                    </a:solidFill>
                  </a:ln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CLX </a:t>
              </a:r>
              <a:r>
                <a:rPr lang="ko-KR" altLang="en-US" sz="1400">
                  <a:ln>
                    <a:solidFill>
                      <a:schemeClr val="tx1">
                        <a:alpha val="0"/>
                      </a:schemeClr>
                    </a:solidFill>
                  </a:ln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생산기술 업무 </a:t>
              </a:r>
              <a:r>
                <a:rPr lang="en-US" altLang="ko-KR" sz="1400">
                  <a:ln>
                    <a:solidFill>
                      <a:schemeClr val="tx1">
                        <a:alpha val="0"/>
                      </a:schemeClr>
                    </a:solidFill>
                  </a:ln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Hierarchy </a:t>
              </a:r>
              <a:r>
                <a:rPr lang="ko-KR" altLang="en-US" sz="1400">
                  <a:ln>
                    <a:solidFill>
                      <a:schemeClr val="tx1">
                        <a:alpha val="0"/>
                      </a:schemeClr>
                    </a:solidFill>
                  </a:ln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구성</a:t>
              </a:r>
              <a:endParaRPr lang="en-US" altLang="ko-KR" sz="1400">
                <a:ln>
                  <a:solidFill>
                    <a:schemeClr val="tx1">
                      <a:alpha val="0"/>
                    </a:schemeClr>
                  </a:solidFill>
                </a:ln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</p:grp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CC0CA62F-D634-F1BB-6F94-CC4631FCDD68}"/>
              </a:ext>
            </a:extLst>
          </p:cNvPr>
          <p:cNvSpPr/>
          <p:nvPr/>
        </p:nvSpPr>
        <p:spPr>
          <a:xfrm>
            <a:off x="343001" y="1552858"/>
            <a:ext cx="554943" cy="159940"/>
          </a:xfrm>
          <a:prstGeom prst="roundRect">
            <a:avLst>
              <a:gd name="adj" fmla="val 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Level 1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88E99DF3-002E-831C-DC72-54A7E1BBABA3}"/>
              </a:ext>
            </a:extLst>
          </p:cNvPr>
          <p:cNvSpPr/>
          <p:nvPr/>
        </p:nvSpPr>
        <p:spPr>
          <a:xfrm>
            <a:off x="952363" y="1552858"/>
            <a:ext cx="554943" cy="159940"/>
          </a:xfrm>
          <a:prstGeom prst="roundRect">
            <a:avLst>
              <a:gd name="adj" fmla="val 0"/>
            </a:avLst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</a:pPr>
            <a:r>
              <a:rPr kumimoji="1" lang="en-US" altLang="ko-KR" sz="1000" ker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Level 2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871C61C0-34C3-3C63-143E-1BE8E267FA9D}"/>
              </a:ext>
            </a:extLst>
          </p:cNvPr>
          <p:cNvSpPr/>
          <p:nvPr/>
        </p:nvSpPr>
        <p:spPr>
          <a:xfrm>
            <a:off x="1561724" y="1552858"/>
            <a:ext cx="554943" cy="15994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</a:pPr>
            <a:r>
              <a:rPr kumimoji="1" lang="en-US" altLang="ko-KR" sz="1000" kern="0"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Level 3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DE6CF152-BB7A-0E7A-BD7F-35D0FB717597}"/>
              </a:ext>
            </a:extLst>
          </p:cNvPr>
          <p:cNvSpPr/>
          <p:nvPr/>
        </p:nvSpPr>
        <p:spPr>
          <a:xfrm>
            <a:off x="339897" y="1248252"/>
            <a:ext cx="554489" cy="240081"/>
          </a:xfrm>
          <a:prstGeom prst="roundRect">
            <a:avLst>
              <a:gd name="adj" fmla="val 0"/>
            </a:avLst>
          </a:prstGeom>
          <a:noFill/>
          <a:ln w="3175">
            <a:noFill/>
          </a:ln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i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Mega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i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Process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5F7E5C95-F325-A5D3-46CF-06F78D28F6BF}"/>
              </a:ext>
            </a:extLst>
          </p:cNvPr>
          <p:cNvSpPr/>
          <p:nvPr/>
        </p:nvSpPr>
        <p:spPr>
          <a:xfrm>
            <a:off x="951749" y="1248252"/>
            <a:ext cx="554489" cy="240081"/>
          </a:xfrm>
          <a:prstGeom prst="roundRect">
            <a:avLst>
              <a:gd name="adj" fmla="val 0"/>
            </a:avLst>
          </a:prstGeom>
          <a:noFill/>
          <a:ln w="3175">
            <a:noFill/>
          </a:ln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i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Process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i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Chain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37D58AEA-1F64-07AA-566A-3DE32E80465D}"/>
              </a:ext>
            </a:extLst>
          </p:cNvPr>
          <p:cNvSpPr/>
          <p:nvPr/>
        </p:nvSpPr>
        <p:spPr>
          <a:xfrm>
            <a:off x="1561457" y="1248252"/>
            <a:ext cx="554489" cy="240081"/>
          </a:xfrm>
          <a:prstGeom prst="roundRect">
            <a:avLst>
              <a:gd name="adj" fmla="val 0"/>
            </a:avLst>
          </a:prstGeom>
          <a:noFill/>
          <a:ln w="3175">
            <a:noFill/>
          </a:ln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i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Process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i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Group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C10F6EBD-B0DE-2E26-A289-6BD86A182B40}"/>
              </a:ext>
            </a:extLst>
          </p:cNvPr>
          <p:cNvSpPr/>
          <p:nvPr/>
        </p:nvSpPr>
        <p:spPr>
          <a:xfrm>
            <a:off x="2170631" y="1552858"/>
            <a:ext cx="554943" cy="15994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Level 4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C778DD0F-8B97-F762-3685-3197E346FF8C}"/>
              </a:ext>
            </a:extLst>
          </p:cNvPr>
          <p:cNvSpPr/>
          <p:nvPr/>
        </p:nvSpPr>
        <p:spPr>
          <a:xfrm>
            <a:off x="2170364" y="1248252"/>
            <a:ext cx="554489" cy="240081"/>
          </a:xfrm>
          <a:prstGeom prst="roundRect">
            <a:avLst>
              <a:gd name="adj" fmla="val 0"/>
            </a:avLst>
          </a:prstGeom>
          <a:noFill/>
          <a:ln w="3175">
            <a:noFill/>
          </a:ln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i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Process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05123EA2-6D60-E19D-E831-F63829A2ABC0}"/>
              </a:ext>
            </a:extLst>
          </p:cNvPr>
          <p:cNvSpPr/>
          <p:nvPr/>
        </p:nvSpPr>
        <p:spPr>
          <a:xfrm>
            <a:off x="344489" y="1834034"/>
            <a:ext cx="290778" cy="4618684"/>
          </a:xfrm>
          <a:prstGeom prst="roundRect">
            <a:avLst>
              <a:gd name="adj" fmla="val 0"/>
            </a:avLst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txBody>
          <a:bodyPr rot="0" spcFirstLastPara="0" vertOverflow="overflow" horzOverflow="overflow" vert="horz" wrap="square" lIns="0" tIns="36000" rIns="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</a:pPr>
            <a:r>
              <a:rPr kumimoji="1" lang="ko-KR" altLang="en-US" sz="1100" kern="0">
                <a:solidFill>
                  <a:srgbClr val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생</a:t>
            </a:r>
            <a:endParaRPr kumimoji="1" lang="en-US" altLang="ko-KR" sz="1100" kern="0">
              <a:solidFill>
                <a:srgbClr val="FFFFFF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Arial" panose="020B0604020202020204" pitchFamily="34" charset="0"/>
            </a:endParaRPr>
          </a:p>
          <a:p>
            <a:pPr algn="ctr" defTabSz="914400" fontAlgn="base">
              <a:spcBef>
                <a:spcPct val="0"/>
              </a:spcBef>
            </a:pPr>
            <a:r>
              <a:rPr kumimoji="1" lang="ko-KR" altLang="en-US" sz="1100" kern="0">
                <a:solidFill>
                  <a:srgbClr val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산</a:t>
            </a:r>
            <a:endParaRPr kumimoji="1" lang="en-US" altLang="ko-KR" sz="1100" kern="0">
              <a:solidFill>
                <a:srgbClr val="FFFFFF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Arial" panose="020B0604020202020204" pitchFamily="34" charset="0"/>
            </a:endParaRPr>
          </a:p>
          <a:p>
            <a:pPr algn="ctr" defTabSz="914400" fontAlgn="base">
              <a:spcBef>
                <a:spcPct val="0"/>
              </a:spcBef>
            </a:pPr>
            <a:r>
              <a:rPr kumimoji="1" lang="ko-KR" altLang="en-US" sz="1100" kern="0">
                <a:solidFill>
                  <a:srgbClr val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기</a:t>
            </a:r>
            <a:endParaRPr kumimoji="1" lang="en-US" altLang="ko-KR" sz="1100" kern="0">
              <a:solidFill>
                <a:srgbClr val="FFFFFF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Arial" panose="020B0604020202020204" pitchFamily="34" charset="0"/>
            </a:endParaRPr>
          </a:p>
          <a:p>
            <a:pPr algn="ctr" defTabSz="914400" fontAlgn="base">
              <a:spcBef>
                <a:spcPct val="0"/>
              </a:spcBef>
            </a:pPr>
            <a:r>
              <a:rPr kumimoji="1" lang="ko-KR" altLang="en-US" sz="1100" kern="0">
                <a:solidFill>
                  <a:srgbClr val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술</a:t>
            </a:r>
            <a:endParaRPr kumimoji="1" lang="en-US" altLang="ko-KR" sz="1100" kern="0">
              <a:solidFill>
                <a:srgbClr val="FFFFFF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35B9CBD-0B5A-BE6D-3413-27929AF93AA7}"/>
              </a:ext>
            </a:extLst>
          </p:cNvPr>
          <p:cNvSpPr/>
          <p:nvPr/>
        </p:nvSpPr>
        <p:spPr>
          <a:xfrm>
            <a:off x="723419" y="1834035"/>
            <a:ext cx="782820" cy="715658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spcBef>
                <a:spcPct val="0"/>
              </a:spcBef>
              <a:buClrTx/>
              <a:buSzTx/>
              <a:buFontTx/>
              <a:buNone/>
              <a:tabLst/>
              <a:defRPr/>
            </a:pPr>
            <a:r>
              <a:rPr kumimoji="1" lang="ko-KR" altLang="en-US" sz="1100" ker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공장 운영</a:t>
            </a:r>
            <a:endParaRPr kumimoji="1" lang="en-US" altLang="ko-KR" sz="1100" ker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Arial" panose="020B0604020202020204" pitchFamily="34" charset="0"/>
            </a:endParaRPr>
          </a:p>
          <a:p>
            <a:pPr marL="0" marR="0" lvl="0" indent="0" algn="ctr" defTabSz="914400" eaLnBrk="1" fontAlgn="base" latinLnBrk="0" hangingPunct="1">
              <a:spcBef>
                <a:spcPct val="0"/>
              </a:spcBef>
              <a:buClrTx/>
              <a:buSzTx/>
              <a:buFontTx/>
              <a:buNone/>
              <a:tabLst/>
              <a:defRPr/>
            </a:pPr>
            <a:r>
              <a:rPr kumimoji="1" lang="ko-KR" altLang="en-US" sz="110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기획</a:t>
            </a:r>
            <a:endParaRPr kumimoji="1" lang="en-US" altLang="ko-KR" sz="110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9D928B36-A975-5B90-73EF-FA89111D150E}"/>
              </a:ext>
            </a:extLst>
          </p:cNvPr>
          <p:cNvSpPr/>
          <p:nvPr/>
        </p:nvSpPr>
        <p:spPr>
          <a:xfrm>
            <a:off x="1588866" y="1834035"/>
            <a:ext cx="1314465" cy="32531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</a:pPr>
            <a:r>
              <a:rPr kumimoji="1" lang="ko-KR" altLang="en-US" sz="1000" kern="0"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예산 수립 및 운영 최적화</a:t>
            </a:r>
            <a:endParaRPr kumimoji="1" lang="en-US" altLang="ko-KR" sz="1000" kern="0">
              <a:latin typeface="나눔스퀘어 Bold" panose="020B0600000101010101" pitchFamily="50" charset="-127"/>
              <a:ea typeface="나눔스퀘어 Bold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9965E408-3785-EA0C-CA65-9263AF5EF3C7}"/>
              </a:ext>
            </a:extLst>
          </p:cNvPr>
          <p:cNvSpPr/>
          <p:nvPr/>
        </p:nvSpPr>
        <p:spPr>
          <a:xfrm>
            <a:off x="1588866" y="2224385"/>
            <a:ext cx="1314465" cy="32531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</a:pPr>
            <a:r>
              <a:rPr kumimoji="1" lang="ko-KR" altLang="en-US" sz="1000" kern="0"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투자 사업 기획 및 관리</a:t>
            </a:r>
            <a:endParaRPr kumimoji="1" lang="en-US" altLang="ko-KR" sz="1000" kern="0">
              <a:latin typeface="나눔스퀘어 Bold" panose="020B0600000101010101" pitchFamily="50" charset="-127"/>
              <a:ea typeface="나눔스퀘어 Bold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9DE132C3-3373-A2EF-F41A-AF40DC942D1A}"/>
              </a:ext>
            </a:extLst>
          </p:cNvPr>
          <p:cNvSpPr/>
          <p:nvPr/>
        </p:nvSpPr>
        <p:spPr>
          <a:xfrm>
            <a:off x="723419" y="2614732"/>
            <a:ext cx="782820" cy="2277058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spcBef>
                <a:spcPct val="0"/>
              </a:spcBef>
              <a:buClrTx/>
              <a:buSzTx/>
              <a:buFontTx/>
              <a:buNone/>
              <a:tabLst/>
              <a:defRPr/>
            </a:pPr>
            <a:r>
              <a:rPr kumimoji="1" lang="ko-KR" altLang="en-US" sz="110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공정 기술</a:t>
            </a:r>
            <a:endParaRPr kumimoji="1" lang="en-US" altLang="ko-KR" sz="110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  <a:cs typeface="Arial" panose="020B0604020202020204" pitchFamily="34" charset="0"/>
            </a:endParaRPr>
          </a:p>
          <a:p>
            <a:pPr marL="0" marR="0" lvl="0" indent="0" algn="ctr" defTabSz="914400" eaLnBrk="1" fontAlgn="base" latinLnBrk="0" hangingPunct="1">
              <a:spcBef>
                <a:spcPct val="0"/>
              </a:spcBef>
              <a:buClrTx/>
              <a:buSzTx/>
              <a:buFontTx/>
              <a:buNone/>
              <a:tabLst/>
              <a:defRPr/>
            </a:pPr>
            <a:r>
              <a:rPr kumimoji="1" lang="ko-KR" altLang="en-US" sz="1100" ker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관리</a:t>
            </a:r>
            <a:endParaRPr kumimoji="1" lang="en-US" altLang="ko-KR" sz="110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D28F7EB8-B970-DF3F-9A1A-1F8F6C5D1815}"/>
              </a:ext>
            </a:extLst>
          </p:cNvPr>
          <p:cNvSpPr/>
          <p:nvPr/>
        </p:nvSpPr>
        <p:spPr>
          <a:xfrm>
            <a:off x="1588866" y="2614734"/>
            <a:ext cx="1314465" cy="715656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</a:pPr>
            <a:r>
              <a:rPr kumimoji="1" lang="ko-KR" altLang="en-US" sz="1000" kern="0"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운전 지원 및</a:t>
            </a:r>
            <a:endParaRPr kumimoji="1" lang="en-US" altLang="ko-KR" sz="1000" kern="0">
              <a:latin typeface="나눔스퀘어 Bold" panose="020B0600000101010101" pitchFamily="50" charset="-127"/>
              <a:ea typeface="나눔스퀘어 Bold" panose="020B0600000101010101" pitchFamily="50" charset="-127"/>
              <a:cs typeface="Arial" panose="020B0604020202020204" pitchFamily="34" charset="0"/>
            </a:endParaRPr>
          </a:p>
          <a:p>
            <a:pPr algn="ctr" defTabSz="914400" fontAlgn="base">
              <a:spcBef>
                <a:spcPct val="0"/>
              </a:spcBef>
            </a:pPr>
            <a:r>
              <a:rPr kumimoji="1" lang="en-US" altLang="ko-KR" sz="1000" kern="0"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Troubleshooting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F5C507C4-E43E-5592-0275-813BB990B4B5}"/>
              </a:ext>
            </a:extLst>
          </p:cNvPr>
          <p:cNvSpPr/>
          <p:nvPr/>
        </p:nvSpPr>
        <p:spPr>
          <a:xfrm>
            <a:off x="1588866" y="3395433"/>
            <a:ext cx="1314465" cy="715655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</a:pPr>
            <a:r>
              <a:rPr kumimoji="1" lang="ko-KR" altLang="en-US" sz="1000" kern="0"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공정 최적화 및 개선</a:t>
            </a:r>
            <a:endParaRPr kumimoji="1" lang="en-US" altLang="ko-KR" sz="1000" kern="0">
              <a:latin typeface="나눔스퀘어 Bold" panose="020B0600000101010101" pitchFamily="50" charset="-127"/>
              <a:ea typeface="나눔스퀘어 Bold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72F7C662-44BA-6255-5ED9-81C9E032A381}"/>
              </a:ext>
            </a:extLst>
          </p:cNvPr>
          <p:cNvSpPr/>
          <p:nvPr/>
        </p:nvSpPr>
        <p:spPr>
          <a:xfrm>
            <a:off x="2985958" y="1834034"/>
            <a:ext cx="2135206" cy="32531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tabLst/>
              <a:defRPr/>
            </a:pPr>
            <a:r>
              <a:rPr kumimoji="1" lang="ko-KR" altLang="en-US" sz="1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예산 수립 및 실적 분석</a:t>
            </a:r>
            <a:endParaRPr kumimoji="1" lang="ko-KR" altLang="en-US" sz="1000" i="0" u="none" strike="noStrike" kern="1200" cap="none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9EBD2A05-28D1-4A16-F220-D79003AD136B}"/>
              </a:ext>
            </a:extLst>
          </p:cNvPr>
          <p:cNvSpPr/>
          <p:nvPr/>
        </p:nvSpPr>
        <p:spPr>
          <a:xfrm>
            <a:off x="5206133" y="1834034"/>
            <a:ext cx="2135206" cy="32531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tabLst/>
              <a:defRPr/>
            </a:pPr>
            <a:r>
              <a:rPr kumimoji="1" lang="en-US" altLang="ko-KR" sz="1000" i="0" u="none" strike="noStrike" kern="1200" cap="none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</a:rPr>
              <a:t>Utility </a:t>
            </a:r>
            <a:r>
              <a:rPr kumimoji="1" lang="ko-KR" altLang="en-US" sz="1000" i="0" u="none" strike="noStrike" kern="1200" cap="none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</a:rPr>
              <a:t>계통 운영 최적화</a:t>
            </a: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FFFB7174-53A1-83A8-2287-436DFC80D672}"/>
              </a:ext>
            </a:extLst>
          </p:cNvPr>
          <p:cNvSpPr/>
          <p:nvPr/>
        </p:nvSpPr>
        <p:spPr>
          <a:xfrm>
            <a:off x="7426307" y="1834034"/>
            <a:ext cx="2135206" cy="32531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tabLst/>
              <a:defRPr/>
            </a:pPr>
            <a:r>
              <a:rPr kumimoji="1" lang="ko-KR" altLang="en-US" sz="1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물류 시설 운영 최적화</a:t>
            </a:r>
            <a:endParaRPr kumimoji="1" lang="ko-KR" altLang="en-US" sz="1000" i="0" u="none" strike="noStrike" kern="1200" cap="none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68F0FCE0-1BEA-813C-DA9C-A5D88C7EB742}"/>
              </a:ext>
            </a:extLst>
          </p:cNvPr>
          <p:cNvSpPr/>
          <p:nvPr/>
        </p:nvSpPr>
        <p:spPr>
          <a:xfrm>
            <a:off x="2985958" y="2224384"/>
            <a:ext cx="2135206" cy="32531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tabLst/>
              <a:defRPr/>
            </a:pPr>
            <a:r>
              <a:rPr kumimoji="1" lang="ko-KR" altLang="en-US" sz="1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투자 사업 기획</a:t>
            </a: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A80CCD5D-C2E1-B912-D57E-504A92B35D24}"/>
              </a:ext>
            </a:extLst>
          </p:cNvPr>
          <p:cNvSpPr/>
          <p:nvPr/>
        </p:nvSpPr>
        <p:spPr>
          <a:xfrm>
            <a:off x="5206133" y="2224384"/>
            <a:ext cx="2135206" cy="32531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tabLst/>
              <a:defRPr/>
            </a:pPr>
            <a:r>
              <a:rPr kumimoji="1" lang="ko-KR" altLang="en-US" sz="1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투자 사업 관리</a:t>
            </a:r>
          </a:p>
        </p:txBody>
      </p:sp>
      <p:sp>
        <p:nvSpPr>
          <p:cNvPr id="967" name="사각형: 둥근 모서리 966">
            <a:extLst>
              <a:ext uri="{FF2B5EF4-FFF2-40B4-BE49-F238E27FC236}">
                <a16:creationId xmlns:a16="http://schemas.microsoft.com/office/drawing/2014/main" id="{49AF745F-2B1E-37C7-2CAE-C15ECEE132D6}"/>
              </a:ext>
            </a:extLst>
          </p:cNvPr>
          <p:cNvSpPr/>
          <p:nvPr/>
        </p:nvSpPr>
        <p:spPr>
          <a:xfrm>
            <a:off x="2985958" y="2614732"/>
            <a:ext cx="2135206" cy="32531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tabLst/>
              <a:defRPr/>
            </a:pPr>
            <a:r>
              <a:rPr kumimoji="1" lang="ko-KR" altLang="en-US" sz="1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공정 운전 지원</a:t>
            </a:r>
          </a:p>
        </p:txBody>
      </p:sp>
      <p:sp>
        <p:nvSpPr>
          <p:cNvPr id="968" name="사각형: 둥근 모서리 967">
            <a:extLst>
              <a:ext uri="{FF2B5EF4-FFF2-40B4-BE49-F238E27FC236}">
                <a16:creationId xmlns:a16="http://schemas.microsoft.com/office/drawing/2014/main" id="{BD6BF440-D15F-1D2F-AA21-58670E0E71CB}"/>
              </a:ext>
            </a:extLst>
          </p:cNvPr>
          <p:cNvSpPr/>
          <p:nvPr/>
        </p:nvSpPr>
        <p:spPr>
          <a:xfrm>
            <a:off x="5206133" y="2614732"/>
            <a:ext cx="2135206" cy="32531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tabLst/>
              <a:defRPr/>
            </a:pPr>
            <a:r>
              <a:rPr kumimoji="1" lang="ko-KR" altLang="en-US" sz="1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운전 이상 상황 원인 분석 및 대책 수립</a:t>
            </a:r>
          </a:p>
        </p:txBody>
      </p:sp>
      <p:sp>
        <p:nvSpPr>
          <p:cNvPr id="971" name="사각형: 둥근 모서리 970">
            <a:extLst>
              <a:ext uri="{FF2B5EF4-FFF2-40B4-BE49-F238E27FC236}">
                <a16:creationId xmlns:a16="http://schemas.microsoft.com/office/drawing/2014/main" id="{EFE01BA6-9D2D-8872-E97E-E92B97ADDD3F}"/>
              </a:ext>
            </a:extLst>
          </p:cNvPr>
          <p:cNvSpPr/>
          <p:nvPr/>
        </p:nvSpPr>
        <p:spPr>
          <a:xfrm>
            <a:off x="7426307" y="2614732"/>
            <a:ext cx="2135206" cy="32531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tabLst/>
              <a:defRPr/>
            </a:pPr>
            <a:r>
              <a:rPr kumimoji="1" lang="ko-KR" altLang="en-US" sz="1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설비 이상 원인 분석 및 대책 수립</a:t>
            </a:r>
          </a:p>
        </p:txBody>
      </p:sp>
      <p:sp>
        <p:nvSpPr>
          <p:cNvPr id="973" name="사각형: 둥근 모서리 972">
            <a:extLst>
              <a:ext uri="{FF2B5EF4-FFF2-40B4-BE49-F238E27FC236}">
                <a16:creationId xmlns:a16="http://schemas.microsoft.com/office/drawing/2014/main" id="{D437BB67-E18D-2AD0-8CE2-F6F429A10EF4}"/>
              </a:ext>
            </a:extLst>
          </p:cNvPr>
          <p:cNvSpPr/>
          <p:nvPr/>
        </p:nvSpPr>
        <p:spPr>
          <a:xfrm>
            <a:off x="2985958" y="3005082"/>
            <a:ext cx="2135206" cy="32531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tabLst/>
              <a:defRPr/>
            </a:pPr>
            <a:r>
              <a:rPr kumimoji="1" lang="ko-KR" altLang="en-US" sz="1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제품 품질 문제 해결 및 개선 방안 도출</a:t>
            </a:r>
          </a:p>
        </p:txBody>
      </p:sp>
      <p:sp>
        <p:nvSpPr>
          <p:cNvPr id="980" name="사각형: 둥근 모서리 979">
            <a:extLst>
              <a:ext uri="{FF2B5EF4-FFF2-40B4-BE49-F238E27FC236}">
                <a16:creationId xmlns:a16="http://schemas.microsoft.com/office/drawing/2014/main" id="{6557DD80-88A8-8A93-BEEF-EB49A970DE9F}"/>
              </a:ext>
            </a:extLst>
          </p:cNvPr>
          <p:cNvSpPr/>
          <p:nvPr/>
        </p:nvSpPr>
        <p:spPr>
          <a:xfrm>
            <a:off x="2985958" y="3395431"/>
            <a:ext cx="2135206" cy="32531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</a:pPr>
            <a:r>
              <a:rPr kumimoji="1" lang="ko-KR" altLang="en-US" sz="1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공정 운전 데이터 수집 및 분석</a:t>
            </a:r>
          </a:p>
        </p:txBody>
      </p:sp>
      <p:sp>
        <p:nvSpPr>
          <p:cNvPr id="981" name="사각형: 둥근 모서리 980">
            <a:extLst>
              <a:ext uri="{FF2B5EF4-FFF2-40B4-BE49-F238E27FC236}">
                <a16:creationId xmlns:a16="http://schemas.microsoft.com/office/drawing/2014/main" id="{B012CBCF-127F-FC94-5E33-2223320A31AC}"/>
              </a:ext>
            </a:extLst>
          </p:cNvPr>
          <p:cNvSpPr/>
          <p:nvPr/>
        </p:nvSpPr>
        <p:spPr>
          <a:xfrm>
            <a:off x="5206133" y="3395431"/>
            <a:ext cx="2135206" cy="32531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</a:pPr>
            <a:r>
              <a:rPr kumimoji="1" lang="ko-KR" altLang="en-US" sz="1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최적 운전 조건 설정 및 운전 전략 수립</a:t>
            </a:r>
          </a:p>
        </p:txBody>
      </p:sp>
      <p:sp>
        <p:nvSpPr>
          <p:cNvPr id="983" name="사각형: 둥근 모서리 982">
            <a:extLst>
              <a:ext uri="{FF2B5EF4-FFF2-40B4-BE49-F238E27FC236}">
                <a16:creationId xmlns:a16="http://schemas.microsoft.com/office/drawing/2014/main" id="{BFB5A69F-0C54-6F7A-58DD-AFABED20D5D0}"/>
              </a:ext>
            </a:extLst>
          </p:cNvPr>
          <p:cNvSpPr/>
          <p:nvPr/>
        </p:nvSpPr>
        <p:spPr>
          <a:xfrm>
            <a:off x="2985958" y="3785781"/>
            <a:ext cx="2135206" cy="32531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</a:pPr>
            <a:r>
              <a:rPr kumimoji="1" lang="ko-KR" altLang="en-US" sz="1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생산성 향상 기술 검토 및 도입</a:t>
            </a:r>
          </a:p>
        </p:txBody>
      </p:sp>
      <p:sp>
        <p:nvSpPr>
          <p:cNvPr id="986" name="사각형: 둥근 모서리 985">
            <a:extLst>
              <a:ext uri="{FF2B5EF4-FFF2-40B4-BE49-F238E27FC236}">
                <a16:creationId xmlns:a16="http://schemas.microsoft.com/office/drawing/2014/main" id="{BF09DF02-B72F-FF43-75CC-00E7C7D6D19A}"/>
              </a:ext>
            </a:extLst>
          </p:cNvPr>
          <p:cNvSpPr/>
          <p:nvPr/>
        </p:nvSpPr>
        <p:spPr>
          <a:xfrm>
            <a:off x="5206133" y="3785781"/>
            <a:ext cx="2135206" cy="32531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</a:pPr>
            <a:r>
              <a:rPr kumimoji="1" lang="ko-KR" altLang="en-US" sz="1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촉매 기술 평가</a:t>
            </a:r>
          </a:p>
        </p:txBody>
      </p:sp>
      <p:sp>
        <p:nvSpPr>
          <p:cNvPr id="988" name="사각형: 둥근 모서리 987">
            <a:extLst>
              <a:ext uri="{FF2B5EF4-FFF2-40B4-BE49-F238E27FC236}">
                <a16:creationId xmlns:a16="http://schemas.microsoft.com/office/drawing/2014/main" id="{DBDCC82B-8ADB-3DE9-DAA5-55F413A6487F}"/>
              </a:ext>
            </a:extLst>
          </p:cNvPr>
          <p:cNvSpPr/>
          <p:nvPr/>
        </p:nvSpPr>
        <p:spPr>
          <a:xfrm>
            <a:off x="2985958" y="4176129"/>
            <a:ext cx="2135206" cy="32531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</a:pPr>
            <a:r>
              <a:rPr kumimoji="1" lang="ko-KR" altLang="en-US" sz="1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전략 과제 발굴</a:t>
            </a:r>
          </a:p>
        </p:txBody>
      </p:sp>
      <p:sp>
        <p:nvSpPr>
          <p:cNvPr id="993" name="사각형: 둥근 모서리 992">
            <a:extLst>
              <a:ext uri="{FF2B5EF4-FFF2-40B4-BE49-F238E27FC236}">
                <a16:creationId xmlns:a16="http://schemas.microsoft.com/office/drawing/2014/main" id="{F852BE1C-9ACD-8887-8557-4D891E351F5F}"/>
              </a:ext>
            </a:extLst>
          </p:cNvPr>
          <p:cNvSpPr/>
          <p:nvPr/>
        </p:nvSpPr>
        <p:spPr>
          <a:xfrm>
            <a:off x="2985958" y="4566479"/>
            <a:ext cx="2135206" cy="32531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</a:pPr>
            <a:r>
              <a:rPr kumimoji="1" lang="en-US" altLang="ko-KR" sz="1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R-</a:t>
            </a:r>
            <a:r>
              <a:rPr kumimoji="1" lang="ko-KR" altLang="en-US" sz="1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연구회 운영</a:t>
            </a:r>
          </a:p>
        </p:txBody>
      </p:sp>
      <p:sp>
        <p:nvSpPr>
          <p:cNvPr id="996" name="사각형: 둥근 모서리 995">
            <a:extLst>
              <a:ext uri="{FF2B5EF4-FFF2-40B4-BE49-F238E27FC236}">
                <a16:creationId xmlns:a16="http://schemas.microsoft.com/office/drawing/2014/main" id="{56A1D6C0-C920-4632-CF20-C8A95FB27BF7}"/>
              </a:ext>
            </a:extLst>
          </p:cNvPr>
          <p:cNvSpPr/>
          <p:nvPr/>
        </p:nvSpPr>
        <p:spPr>
          <a:xfrm>
            <a:off x="2985958" y="4956829"/>
            <a:ext cx="2135206" cy="32531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</a:pPr>
            <a:r>
              <a:rPr kumimoji="1" lang="ko-KR" altLang="en-US" sz="1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공정 안전성 평가 및 위험 관리</a:t>
            </a:r>
          </a:p>
        </p:txBody>
      </p:sp>
      <p:sp>
        <p:nvSpPr>
          <p:cNvPr id="997" name="사각형: 둥근 모서리 996">
            <a:extLst>
              <a:ext uri="{FF2B5EF4-FFF2-40B4-BE49-F238E27FC236}">
                <a16:creationId xmlns:a16="http://schemas.microsoft.com/office/drawing/2014/main" id="{79385A3D-3DFB-D27F-AFA2-9152B9CAE9A2}"/>
              </a:ext>
            </a:extLst>
          </p:cNvPr>
          <p:cNvSpPr/>
          <p:nvPr/>
        </p:nvSpPr>
        <p:spPr>
          <a:xfrm>
            <a:off x="5206133" y="4956829"/>
            <a:ext cx="2135206" cy="32531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</a:pPr>
            <a:r>
              <a:rPr kumimoji="1" lang="ko-KR" altLang="en-US" sz="1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오염물 배출 관리 및 환경 규제 대응</a:t>
            </a:r>
          </a:p>
        </p:txBody>
      </p:sp>
      <p:sp>
        <p:nvSpPr>
          <p:cNvPr id="998" name="사각형: 둥근 모서리 997">
            <a:extLst>
              <a:ext uri="{FF2B5EF4-FFF2-40B4-BE49-F238E27FC236}">
                <a16:creationId xmlns:a16="http://schemas.microsoft.com/office/drawing/2014/main" id="{FA25D616-8690-5C2C-40B5-2EAB3575AFD9}"/>
              </a:ext>
            </a:extLst>
          </p:cNvPr>
          <p:cNvSpPr/>
          <p:nvPr/>
        </p:nvSpPr>
        <p:spPr>
          <a:xfrm>
            <a:off x="7426307" y="4956829"/>
            <a:ext cx="2135206" cy="32531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</a:pPr>
            <a:r>
              <a:rPr kumimoji="1" lang="ko-KR" altLang="en-US" sz="1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사고 조사 및 재발 방지 대책 수립</a:t>
            </a:r>
          </a:p>
        </p:txBody>
      </p:sp>
      <p:sp>
        <p:nvSpPr>
          <p:cNvPr id="999" name="사각형: 둥근 모서리 998">
            <a:extLst>
              <a:ext uri="{FF2B5EF4-FFF2-40B4-BE49-F238E27FC236}">
                <a16:creationId xmlns:a16="http://schemas.microsoft.com/office/drawing/2014/main" id="{7C9BD425-2D48-7625-E715-7B5D3BBFFA02}"/>
              </a:ext>
            </a:extLst>
          </p:cNvPr>
          <p:cNvSpPr/>
          <p:nvPr/>
        </p:nvSpPr>
        <p:spPr>
          <a:xfrm>
            <a:off x="2985958" y="5347178"/>
            <a:ext cx="2135206" cy="32531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</a:pPr>
            <a:r>
              <a:rPr kumimoji="1" lang="ko-KR" altLang="en-US" sz="1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안전 및 환경 인허가 업무 지원</a:t>
            </a:r>
          </a:p>
        </p:txBody>
      </p:sp>
      <p:sp>
        <p:nvSpPr>
          <p:cNvPr id="1001" name="사각형: 둥근 모서리 1000">
            <a:extLst>
              <a:ext uri="{FF2B5EF4-FFF2-40B4-BE49-F238E27FC236}">
                <a16:creationId xmlns:a16="http://schemas.microsoft.com/office/drawing/2014/main" id="{D04FA42F-088F-596E-B322-89D3F3CD6237}"/>
              </a:ext>
            </a:extLst>
          </p:cNvPr>
          <p:cNvSpPr/>
          <p:nvPr/>
        </p:nvSpPr>
        <p:spPr>
          <a:xfrm>
            <a:off x="2985958" y="5737527"/>
            <a:ext cx="2135206" cy="32531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</a:pPr>
            <a:r>
              <a:rPr kumimoji="1" lang="ko-KR" altLang="en-US" sz="1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공장 운영 정보 작성 및 제공</a:t>
            </a:r>
          </a:p>
        </p:txBody>
      </p:sp>
      <p:sp>
        <p:nvSpPr>
          <p:cNvPr id="1002" name="사각형: 둥근 모서리 1001">
            <a:extLst>
              <a:ext uri="{FF2B5EF4-FFF2-40B4-BE49-F238E27FC236}">
                <a16:creationId xmlns:a16="http://schemas.microsoft.com/office/drawing/2014/main" id="{04317E69-3412-AAF9-66B0-666D87467248}"/>
              </a:ext>
            </a:extLst>
          </p:cNvPr>
          <p:cNvSpPr/>
          <p:nvPr/>
        </p:nvSpPr>
        <p:spPr>
          <a:xfrm>
            <a:off x="5206133" y="5737527"/>
            <a:ext cx="2135206" cy="32531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</a:pPr>
            <a:r>
              <a:rPr kumimoji="1" lang="ko-KR" altLang="en-US" sz="1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공정 운전 정보 작성 및 제공</a:t>
            </a:r>
          </a:p>
        </p:txBody>
      </p:sp>
      <p:sp>
        <p:nvSpPr>
          <p:cNvPr id="1004" name="사각형: 둥근 모서리 1003">
            <a:extLst>
              <a:ext uri="{FF2B5EF4-FFF2-40B4-BE49-F238E27FC236}">
                <a16:creationId xmlns:a16="http://schemas.microsoft.com/office/drawing/2014/main" id="{39D46383-C7F3-A927-B2B8-896EF63C8F3E}"/>
              </a:ext>
            </a:extLst>
          </p:cNvPr>
          <p:cNvSpPr/>
          <p:nvPr/>
        </p:nvSpPr>
        <p:spPr>
          <a:xfrm>
            <a:off x="2985958" y="6127876"/>
            <a:ext cx="2135206" cy="32531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</a:pPr>
            <a:r>
              <a:rPr kumimoji="1" lang="ko-KR" altLang="en-US" sz="1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사내 기술 세미나 및 워크숍 운영</a:t>
            </a:r>
          </a:p>
        </p:txBody>
      </p:sp>
      <p:sp>
        <p:nvSpPr>
          <p:cNvPr id="1005" name="사각형: 둥근 모서리 1004">
            <a:extLst>
              <a:ext uri="{FF2B5EF4-FFF2-40B4-BE49-F238E27FC236}">
                <a16:creationId xmlns:a16="http://schemas.microsoft.com/office/drawing/2014/main" id="{0C79B01E-7B61-5B1D-4C2E-EA6BD4512D8E}"/>
              </a:ext>
            </a:extLst>
          </p:cNvPr>
          <p:cNvSpPr/>
          <p:nvPr/>
        </p:nvSpPr>
        <p:spPr>
          <a:xfrm>
            <a:off x="5206133" y="6127876"/>
            <a:ext cx="2135206" cy="32531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</a:pPr>
            <a:r>
              <a:rPr kumimoji="1" lang="ko-KR" altLang="en-US" sz="1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엔지니어 교육 및 멘토링</a:t>
            </a:r>
          </a:p>
        </p:txBody>
      </p:sp>
      <p:sp>
        <p:nvSpPr>
          <p:cNvPr id="1010" name="사각형: 둥근 모서리 1009">
            <a:extLst>
              <a:ext uri="{FF2B5EF4-FFF2-40B4-BE49-F238E27FC236}">
                <a16:creationId xmlns:a16="http://schemas.microsoft.com/office/drawing/2014/main" id="{649CDB5F-ED2D-F17D-A060-ED38A198A60D}"/>
              </a:ext>
            </a:extLst>
          </p:cNvPr>
          <p:cNvSpPr/>
          <p:nvPr/>
        </p:nvSpPr>
        <p:spPr>
          <a:xfrm>
            <a:off x="5206133" y="4176129"/>
            <a:ext cx="2135206" cy="32531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</a:pPr>
            <a:r>
              <a:rPr kumimoji="1" lang="ko-KR" altLang="en-US" sz="1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전략 과제 검토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8C61F25-F4AE-443D-5BC1-E113F91D7F9B}"/>
              </a:ext>
            </a:extLst>
          </p:cNvPr>
          <p:cNvSpPr/>
          <p:nvPr/>
        </p:nvSpPr>
        <p:spPr>
          <a:xfrm>
            <a:off x="7426301" y="3395431"/>
            <a:ext cx="2135206" cy="32531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</a:pPr>
            <a:r>
              <a:rPr kumimoji="1" lang="ko-KR" altLang="en-US" sz="1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공정 개선 과제 도출 및 적용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D49AB80-8F45-C4F6-254E-693F7641E9E4}"/>
              </a:ext>
            </a:extLst>
          </p:cNvPr>
          <p:cNvSpPr/>
          <p:nvPr/>
        </p:nvSpPr>
        <p:spPr>
          <a:xfrm>
            <a:off x="1588866" y="4176135"/>
            <a:ext cx="1314465" cy="715655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</a:pPr>
            <a:r>
              <a:rPr kumimoji="1" lang="ko-KR" altLang="en-US" sz="1000" kern="0"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전략 과제 기획 및 관리</a:t>
            </a:r>
            <a:endParaRPr kumimoji="1" lang="en-US" altLang="ko-KR" sz="1000" kern="0">
              <a:latin typeface="나눔스퀘어 Bold" panose="020B0600000101010101" pitchFamily="50" charset="-127"/>
              <a:ea typeface="나눔스퀘어 Bold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6F9944C2-E753-48D9-5A77-C37E7AB0A0C7}"/>
              </a:ext>
            </a:extLst>
          </p:cNvPr>
          <p:cNvSpPr/>
          <p:nvPr/>
        </p:nvSpPr>
        <p:spPr>
          <a:xfrm>
            <a:off x="7426301" y="4176129"/>
            <a:ext cx="2135206" cy="32531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</a:pPr>
            <a:r>
              <a:rPr kumimoji="1" lang="ko-KR" altLang="en-US" sz="1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외부 기술 도입 및 라이선스 선정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EECF5D5-0FEF-1484-8B80-3189B26C47D9}"/>
              </a:ext>
            </a:extLst>
          </p:cNvPr>
          <p:cNvSpPr/>
          <p:nvPr/>
        </p:nvSpPr>
        <p:spPr>
          <a:xfrm>
            <a:off x="723419" y="4956829"/>
            <a:ext cx="782820" cy="1495892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spcBef>
                <a:spcPct val="0"/>
              </a:spcBef>
              <a:buClrTx/>
              <a:buSzTx/>
              <a:buFontTx/>
              <a:buNone/>
              <a:tabLst/>
              <a:defRPr/>
            </a:pPr>
            <a:r>
              <a:rPr kumimoji="1" lang="ko-KR" altLang="en-US" sz="110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공장 운영</a:t>
            </a:r>
            <a:endParaRPr kumimoji="1" lang="en-US" altLang="ko-KR" sz="110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  <a:cs typeface="Arial" panose="020B0604020202020204" pitchFamily="34" charset="0"/>
            </a:endParaRPr>
          </a:p>
          <a:p>
            <a:pPr marL="0" marR="0" lvl="0" indent="0" algn="ctr" defTabSz="914400" eaLnBrk="1" fontAlgn="base" latinLnBrk="0" hangingPunct="1">
              <a:spcBef>
                <a:spcPct val="0"/>
              </a:spcBef>
              <a:buClrTx/>
              <a:buSzTx/>
              <a:buFontTx/>
              <a:buNone/>
              <a:tabLst/>
              <a:defRPr/>
            </a:pPr>
            <a:r>
              <a:rPr kumimoji="1" lang="ko-KR" altLang="en-US" sz="1100" ker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지원</a:t>
            </a:r>
            <a:endParaRPr kumimoji="1" lang="en-US" altLang="ko-KR" sz="110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E0363B3-97BD-6CC0-6E8D-A6D1F1B5D15B}"/>
              </a:ext>
            </a:extLst>
          </p:cNvPr>
          <p:cNvSpPr/>
          <p:nvPr/>
        </p:nvSpPr>
        <p:spPr>
          <a:xfrm>
            <a:off x="1588866" y="4956833"/>
            <a:ext cx="1314465" cy="715655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</a:pPr>
            <a:r>
              <a:rPr kumimoji="1" lang="ko-KR" altLang="en-US" sz="1000" kern="0"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안전</a:t>
            </a:r>
            <a:r>
              <a:rPr kumimoji="1" lang="en-US" altLang="ko-KR" sz="1000" kern="0"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/</a:t>
            </a:r>
            <a:r>
              <a:rPr kumimoji="1" lang="ko-KR" altLang="en-US" sz="1000" kern="0"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환경 관리</a:t>
            </a:r>
            <a:endParaRPr kumimoji="1" lang="en-US" altLang="ko-KR" sz="1000" kern="0">
              <a:latin typeface="나눔스퀘어 Bold" panose="020B0600000101010101" pitchFamily="50" charset="-127"/>
              <a:ea typeface="나눔스퀘어 Bold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7402CE3-65BA-99C0-8703-A492F2A3A384}"/>
              </a:ext>
            </a:extLst>
          </p:cNvPr>
          <p:cNvSpPr/>
          <p:nvPr/>
        </p:nvSpPr>
        <p:spPr>
          <a:xfrm>
            <a:off x="1588866" y="5737527"/>
            <a:ext cx="1314465" cy="32531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</a:pPr>
            <a:r>
              <a:rPr kumimoji="1" lang="ko-KR" altLang="en-US" sz="1000" kern="0"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공장 운영 및</a:t>
            </a:r>
            <a:endParaRPr kumimoji="1" lang="en-US" altLang="ko-KR" sz="1000" kern="0">
              <a:latin typeface="나눔스퀘어 Bold" panose="020B0600000101010101" pitchFamily="50" charset="-127"/>
              <a:ea typeface="나눔스퀘어 Bold" panose="020B0600000101010101" pitchFamily="50" charset="-127"/>
              <a:cs typeface="Arial" panose="020B0604020202020204" pitchFamily="34" charset="0"/>
            </a:endParaRPr>
          </a:p>
          <a:p>
            <a:pPr algn="ctr" defTabSz="914400" fontAlgn="base">
              <a:spcBef>
                <a:spcPct val="0"/>
              </a:spcBef>
            </a:pPr>
            <a:r>
              <a:rPr kumimoji="1" lang="ko-KR" altLang="en-US" sz="1000" kern="0"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운전</a:t>
            </a:r>
            <a:r>
              <a:rPr kumimoji="1" lang="en-US" altLang="ko-KR" sz="1000" kern="0"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1" lang="ko-KR" altLang="en-US" sz="1000" kern="0"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정보 제공</a:t>
            </a:r>
            <a:endParaRPr kumimoji="1" lang="en-US" altLang="ko-KR" sz="1000" kern="0">
              <a:latin typeface="나눔스퀘어 Bold" panose="020B0600000101010101" pitchFamily="50" charset="-127"/>
              <a:ea typeface="나눔스퀘어 Bold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1BCE4E0-3AEB-544C-3C71-7838499EC2DB}"/>
              </a:ext>
            </a:extLst>
          </p:cNvPr>
          <p:cNvSpPr/>
          <p:nvPr/>
        </p:nvSpPr>
        <p:spPr>
          <a:xfrm>
            <a:off x="1588866" y="6127410"/>
            <a:ext cx="1314465" cy="32531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</a:pPr>
            <a:r>
              <a:rPr kumimoji="1" lang="ko-KR" altLang="en-US" sz="1000" kern="0"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기술 교육 및 역량 향상</a:t>
            </a:r>
            <a:endParaRPr kumimoji="1" lang="en-US" altLang="ko-KR" sz="1000" kern="0">
              <a:latin typeface="나눔스퀘어 Bold" panose="020B0600000101010101" pitchFamily="50" charset="-127"/>
              <a:ea typeface="나눔스퀘어 Bold" panose="020B0600000101010101" pitchFamily="50" charset="-127"/>
              <a:cs typeface="Arial" panose="020B0604020202020204" pitchFamily="34" charset="0"/>
            </a:endParaRPr>
          </a:p>
        </p:txBody>
      </p:sp>
      <p:pic>
        <p:nvPicPr>
          <p:cNvPr id="12" name="그림 11">
            <a:hlinkClick r:id="rId3" action="ppaction://hlinksldjump"/>
            <a:extLst>
              <a:ext uri="{FF2B5EF4-FFF2-40B4-BE49-F238E27FC236}">
                <a16:creationId xmlns:a16="http://schemas.microsoft.com/office/drawing/2014/main" id="{C6F04F75-1683-0514-D403-D3C5E977F2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9358754" y="127134"/>
            <a:ext cx="405517" cy="343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4094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ED39F-0BA4-70AD-978E-78553E728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4FFAB5-BACB-3498-1D56-02FBFBEC4DF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4487" y="254884"/>
            <a:ext cx="4687502" cy="343235"/>
          </a:xfrm>
          <a:solidFill>
            <a:schemeClr val="bg1"/>
          </a:solidFill>
        </p:spPr>
        <p:txBody>
          <a:bodyPr wrap="none" anchor="ctr">
            <a:spAutoFit/>
          </a:bodyPr>
          <a:lstStyle/>
          <a:p>
            <a:r>
              <a:rPr lang="en-US" altLang="ko-KR" b="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Appendix. </a:t>
            </a:r>
            <a:r>
              <a:rPr lang="ko-KR" altLang="en-US" b="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생산기술 디지털화 진단 결과 </a:t>
            </a:r>
            <a:r>
              <a:rPr lang="en-US" altLang="ko-KR" b="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(1/2)</a:t>
            </a:r>
            <a:endParaRPr lang="ko-KR" altLang="en-US" b="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9" name="Rectangle 29">
            <a:extLst>
              <a:ext uri="{FF2B5EF4-FFF2-40B4-BE49-F238E27FC236}">
                <a16:creationId xmlns:a16="http://schemas.microsoft.com/office/drawing/2014/main" id="{FA3AC066-69C5-4463-4D7E-7E92E16A912D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4488" y="991837"/>
            <a:ext cx="1440000" cy="360000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strike="noStrike" kern="1200" cap="none" spc="-30" normalizeH="0" baseline="0" noProof="0">
                <a:ln>
                  <a:solidFill>
                    <a:srgbClr val="404040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n-cs"/>
              </a:rPr>
              <a:t>예산 수립 및 운영 최적화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4A8727C-AE42-193D-1FDE-8040F2D5995C}"/>
              </a:ext>
            </a:extLst>
          </p:cNvPr>
          <p:cNvSpPr/>
          <p:nvPr/>
        </p:nvSpPr>
        <p:spPr>
          <a:xfrm>
            <a:off x="344487" y="1423640"/>
            <a:ext cx="1440000" cy="28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square"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strike="noStrike" kern="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예산 수립 및 실적 분석</a:t>
            </a:r>
            <a:endParaRPr kumimoji="0" lang="en-US" altLang="ko-KR" sz="1000" i="0" u="none" strike="noStrike" kern="0" cap="none" spc="-3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</p:txBody>
      </p:sp>
      <p:sp>
        <p:nvSpPr>
          <p:cNvPr id="13" name="사각형: 둥근 모서리 136">
            <a:extLst>
              <a:ext uri="{FF2B5EF4-FFF2-40B4-BE49-F238E27FC236}">
                <a16:creationId xmlns:a16="http://schemas.microsoft.com/office/drawing/2014/main" id="{E0AE6CB5-05A6-CD23-F311-7474AE367B5D}"/>
              </a:ext>
            </a:extLst>
          </p:cNvPr>
          <p:cNvSpPr/>
          <p:nvPr/>
        </p:nvSpPr>
        <p:spPr>
          <a:xfrm>
            <a:off x="344487" y="1780161"/>
            <a:ext cx="1440000" cy="288000"/>
          </a:xfrm>
          <a:prstGeom prst="rect">
            <a:avLst/>
          </a:prstGeom>
          <a:solidFill>
            <a:srgbClr val="DAE9F8"/>
          </a:solidFill>
          <a:ln w="3175">
            <a:solidFill>
              <a:schemeClr val="bg1">
                <a:lumMod val="65000"/>
              </a:schemeClr>
            </a:solidFill>
            <a:prstDash val="solid"/>
          </a:ln>
          <a:effectLst/>
        </p:spPr>
        <p:txBody>
          <a:bodyPr wrap="square" lIns="0" tIns="36000" rIns="0" bIns="36000" rtlCol="0" anchor="ctr"/>
          <a:lstStyle/>
          <a:p>
            <a:pPr algn="ctr" defTabSz="914400"/>
            <a:r>
              <a:rPr lang="ko-KR" altLang="en-US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수율 예산 수립 및 실적 분석</a:t>
            </a:r>
            <a:endParaRPr lang="en-US" altLang="ko-KR" sz="900" kern="0" spc="-3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78" name="Rectangle 29">
            <a:extLst>
              <a:ext uri="{FF2B5EF4-FFF2-40B4-BE49-F238E27FC236}">
                <a16:creationId xmlns:a16="http://schemas.microsoft.com/office/drawing/2014/main" id="{5A974440-FF89-24BC-25C0-9C4B6D4EF561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55296" y="991837"/>
            <a:ext cx="2995404" cy="360000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strike="noStrike" kern="1200" cap="none" spc="-30" normalizeH="0" baseline="0" noProof="0">
                <a:ln>
                  <a:solidFill>
                    <a:srgbClr val="404040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n-cs"/>
              </a:rPr>
              <a:t>운전 지원 및 </a:t>
            </a:r>
            <a:r>
              <a:rPr kumimoji="0" lang="en-US" altLang="ko-KR" sz="1000" i="0" u="none" strike="noStrike" kern="1200" cap="none" spc="-30" normalizeH="0" baseline="0" noProof="0">
                <a:ln>
                  <a:solidFill>
                    <a:srgbClr val="404040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n-cs"/>
              </a:rPr>
              <a:t>Troubleshooting</a:t>
            </a:r>
            <a:endParaRPr kumimoji="0" lang="ko-KR" altLang="en-US" sz="1000" i="0" u="none" strike="noStrike" kern="1200" cap="none" spc="-30" normalizeH="0" baseline="0" noProof="0">
              <a:ln>
                <a:solidFill>
                  <a:srgbClr val="404040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나눔스퀘어 ExtraBold" panose="020B0600000101010101" pitchFamily="50" charset="-127"/>
              <a:ea typeface="나눔스퀘어 ExtraBold" panose="020B0600000101010101" pitchFamily="50" charset="-127"/>
              <a:cs typeface="+mn-cs"/>
            </a:endParaRPr>
          </a:p>
        </p:txBody>
      </p: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94ABF093-AD26-DA5F-D0DA-4E7472CBB75F}"/>
              </a:ext>
            </a:extLst>
          </p:cNvPr>
          <p:cNvSpPr/>
          <p:nvPr/>
        </p:nvSpPr>
        <p:spPr>
          <a:xfrm>
            <a:off x="6566104" y="1423640"/>
            <a:ext cx="1440000" cy="28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square"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strike="noStrike" kern="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공정 운전 데이터 수집 및 분석</a:t>
            </a:r>
            <a:endParaRPr kumimoji="0" lang="en-US" altLang="ko-KR" sz="1000" i="0" u="none" strike="noStrike" kern="0" cap="none" spc="-3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</p:txBody>
      </p:sp>
      <p:sp>
        <p:nvSpPr>
          <p:cNvPr id="38" name="사각형: 둥근 모서리 138">
            <a:extLst>
              <a:ext uri="{FF2B5EF4-FFF2-40B4-BE49-F238E27FC236}">
                <a16:creationId xmlns:a16="http://schemas.microsoft.com/office/drawing/2014/main" id="{AEB7BEDD-0109-3F02-B953-7DF99F265096}"/>
              </a:ext>
            </a:extLst>
          </p:cNvPr>
          <p:cNvSpPr/>
          <p:nvPr/>
        </p:nvSpPr>
        <p:spPr>
          <a:xfrm>
            <a:off x="344487" y="2136682"/>
            <a:ext cx="1440000" cy="288000"/>
          </a:xfrm>
          <a:prstGeom prst="rect">
            <a:avLst/>
          </a:prstGeom>
          <a:solidFill>
            <a:srgbClr val="DAE9F8"/>
          </a:solidFill>
          <a:ln w="3175">
            <a:solidFill>
              <a:schemeClr val="bg1">
                <a:lumMod val="65000"/>
              </a:schemeClr>
            </a:solidFill>
            <a:prstDash val="solid"/>
          </a:ln>
          <a:effectLst/>
        </p:spPr>
        <p:txBody>
          <a:bodyPr wrap="square" lIns="0" tIns="36000" rIns="0" bIns="36000" rtlCol="0" anchor="ctr"/>
          <a:lstStyle/>
          <a:p>
            <a:pPr algn="ctr" defTabSz="914400"/>
            <a:r>
              <a:rPr lang="ko-KR" altLang="en-US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동력비 예산 수립 및 실적 분석</a:t>
            </a:r>
            <a:endParaRPr lang="en-US" altLang="ko-KR" sz="900" kern="0" spc="-3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0" name="사각형: 둥근 모서리 138">
            <a:extLst>
              <a:ext uri="{FF2B5EF4-FFF2-40B4-BE49-F238E27FC236}">
                <a16:creationId xmlns:a16="http://schemas.microsoft.com/office/drawing/2014/main" id="{9665EAAC-4A3D-D237-ED1A-D97EC2535FB5}"/>
              </a:ext>
            </a:extLst>
          </p:cNvPr>
          <p:cNvSpPr/>
          <p:nvPr/>
        </p:nvSpPr>
        <p:spPr>
          <a:xfrm>
            <a:off x="344487" y="2493203"/>
            <a:ext cx="1440000" cy="288000"/>
          </a:xfrm>
          <a:prstGeom prst="rect">
            <a:avLst/>
          </a:prstGeom>
          <a:solidFill>
            <a:srgbClr val="DAE9F8"/>
          </a:solidFill>
          <a:ln w="3175">
            <a:solidFill>
              <a:schemeClr val="bg1">
                <a:lumMod val="65000"/>
              </a:schemeClr>
            </a:solidFill>
            <a:prstDash val="solid"/>
          </a:ln>
          <a:effectLst/>
        </p:spPr>
        <p:txBody>
          <a:bodyPr wrap="square" lIns="0" tIns="36000" rIns="0" bIns="36000" rtlCol="0" anchor="ctr"/>
          <a:lstStyle/>
          <a:p>
            <a:pPr algn="ctr" defTabSz="914400"/>
            <a:r>
              <a:rPr lang="ko-KR" altLang="en-US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부재료비 예산 수립 및 실적 분석</a:t>
            </a:r>
            <a:endParaRPr lang="en-US" altLang="ko-KR" sz="900" kern="0" spc="-3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2BF3C855-F808-969E-6114-127F2E186545}"/>
              </a:ext>
            </a:extLst>
          </p:cNvPr>
          <p:cNvSpPr/>
          <p:nvPr/>
        </p:nvSpPr>
        <p:spPr>
          <a:xfrm>
            <a:off x="344488" y="2849724"/>
            <a:ext cx="1440000" cy="28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square"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i="0" u="none" strike="noStrike" kern="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Utility </a:t>
            </a:r>
            <a:r>
              <a:rPr kumimoji="0" lang="ko-KR" altLang="en-US" sz="1000" i="0" u="none" strike="noStrike" kern="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계통 운영 최적화</a:t>
            </a:r>
            <a:endParaRPr kumimoji="0" lang="en-US" altLang="ko-KR" sz="1000" i="0" u="none" strike="noStrike" kern="0" cap="none" spc="-3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</p:txBody>
      </p:sp>
      <p:sp>
        <p:nvSpPr>
          <p:cNvPr id="43" name="사각형: 둥근 모서리 138">
            <a:extLst>
              <a:ext uri="{FF2B5EF4-FFF2-40B4-BE49-F238E27FC236}">
                <a16:creationId xmlns:a16="http://schemas.microsoft.com/office/drawing/2014/main" id="{EB2D13B3-7B97-3506-6252-1C2F8B32DB02}"/>
              </a:ext>
            </a:extLst>
          </p:cNvPr>
          <p:cNvSpPr/>
          <p:nvPr/>
        </p:nvSpPr>
        <p:spPr>
          <a:xfrm>
            <a:off x="344488" y="3206245"/>
            <a:ext cx="1440000" cy="288000"/>
          </a:xfrm>
          <a:prstGeom prst="rect">
            <a:avLst/>
          </a:prstGeom>
          <a:solidFill>
            <a:srgbClr val="DAE9F8"/>
          </a:solidFill>
          <a:ln w="3175">
            <a:solidFill>
              <a:schemeClr val="bg1">
                <a:lumMod val="65000"/>
              </a:schemeClr>
            </a:solidFill>
            <a:prstDash val="solid"/>
          </a:ln>
          <a:effectLst/>
        </p:spPr>
        <p:txBody>
          <a:bodyPr wrap="square" lIns="0" tIns="36000" rIns="0" bIns="36000" rtlCol="0" anchor="ctr"/>
          <a:lstStyle/>
          <a:p>
            <a:pPr algn="ctr" defTabSz="914400"/>
            <a:r>
              <a:rPr lang="ko-KR" altLang="en-US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스팀</a:t>
            </a:r>
            <a:r>
              <a:rPr lang="en-US" altLang="ko-KR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전기 등 </a:t>
            </a:r>
            <a:r>
              <a:rPr lang="en-US" altLang="ko-KR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Utility </a:t>
            </a:r>
            <a:r>
              <a:rPr lang="ko-KR" altLang="en-US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사용량 </a:t>
            </a:r>
            <a:br>
              <a:rPr lang="en-US" altLang="ko-KR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lang="ko-KR" altLang="en-US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모니터링 및 분석</a:t>
            </a:r>
            <a:endParaRPr lang="en-US" altLang="ko-KR" sz="900" kern="0" spc="-3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4" name="사각형: 둥근 모서리 138">
            <a:extLst>
              <a:ext uri="{FF2B5EF4-FFF2-40B4-BE49-F238E27FC236}">
                <a16:creationId xmlns:a16="http://schemas.microsoft.com/office/drawing/2014/main" id="{2075B402-BDA4-12FD-3FE5-D2328169B93B}"/>
              </a:ext>
            </a:extLst>
          </p:cNvPr>
          <p:cNvSpPr/>
          <p:nvPr/>
        </p:nvSpPr>
        <p:spPr>
          <a:xfrm>
            <a:off x="344488" y="3562766"/>
            <a:ext cx="1440000" cy="288000"/>
          </a:xfrm>
          <a:prstGeom prst="rect">
            <a:avLst/>
          </a:prstGeom>
          <a:solidFill>
            <a:srgbClr val="DAE9F8"/>
          </a:solidFill>
          <a:ln w="3175">
            <a:solidFill>
              <a:schemeClr val="bg1">
                <a:lumMod val="65000"/>
              </a:schemeClr>
            </a:solidFill>
            <a:prstDash val="solid"/>
          </a:ln>
          <a:effectLst/>
        </p:spPr>
        <p:txBody>
          <a:bodyPr wrap="square" lIns="0" tIns="36000" rIns="0" bIns="36000" rtlCol="0" anchor="ctr"/>
          <a:lstStyle/>
          <a:p>
            <a:pPr algn="ctr" defTabSz="914400"/>
            <a:r>
              <a:rPr lang="ko-KR" altLang="en-US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사내외 </a:t>
            </a:r>
            <a:r>
              <a:rPr lang="en-US" altLang="ko-KR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Utility </a:t>
            </a:r>
            <a:r>
              <a:rPr lang="ko-KR" altLang="en-US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수급 변화 대응</a:t>
            </a:r>
            <a:endParaRPr lang="en-US" altLang="ko-KR" sz="900" kern="0" spc="-3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5" name="사각형: 둥근 모서리 138">
            <a:extLst>
              <a:ext uri="{FF2B5EF4-FFF2-40B4-BE49-F238E27FC236}">
                <a16:creationId xmlns:a16="http://schemas.microsoft.com/office/drawing/2014/main" id="{2A214308-8430-DD2D-6997-513E905D8EA4}"/>
              </a:ext>
            </a:extLst>
          </p:cNvPr>
          <p:cNvSpPr/>
          <p:nvPr/>
        </p:nvSpPr>
        <p:spPr>
          <a:xfrm>
            <a:off x="344488" y="3919287"/>
            <a:ext cx="1440000" cy="288000"/>
          </a:xfrm>
          <a:prstGeom prst="rect">
            <a:avLst/>
          </a:prstGeom>
          <a:solidFill>
            <a:srgbClr val="DAE9F8"/>
          </a:solidFill>
          <a:ln w="3175">
            <a:solidFill>
              <a:schemeClr val="bg1">
                <a:lumMod val="65000"/>
              </a:schemeClr>
            </a:solidFill>
            <a:prstDash val="solid"/>
          </a:ln>
          <a:effectLst/>
        </p:spPr>
        <p:txBody>
          <a:bodyPr wrap="square" lIns="0" tIns="36000" rIns="0" bIns="36000" rtlCol="0" anchor="ctr"/>
          <a:lstStyle/>
          <a:p>
            <a:pPr algn="ctr" defTabSz="914400"/>
            <a:r>
              <a:rPr lang="ko-KR" altLang="en-US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계통별 효율 진단 및 개선점 도출</a:t>
            </a:r>
            <a:endParaRPr lang="en-US" altLang="ko-KR" sz="900" kern="0" spc="-3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C0D70BC8-17D7-D50C-C157-E316A01467D9}"/>
              </a:ext>
            </a:extLst>
          </p:cNvPr>
          <p:cNvSpPr/>
          <p:nvPr/>
        </p:nvSpPr>
        <p:spPr>
          <a:xfrm>
            <a:off x="344488" y="4275808"/>
            <a:ext cx="1440000" cy="28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square"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strike="noStrike" kern="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물류 시설 운영 최적화</a:t>
            </a:r>
            <a:endParaRPr kumimoji="0" lang="en-US" altLang="ko-KR" sz="1000" i="0" u="none" strike="noStrike" kern="0" cap="none" spc="-3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</p:txBody>
      </p:sp>
      <p:sp>
        <p:nvSpPr>
          <p:cNvPr id="49" name="사각형: 둥근 모서리 138">
            <a:extLst>
              <a:ext uri="{FF2B5EF4-FFF2-40B4-BE49-F238E27FC236}">
                <a16:creationId xmlns:a16="http://schemas.microsoft.com/office/drawing/2014/main" id="{68436679-C4B0-EB7C-DEE1-8CA0F60C41B3}"/>
              </a:ext>
            </a:extLst>
          </p:cNvPr>
          <p:cNvSpPr/>
          <p:nvPr/>
        </p:nvSpPr>
        <p:spPr>
          <a:xfrm>
            <a:off x="344488" y="4632329"/>
            <a:ext cx="1440000" cy="288000"/>
          </a:xfrm>
          <a:prstGeom prst="rect">
            <a:avLst/>
          </a:prstGeom>
          <a:solidFill>
            <a:srgbClr val="DAE9F8"/>
          </a:solidFill>
          <a:ln w="3175">
            <a:solidFill>
              <a:schemeClr val="bg1">
                <a:lumMod val="65000"/>
              </a:schemeClr>
            </a:solidFill>
            <a:prstDash val="solid"/>
          </a:ln>
          <a:effectLst/>
        </p:spPr>
        <p:txBody>
          <a:bodyPr wrap="square" lIns="0" tIns="36000" rIns="0" bIns="36000" rtlCol="0" anchor="ctr"/>
          <a:lstStyle/>
          <a:p>
            <a:pPr algn="ctr" defTabSz="914400"/>
            <a:r>
              <a:rPr lang="ko-KR" altLang="en-US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물류 시설 운영 현황 모니터링</a:t>
            </a:r>
            <a:endParaRPr lang="en-US" altLang="ko-KR" sz="900" kern="0" spc="-3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0" name="사각형: 둥근 모서리 138">
            <a:extLst>
              <a:ext uri="{FF2B5EF4-FFF2-40B4-BE49-F238E27FC236}">
                <a16:creationId xmlns:a16="http://schemas.microsoft.com/office/drawing/2014/main" id="{D273F188-BD5F-6C04-687F-22420F02C57D}"/>
              </a:ext>
            </a:extLst>
          </p:cNvPr>
          <p:cNvSpPr/>
          <p:nvPr/>
        </p:nvSpPr>
        <p:spPr>
          <a:xfrm>
            <a:off x="344488" y="4988850"/>
            <a:ext cx="1440000" cy="288000"/>
          </a:xfrm>
          <a:prstGeom prst="rect">
            <a:avLst/>
          </a:prstGeom>
          <a:solidFill>
            <a:srgbClr val="DAE9F8"/>
          </a:solidFill>
          <a:ln w="3175">
            <a:solidFill>
              <a:schemeClr val="bg1">
                <a:lumMod val="65000"/>
              </a:schemeClr>
            </a:solidFill>
            <a:prstDash val="solid"/>
          </a:ln>
          <a:effectLst/>
        </p:spPr>
        <p:txBody>
          <a:bodyPr wrap="square" lIns="0" tIns="36000" rIns="0" bIns="36000" rtlCol="0" anchor="ctr"/>
          <a:lstStyle/>
          <a:p>
            <a:pPr algn="ctr" defTabSz="914400"/>
            <a:r>
              <a:rPr lang="ko-KR" altLang="en-US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물류 운영 효율화 전략 수립</a:t>
            </a:r>
            <a:endParaRPr lang="en-US" altLang="ko-KR" sz="900" kern="0" spc="-3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92303F6-480F-E528-988A-E1033C515BF5}"/>
              </a:ext>
            </a:extLst>
          </p:cNvPr>
          <p:cNvSpPr/>
          <p:nvPr/>
        </p:nvSpPr>
        <p:spPr>
          <a:xfrm>
            <a:off x="1899891" y="1423640"/>
            <a:ext cx="1440000" cy="28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square"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strike="noStrike" kern="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투자 사업 기획</a:t>
            </a:r>
            <a:endParaRPr kumimoji="0" lang="en-US" altLang="ko-KR" sz="1000" i="0" u="none" strike="noStrike" kern="0" cap="none" spc="-3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</p:txBody>
      </p:sp>
      <p:sp>
        <p:nvSpPr>
          <p:cNvPr id="28" name="사각형: 둥근 모서리 136">
            <a:extLst>
              <a:ext uri="{FF2B5EF4-FFF2-40B4-BE49-F238E27FC236}">
                <a16:creationId xmlns:a16="http://schemas.microsoft.com/office/drawing/2014/main" id="{102C3B0C-80C0-5786-6223-F906E0A6DFCF}"/>
              </a:ext>
            </a:extLst>
          </p:cNvPr>
          <p:cNvSpPr/>
          <p:nvPr/>
        </p:nvSpPr>
        <p:spPr>
          <a:xfrm>
            <a:off x="1899891" y="1780161"/>
            <a:ext cx="1440000" cy="288000"/>
          </a:xfrm>
          <a:prstGeom prst="rect">
            <a:avLst/>
          </a:prstGeom>
          <a:solidFill>
            <a:srgbClr val="A6C9EC"/>
          </a:solidFill>
          <a:ln w="3175">
            <a:solidFill>
              <a:schemeClr val="bg1">
                <a:lumMod val="65000"/>
              </a:schemeClr>
            </a:solidFill>
            <a:prstDash val="solid"/>
          </a:ln>
          <a:effectLst/>
        </p:spPr>
        <p:txBody>
          <a:bodyPr wrap="square" lIns="0" tIns="36000" rIns="0" bIns="36000" rtlCol="0" anchor="ctr"/>
          <a:lstStyle/>
          <a:p>
            <a:pPr algn="ctr" defTabSz="914400"/>
            <a:r>
              <a:rPr lang="ko-KR" altLang="en-US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투자 사업 타당성 검토</a:t>
            </a:r>
            <a:endParaRPr lang="en-US" altLang="ko-KR" sz="900" kern="0" spc="-3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1" name="Rectangle 29">
            <a:extLst>
              <a:ext uri="{FF2B5EF4-FFF2-40B4-BE49-F238E27FC236}">
                <a16:creationId xmlns:a16="http://schemas.microsoft.com/office/drawing/2014/main" id="{52F135B1-9175-C867-5A66-2656082B8D17}"/>
              </a:ext>
            </a:extLst>
          </p:cNvPr>
          <p:cNvSpPr>
            <a:spLocks noChangeArrowheads="1"/>
          </p:cNvSpPr>
          <p:nvPr/>
        </p:nvSpPr>
        <p:spPr bwMode="gray">
          <a:xfrm>
            <a:off x="1899892" y="991837"/>
            <a:ext cx="1440000" cy="360000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strike="noStrike" kern="1200" cap="none" spc="-30" normalizeH="0" baseline="0" noProof="0">
                <a:ln>
                  <a:solidFill>
                    <a:srgbClr val="404040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n-cs"/>
              </a:rPr>
              <a:t>투자 사업 기획 및 관리</a:t>
            </a:r>
          </a:p>
        </p:txBody>
      </p:sp>
      <p:sp>
        <p:nvSpPr>
          <p:cNvPr id="52" name="사각형: 둥근 모서리 138">
            <a:extLst>
              <a:ext uri="{FF2B5EF4-FFF2-40B4-BE49-F238E27FC236}">
                <a16:creationId xmlns:a16="http://schemas.microsoft.com/office/drawing/2014/main" id="{97AC7BBE-EACB-FE0E-B378-A2A65848F47A}"/>
              </a:ext>
            </a:extLst>
          </p:cNvPr>
          <p:cNvSpPr/>
          <p:nvPr/>
        </p:nvSpPr>
        <p:spPr>
          <a:xfrm>
            <a:off x="1899891" y="2136682"/>
            <a:ext cx="1440000" cy="288000"/>
          </a:xfrm>
          <a:prstGeom prst="rect">
            <a:avLst/>
          </a:prstGeom>
          <a:solidFill>
            <a:srgbClr val="A6C9EC"/>
          </a:solidFill>
          <a:ln w="3175">
            <a:solidFill>
              <a:schemeClr val="bg1">
                <a:lumMod val="65000"/>
              </a:schemeClr>
            </a:solidFill>
            <a:prstDash val="solid"/>
          </a:ln>
          <a:effectLst/>
        </p:spPr>
        <p:txBody>
          <a:bodyPr wrap="square" lIns="0" tIns="36000" rIns="0" bIns="36000" rtlCol="0" anchor="ctr"/>
          <a:lstStyle/>
          <a:p>
            <a:pPr algn="ctr" defTabSz="914400"/>
            <a:r>
              <a:rPr lang="ko-KR" altLang="en-US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투자 사업 제안 및 승인</a:t>
            </a:r>
            <a:endParaRPr lang="en-US" altLang="ko-KR" sz="900" kern="0" spc="-3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89C38A3C-91DA-40A0-751E-D31EF5F3E450}"/>
              </a:ext>
            </a:extLst>
          </p:cNvPr>
          <p:cNvSpPr/>
          <p:nvPr/>
        </p:nvSpPr>
        <p:spPr>
          <a:xfrm>
            <a:off x="1899891" y="2493203"/>
            <a:ext cx="1440000" cy="28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square"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strike="noStrike" kern="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투자 사업 관리</a:t>
            </a:r>
            <a:endParaRPr kumimoji="0" lang="en-US" altLang="ko-KR" sz="1000" i="0" u="none" strike="noStrike" kern="0" cap="none" spc="-3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</p:txBody>
      </p:sp>
      <p:sp>
        <p:nvSpPr>
          <p:cNvPr id="54" name="사각형: 둥근 모서리 136">
            <a:extLst>
              <a:ext uri="{FF2B5EF4-FFF2-40B4-BE49-F238E27FC236}">
                <a16:creationId xmlns:a16="http://schemas.microsoft.com/office/drawing/2014/main" id="{1226D10A-F6CF-73BC-73D8-3062205DC78D}"/>
              </a:ext>
            </a:extLst>
          </p:cNvPr>
          <p:cNvSpPr/>
          <p:nvPr/>
        </p:nvSpPr>
        <p:spPr>
          <a:xfrm>
            <a:off x="1899891" y="2849724"/>
            <a:ext cx="1440000" cy="288000"/>
          </a:xfrm>
          <a:prstGeom prst="rect">
            <a:avLst/>
          </a:prstGeom>
          <a:solidFill>
            <a:srgbClr val="A6C9EC"/>
          </a:solidFill>
          <a:ln w="3175">
            <a:solidFill>
              <a:schemeClr val="bg1">
                <a:lumMod val="65000"/>
              </a:schemeClr>
            </a:solidFill>
            <a:prstDash val="solid"/>
          </a:ln>
          <a:effectLst/>
        </p:spPr>
        <p:txBody>
          <a:bodyPr wrap="square" lIns="0" tIns="36000" rIns="0" bIns="36000" rtlCol="0" anchor="ctr"/>
          <a:lstStyle/>
          <a:p>
            <a:pPr algn="ctr" defTabSz="914400"/>
            <a:r>
              <a:rPr lang="ko-KR" altLang="en-US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투자 사업 수행</a:t>
            </a:r>
            <a:endParaRPr lang="en-US" altLang="ko-KR" sz="900" kern="0" spc="-3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5" name="사각형: 둥근 모서리 138">
            <a:extLst>
              <a:ext uri="{FF2B5EF4-FFF2-40B4-BE49-F238E27FC236}">
                <a16:creationId xmlns:a16="http://schemas.microsoft.com/office/drawing/2014/main" id="{BAA7B599-9B9E-3E23-F86D-C2BF0C61640F}"/>
              </a:ext>
            </a:extLst>
          </p:cNvPr>
          <p:cNvSpPr/>
          <p:nvPr/>
        </p:nvSpPr>
        <p:spPr>
          <a:xfrm>
            <a:off x="1899891" y="3206245"/>
            <a:ext cx="1440000" cy="288000"/>
          </a:xfrm>
          <a:prstGeom prst="rect">
            <a:avLst/>
          </a:prstGeom>
          <a:solidFill>
            <a:srgbClr val="A6C9EC"/>
          </a:solidFill>
          <a:ln w="3175">
            <a:solidFill>
              <a:schemeClr val="bg1">
                <a:lumMod val="65000"/>
              </a:schemeClr>
            </a:solidFill>
            <a:prstDash val="solid"/>
          </a:ln>
          <a:effectLst/>
        </p:spPr>
        <p:txBody>
          <a:bodyPr wrap="square" lIns="0" tIns="36000" rIns="0" bIns="36000" rtlCol="0" anchor="ctr"/>
          <a:lstStyle/>
          <a:p>
            <a:pPr algn="ctr" defTabSz="914400"/>
            <a:r>
              <a:rPr lang="ko-KR" altLang="en-US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투자 사업 완료 검증 및 운영 전환</a:t>
            </a:r>
            <a:endParaRPr lang="en-US" altLang="ko-KR" sz="900" kern="0" spc="-3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45517236-B2E8-66CC-583E-224EF3C43FB8}"/>
              </a:ext>
            </a:extLst>
          </p:cNvPr>
          <p:cNvSpPr/>
          <p:nvPr/>
        </p:nvSpPr>
        <p:spPr>
          <a:xfrm>
            <a:off x="3455296" y="1423640"/>
            <a:ext cx="1440000" cy="28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square"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strike="noStrike" kern="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공정</a:t>
            </a:r>
            <a:r>
              <a:rPr kumimoji="0" lang="en-US" altLang="ko-KR" sz="1000" i="0" u="none" strike="noStrike" kern="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 </a:t>
            </a:r>
            <a:r>
              <a:rPr kumimoji="0" lang="ko-KR" altLang="en-US" sz="1000" i="0" u="none" strike="noStrike" kern="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운전 지원</a:t>
            </a:r>
            <a:endParaRPr kumimoji="0" lang="en-US" altLang="ko-KR" sz="1000" i="0" u="none" strike="noStrike" kern="0" cap="none" spc="-3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</p:txBody>
      </p:sp>
      <p:sp>
        <p:nvSpPr>
          <p:cNvPr id="80" name="사각형: 둥근 모서리 136">
            <a:extLst>
              <a:ext uri="{FF2B5EF4-FFF2-40B4-BE49-F238E27FC236}">
                <a16:creationId xmlns:a16="http://schemas.microsoft.com/office/drawing/2014/main" id="{E6E0ED1F-BCFB-0A26-67E2-065651151BFA}"/>
              </a:ext>
            </a:extLst>
          </p:cNvPr>
          <p:cNvSpPr/>
          <p:nvPr/>
        </p:nvSpPr>
        <p:spPr>
          <a:xfrm>
            <a:off x="3455296" y="1780161"/>
            <a:ext cx="1440000" cy="288000"/>
          </a:xfrm>
          <a:prstGeom prst="rect">
            <a:avLst/>
          </a:prstGeom>
          <a:solidFill>
            <a:srgbClr val="DAE9F8"/>
          </a:solidFill>
          <a:ln w="3175">
            <a:solidFill>
              <a:schemeClr val="bg1">
                <a:lumMod val="65000"/>
              </a:schemeClr>
            </a:solidFill>
            <a:prstDash val="solid"/>
          </a:ln>
          <a:effectLst/>
        </p:spPr>
        <p:txBody>
          <a:bodyPr wrap="square" lIns="0" tIns="36000" rIns="0" bIns="36000" rtlCol="0" anchor="ctr"/>
          <a:lstStyle/>
          <a:p>
            <a:pPr algn="ctr" defTabSz="914400"/>
            <a:r>
              <a:rPr lang="ko-KR" altLang="en-US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원료 변경에 따른 운전 조정 검토</a:t>
            </a:r>
            <a:endParaRPr lang="en-US" altLang="ko-KR" sz="900" kern="0" spc="-3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6" name="사각형: 둥근 모서리 138">
            <a:extLst>
              <a:ext uri="{FF2B5EF4-FFF2-40B4-BE49-F238E27FC236}">
                <a16:creationId xmlns:a16="http://schemas.microsoft.com/office/drawing/2014/main" id="{0D477C1F-9D0E-B444-EF6F-45501602DB6E}"/>
              </a:ext>
            </a:extLst>
          </p:cNvPr>
          <p:cNvSpPr/>
          <p:nvPr/>
        </p:nvSpPr>
        <p:spPr>
          <a:xfrm>
            <a:off x="3455296" y="2136682"/>
            <a:ext cx="1440000" cy="288000"/>
          </a:xfrm>
          <a:prstGeom prst="rect">
            <a:avLst/>
          </a:prstGeom>
          <a:solidFill>
            <a:srgbClr val="DAE9F8"/>
          </a:solidFill>
          <a:ln w="3175">
            <a:solidFill>
              <a:schemeClr val="bg1">
                <a:lumMod val="65000"/>
              </a:schemeClr>
            </a:solidFill>
            <a:prstDash val="solid"/>
          </a:ln>
          <a:effectLst/>
        </p:spPr>
        <p:txBody>
          <a:bodyPr wrap="square" lIns="0" tIns="36000" rIns="0" bIns="36000" rtlCol="0" anchor="ctr"/>
          <a:lstStyle/>
          <a:p>
            <a:pPr algn="ctr" defTabSz="914400"/>
            <a:r>
              <a:rPr lang="ko-KR" altLang="en-US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제품 마진 확대를 위한 운전 조정 검토</a:t>
            </a:r>
            <a:endParaRPr lang="en-US" altLang="ko-KR" sz="900" kern="0" spc="-3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7" name="사각형: 둥근 모서리 138">
            <a:extLst>
              <a:ext uri="{FF2B5EF4-FFF2-40B4-BE49-F238E27FC236}">
                <a16:creationId xmlns:a16="http://schemas.microsoft.com/office/drawing/2014/main" id="{D92F30F3-28EE-C63D-5168-0819E72E0B53}"/>
              </a:ext>
            </a:extLst>
          </p:cNvPr>
          <p:cNvSpPr/>
          <p:nvPr/>
        </p:nvSpPr>
        <p:spPr>
          <a:xfrm>
            <a:off x="3455296" y="2493203"/>
            <a:ext cx="1440000" cy="288000"/>
          </a:xfrm>
          <a:prstGeom prst="rect">
            <a:avLst/>
          </a:prstGeom>
          <a:solidFill>
            <a:srgbClr val="DAE9F8"/>
          </a:solidFill>
          <a:ln w="3175">
            <a:solidFill>
              <a:schemeClr val="bg1">
                <a:lumMod val="65000"/>
              </a:schemeClr>
            </a:solidFill>
            <a:prstDash val="solid"/>
          </a:ln>
          <a:effectLst/>
        </p:spPr>
        <p:txBody>
          <a:bodyPr wrap="square" lIns="0" tIns="36000" rIns="0" bIns="36000" rtlCol="0" anchor="ctr"/>
          <a:lstStyle/>
          <a:p>
            <a:pPr algn="ctr" defTabSz="914400"/>
            <a:r>
              <a:rPr lang="ko-KR" altLang="en-US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공정 조건</a:t>
            </a:r>
            <a:r>
              <a:rPr lang="en-US" altLang="ko-KR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촉매 활성 등</a:t>
            </a:r>
            <a:r>
              <a:rPr lang="en-US" altLang="ko-KR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r>
              <a:rPr lang="ko-KR" altLang="en-US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에 따른 운전 조정 검토</a:t>
            </a:r>
            <a:endParaRPr lang="en-US" altLang="ko-KR" sz="900" kern="0" spc="-3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8" name="사각형: 둥근 모서리 136">
            <a:extLst>
              <a:ext uri="{FF2B5EF4-FFF2-40B4-BE49-F238E27FC236}">
                <a16:creationId xmlns:a16="http://schemas.microsoft.com/office/drawing/2014/main" id="{F43DE710-78B7-7F08-BF3F-8C5586A91389}"/>
              </a:ext>
            </a:extLst>
          </p:cNvPr>
          <p:cNvSpPr/>
          <p:nvPr/>
        </p:nvSpPr>
        <p:spPr>
          <a:xfrm>
            <a:off x="3455296" y="2849724"/>
            <a:ext cx="1440000" cy="288000"/>
          </a:xfrm>
          <a:prstGeom prst="rect">
            <a:avLst/>
          </a:prstGeom>
          <a:solidFill>
            <a:srgbClr val="DAE9F8"/>
          </a:solidFill>
          <a:ln w="3175">
            <a:solidFill>
              <a:schemeClr val="bg1">
                <a:lumMod val="65000"/>
              </a:schemeClr>
            </a:solidFill>
            <a:prstDash val="solid"/>
          </a:ln>
          <a:effectLst/>
        </p:spPr>
        <p:txBody>
          <a:bodyPr wrap="square" lIns="0" tIns="36000" rIns="0" bIns="36000" rtlCol="0" anchor="ctr"/>
          <a:lstStyle/>
          <a:p>
            <a:pPr algn="ctr" defTabSz="914400"/>
            <a:r>
              <a:rPr lang="ko-KR" altLang="en-US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정기보수 지원</a:t>
            </a:r>
            <a:endParaRPr lang="en-US" altLang="ko-KR" sz="900" kern="0" spc="-3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9" name="사각형: 둥근 모서리 138">
            <a:extLst>
              <a:ext uri="{FF2B5EF4-FFF2-40B4-BE49-F238E27FC236}">
                <a16:creationId xmlns:a16="http://schemas.microsoft.com/office/drawing/2014/main" id="{A2BCF497-6CE7-3B7B-98B6-C2129790A71F}"/>
              </a:ext>
            </a:extLst>
          </p:cNvPr>
          <p:cNvSpPr/>
          <p:nvPr/>
        </p:nvSpPr>
        <p:spPr>
          <a:xfrm>
            <a:off x="3455296" y="3206245"/>
            <a:ext cx="1440000" cy="28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square"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strike="noStrike" kern="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운전 이상 상황 원인 분석 및 </a:t>
            </a:r>
            <a:br>
              <a:rPr kumimoji="0" lang="en-US" altLang="ko-KR" sz="1000" i="0" u="none" strike="noStrike" kern="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</a:br>
            <a:r>
              <a:rPr kumimoji="0" lang="ko-KR" altLang="en-US" sz="1000" i="0" u="none" strike="noStrike" kern="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대책 수립</a:t>
            </a:r>
            <a:endParaRPr kumimoji="0" lang="en-US" altLang="ko-KR" sz="1000" i="0" u="none" strike="noStrike" kern="0" cap="none" spc="-3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</p:txBody>
      </p:sp>
      <p:sp>
        <p:nvSpPr>
          <p:cNvPr id="60" name="사각형: 둥근 모서리 138">
            <a:extLst>
              <a:ext uri="{FF2B5EF4-FFF2-40B4-BE49-F238E27FC236}">
                <a16:creationId xmlns:a16="http://schemas.microsoft.com/office/drawing/2014/main" id="{67610EFA-34EC-383B-DE3F-9CC8E6387FC7}"/>
              </a:ext>
            </a:extLst>
          </p:cNvPr>
          <p:cNvSpPr/>
          <p:nvPr/>
        </p:nvSpPr>
        <p:spPr>
          <a:xfrm>
            <a:off x="3455296" y="3562766"/>
            <a:ext cx="1440000" cy="288000"/>
          </a:xfrm>
          <a:prstGeom prst="rect">
            <a:avLst/>
          </a:prstGeom>
          <a:solidFill>
            <a:srgbClr val="DAE9F8"/>
          </a:solidFill>
          <a:ln w="3175">
            <a:solidFill>
              <a:schemeClr val="bg1">
                <a:lumMod val="65000"/>
              </a:schemeClr>
            </a:solidFill>
            <a:prstDash val="solid"/>
          </a:ln>
          <a:effectLst/>
        </p:spPr>
        <p:txBody>
          <a:bodyPr wrap="square" lIns="0" tIns="36000" rIns="0" bIns="36000" rtlCol="0" anchor="ctr"/>
          <a:lstStyle/>
          <a:p>
            <a:pPr algn="ctr" defTabSz="914400"/>
            <a:r>
              <a:rPr lang="ko-KR" altLang="en-US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이상 상황 데이터 수집</a:t>
            </a:r>
            <a:endParaRPr lang="en-US" altLang="ko-KR" sz="900" kern="0" spc="-3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1" name="사각형: 둥근 모서리 138">
            <a:extLst>
              <a:ext uri="{FF2B5EF4-FFF2-40B4-BE49-F238E27FC236}">
                <a16:creationId xmlns:a16="http://schemas.microsoft.com/office/drawing/2014/main" id="{5057220E-F172-AE5E-CFB4-4AEEB52F0B02}"/>
              </a:ext>
            </a:extLst>
          </p:cNvPr>
          <p:cNvSpPr/>
          <p:nvPr/>
        </p:nvSpPr>
        <p:spPr>
          <a:xfrm>
            <a:off x="3455296" y="3919287"/>
            <a:ext cx="1440000" cy="288000"/>
          </a:xfrm>
          <a:prstGeom prst="rect">
            <a:avLst/>
          </a:prstGeom>
          <a:solidFill>
            <a:srgbClr val="DAE9F8"/>
          </a:solidFill>
          <a:ln w="3175">
            <a:solidFill>
              <a:schemeClr val="bg1">
                <a:lumMod val="65000"/>
              </a:schemeClr>
            </a:solidFill>
            <a:prstDash val="solid"/>
          </a:ln>
          <a:effectLst/>
        </p:spPr>
        <p:txBody>
          <a:bodyPr wrap="square" lIns="0" tIns="36000" rIns="0" bIns="36000" rtlCol="0" anchor="ctr"/>
          <a:lstStyle/>
          <a:p>
            <a:pPr algn="ctr" defTabSz="914400"/>
            <a:r>
              <a:rPr lang="ko-KR" altLang="en-US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운전 변수 이탈 원인 분석</a:t>
            </a:r>
            <a:endParaRPr lang="en-US" altLang="ko-KR" sz="900" kern="0" spc="-3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2" name="사각형: 둥근 모서리 138">
            <a:extLst>
              <a:ext uri="{FF2B5EF4-FFF2-40B4-BE49-F238E27FC236}">
                <a16:creationId xmlns:a16="http://schemas.microsoft.com/office/drawing/2014/main" id="{E915EFBB-3824-C8F3-EA9D-F824D90FC48D}"/>
              </a:ext>
            </a:extLst>
          </p:cNvPr>
          <p:cNvSpPr/>
          <p:nvPr/>
        </p:nvSpPr>
        <p:spPr>
          <a:xfrm>
            <a:off x="3455296" y="4275808"/>
            <a:ext cx="1440000" cy="288000"/>
          </a:xfrm>
          <a:prstGeom prst="rect">
            <a:avLst/>
          </a:prstGeom>
          <a:solidFill>
            <a:srgbClr val="DAE9F8"/>
          </a:solidFill>
          <a:ln w="3175">
            <a:solidFill>
              <a:schemeClr val="bg1">
                <a:lumMod val="65000"/>
              </a:schemeClr>
            </a:solidFill>
            <a:prstDash val="solid"/>
          </a:ln>
          <a:effectLst/>
        </p:spPr>
        <p:txBody>
          <a:bodyPr wrap="square" lIns="0" tIns="36000" rIns="0" bIns="36000" rtlCol="0" anchor="ctr"/>
          <a:lstStyle/>
          <a:p>
            <a:pPr algn="ctr" defTabSz="914400"/>
            <a:r>
              <a:rPr lang="ko-KR" altLang="en-US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과거 운전</a:t>
            </a:r>
            <a:r>
              <a:rPr lang="en-US" altLang="ko-KR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유사 공정 사례 조사</a:t>
            </a:r>
            <a:endParaRPr lang="en-US" altLang="ko-KR" sz="900" kern="0" spc="-3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3" name="사각형: 둥근 모서리 138">
            <a:extLst>
              <a:ext uri="{FF2B5EF4-FFF2-40B4-BE49-F238E27FC236}">
                <a16:creationId xmlns:a16="http://schemas.microsoft.com/office/drawing/2014/main" id="{DD812A99-7EDF-57EB-FF8C-1D1B3502B3FD}"/>
              </a:ext>
            </a:extLst>
          </p:cNvPr>
          <p:cNvSpPr/>
          <p:nvPr/>
        </p:nvSpPr>
        <p:spPr>
          <a:xfrm>
            <a:off x="3455296" y="4632329"/>
            <a:ext cx="1440000" cy="288000"/>
          </a:xfrm>
          <a:prstGeom prst="rect">
            <a:avLst/>
          </a:prstGeom>
          <a:solidFill>
            <a:srgbClr val="DAE9F8"/>
          </a:solidFill>
          <a:ln w="3175">
            <a:solidFill>
              <a:schemeClr val="bg1">
                <a:lumMod val="65000"/>
              </a:schemeClr>
            </a:solidFill>
            <a:prstDash val="solid"/>
          </a:ln>
          <a:effectLst/>
        </p:spPr>
        <p:txBody>
          <a:bodyPr wrap="square" lIns="0" tIns="36000" rIns="0" bIns="36000" rtlCol="0" anchor="ctr"/>
          <a:lstStyle/>
          <a:p>
            <a:pPr algn="ctr" defTabSz="914400"/>
            <a:r>
              <a:rPr lang="ko-KR" altLang="en-US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재발 방지 대책 및 실행 계획 수립</a:t>
            </a:r>
            <a:endParaRPr lang="en-US" altLang="ko-KR" sz="900" kern="0" spc="-3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6BC3E600-1BF3-254E-4F89-53AF9B95C42C}"/>
              </a:ext>
            </a:extLst>
          </p:cNvPr>
          <p:cNvSpPr/>
          <p:nvPr/>
        </p:nvSpPr>
        <p:spPr>
          <a:xfrm>
            <a:off x="5010700" y="1423640"/>
            <a:ext cx="1440000" cy="28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square"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strike="noStrike" kern="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설비 고장</a:t>
            </a:r>
            <a:r>
              <a:rPr kumimoji="0" lang="en-US" altLang="ko-KR" sz="1000" i="0" u="none" strike="noStrike" kern="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, </a:t>
            </a:r>
            <a:r>
              <a:rPr kumimoji="0" lang="ko-KR" altLang="en-US" sz="1000" i="0" u="none" strike="noStrike" kern="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성능 저하 원인 분석 및 대책 수립</a:t>
            </a:r>
            <a:endParaRPr kumimoji="0" lang="en-US" altLang="ko-KR" sz="1000" i="0" u="none" strike="noStrike" kern="0" cap="none" spc="-3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</p:txBody>
      </p:sp>
      <p:sp>
        <p:nvSpPr>
          <p:cNvPr id="96" name="사각형: 둥근 모서리 136">
            <a:extLst>
              <a:ext uri="{FF2B5EF4-FFF2-40B4-BE49-F238E27FC236}">
                <a16:creationId xmlns:a16="http://schemas.microsoft.com/office/drawing/2014/main" id="{C216B948-2AC9-D6EB-9D73-A2F6C808DC95}"/>
              </a:ext>
            </a:extLst>
          </p:cNvPr>
          <p:cNvSpPr/>
          <p:nvPr/>
        </p:nvSpPr>
        <p:spPr>
          <a:xfrm>
            <a:off x="5010700" y="1780161"/>
            <a:ext cx="1440000" cy="288000"/>
          </a:xfrm>
          <a:prstGeom prst="rect">
            <a:avLst/>
          </a:prstGeom>
          <a:solidFill>
            <a:srgbClr val="DAE9F8"/>
          </a:solidFill>
          <a:ln w="3175">
            <a:solidFill>
              <a:schemeClr val="bg1">
                <a:lumMod val="65000"/>
              </a:schemeClr>
            </a:solidFill>
            <a:prstDash val="solid"/>
          </a:ln>
          <a:effectLst/>
        </p:spPr>
        <p:txBody>
          <a:bodyPr wrap="square" lIns="0" tIns="36000" rIns="0" bIns="36000" rtlCol="0" anchor="ctr"/>
          <a:lstStyle/>
          <a:p>
            <a:pPr algn="ctr" defTabSz="914400"/>
            <a:r>
              <a:rPr lang="ko-KR" altLang="en-US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설비 고장 패턴 파악 및 이력 분석</a:t>
            </a:r>
            <a:endParaRPr lang="en-US" altLang="ko-KR" sz="900" kern="0" spc="-3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4" name="사각형: 둥근 모서리 138">
            <a:extLst>
              <a:ext uri="{FF2B5EF4-FFF2-40B4-BE49-F238E27FC236}">
                <a16:creationId xmlns:a16="http://schemas.microsoft.com/office/drawing/2014/main" id="{4B8535A7-243D-52FC-F180-3FF19C52115E}"/>
              </a:ext>
            </a:extLst>
          </p:cNvPr>
          <p:cNvSpPr/>
          <p:nvPr/>
        </p:nvSpPr>
        <p:spPr>
          <a:xfrm>
            <a:off x="5010700" y="2136682"/>
            <a:ext cx="1440000" cy="288000"/>
          </a:xfrm>
          <a:prstGeom prst="rect">
            <a:avLst/>
          </a:prstGeom>
          <a:solidFill>
            <a:srgbClr val="DAE9F8"/>
          </a:solidFill>
          <a:ln w="3175">
            <a:solidFill>
              <a:schemeClr val="bg1">
                <a:lumMod val="65000"/>
              </a:schemeClr>
            </a:solidFill>
            <a:prstDash val="solid"/>
          </a:ln>
          <a:effectLst/>
        </p:spPr>
        <p:txBody>
          <a:bodyPr wrap="square" lIns="0" tIns="36000" rIns="0" bIns="36000" rtlCol="0" anchor="ctr"/>
          <a:lstStyle/>
          <a:p>
            <a:pPr algn="ctr" defTabSz="914400"/>
            <a:r>
              <a:rPr lang="ko-KR" altLang="en-US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설비 성능 테스트 계획 수립</a:t>
            </a:r>
            <a:endParaRPr lang="en-US" altLang="ko-KR" sz="900" kern="0" spc="-3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5" name="사각형: 둥근 모서리 138">
            <a:extLst>
              <a:ext uri="{FF2B5EF4-FFF2-40B4-BE49-F238E27FC236}">
                <a16:creationId xmlns:a16="http://schemas.microsoft.com/office/drawing/2014/main" id="{7FF0F693-B79C-1003-18AD-BAB22418567C}"/>
              </a:ext>
            </a:extLst>
          </p:cNvPr>
          <p:cNvSpPr/>
          <p:nvPr/>
        </p:nvSpPr>
        <p:spPr>
          <a:xfrm>
            <a:off x="5010700" y="2493203"/>
            <a:ext cx="1440000" cy="288000"/>
          </a:xfrm>
          <a:prstGeom prst="rect">
            <a:avLst/>
          </a:prstGeom>
          <a:solidFill>
            <a:srgbClr val="DAE9F8"/>
          </a:solidFill>
          <a:ln w="3175">
            <a:solidFill>
              <a:schemeClr val="bg1">
                <a:lumMod val="65000"/>
              </a:schemeClr>
            </a:solidFill>
            <a:prstDash val="solid"/>
          </a:ln>
          <a:effectLst/>
        </p:spPr>
        <p:txBody>
          <a:bodyPr wrap="square" lIns="0" tIns="36000" rIns="0" bIns="36000" rtlCol="0" anchor="ctr"/>
          <a:lstStyle/>
          <a:p>
            <a:pPr algn="ctr" defTabSz="914400"/>
            <a:r>
              <a:rPr lang="ko-KR" altLang="en-US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유관부서</a:t>
            </a:r>
            <a:r>
              <a:rPr lang="en-US" altLang="ko-KR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제작사 협업 및 개선 방안 도출</a:t>
            </a:r>
            <a:endParaRPr lang="en-US" altLang="ko-KR" sz="900" kern="0" spc="-3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6" name="사각형: 둥근 모서리 136">
            <a:extLst>
              <a:ext uri="{FF2B5EF4-FFF2-40B4-BE49-F238E27FC236}">
                <a16:creationId xmlns:a16="http://schemas.microsoft.com/office/drawing/2014/main" id="{27D74B85-ECB9-DAE0-3AD3-CADF5B9CB3D3}"/>
              </a:ext>
            </a:extLst>
          </p:cNvPr>
          <p:cNvSpPr/>
          <p:nvPr/>
        </p:nvSpPr>
        <p:spPr>
          <a:xfrm>
            <a:off x="5010700" y="2849724"/>
            <a:ext cx="1440000" cy="288000"/>
          </a:xfrm>
          <a:prstGeom prst="rect">
            <a:avLst/>
          </a:prstGeom>
          <a:solidFill>
            <a:srgbClr val="DAE9F8"/>
          </a:solidFill>
          <a:ln w="3175">
            <a:solidFill>
              <a:schemeClr val="bg1">
                <a:lumMod val="65000"/>
              </a:schemeClr>
            </a:solidFill>
            <a:prstDash val="solid"/>
          </a:ln>
          <a:effectLst/>
        </p:spPr>
        <p:txBody>
          <a:bodyPr wrap="square" lIns="0" tIns="36000" rIns="0" bIns="36000" rtlCol="0" anchor="ctr"/>
          <a:lstStyle/>
          <a:p>
            <a:pPr algn="ctr" defTabSz="914400"/>
            <a:r>
              <a:rPr lang="ko-KR" altLang="en-US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운전 가이드 라인 재설정</a:t>
            </a:r>
            <a:endParaRPr lang="en-US" altLang="ko-KR" sz="900" kern="0" spc="-3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7" name="사각형: 둥근 모서리 138">
            <a:extLst>
              <a:ext uri="{FF2B5EF4-FFF2-40B4-BE49-F238E27FC236}">
                <a16:creationId xmlns:a16="http://schemas.microsoft.com/office/drawing/2014/main" id="{D92F5FC2-FAC5-ED25-3DE7-911D59C7BDDB}"/>
              </a:ext>
            </a:extLst>
          </p:cNvPr>
          <p:cNvSpPr/>
          <p:nvPr/>
        </p:nvSpPr>
        <p:spPr>
          <a:xfrm>
            <a:off x="5010700" y="3206245"/>
            <a:ext cx="1440000" cy="28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square"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strike="noStrike" kern="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제품 품질 문제 해결 및 개선 방안 도출</a:t>
            </a:r>
            <a:endParaRPr kumimoji="0" lang="en-US" altLang="ko-KR" sz="1000" i="0" u="none" strike="noStrike" kern="0" cap="none" spc="-3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</p:txBody>
      </p:sp>
      <p:sp>
        <p:nvSpPr>
          <p:cNvPr id="68" name="사각형: 둥근 모서리 138">
            <a:extLst>
              <a:ext uri="{FF2B5EF4-FFF2-40B4-BE49-F238E27FC236}">
                <a16:creationId xmlns:a16="http://schemas.microsoft.com/office/drawing/2014/main" id="{5F13BF9C-A8B5-ADC5-3B8B-BF0F2F86F57E}"/>
              </a:ext>
            </a:extLst>
          </p:cNvPr>
          <p:cNvSpPr/>
          <p:nvPr/>
        </p:nvSpPr>
        <p:spPr>
          <a:xfrm>
            <a:off x="5010700" y="3562766"/>
            <a:ext cx="1440000" cy="288000"/>
          </a:xfrm>
          <a:prstGeom prst="rect">
            <a:avLst/>
          </a:prstGeom>
          <a:solidFill>
            <a:srgbClr val="DAE9F8"/>
          </a:solidFill>
          <a:ln w="3175">
            <a:solidFill>
              <a:schemeClr val="bg1">
                <a:lumMod val="65000"/>
              </a:schemeClr>
            </a:solidFill>
            <a:prstDash val="solid"/>
          </a:ln>
          <a:effectLst/>
        </p:spPr>
        <p:txBody>
          <a:bodyPr wrap="square" lIns="0" tIns="36000" rIns="0" bIns="36000" rtlCol="0" anchor="ctr"/>
          <a:lstStyle/>
          <a:p>
            <a:pPr algn="ctr" defTabSz="914400"/>
            <a:r>
              <a:rPr lang="ko-KR" altLang="en-US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품질 이슈 데이터 수집 및 통계 분석</a:t>
            </a:r>
            <a:endParaRPr lang="en-US" altLang="ko-KR" sz="900" kern="0" spc="-3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9" name="사각형: 둥근 모서리 138">
            <a:extLst>
              <a:ext uri="{FF2B5EF4-FFF2-40B4-BE49-F238E27FC236}">
                <a16:creationId xmlns:a16="http://schemas.microsoft.com/office/drawing/2014/main" id="{D85354CE-175D-D3AF-7EE0-C740205A73F7}"/>
              </a:ext>
            </a:extLst>
          </p:cNvPr>
          <p:cNvSpPr/>
          <p:nvPr/>
        </p:nvSpPr>
        <p:spPr>
          <a:xfrm>
            <a:off x="5010700" y="3919287"/>
            <a:ext cx="1440000" cy="288000"/>
          </a:xfrm>
          <a:prstGeom prst="rect">
            <a:avLst/>
          </a:prstGeom>
          <a:solidFill>
            <a:srgbClr val="DAE9F8"/>
          </a:solidFill>
          <a:ln w="3175">
            <a:solidFill>
              <a:schemeClr val="bg1">
                <a:lumMod val="65000"/>
              </a:schemeClr>
            </a:solidFill>
            <a:prstDash val="solid"/>
          </a:ln>
          <a:effectLst/>
        </p:spPr>
        <p:txBody>
          <a:bodyPr wrap="square" lIns="0" tIns="36000" rIns="0" bIns="36000" rtlCol="0" anchor="ctr"/>
          <a:lstStyle/>
          <a:p>
            <a:pPr algn="ctr" defTabSz="914400"/>
            <a:r>
              <a:rPr lang="ko-KR" altLang="en-US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공정 조건과 제품 품질 간 상관관계 분석</a:t>
            </a:r>
            <a:endParaRPr lang="en-US" altLang="ko-KR" sz="900" kern="0" spc="-3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70" name="사각형: 둥근 모서리 138">
            <a:extLst>
              <a:ext uri="{FF2B5EF4-FFF2-40B4-BE49-F238E27FC236}">
                <a16:creationId xmlns:a16="http://schemas.microsoft.com/office/drawing/2014/main" id="{728EDE6C-3F05-2525-9695-C1E371E88043}"/>
              </a:ext>
            </a:extLst>
          </p:cNvPr>
          <p:cNvSpPr/>
          <p:nvPr/>
        </p:nvSpPr>
        <p:spPr>
          <a:xfrm>
            <a:off x="5010700" y="4275808"/>
            <a:ext cx="1440000" cy="288000"/>
          </a:xfrm>
          <a:prstGeom prst="rect">
            <a:avLst/>
          </a:prstGeom>
          <a:solidFill>
            <a:srgbClr val="DAE9F8"/>
          </a:solidFill>
          <a:ln w="3175">
            <a:solidFill>
              <a:schemeClr val="bg1">
                <a:lumMod val="65000"/>
              </a:schemeClr>
            </a:solidFill>
            <a:prstDash val="solid"/>
          </a:ln>
          <a:effectLst/>
        </p:spPr>
        <p:txBody>
          <a:bodyPr wrap="square" lIns="0" tIns="36000" rIns="0" bIns="36000" rtlCol="0" anchor="ctr"/>
          <a:lstStyle/>
          <a:p>
            <a:pPr algn="ctr" defTabSz="914400"/>
            <a:r>
              <a:rPr lang="ko-KR" altLang="en-US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품질 개선을 위한 공정 개선점 도출</a:t>
            </a:r>
            <a:endParaRPr lang="en-US" altLang="ko-KR" sz="900" kern="0" spc="-3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71" name="사각형: 둥근 모서리 138">
            <a:extLst>
              <a:ext uri="{FF2B5EF4-FFF2-40B4-BE49-F238E27FC236}">
                <a16:creationId xmlns:a16="http://schemas.microsoft.com/office/drawing/2014/main" id="{9E89249C-EF32-762E-54F7-94CF3EDD9F32}"/>
              </a:ext>
            </a:extLst>
          </p:cNvPr>
          <p:cNvSpPr/>
          <p:nvPr/>
        </p:nvSpPr>
        <p:spPr>
          <a:xfrm>
            <a:off x="4989512" y="4632329"/>
            <a:ext cx="1461187" cy="288000"/>
          </a:xfrm>
          <a:prstGeom prst="rect">
            <a:avLst/>
          </a:prstGeom>
          <a:solidFill>
            <a:srgbClr val="DAE9F8"/>
          </a:solidFill>
          <a:ln w="3175">
            <a:solidFill>
              <a:schemeClr val="bg1">
                <a:lumMod val="65000"/>
              </a:schemeClr>
            </a:solidFill>
            <a:prstDash val="solid"/>
          </a:ln>
          <a:effectLst/>
        </p:spPr>
        <p:txBody>
          <a:bodyPr wrap="square" lIns="0" tIns="36000" rIns="0" bIns="36000" rtlCol="0" anchor="ctr"/>
          <a:lstStyle/>
          <a:p>
            <a:pPr algn="ctr" defTabSz="914400"/>
            <a:r>
              <a:rPr lang="ko-KR" altLang="en-US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품질 이슈 문서화 및 이력 관리</a:t>
            </a:r>
            <a:endParaRPr lang="en-US" altLang="ko-KR" sz="900" kern="0" spc="-3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E30DB4AE-9319-3B73-99B7-985BA03490AA}"/>
              </a:ext>
            </a:extLst>
          </p:cNvPr>
          <p:cNvSpPr/>
          <p:nvPr/>
        </p:nvSpPr>
        <p:spPr>
          <a:xfrm>
            <a:off x="8121507" y="1423640"/>
            <a:ext cx="1440000" cy="28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square"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strike="noStrike" kern="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생산성</a:t>
            </a:r>
            <a:r>
              <a:rPr kumimoji="0" lang="en-US" altLang="ko-KR" sz="1000" i="0" u="none" strike="noStrike" kern="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 </a:t>
            </a:r>
            <a:r>
              <a:rPr kumimoji="0" lang="ko-KR" altLang="en-US" sz="1000" i="0" u="none" strike="noStrike" kern="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향상</a:t>
            </a:r>
            <a:r>
              <a:rPr kumimoji="0" lang="en-US" altLang="ko-KR" sz="1000" i="0" u="none" strike="noStrike" kern="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 </a:t>
            </a:r>
            <a:r>
              <a:rPr kumimoji="0" lang="ko-KR" altLang="en-US" sz="1000" i="0" u="none" strike="noStrike" kern="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기술</a:t>
            </a:r>
            <a:r>
              <a:rPr kumimoji="0" lang="en-US" altLang="ko-KR" sz="1000" i="0" u="none" strike="noStrike" kern="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 </a:t>
            </a:r>
            <a:r>
              <a:rPr kumimoji="0" lang="ko-KR" altLang="en-US" sz="1000" i="0" u="none" strike="noStrike" kern="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검토</a:t>
            </a:r>
            <a:r>
              <a:rPr kumimoji="0" lang="en-US" altLang="ko-KR" sz="1000" i="0" u="none" strike="noStrike" kern="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 </a:t>
            </a:r>
            <a:r>
              <a:rPr kumimoji="0" lang="ko-KR" altLang="en-US" sz="1000" i="0" u="none" strike="noStrike" kern="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및 도입</a:t>
            </a:r>
            <a:endParaRPr kumimoji="0" lang="en-US" altLang="ko-KR" sz="1000" i="0" u="none" strike="noStrike" kern="0" cap="none" spc="-3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</p:txBody>
      </p:sp>
      <p:sp>
        <p:nvSpPr>
          <p:cNvPr id="88" name="사각형: 둥근 모서리 136">
            <a:extLst>
              <a:ext uri="{FF2B5EF4-FFF2-40B4-BE49-F238E27FC236}">
                <a16:creationId xmlns:a16="http://schemas.microsoft.com/office/drawing/2014/main" id="{1100F000-C185-DCA4-1B1A-91FA97FFC2C7}"/>
              </a:ext>
            </a:extLst>
          </p:cNvPr>
          <p:cNvSpPr/>
          <p:nvPr/>
        </p:nvSpPr>
        <p:spPr>
          <a:xfrm>
            <a:off x="8121507" y="1780161"/>
            <a:ext cx="1440000" cy="288000"/>
          </a:xfrm>
          <a:prstGeom prst="rect">
            <a:avLst/>
          </a:prstGeom>
          <a:solidFill>
            <a:srgbClr val="DAE9F8"/>
          </a:solidFill>
          <a:ln w="3175">
            <a:solidFill>
              <a:schemeClr val="bg1">
                <a:lumMod val="65000"/>
              </a:schemeClr>
            </a:solidFill>
            <a:prstDash val="solid"/>
          </a:ln>
          <a:effectLst/>
        </p:spPr>
        <p:txBody>
          <a:bodyPr wrap="square" lIns="0" tIns="36000" rIns="0" bIns="36000" rtlCol="0" anchor="ctr"/>
          <a:lstStyle/>
          <a:p>
            <a:pPr algn="ctr" defTabSz="914400"/>
            <a:r>
              <a:rPr lang="ko-KR" altLang="en-US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도입 가능 기술 정보 수집 및 분석</a:t>
            </a:r>
            <a:endParaRPr lang="en-US" altLang="ko-KR" sz="900" kern="0" spc="-3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89" name="Rectangle 29">
            <a:extLst>
              <a:ext uri="{FF2B5EF4-FFF2-40B4-BE49-F238E27FC236}">
                <a16:creationId xmlns:a16="http://schemas.microsoft.com/office/drawing/2014/main" id="{E696FDAA-962A-7CCA-FC7D-3968BAFCF45E}"/>
              </a:ext>
            </a:extLst>
          </p:cNvPr>
          <p:cNvSpPr>
            <a:spLocks noChangeArrowheads="1"/>
          </p:cNvSpPr>
          <p:nvPr/>
        </p:nvSpPr>
        <p:spPr bwMode="gray">
          <a:xfrm>
            <a:off x="6566104" y="991837"/>
            <a:ext cx="2995404" cy="360000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strike="noStrike" kern="1200" cap="none" spc="-30" normalizeH="0" baseline="0" noProof="0">
                <a:ln>
                  <a:solidFill>
                    <a:srgbClr val="404040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n-cs"/>
              </a:rPr>
              <a:t>공정 최적화 및 개선</a:t>
            </a:r>
          </a:p>
        </p:txBody>
      </p:sp>
      <p:sp>
        <p:nvSpPr>
          <p:cNvPr id="113" name="사각형: 둥근 모서리 136">
            <a:extLst>
              <a:ext uri="{FF2B5EF4-FFF2-40B4-BE49-F238E27FC236}">
                <a16:creationId xmlns:a16="http://schemas.microsoft.com/office/drawing/2014/main" id="{3CB44051-97EF-89A7-50B1-5FFC71B283BD}"/>
              </a:ext>
            </a:extLst>
          </p:cNvPr>
          <p:cNvSpPr/>
          <p:nvPr/>
        </p:nvSpPr>
        <p:spPr>
          <a:xfrm>
            <a:off x="6566104" y="2136682"/>
            <a:ext cx="1440000" cy="288000"/>
          </a:xfrm>
          <a:prstGeom prst="rect">
            <a:avLst/>
          </a:prstGeom>
          <a:solidFill>
            <a:srgbClr val="DAE9F8"/>
          </a:solidFill>
          <a:ln w="3175">
            <a:solidFill>
              <a:schemeClr val="bg1">
                <a:lumMod val="65000"/>
              </a:schemeClr>
            </a:solidFill>
            <a:prstDash val="solid"/>
          </a:ln>
          <a:effectLst/>
        </p:spPr>
        <p:txBody>
          <a:bodyPr wrap="square" lIns="0" tIns="36000" rIns="0" bIns="36000" rtlCol="0" anchor="ctr"/>
          <a:lstStyle/>
          <a:p>
            <a:pPr algn="ctr" defTabSz="914400"/>
            <a:r>
              <a:rPr lang="ko-KR" altLang="en-US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운전 데이터 추세 분석 및</a:t>
            </a:r>
            <a:br>
              <a:rPr lang="en-US" altLang="ko-KR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lang="ko-KR" altLang="en-US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편차 확인</a:t>
            </a:r>
            <a:endParaRPr lang="en-US" altLang="ko-KR" sz="900" kern="0" spc="-3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90" name="사각형: 둥근 모서리 138">
            <a:extLst>
              <a:ext uri="{FF2B5EF4-FFF2-40B4-BE49-F238E27FC236}">
                <a16:creationId xmlns:a16="http://schemas.microsoft.com/office/drawing/2014/main" id="{4328247B-7070-C4A3-4058-585C6C2F9E3B}"/>
              </a:ext>
            </a:extLst>
          </p:cNvPr>
          <p:cNvSpPr/>
          <p:nvPr/>
        </p:nvSpPr>
        <p:spPr>
          <a:xfrm>
            <a:off x="6566104" y="2493203"/>
            <a:ext cx="1440000" cy="288000"/>
          </a:xfrm>
          <a:prstGeom prst="rect">
            <a:avLst/>
          </a:prstGeom>
          <a:solidFill>
            <a:srgbClr val="DAE9F8"/>
          </a:solidFill>
          <a:ln w="3175">
            <a:solidFill>
              <a:schemeClr val="bg1">
                <a:lumMod val="65000"/>
              </a:schemeClr>
            </a:solidFill>
            <a:prstDash val="solid"/>
          </a:ln>
          <a:effectLst/>
        </p:spPr>
        <p:txBody>
          <a:bodyPr wrap="square" lIns="0" tIns="36000" rIns="0" bIns="36000" rtlCol="0" anchor="ctr"/>
          <a:lstStyle/>
          <a:p>
            <a:pPr algn="ctr" defTabSz="914400"/>
            <a:r>
              <a:rPr lang="ko-KR" altLang="en-US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운전 변수 이상치 점검 및 관리</a:t>
            </a:r>
            <a:endParaRPr lang="en-US" altLang="ko-KR" sz="900" kern="0" spc="-3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4" name="사각형: 둥근 모서리 136">
            <a:extLst>
              <a:ext uri="{FF2B5EF4-FFF2-40B4-BE49-F238E27FC236}">
                <a16:creationId xmlns:a16="http://schemas.microsoft.com/office/drawing/2014/main" id="{8B21F6BA-B4E2-229E-E018-BADB5B0C613F}"/>
              </a:ext>
            </a:extLst>
          </p:cNvPr>
          <p:cNvSpPr/>
          <p:nvPr/>
        </p:nvSpPr>
        <p:spPr>
          <a:xfrm>
            <a:off x="6566104" y="1780161"/>
            <a:ext cx="1440000" cy="288000"/>
          </a:xfrm>
          <a:prstGeom prst="rect">
            <a:avLst/>
          </a:prstGeom>
          <a:solidFill>
            <a:srgbClr val="DAE9F8"/>
          </a:solidFill>
          <a:ln w="3175">
            <a:solidFill>
              <a:schemeClr val="bg1">
                <a:lumMod val="65000"/>
              </a:schemeClr>
            </a:solidFill>
            <a:prstDash val="solid"/>
          </a:ln>
          <a:effectLst/>
        </p:spPr>
        <p:txBody>
          <a:bodyPr wrap="square" lIns="0" tIns="36000" rIns="0" bIns="36000" rtlCol="0" anchor="ctr"/>
          <a:lstStyle/>
          <a:p>
            <a:pPr algn="ctr" defTabSz="914400"/>
            <a:r>
              <a:rPr lang="ko-KR" altLang="en-US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실시간 운전 현황 모니터링</a:t>
            </a:r>
            <a:endParaRPr lang="en-US" altLang="ko-KR" sz="900" kern="0" spc="-3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91" name="사각형: 둥근 모서리 138">
            <a:extLst>
              <a:ext uri="{FF2B5EF4-FFF2-40B4-BE49-F238E27FC236}">
                <a16:creationId xmlns:a16="http://schemas.microsoft.com/office/drawing/2014/main" id="{475B3F05-6AE7-DCA3-B429-D0CF3F4B1C89}"/>
              </a:ext>
            </a:extLst>
          </p:cNvPr>
          <p:cNvSpPr/>
          <p:nvPr/>
        </p:nvSpPr>
        <p:spPr>
          <a:xfrm>
            <a:off x="6566104" y="3206245"/>
            <a:ext cx="1440000" cy="288000"/>
          </a:xfrm>
          <a:prstGeom prst="rect">
            <a:avLst/>
          </a:prstGeom>
          <a:solidFill>
            <a:srgbClr val="DAE9F8"/>
          </a:solidFill>
          <a:ln w="3175">
            <a:solidFill>
              <a:schemeClr val="bg1">
                <a:lumMod val="65000"/>
              </a:schemeClr>
            </a:solidFill>
            <a:prstDash val="solid"/>
          </a:ln>
          <a:effectLst/>
        </p:spPr>
        <p:txBody>
          <a:bodyPr wrap="square" lIns="0" tIns="36000" rIns="0" bIns="36000" rtlCol="0" anchor="ctr"/>
          <a:lstStyle/>
          <a:p>
            <a:pPr algn="ctr" defTabSz="914400"/>
            <a:r>
              <a:rPr lang="ko-KR" altLang="en-US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공정 시뮬레이션을 통한 최적 운전 조건 도출</a:t>
            </a:r>
            <a:endParaRPr lang="en-US" altLang="ko-KR" sz="900" kern="0" spc="-3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6" name="사각형: 둥근 모서리 136">
            <a:extLst>
              <a:ext uri="{FF2B5EF4-FFF2-40B4-BE49-F238E27FC236}">
                <a16:creationId xmlns:a16="http://schemas.microsoft.com/office/drawing/2014/main" id="{0192CD19-E9EF-E4B5-5599-93690DC71ABF}"/>
              </a:ext>
            </a:extLst>
          </p:cNvPr>
          <p:cNvSpPr/>
          <p:nvPr/>
        </p:nvSpPr>
        <p:spPr>
          <a:xfrm>
            <a:off x="6566104" y="2849724"/>
            <a:ext cx="1440000" cy="28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square"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strike="noStrike" kern="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최적 운전 조건 설정 및 </a:t>
            </a:r>
            <a:br>
              <a:rPr kumimoji="0" lang="en-US" altLang="ko-KR" sz="1000" i="0" u="none" strike="noStrike" kern="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</a:br>
            <a:r>
              <a:rPr kumimoji="0" lang="ko-KR" altLang="en-US" sz="1000" i="0" u="none" strike="noStrike" kern="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운전 전략 수립</a:t>
            </a:r>
            <a:endParaRPr kumimoji="0" lang="en-US" altLang="ko-KR" sz="1000" i="0" u="none" strike="noStrike" kern="0" cap="none" spc="-3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</p:txBody>
      </p:sp>
      <p:sp>
        <p:nvSpPr>
          <p:cNvPr id="127" name="사각형: 둥근 모서리 138">
            <a:extLst>
              <a:ext uri="{FF2B5EF4-FFF2-40B4-BE49-F238E27FC236}">
                <a16:creationId xmlns:a16="http://schemas.microsoft.com/office/drawing/2014/main" id="{5504DDCB-2C7F-E303-C747-5DEFC2153ABE}"/>
              </a:ext>
            </a:extLst>
          </p:cNvPr>
          <p:cNvSpPr/>
          <p:nvPr/>
        </p:nvSpPr>
        <p:spPr>
          <a:xfrm>
            <a:off x="6566104" y="3562766"/>
            <a:ext cx="1440000" cy="288000"/>
          </a:xfrm>
          <a:prstGeom prst="rect">
            <a:avLst/>
          </a:prstGeom>
          <a:solidFill>
            <a:srgbClr val="DAE9F8"/>
          </a:solidFill>
          <a:ln w="3175">
            <a:solidFill>
              <a:schemeClr val="bg1">
                <a:lumMod val="65000"/>
              </a:schemeClr>
            </a:solidFill>
            <a:prstDash val="solid"/>
          </a:ln>
          <a:effectLst/>
        </p:spPr>
        <p:txBody>
          <a:bodyPr wrap="square" lIns="0" tIns="36000" rIns="0" bIns="36000" rtlCol="0" anchor="ctr"/>
          <a:lstStyle/>
          <a:p>
            <a:pPr algn="ctr" defTabSz="914400"/>
            <a:r>
              <a:rPr lang="ko-KR" altLang="en-US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에너지 효율화를 위한 운전 조건 최적화</a:t>
            </a:r>
            <a:endParaRPr lang="en-US" altLang="ko-KR" sz="900" kern="0" spc="-3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9" name="사각형: 둥근 모서리 138">
            <a:extLst>
              <a:ext uri="{FF2B5EF4-FFF2-40B4-BE49-F238E27FC236}">
                <a16:creationId xmlns:a16="http://schemas.microsoft.com/office/drawing/2014/main" id="{CD2E731C-C057-046C-E880-C1E9B59B8134}"/>
              </a:ext>
            </a:extLst>
          </p:cNvPr>
          <p:cNvSpPr/>
          <p:nvPr/>
        </p:nvSpPr>
        <p:spPr>
          <a:xfrm>
            <a:off x="6566104" y="3919287"/>
            <a:ext cx="1440000" cy="288000"/>
          </a:xfrm>
          <a:prstGeom prst="rect">
            <a:avLst/>
          </a:prstGeom>
          <a:solidFill>
            <a:srgbClr val="DAE9F8"/>
          </a:solidFill>
          <a:ln w="3175">
            <a:solidFill>
              <a:schemeClr val="bg1">
                <a:lumMod val="65000"/>
              </a:schemeClr>
            </a:solidFill>
            <a:prstDash val="solid"/>
          </a:ln>
          <a:effectLst/>
        </p:spPr>
        <p:txBody>
          <a:bodyPr wrap="square" lIns="0" tIns="36000" rIns="0" bIns="36000" rtlCol="0" anchor="ctr"/>
          <a:lstStyle/>
          <a:p>
            <a:pPr algn="ctr" defTabSz="914400"/>
            <a:r>
              <a:rPr lang="ko-KR" altLang="en-US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설비 부하 분산을 위한 운전 패턴 분석 및 개선</a:t>
            </a:r>
            <a:endParaRPr lang="en-US" altLang="ko-KR" sz="900" kern="0" spc="-3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31" name="사각형: 둥근 모서리 138">
            <a:extLst>
              <a:ext uri="{FF2B5EF4-FFF2-40B4-BE49-F238E27FC236}">
                <a16:creationId xmlns:a16="http://schemas.microsoft.com/office/drawing/2014/main" id="{7FDD2535-7DC8-3318-87CB-F49C1D209D96}"/>
              </a:ext>
            </a:extLst>
          </p:cNvPr>
          <p:cNvSpPr/>
          <p:nvPr/>
        </p:nvSpPr>
        <p:spPr>
          <a:xfrm>
            <a:off x="6566104" y="4275808"/>
            <a:ext cx="1440000" cy="288000"/>
          </a:xfrm>
          <a:prstGeom prst="rect">
            <a:avLst/>
          </a:prstGeom>
          <a:solidFill>
            <a:srgbClr val="DAE9F8"/>
          </a:solidFill>
          <a:ln w="3175">
            <a:solidFill>
              <a:schemeClr val="bg1">
                <a:lumMod val="65000"/>
              </a:schemeClr>
            </a:solidFill>
            <a:prstDash val="solid"/>
          </a:ln>
          <a:effectLst/>
        </p:spPr>
        <p:txBody>
          <a:bodyPr wrap="square" lIns="0" tIns="36000" rIns="0" bIns="36000" rtlCol="0" anchor="ctr"/>
          <a:lstStyle/>
          <a:p>
            <a:pPr algn="ctr" defTabSz="914400"/>
            <a:r>
              <a:rPr lang="ko-KR" altLang="en-US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외부 영향</a:t>
            </a:r>
            <a:r>
              <a:rPr lang="en-US" altLang="ko-KR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계절</a:t>
            </a:r>
            <a:r>
              <a:rPr lang="en-US" altLang="ko-KR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 </a:t>
            </a:r>
            <a:r>
              <a:rPr lang="ko-KR" altLang="en-US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대응 최적 운전 조건 개발</a:t>
            </a:r>
            <a:endParaRPr lang="en-US" altLang="ko-KR" sz="900" kern="0" spc="-3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34" name="사각형: 둥근 모서리 138">
            <a:extLst>
              <a:ext uri="{FF2B5EF4-FFF2-40B4-BE49-F238E27FC236}">
                <a16:creationId xmlns:a16="http://schemas.microsoft.com/office/drawing/2014/main" id="{05F3E9BF-855D-42BF-122C-083F80AAAD22}"/>
              </a:ext>
            </a:extLst>
          </p:cNvPr>
          <p:cNvSpPr/>
          <p:nvPr/>
        </p:nvSpPr>
        <p:spPr>
          <a:xfrm>
            <a:off x="6566104" y="4988850"/>
            <a:ext cx="1440000" cy="288000"/>
          </a:xfrm>
          <a:prstGeom prst="rect">
            <a:avLst/>
          </a:prstGeom>
          <a:solidFill>
            <a:srgbClr val="DAE9F8"/>
          </a:solidFill>
          <a:ln w="3175">
            <a:solidFill>
              <a:schemeClr val="bg1">
                <a:lumMod val="65000"/>
              </a:schemeClr>
            </a:solidFill>
            <a:prstDash val="solid"/>
          </a:ln>
          <a:effectLst/>
        </p:spPr>
        <p:txBody>
          <a:bodyPr wrap="square" lIns="0" tIns="36000" rIns="0" bIns="36000" rtlCol="0" anchor="ctr"/>
          <a:lstStyle/>
          <a:p>
            <a:pPr algn="ctr" defTabSz="914400"/>
            <a:r>
              <a:rPr lang="ko-KR" altLang="en-US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개선 아이디어 도출</a:t>
            </a:r>
            <a:endParaRPr lang="en-US" altLang="ko-KR" sz="900" kern="0" spc="-3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35" name="사각형: 둥근 모서리 136">
            <a:extLst>
              <a:ext uri="{FF2B5EF4-FFF2-40B4-BE49-F238E27FC236}">
                <a16:creationId xmlns:a16="http://schemas.microsoft.com/office/drawing/2014/main" id="{B285F906-2057-F215-0C5D-587BCD95959E}"/>
              </a:ext>
            </a:extLst>
          </p:cNvPr>
          <p:cNvSpPr/>
          <p:nvPr/>
        </p:nvSpPr>
        <p:spPr>
          <a:xfrm>
            <a:off x="6566104" y="4632329"/>
            <a:ext cx="1440000" cy="28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square"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strike="noStrike" kern="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공정 개선 과제 도출 및 적용</a:t>
            </a:r>
            <a:endParaRPr kumimoji="0" lang="en-US" altLang="ko-KR" sz="1000" i="0" u="none" strike="noStrike" kern="0" cap="none" spc="-3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</p:txBody>
      </p:sp>
      <p:sp>
        <p:nvSpPr>
          <p:cNvPr id="136" name="사각형: 둥근 모서리 138">
            <a:extLst>
              <a:ext uri="{FF2B5EF4-FFF2-40B4-BE49-F238E27FC236}">
                <a16:creationId xmlns:a16="http://schemas.microsoft.com/office/drawing/2014/main" id="{882B781E-04B9-AC3C-CA97-A16697E34B38}"/>
              </a:ext>
            </a:extLst>
          </p:cNvPr>
          <p:cNvSpPr/>
          <p:nvPr/>
        </p:nvSpPr>
        <p:spPr>
          <a:xfrm>
            <a:off x="6566104" y="5345371"/>
            <a:ext cx="1440000" cy="288000"/>
          </a:xfrm>
          <a:prstGeom prst="rect">
            <a:avLst/>
          </a:prstGeom>
          <a:solidFill>
            <a:srgbClr val="A6C9EC"/>
          </a:solidFill>
          <a:ln w="3175">
            <a:solidFill>
              <a:schemeClr val="bg1">
                <a:lumMod val="65000"/>
              </a:schemeClr>
            </a:solidFill>
            <a:prstDash val="solid"/>
          </a:ln>
          <a:effectLst/>
        </p:spPr>
        <p:txBody>
          <a:bodyPr wrap="square" lIns="0" tIns="36000" rIns="0" bIns="36000" rtlCol="0" anchor="ctr"/>
          <a:lstStyle/>
          <a:p>
            <a:pPr algn="ctr" defTabSz="914400"/>
            <a:r>
              <a:rPr lang="ko-KR" altLang="en-US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과제 타당성 검토 및 대상 선정</a:t>
            </a:r>
            <a:endParaRPr lang="en-US" altLang="ko-KR" sz="900" kern="0" spc="-3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37" name="사각형: 둥근 모서리 138">
            <a:extLst>
              <a:ext uri="{FF2B5EF4-FFF2-40B4-BE49-F238E27FC236}">
                <a16:creationId xmlns:a16="http://schemas.microsoft.com/office/drawing/2014/main" id="{F017B2B2-FFC6-E581-E7C8-E498F1103941}"/>
              </a:ext>
            </a:extLst>
          </p:cNvPr>
          <p:cNvSpPr/>
          <p:nvPr/>
        </p:nvSpPr>
        <p:spPr>
          <a:xfrm>
            <a:off x="6566104" y="5701892"/>
            <a:ext cx="1440000" cy="288000"/>
          </a:xfrm>
          <a:prstGeom prst="rect">
            <a:avLst/>
          </a:prstGeom>
          <a:solidFill>
            <a:srgbClr val="A6C9EC"/>
          </a:solidFill>
          <a:ln w="3175">
            <a:solidFill>
              <a:schemeClr val="bg1">
                <a:lumMod val="65000"/>
              </a:schemeClr>
            </a:solidFill>
            <a:prstDash val="solid"/>
          </a:ln>
          <a:effectLst/>
        </p:spPr>
        <p:txBody>
          <a:bodyPr wrap="square" lIns="0" tIns="36000" rIns="0" bIns="36000" rtlCol="0" anchor="ctr"/>
          <a:lstStyle/>
          <a:p>
            <a:pPr algn="ctr" defTabSz="914400"/>
            <a:r>
              <a:rPr lang="ko-KR" altLang="en-US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실행 계획 수립 및 과제 수행</a:t>
            </a:r>
            <a:endParaRPr lang="en-US" altLang="ko-KR" sz="900" kern="0" spc="-3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38" name="사각형: 둥근 모서리 138">
            <a:extLst>
              <a:ext uri="{FF2B5EF4-FFF2-40B4-BE49-F238E27FC236}">
                <a16:creationId xmlns:a16="http://schemas.microsoft.com/office/drawing/2014/main" id="{D7B61718-B200-F84E-AE2B-7419EFDF8651}"/>
              </a:ext>
            </a:extLst>
          </p:cNvPr>
          <p:cNvSpPr/>
          <p:nvPr/>
        </p:nvSpPr>
        <p:spPr>
          <a:xfrm>
            <a:off x="6566104" y="6058413"/>
            <a:ext cx="1440000" cy="288000"/>
          </a:xfrm>
          <a:prstGeom prst="rect">
            <a:avLst/>
          </a:prstGeom>
          <a:solidFill>
            <a:srgbClr val="DAE9F8"/>
          </a:solidFill>
          <a:ln w="3175">
            <a:solidFill>
              <a:schemeClr val="bg1">
                <a:lumMod val="65000"/>
              </a:schemeClr>
            </a:solidFill>
            <a:prstDash val="solid"/>
          </a:ln>
          <a:effectLst/>
        </p:spPr>
        <p:txBody>
          <a:bodyPr wrap="square" lIns="0" tIns="36000" rIns="0" bIns="36000" rtlCol="0" anchor="ctr"/>
          <a:lstStyle/>
          <a:p>
            <a:pPr algn="ctr" defTabSz="914400"/>
            <a:r>
              <a:rPr lang="ko-KR" altLang="en-US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효과 검증 및 </a:t>
            </a:r>
            <a:r>
              <a:rPr lang="en-US" altLang="ko-KR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Best Practice </a:t>
            </a:r>
            <a:r>
              <a:rPr lang="ko-KR" altLang="en-US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공유</a:t>
            </a:r>
            <a:endParaRPr lang="en-US" altLang="ko-KR" sz="900" kern="0" spc="-3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39" name="사각형: 둥근 모서리 136">
            <a:extLst>
              <a:ext uri="{FF2B5EF4-FFF2-40B4-BE49-F238E27FC236}">
                <a16:creationId xmlns:a16="http://schemas.microsoft.com/office/drawing/2014/main" id="{C7CA8B3C-4962-F4F6-889B-CF47CB7175C0}"/>
              </a:ext>
            </a:extLst>
          </p:cNvPr>
          <p:cNvSpPr/>
          <p:nvPr/>
        </p:nvSpPr>
        <p:spPr>
          <a:xfrm>
            <a:off x="8121507" y="2136682"/>
            <a:ext cx="1440000" cy="288000"/>
          </a:xfrm>
          <a:prstGeom prst="rect">
            <a:avLst/>
          </a:prstGeom>
          <a:solidFill>
            <a:srgbClr val="A6C9EC"/>
          </a:solidFill>
          <a:ln w="3175">
            <a:solidFill>
              <a:schemeClr val="bg1">
                <a:lumMod val="65000"/>
              </a:schemeClr>
            </a:solidFill>
            <a:prstDash val="solid"/>
          </a:ln>
          <a:effectLst/>
        </p:spPr>
        <p:txBody>
          <a:bodyPr wrap="square" lIns="0" tIns="36000" rIns="0" bIns="36000" rtlCol="0" anchor="ctr"/>
          <a:lstStyle/>
          <a:p>
            <a:pPr algn="ctr" defTabSz="914400"/>
            <a:r>
              <a:rPr lang="ko-KR" altLang="en-US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기본 설계</a:t>
            </a:r>
            <a:r>
              <a:rPr lang="en-US" altLang="ko-KR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(BDP) </a:t>
            </a:r>
            <a:r>
              <a:rPr lang="ko-KR" altLang="en-US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및 엔지니어링 검토</a:t>
            </a:r>
            <a:endParaRPr lang="en-US" altLang="ko-KR" sz="900" kern="0" spc="-3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40" name="사각형: 둥근 모서리 138">
            <a:extLst>
              <a:ext uri="{FF2B5EF4-FFF2-40B4-BE49-F238E27FC236}">
                <a16:creationId xmlns:a16="http://schemas.microsoft.com/office/drawing/2014/main" id="{F6C0FD42-854D-76F9-B52E-0DC72035383E}"/>
              </a:ext>
            </a:extLst>
          </p:cNvPr>
          <p:cNvSpPr/>
          <p:nvPr/>
        </p:nvSpPr>
        <p:spPr>
          <a:xfrm>
            <a:off x="8121507" y="2493203"/>
            <a:ext cx="1440000" cy="288000"/>
          </a:xfrm>
          <a:prstGeom prst="rect">
            <a:avLst/>
          </a:prstGeom>
          <a:solidFill>
            <a:srgbClr val="A6C9EC"/>
          </a:solidFill>
          <a:ln w="3175">
            <a:solidFill>
              <a:schemeClr val="bg1">
                <a:lumMod val="65000"/>
              </a:schemeClr>
            </a:solidFill>
            <a:prstDash val="solid"/>
          </a:ln>
          <a:effectLst/>
        </p:spPr>
        <p:txBody>
          <a:bodyPr wrap="square" lIns="0" tIns="36000" rIns="0" bIns="36000" rtlCol="0" anchor="ctr"/>
          <a:lstStyle/>
          <a:p>
            <a:pPr algn="ctr" defTabSz="914400"/>
            <a:r>
              <a:rPr lang="ko-KR" altLang="en-US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경제성 분석 및 투자 타당성 검증</a:t>
            </a:r>
            <a:endParaRPr lang="en-US" altLang="ko-KR" sz="900" kern="0" spc="-3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41" name="사각형: 둥근 모서리 136">
            <a:extLst>
              <a:ext uri="{FF2B5EF4-FFF2-40B4-BE49-F238E27FC236}">
                <a16:creationId xmlns:a16="http://schemas.microsoft.com/office/drawing/2014/main" id="{5350473A-615E-82A5-55B0-E917E038B9C7}"/>
              </a:ext>
            </a:extLst>
          </p:cNvPr>
          <p:cNvSpPr/>
          <p:nvPr/>
        </p:nvSpPr>
        <p:spPr>
          <a:xfrm>
            <a:off x="8121507" y="2849724"/>
            <a:ext cx="1440000" cy="288000"/>
          </a:xfrm>
          <a:prstGeom prst="rect">
            <a:avLst/>
          </a:prstGeom>
          <a:solidFill>
            <a:srgbClr val="A6C9EC"/>
          </a:solidFill>
          <a:ln w="3175">
            <a:solidFill>
              <a:schemeClr val="bg1">
                <a:lumMod val="65000"/>
              </a:schemeClr>
            </a:solidFill>
            <a:prstDash val="solid"/>
          </a:ln>
          <a:effectLst/>
        </p:spPr>
        <p:txBody>
          <a:bodyPr wrap="square" lIns="0" tIns="36000" rIns="0" bIns="36000" rtlCol="0" anchor="ctr"/>
          <a:lstStyle/>
          <a:p>
            <a:pPr algn="ctr" defTabSz="914400"/>
            <a:r>
              <a:rPr lang="ko-KR" altLang="en-US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실행 계획 수립 및 승인 문서화</a:t>
            </a:r>
            <a:endParaRPr lang="en-US" altLang="ko-KR" sz="900" kern="0" spc="-3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42" name="사각형: 둥근 모서리 138">
            <a:extLst>
              <a:ext uri="{FF2B5EF4-FFF2-40B4-BE49-F238E27FC236}">
                <a16:creationId xmlns:a16="http://schemas.microsoft.com/office/drawing/2014/main" id="{673D6230-4A26-A7BB-3AEA-4145944C91B7}"/>
              </a:ext>
            </a:extLst>
          </p:cNvPr>
          <p:cNvSpPr/>
          <p:nvPr/>
        </p:nvSpPr>
        <p:spPr>
          <a:xfrm>
            <a:off x="8121507" y="3206245"/>
            <a:ext cx="1440000" cy="28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square"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strike="noStrike" kern="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촉매 기술 평가</a:t>
            </a:r>
            <a:endParaRPr kumimoji="0" lang="en-US" altLang="ko-KR" sz="1000" i="0" u="none" strike="noStrike" kern="0" cap="none" spc="-3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</p:txBody>
      </p:sp>
      <p:sp>
        <p:nvSpPr>
          <p:cNvPr id="143" name="사각형: 둥근 모서리 138">
            <a:extLst>
              <a:ext uri="{FF2B5EF4-FFF2-40B4-BE49-F238E27FC236}">
                <a16:creationId xmlns:a16="http://schemas.microsoft.com/office/drawing/2014/main" id="{D46D887D-7932-1799-A64F-49D0FA451C6F}"/>
              </a:ext>
            </a:extLst>
          </p:cNvPr>
          <p:cNvSpPr/>
          <p:nvPr/>
        </p:nvSpPr>
        <p:spPr>
          <a:xfrm>
            <a:off x="8121507" y="3562766"/>
            <a:ext cx="1440000" cy="288000"/>
          </a:xfrm>
          <a:prstGeom prst="rect">
            <a:avLst/>
          </a:prstGeom>
          <a:solidFill>
            <a:srgbClr val="DAE9F8"/>
          </a:solidFill>
          <a:ln w="3175">
            <a:solidFill>
              <a:schemeClr val="bg1">
                <a:lumMod val="65000"/>
              </a:schemeClr>
            </a:solidFill>
            <a:prstDash val="solid"/>
          </a:ln>
          <a:effectLst/>
        </p:spPr>
        <p:txBody>
          <a:bodyPr wrap="square" lIns="0" tIns="36000" rIns="0" bIns="36000" rtlCol="0" anchor="ctr"/>
          <a:lstStyle/>
          <a:p>
            <a:pPr algn="ctr" defTabSz="914400"/>
            <a:r>
              <a:rPr lang="ko-KR" altLang="en-US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촉매 구매 </a:t>
            </a:r>
            <a:r>
              <a:rPr lang="en-US" altLang="ko-KR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ITB </a:t>
            </a:r>
            <a:r>
              <a:rPr lang="ko-KR" altLang="en-US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발송 및 </a:t>
            </a:r>
            <a:r>
              <a:rPr lang="en-US" altLang="ko-KR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Proposal </a:t>
            </a:r>
            <a:r>
              <a:rPr lang="ko-KR" altLang="en-US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접수</a:t>
            </a:r>
            <a:endParaRPr lang="en-US" altLang="ko-KR" sz="900" kern="0" spc="-3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44" name="사각형: 둥근 모서리 138">
            <a:extLst>
              <a:ext uri="{FF2B5EF4-FFF2-40B4-BE49-F238E27FC236}">
                <a16:creationId xmlns:a16="http://schemas.microsoft.com/office/drawing/2014/main" id="{92607EAC-2F84-05F3-930F-664B962F9341}"/>
              </a:ext>
            </a:extLst>
          </p:cNvPr>
          <p:cNvSpPr/>
          <p:nvPr/>
        </p:nvSpPr>
        <p:spPr>
          <a:xfrm>
            <a:off x="8121507" y="3919287"/>
            <a:ext cx="1440000" cy="288000"/>
          </a:xfrm>
          <a:prstGeom prst="rect">
            <a:avLst/>
          </a:prstGeom>
          <a:solidFill>
            <a:srgbClr val="A6C9EC"/>
          </a:solidFill>
          <a:ln w="3175">
            <a:solidFill>
              <a:schemeClr val="bg1">
                <a:lumMod val="65000"/>
              </a:schemeClr>
            </a:solidFill>
            <a:prstDash val="solid"/>
          </a:ln>
          <a:effectLst/>
        </p:spPr>
        <p:txBody>
          <a:bodyPr wrap="square" lIns="0" tIns="36000" rIns="0" bIns="36000" rtlCol="0" anchor="ctr"/>
          <a:lstStyle/>
          <a:p>
            <a:pPr algn="ctr" defTabSz="914400"/>
            <a:r>
              <a:rPr lang="ko-KR" altLang="en-US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촉매 테스트 실시</a:t>
            </a:r>
            <a:endParaRPr lang="en-US" altLang="ko-KR" sz="900" kern="0" spc="-3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45" name="사각형: 둥근 모서리 138">
            <a:extLst>
              <a:ext uri="{FF2B5EF4-FFF2-40B4-BE49-F238E27FC236}">
                <a16:creationId xmlns:a16="http://schemas.microsoft.com/office/drawing/2014/main" id="{B3B815A0-1FE5-FD46-5441-40872B0790B8}"/>
              </a:ext>
            </a:extLst>
          </p:cNvPr>
          <p:cNvSpPr/>
          <p:nvPr/>
        </p:nvSpPr>
        <p:spPr>
          <a:xfrm>
            <a:off x="8121507" y="4275808"/>
            <a:ext cx="1440000" cy="288000"/>
          </a:xfrm>
          <a:prstGeom prst="rect">
            <a:avLst/>
          </a:prstGeom>
          <a:solidFill>
            <a:srgbClr val="A6C9EC"/>
          </a:solidFill>
          <a:ln w="3175">
            <a:solidFill>
              <a:schemeClr val="bg1">
                <a:lumMod val="65000"/>
              </a:schemeClr>
            </a:solidFill>
            <a:prstDash val="solid"/>
          </a:ln>
          <a:effectLst/>
        </p:spPr>
        <p:txBody>
          <a:bodyPr wrap="square" lIns="0" tIns="36000" rIns="0" bIns="36000" rtlCol="0" anchor="ctr"/>
          <a:lstStyle/>
          <a:p>
            <a:pPr algn="ctr" defTabSz="914400"/>
            <a:r>
              <a:rPr lang="ko-KR" altLang="en-US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촉매 기술 성능 평가</a:t>
            </a:r>
            <a:endParaRPr lang="en-US" altLang="ko-KR" sz="900" kern="0" spc="-3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46" name="사각형: 둥근 모서리 138">
            <a:extLst>
              <a:ext uri="{FF2B5EF4-FFF2-40B4-BE49-F238E27FC236}">
                <a16:creationId xmlns:a16="http://schemas.microsoft.com/office/drawing/2014/main" id="{78885C9F-2001-7471-7BD8-195212C2A4A6}"/>
              </a:ext>
            </a:extLst>
          </p:cNvPr>
          <p:cNvSpPr/>
          <p:nvPr/>
        </p:nvSpPr>
        <p:spPr>
          <a:xfrm>
            <a:off x="8121507" y="4632329"/>
            <a:ext cx="1440000" cy="288000"/>
          </a:xfrm>
          <a:prstGeom prst="rect">
            <a:avLst/>
          </a:prstGeom>
          <a:solidFill>
            <a:srgbClr val="A6C9EC"/>
          </a:solidFill>
          <a:ln w="3175">
            <a:solidFill>
              <a:schemeClr val="bg1">
                <a:lumMod val="65000"/>
              </a:schemeClr>
            </a:solidFill>
            <a:prstDash val="solid"/>
          </a:ln>
          <a:effectLst/>
        </p:spPr>
        <p:txBody>
          <a:bodyPr wrap="square" lIns="0" tIns="36000" rIns="0" bIns="36000" rtlCol="0" anchor="ctr"/>
          <a:lstStyle/>
          <a:p>
            <a:pPr algn="ctr" defTabSz="914400"/>
            <a:r>
              <a:rPr lang="ko-KR" altLang="en-US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계약 조건 검토 및 협상 지원</a:t>
            </a:r>
            <a:endParaRPr lang="en-US" altLang="ko-KR" sz="900" kern="0" spc="-3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CD34C82-0F3E-923F-621C-9163E88A88DE}"/>
              </a:ext>
            </a:extLst>
          </p:cNvPr>
          <p:cNvSpPr/>
          <p:nvPr/>
        </p:nvSpPr>
        <p:spPr>
          <a:xfrm>
            <a:off x="7010230" y="701354"/>
            <a:ext cx="428741" cy="154237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0" tIns="0" rIns="0" bIns="0" anchor="ctr"/>
          <a:lstStyle/>
          <a:p>
            <a:pPr marL="0" marR="0" lvl="0" indent="0" algn="ctr" defTabSz="7620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수작업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69DD318-26F9-8098-2532-8A102BAE4A9C}"/>
              </a:ext>
            </a:extLst>
          </p:cNvPr>
          <p:cNvSpPr/>
          <p:nvPr/>
        </p:nvSpPr>
        <p:spPr>
          <a:xfrm>
            <a:off x="7480814" y="701354"/>
            <a:ext cx="668943" cy="154237"/>
          </a:xfrm>
          <a:prstGeom prst="rect">
            <a:avLst/>
          </a:prstGeom>
          <a:solidFill>
            <a:srgbClr val="DAE9F8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0" tIns="0" rIns="0" bIns="0" anchor="ctr"/>
          <a:lstStyle/>
          <a:p>
            <a:pPr marL="0" marR="0" lvl="0" indent="0" algn="ctr" defTabSz="7620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정보화 초기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43C99DE-3A7F-F176-87FC-510D41A1FB84}"/>
              </a:ext>
            </a:extLst>
          </p:cNvPr>
          <p:cNvSpPr/>
          <p:nvPr/>
        </p:nvSpPr>
        <p:spPr>
          <a:xfrm>
            <a:off x="8191600" y="701354"/>
            <a:ext cx="428741" cy="154237"/>
          </a:xfrm>
          <a:prstGeom prst="rect">
            <a:avLst/>
          </a:prstGeom>
          <a:solidFill>
            <a:srgbClr val="A6C9EC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0" tIns="0" rIns="0" bIns="0" anchor="ctr"/>
          <a:lstStyle/>
          <a:p>
            <a:pPr marL="0" marR="0" lvl="0" indent="0" algn="ctr" defTabSz="7620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정보화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E3D335E-E5F0-5741-04AB-0E4D60D6C33B}"/>
              </a:ext>
            </a:extLst>
          </p:cNvPr>
          <p:cNvSpPr/>
          <p:nvPr/>
        </p:nvSpPr>
        <p:spPr>
          <a:xfrm>
            <a:off x="8662183" y="701354"/>
            <a:ext cx="428741" cy="154237"/>
          </a:xfrm>
          <a:prstGeom prst="rect">
            <a:avLst/>
          </a:prstGeom>
          <a:solidFill>
            <a:srgbClr val="4D93D9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0" tIns="0" rIns="0" bIns="0" anchor="ctr"/>
          <a:lstStyle/>
          <a:p>
            <a:pPr marL="0" marR="0" lvl="0" indent="0" algn="ctr" defTabSz="7620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자동화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6757B1E-8A51-F487-9769-1841DDC834FD}"/>
              </a:ext>
            </a:extLst>
          </p:cNvPr>
          <p:cNvSpPr/>
          <p:nvPr/>
        </p:nvSpPr>
        <p:spPr>
          <a:xfrm>
            <a:off x="9132766" y="701354"/>
            <a:ext cx="428741" cy="154237"/>
          </a:xfrm>
          <a:prstGeom prst="rect">
            <a:avLst/>
          </a:prstGeom>
          <a:solidFill>
            <a:srgbClr val="153D64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0" tIns="0" rIns="0" bIns="0" anchor="ctr"/>
          <a:lstStyle/>
          <a:p>
            <a:pPr marL="0" marR="0" lvl="0" indent="0" algn="ctr" defTabSz="7620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지능화</a:t>
            </a:r>
          </a:p>
        </p:txBody>
      </p:sp>
      <p:sp>
        <p:nvSpPr>
          <p:cNvPr id="8" name="Rectangle 29">
            <a:extLst>
              <a:ext uri="{FF2B5EF4-FFF2-40B4-BE49-F238E27FC236}">
                <a16:creationId xmlns:a16="http://schemas.microsoft.com/office/drawing/2014/main" id="{94B8DA9B-579B-DF81-0D5C-E3F78252BAA2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4486" y="701354"/>
            <a:ext cx="834931" cy="154237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i="0" u="none" strike="noStrike" kern="1200" cap="none" spc="-30" normalizeH="0" baseline="0" noProof="0">
                <a:ln>
                  <a:solidFill>
                    <a:srgbClr val="404040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Process Group</a:t>
            </a:r>
            <a:endParaRPr kumimoji="0" lang="ko-KR" altLang="en-US" sz="900" i="0" u="none" strike="noStrike" kern="1200" cap="none" spc="-30" normalizeH="0" baseline="0" noProof="0">
              <a:ln>
                <a:solidFill>
                  <a:srgbClr val="404040">
                    <a:alpha val="0"/>
                  </a:srgbClr>
                </a:solidFill>
              </a:ln>
              <a:solidFill>
                <a:schemeClr val="bg1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1" name="Rectangle 29">
            <a:extLst>
              <a:ext uri="{FF2B5EF4-FFF2-40B4-BE49-F238E27FC236}">
                <a16:creationId xmlns:a16="http://schemas.microsoft.com/office/drawing/2014/main" id="{253BE9B7-321E-1672-14E7-0015C8524C49}"/>
              </a:ext>
            </a:extLst>
          </p:cNvPr>
          <p:cNvSpPr>
            <a:spLocks noChangeArrowheads="1"/>
          </p:cNvSpPr>
          <p:nvPr/>
        </p:nvSpPr>
        <p:spPr bwMode="gray">
          <a:xfrm>
            <a:off x="1249211" y="701354"/>
            <a:ext cx="560538" cy="154237"/>
          </a:xfrm>
          <a:prstGeom prst="rect">
            <a:avLst/>
          </a:prstGeom>
          <a:solidFill>
            <a:srgbClr val="595959"/>
          </a:solidFill>
          <a:ln w="6350">
            <a:solidFill>
              <a:schemeClr val="tx1"/>
            </a:solidFill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i="0" u="none" strike="noStrike" kern="1200" cap="none" spc="-30" normalizeH="0" baseline="0" noProof="0">
                <a:ln>
                  <a:solidFill>
                    <a:srgbClr val="404040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Process</a:t>
            </a:r>
            <a:endParaRPr kumimoji="0" lang="ko-KR" altLang="en-US" sz="900" i="0" u="none" strike="noStrike" kern="1200" cap="none" spc="-30" normalizeH="0" baseline="0" noProof="0">
              <a:ln>
                <a:solidFill>
                  <a:srgbClr val="404040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2" name="Rectangle 29">
            <a:extLst>
              <a:ext uri="{FF2B5EF4-FFF2-40B4-BE49-F238E27FC236}">
                <a16:creationId xmlns:a16="http://schemas.microsoft.com/office/drawing/2014/main" id="{750ABBA3-FA50-7331-5DC2-1C9C332EB728}"/>
              </a:ext>
            </a:extLst>
          </p:cNvPr>
          <p:cNvSpPr>
            <a:spLocks noChangeArrowheads="1"/>
          </p:cNvSpPr>
          <p:nvPr/>
        </p:nvSpPr>
        <p:spPr bwMode="gray">
          <a:xfrm>
            <a:off x="6481940" y="701354"/>
            <a:ext cx="486447" cy="154237"/>
          </a:xfrm>
          <a:prstGeom prst="rect">
            <a:avLst/>
          </a:prstGeom>
          <a:noFill/>
          <a:ln w="6350"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i="0" u="none" strike="noStrike" kern="1200" cap="none" spc="-30" normalizeH="0" baseline="0" noProof="0">
                <a:ln>
                  <a:solidFill>
                    <a:srgbClr val="404040">
                      <a:alpha val="0"/>
                    </a:srgbClr>
                  </a:solidFill>
                </a:ln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Activity</a:t>
            </a:r>
            <a:endParaRPr kumimoji="0" lang="ko-KR" altLang="en-US" sz="900" i="0" u="none" strike="noStrike" kern="1200" cap="none" spc="-30" normalizeH="0" baseline="0" noProof="0">
              <a:ln>
                <a:solidFill>
                  <a:srgbClr val="404040">
                    <a:alpha val="0"/>
                  </a:srgbClr>
                </a:solidFill>
              </a:ln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00809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4BD9B-362B-289B-800D-9DFC75DC3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ED824C9-6CB6-9C63-014E-DBDD50C3ECF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4487" y="254884"/>
            <a:ext cx="4209807" cy="343235"/>
          </a:xfrm>
          <a:solidFill>
            <a:schemeClr val="bg1"/>
          </a:solidFill>
        </p:spPr>
        <p:txBody>
          <a:bodyPr wrap="none" anchor="ctr">
            <a:spAutoFit/>
          </a:bodyPr>
          <a:lstStyle/>
          <a:p>
            <a:r>
              <a:rPr lang="en-US" altLang="ko-KR" b="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Appendix. </a:t>
            </a:r>
            <a:r>
              <a:rPr lang="ko-KR" altLang="en-US" b="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생산기술 디지털화 목표 </a:t>
            </a:r>
            <a:r>
              <a:rPr lang="en-US" altLang="ko-KR" b="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(1/2)</a:t>
            </a:r>
            <a:endParaRPr lang="ko-KR" altLang="en-US" b="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9" name="Rectangle 29">
            <a:extLst>
              <a:ext uri="{FF2B5EF4-FFF2-40B4-BE49-F238E27FC236}">
                <a16:creationId xmlns:a16="http://schemas.microsoft.com/office/drawing/2014/main" id="{9C649C03-4446-F48F-FECE-118AA843E953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4488" y="991837"/>
            <a:ext cx="1440000" cy="360000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strike="noStrike" kern="1200" cap="none" spc="-30" normalizeH="0" baseline="0" noProof="0">
                <a:ln>
                  <a:solidFill>
                    <a:srgbClr val="404040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n-cs"/>
              </a:rPr>
              <a:t>예산 수립 및 운영 최적화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B85AA2F-9974-2A5F-A66B-3240DA45F072}"/>
              </a:ext>
            </a:extLst>
          </p:cNvPr>
          <p:cNvSpPr/>
          <p:nvPr/>
        </p:nvSpPr>
        <p:spPr>
          <a:xfrm>
            <a:off x="344487" y="1423640"/>
            <a:ext cx="1440000" cy="28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square"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strike="noStrike" kern="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예산 수립 및 실적 분석</a:t>
            </a:r>
            <a:endParaRPr kumimoji="0" lang="en-US" altLang="ko-KR" sz="1000" i="0" u="none" strike="noStrike" kern="0" cap="none" spc="-3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</p:txBody>
      </p:sp>
      <p:sp>
        <p:nvSpPr>
          <p:cNvPr id="13" name="사각형: 둥근 모서리 136">
            <a:extLst>
              <a:ext uri="{FF2B5EF4-FFF2-40B4-BE49-F238E27FC236}">
                <a16:creationId xmlns:a16="http://schemas.microsoft.com/office/drawing/2014/main" id="{F7F5FC26-D7B6-7D27-6B43-DA6F4220242F}"/>
              </a:ext>
            </a:extLst>
          </p:cNvPr>
          <p:cNvSpPr/>
          <p:nvPr/>
        </p:nvSpPr>
        <p:spPr>
          <a:xfrm>
            <a:off x="344487" y="1780161"/>
            <a:ext cx="1440000" cy="288000"/>
          </a:xfrm>
          <a:prstGeom prst="rect">
            <a:avLst/>
          </a:prstGeom>
          <a:solidFill>
            <a:srgbClr val="153D64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0" tIns="0" rIns="0" bIns="0" anchor="ctr"/>
          <a:lstStyle/>
          <a:p>
            <a:pPr marL="0" marR="0" lvl="0" indent="0" algn="ctr" defTabSz="7620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수율 예산 수립 및 실적 분석</a:t>
            </a:r>
            <a:endParaRPr kumimoji="0" lang="en-US" altLang="ko-KR" sz="9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78" name="Rectangle 29">
            <a:extLst>
              <a:ext uri="{FF2B5EF4-FFF2-40B4-BE49-F238E27FC236}">
                <a16:creationId xmlns:a16="http://schemas.microsoft.com/office/drawing/2014/main" id="{95E09879-CC9C-9EBE-962E-0DB9C0E0E516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55296" y="991837"/>
            <a:ext cx="2995404" cy="360000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strike="noStrike" kern="1200" cap="none" spc="-30" normalizeH="0" baseline="0" noProof="0">
                <a:ln>
                  <a:solidFill>
                    <a:srgbClr val="404040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n-cs"/>
              </a:rPr>
              <a:t>운전 지원 및 </a:t>
            </a:r>
            <a:r>
              <a:rPr kumimoji="0" lang="en-US" altLang="ko-KR" sz="1000" i="0" u="none" strike="noStrike" kern="1200" cap="none" spc="-30" normalizeH="0" baseline="0" noProof="0">
                <a:ln>
                  <a:solidFill>
                    <a:srgbClr val="404040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n-cs"/>
              </a:rPr>
              <a:t>Troubleshooting</a:t>
            </a:r>
            <a:endParaRPr kumimoji="0" lang="ko-KR" altLang="en-US" sz="1000" i="0" u="none" strike="noStrike" kern="1200" cap="none" spc="-30" normalizeH="0" baseline="0" noProof="0">
              <a:ln>
                <a:solidFill>
                  <a:srgbClr val="404040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나눔스퀘어 ExtraBold" panose="020B0600000101010101" pitchFamily="50" charset="-127"/>
              <a:ea typeface="나눔스퀘어 ExtraBold" panose="020B0600000101010101" pitchFamily="50" charset="-127"/>
              <a:cs typeface="+mn-cs"/>
            </a:endParaRPr>
          </a:p>
        </p:txBody>
      </p: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27F2CD28-2456-5EF8-E648-B0D290664B9B}"/>
              </a:ext>
            </a:extLst>
          </p:cNvPr>
          <p:cNvSpPr/>
          <p:nvPr/>
        </p:nvSpPr>
        <p:spPr>
          <a:xfrm>
            <a:off x="6566104" y="1423640"/>
            <a:ext cx="1440000" cy="28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square"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strike="noStrike" kern="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공정 운전 데이터 수집 및 분석</a:t>
            </a:r>
            <a:endParaRPr kumimoji="0" lang="en-US" altLang="ko-KR" sz="1000" i="0" u="none" strike="noStrike" kern="0" cap="none" spc="-3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</p:txBody>
      </p:sp>
      <p:sp>
        <p:nvSpPr>
          <p:cNvPr id="38" name="사각형: 둥근 모서리 138">
            <a:extLst>
              <a:ext uri="{FF2B5EF4-FFF2-40B4-BE49-F238E27FC236}">
                <a16:creationId xmlns:a16="http://schemas.microsoft.com/office/drawing/2014/main" id="{22A594F7-C528-7F5E-764A-6EA70FE022F3}"/>
              </a:ext>
            </a:extLst>
          </p:cNvPr>
          <p:cNvSpPr/>
          <p:nvPr/>
        </p:nvSpPr>
        <p:spPr>
          <a:xfrm>
            <a:off x="344487" y="2136682"/>
            <a:ext cx="1440000" cy="288000"/>
          </a:xfrm>
          <a:prstGeom prst="rect">
            <a:avLst/>
          </a:prstGeom>
          <a:solidFill>
            <a:srgbClr val="153D64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0" tIns="0" rIns="0" bIns="0" anchor="ctr"/>
          <a:lstStyle/>
          <a:p>
            <a:pPr marL="0" marR="0" lvl="0" indent="0" algn="ctr" defTabSz="7620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동력비 예산 수립 및 실적 분석</a:t>
            </a:r>
            <a:endParaRPr kumimoji="0" lang="en-US" altLang="ko-KR" sz="9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0" name="사각형: 둥근 모서리 138">
            <a:extLst>
              <a:ext uri="{FF2B5EF4-FFF2-40B4-BE49-F238E27FC236}">
                <a16:creationId xmlns:a16="http://schemas.microsoft.com/office/drawing/2014/main" id="{FF6780B3-E265-B060-7A17-22D358D44E34}"/>
              </a:ext>
            </a:extLst>
          </p:cNvPr>
          <p:cNvSpPr/>
          <p:nvPr/>
        </p:nvSpPr>
        <p:spPr>
          <a:xfrm>
            <a:off x="344487" y="2493203"/>
            <a:ext cx="1440000" cy="288000"/>
          </a:xfrm>
          <a:prstGeom prst="rect">
            <a:avLst/>
          </a:prstGeom>
          <a:solidFill>
            <a:srgbClr val="153D64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0" tIns="0" rIns="0" bIns="0" anchor="ctr"/>
          <a:lstStyle/>
          <a:p>
            <a:pPr marL="0" marR="0" lvl="0" indent="0" algn="ctr" defTabSz="7620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부재료비 예산 수립 및 실적 분석</a:t>
            </a:r>
            <a:endParaRPr kumimoji="0" lang="en-US" altLang="ko-KR" sz="9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359FCBB8-C5AB-39E1-20B1-FE7ABB6BA87A}"/>
              </a:ext>
            </a:extLst>
          </p:cNvPr>
          <p:cNvSpPr/>
          <p:nvPr/>
        </p:nvSpPr>
        <p:spPr>
          <a:xfrm>
            <a:off x="344488" y="2849724"/>
            <a:ext cx="1440000" cy="28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square"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i="0" u="none" strike="noStrike" kern="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Utility </a:t>
            </a:r>
            <a:r>
              <a:rPr kumimoji="0" lang="ko-KR" altLang="en-US" sz="1000" i="0" u="none" strike="noStrike" kern="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계통 운영 최적화</a:t>
            </a:r>
            <a:endParaRPr kumimoji="0" lang="en-US" altLang="ko-KR" sz="1000" i="0" u="none" strike="noStrike" kern="0" cap="none" spc="-3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</p:txBody>
      </p:sp>
      <p:sp>
        <p:nvSpPr>
          <p:cNvPr id="43" name="사각형: 둥근 모서리 138">
            <a:extLst>
              <a:ext uri="{FF2B5EF4-FFF2-40B4-BE49-F238E27FC236}">
                <a16:creationId xmlns:a16="http://schemas.microsoft.com/office/drawing/2014/main" id="{74305B84-56C8-EE21-000A-10212EF06EE0}"/>
              </a:ext>
            </a:extLst>
          </p:cNvPr>
          <p:cNvSpPr/>
          <p:nvPr/>
        </p:nvSpPr>
        <p:spPr>
          <a:xfrm>
            <a:off x="344488" y="3206245"/>
            <a:ext cx="1440000" cy="288000"/>
          </a:xfrm>
          <a:prstGeom prst="rect">
            <a:avLst/>
          </a:prstGeom>
          <a:solidFill>
            <a:srgbClr val="153D64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0" tIns="0" rIns="0" bIns="0" anchor="ctr"/>
          <a:lstStyle/>
          <a:p>
            <a:pPr marL="0" marR="0" lvl="0" indent="0" algn="ctr" defTabSz="7620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스팀</a:t>
            </a:r>
            <a:r>
              <a:rPr kumimoji="0" lang="en-US" altLang="ko-KR" sz="9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, </a:t>
            </a: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전기 등 </a:t>
            </a:r>
            <a:r>
              <a:rPr kumimoji="0" lang="en-US" altLang="ko-KR" sz="9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Utility </a:t>
            </a: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사용량 </a:t>
            </a:r>
            <a:br>
              <a:rPr kumimoji="0" lang="en-US" altLang="ko-KR" sz="9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</a:b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모니터링 및 분석</a:t>
            </a:r>
            <a:endParaRPr kumimoji="0" lang="en-US" altLang="ko-KR" sz="9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4" name="사각형: 둥근 모서리 138">
            <a:extLst>
              <a:ext uri="{FF2B5EF4-FFF2-40B4-BE49-F238E27FC236}">
                <a16:creationId xmlns:a16="http://schemas.microsoft.com/office/drawing/2014/main" id="{A3AC85A3-BEE9-783A-AA23-3080FF635BCC}"/>
              </a:ext>
            </a:extLst>
          </p:cNvPr>
          <p:cNvSpPr/>
          <p:nvPr/>
        </p:nvSpPr>
        <p:spPr>
          <a:xfrm>
            <a:off x="344488" y="3562766"/>
            <a:ext cx="1440000" cy="288000"/>
          </a:xfrm>
          <a:prstGeom prst="rect">
            <a:avLst/>
          </a:prstGeom>
          <a:solidFill>
            <a:srgbClr val="153D64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0" tIns="0" rIns="0" bIns="0" anchor="ctr"/>
          <a:lstStyle/>
          <a:p>
            <a:pPr marL="0" marR="0" lvl="0" indent="0" algn="ctr" defTabSz="7620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사내외 </a:t>
            </a:r>
            <a:r>
              <a:rPr kumimoji="0" lang="en-US" altLang="ko-KR" sz="9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Utility </a:t>
            </a: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수급 변화 대응</a:t>
            </a:r>
            <a:endParaRPr kumimoji="0" lang="en-US" altLang="ko-KR" sz="9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5" name="사각형: 둥근 모서리 138">
            <a:extLst>
              <a:ext uri="{FF2B5EF4-FFF2-40B4-BE49-F238E27FC236}">
                <a16:creationId xmlns:a16="http://schemas.microsoft.com/office/drawing/2014/main" id="{5BBD2CE8-9103-255B-7BA6-B975FD2B3FA0}"/>
              </a:ext>
            </a:extLst>
          </p:cNvPr>
          <p:cNvSpPr/>
          <p:nvPr/>
        </p:nvSpPr>
        <p:spPr>
          <a:xfrm>
            <a:off x="344488" y="3919287"/>
            <a:ext cx="1440000" cy="288000"/>
          </a:xfrm>
          <a:prstGeom prst="rect">
            <a:avLst/>
          </a:prstGeom>
          <a:solidFill>
            <a:srgbClr val="153D64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0" tIns="0" rIns="0" bIns="0" anchor="ctr"/>
          <a:lstStyle/>
          <a:p>
            <a:pPr marL="0" marR="0" lvl="0" indent="0" algn="ctr" defTabSz="7620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계통별 효율 진단 및 개선점 도출</a:t>
            </a:r>
            <a:endParaRPr kumimoji="0" lang="en-US" altLang="ko-KR" sz="9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DA557589-4900-566E-3EB4-879A0335D895}"/>
              </a:ext>
            </a:extLst>
          </p:cNvPr>
          <p:cNvSpPr/>
          <p:nvPr/>
        </p:nvSpPr>
        <p:spPr>
          <a:xfrm>
            <a:off x="344488" y="4275808"/>
            <a:ext cx="1440000" cy="28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square"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strike="noStrike" kern="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물류 시설 운영 최적화</a:t>
            </a:r>
            <a:endParaRPr kumimoji="0" lang="en-US" altLang="ko-KR" sz="1000" i="0" u="none" strike="noStrike" kern="0" cap="none" spc="-3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</p:txBody>
      </p:sp>
      <p:sp>
        <p:nvSpPr>
          <p:cNvPr id="49" name="사각형: 둥근 모서리 138">
            <a:extLst>
              <a:ext uri="{FF2B5EF4-FFF2-40B4-BE49-F238E27FC236}">
                <a16:creationId xmlns:a16="http://schemas.microsoft.com/office/drawing/2014/main" id="{36BDEB46-CA7D-C1BD-30FB-E4939AB5BFEF}"/>
              </a:ext>
            </a:extLst>
          </p:cNvPr>
          <p:cNvSpPr/>
          <p:nvPr/>
        </p:nvSpPr>
        <p:spPr>
          <a:xfrm>
            <a:off x="344488" y="4632329"/>
            <a:ext cx="1440000" cy="288000"/>
          </a:xfrm>
          <a:prstGeom prst="rect">
            <a:avLst/>
          </a:prstGeom>
          <a:solidFill>
            <a:srgbClr val="A6C9EC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0" tIns="0" rIns="0" bIns="0" anchor="ctr"/>
          <a:lstStyle/>
          <a:p>
            <a:pPr marL="0" marR="0" lvl="0" indent="0" algn="ctr" defTabSz="7620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물류 시설 운영 현황 모니터링</a:t>
            </a:r>
            <a:endParaRPr kumimoji="0" lang="en-US" altLang="ko-KR" sz="9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0" name="사각형: 둥근 모서리 138">
            <a:extLst>
              <a:ext uri="{FF2B5EF4-FFF2-40B4-BE49-F238E27FC236}">
                <a16:creationId xmlns:a16="http://schemas.microsoft.com/office/drawing/2014/main" id="{B8CC03BB-30A1-3E7B-E88D-87118685AC03}"/>
              </a:ext>
            </a:extLst>
          </p:cNvPr>
          <p:cNvSpPr/>
          <p:nvPr/>
        </p:nvSpPr>
        <p:spPr>
          <a:xfrm>
            <a:off x="344488" y="4988850"/>
            <a:ext cx="1440000" cy="288000"/>
          </a:xfrm>
          <a:prstGeom prst="rect">
            <a:avLst/>
          </a:prstGeom>
          <a:solidFill>
            <a:srgbClr val="153D64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0" tIns="0" rIns="0" bIns="0" anchor="ctr"/>
          <a:lstStyle/>
          <a:p>
            <a:pPr marL="0" marR="0" lvl="0" indent="0" algn="ctr" defTabSz="7620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물류 운영 효율화 전략 수립</a:t>
            </a:r>
            <a:endParaRPr kumimoji="0" lang="en-US" altLang="ko-KR" sz="9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E5C3A1E-1276-8D3A-15AC-E55B792B40E3}"/>
              </a:ext>
            </a:extLst>
          </p:cNvPr>
          <p:cNvSpPr/>
          <p:nvPr/>
        </p:nvSpPr>
        <p:spPr>
          <a:xfrm>
            <a:off x="1899891" y="1423640"/>
            <a:ext cx="1440000" cy="28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square"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strike="noStrike" kern="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투자 사업 기획</a:t>
            </a:r>
            <a:endParaRPr kumimoji="0" lang="en-US" altLang="ko-KR" sz="1000" i="0" u="none" strike="noStrike" kern="0" cap="none" spc="-3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</p:txBody>
      </p:sp>
      <p:sp>
        <p:nvSpPr>
          <p:cNvPr id="28" name="사각형: 둥근 모서리 136">
            <a:extLst>
              <a:ext uri="{FF2B5EF4-FFF2-40B4-BE49-F238E27FC236}">
                <a16:creationId xmlns:a16="http://schemas.microsoft.com/office/drawing/2014/main" id="{D9D30C94-9842-2040-83A5-91CE68394FAE}"/>
              </a:ext>
            </a:extLst>
          </p:cNvPr>
          <p:cNvSpPr/>
          <p:nvPr/>
        </p:nvSpPr>
        <p:spPr>
          <a:xfrm>
            <a:off x="1899891" y="1780161"/>
            <a:ext cx="1440000" cy="288000"/>
          </a:xfrm>
          <a:prstGeom prst="rect">
            <a:avLst/>
          </a:prstGeom>
          <a:solidFill>
            <a:srgbClr val="153D64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0" tIns="0" rIns="0" bIns="0" anchor="ctr"/>
          <a:lstStyle/>
          <a:p>
            <a:pPr marL="0" marR="0" lvl="0" indent="0" algn="ctr" defTabSz="7620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투자 사업 타당성 검토</a:t>
            </a:r>
            <a:endParaRPr kumimoji="0" lang="en-US" altLang="ko-KR" sz="9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1" name="Rectangle 29">
            <a:extLst>
              <a:ext uri="{FF2B5EF4-FFF2-40B4-BE49-F238E27FC236}">
                <a16:creationId xmlns:a16="http://schemas.microsoft.com/office/drawing/2014/main" id="{DA993AE1-E324-2E33-85A4-7AB0A2BEABCB}"/>
              </a:ext>
            </a:extLst>
          </p:cNvPr>
          <p:cNvSpPr>
            <a:spLocks noChangeArrowheads="1"/>
          </p:cNvSpPr>
          <p:nvPr/>
        </p:nvSpPr>
        <p:spPr bwMode="gray">
          <a:xfrm>
            <a:off x="1899892" y="991837"/>
            <a:ext cx="1440000" cy="360000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strike="noStrike" kern="1200" cap="none" spc="-30" normalizeH="0" baseline="0" noProof="0">
                <a:ln>
                  <a:solidFill>
                    <a:srgbClr val="404040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n-cs"/>
              </a:rPr>
              <a:t>투자 사업 기획 및 관리</a:t>
            </a:r>
          </a:p>
        </p:txBody>
      </p:sp>
      <p:sp>
        <p:nvSpPr>
          <p:cNvPr id="52" name="사각형: 둥근 모서리 138">
            <a:extLst>
              <a:ext uri="{FF2B5EF4-FFF2-40B4-BE49-F238E27FC236}">
                <a16:creationId xmlns:a16="http://schemas.microsoft.com/office/drawing/2014/main" id="{5568B143-B8A5-C5E0-FD1F-86BA01DA678A}"/>
              </a:ext>
            </a:extLst>
          </p:cNvPr>
          <p:cNvSpPr/>
          <p:nvPr/>
        </p:nvSpPr>
        <p:spPr>
          <a:xfrm>
            <a:off x="1899891" y="2136682"/>
            <a:ext cx="1440000" cy="288000"/>
          </a:xfrm>
          <a:prstGeom prst="rect">
            <a:avLst/>
          </a:prstGeom>
          <a:solidFill>
            <a:srgbClr val="A6C9EC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0" tIns="0" rIns="0" bIns="0" anchor="ctr"/>
          <a:lstStyle/>
          <a:p>
            <a:pPr algn="ctr" defTabSz="762000" eaLnBrk="0" hangingPunct="0"/>
            <a:r>
              <a:rPr lang="ko-KR" altLang="en-US" sz="90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투자 사업 제안 및 승인</a:t>
            </a:r>
            <a:endParaRPr lang="en-US" altLang="ko-KR" sz="90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1F1E96E9-BA46-9F27-FA40-15B9C2CE9C81}"/>
              </a:ext>
            </a:extLst>
          </p:cNvPr>
          <p:cNvSpPr/>
          <p:nvPr/>
        </p:nvSpPr>
        <p:spPr>
          <a:xfrm>
            <a:off x="1899891" y="2493203"/>
            <a:ext cx="1440000" cy="28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square"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strike="noStrike" kern="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투자 사업 관리</a:t>
            </a:r>
            <a:endParaRPr kumimoji="0" lang="en-US" altLang="ko-KR" sz="1000" i="0" u="none" strike="noStrike" kern="0" cap="none" spc="-3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</p:txBody>
      </p:sp>
      <p:sp>
        <p:nvSpPr>
          <p:cNvPr id="54" name="사각형: 둥근 모서리 136">
            <a:extLst>
              <a:ext uri="{FF2B5EF4-FFF2-40B4-BE49-F238E27FC236}">
                <a16:creationId xmlns:a16="http://schemas.microsoft.com/office/drawing/2014/main" id="{8410BC25-BF39-4A65-3461-69BDC18C8194}"/>
              </a:ext>
            </a:extLst>
          </p:cNvPr>
          <p:cNvSpPr/>
          <p:nvPr/>
        </p:nvSpPr>
        <p:spPr>
          <a:xfrm>
            <a:off x="1899891" y="2849724"/>
            <a:ext cx="1440000" cy="288000"/>
          </a:xfrm>
          <a:prstGeom prst="rect">
            <a:avLst/>
          </a:prstGeom>
          <a:solidFill>
            <a:srgbClr val="153D64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0" tIns="0" rIns="0" bIns="0" anchor="ctr"/>
          <a:lstStyle/>
          <a:p>
            <a:pPr marL="0" marR="0" lvl="0" indent="0" algn="ctr" defTabSz="7620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투자 사업 수행</a:t>
            </a:r>
            <a:endParaRPr kumimoji="0" lang="en-US" altLang="ko-KR" sz="9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5" name="사각형: 둥근 모서리 138">
            <a:extLst>
              <a:ext uri="{FF2B5EF4-FFF2-40B4-BE49-F238E27FC236}">
                <a16:creationId xmlns:a16="http://schemas.microsoft.com/office/drawing/2014/main" id="{D5972EBB-608F-DFCB-E78C-6710CD8CA249}"/>
              </a:ext>
            </a:extLst>
          </p:cNvPr>
          <p:cNvSpPr/>
          <p:nvPr/>
        </p:nvSpPr>
        <p:spPr>
          <a:xfrm>
            <a:off x="1899891" y="3206245"/>
            <a:ext cx="1440000" cy="288000"/>
          </a:xfrm>
          <a:prstGeom prst="rect">
            <a:avLst/>
          </a:prstGeom>
          <a:solidFill>
            <a:srgbClr val="A6C9EC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0" tIns="0" rIns="0" bIns="0" anchor="ctr"/>
          <a:lstStyle/>
          <a:p>
            <a:pPr algn="ctr" defTabSz="762000" eaLnBrk="0" hangingPunct="0"/>
            <a:r>
              <a:rPr lang="ko-KR" altLang="en-US" sz="90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투자 사업 완료 검증 및 운영 전환</a:t>
            </a:r>
            <a:endParaRPr lang="en-US" altLang="ko-KR" sz="90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8963EE87-7551-194A-5F49-D9005B59E749}"/>
              </a:ext>
            </a:extLst>
          </p:cNvPr>
          <p:cNvSpPr/>
          <p:nvPr/>
        </p:nvSpPr>
        <p:spPr>
          <a:xfrm>
            <a:off x="3455296" y="1423640"/>
            <a:ext cx="1440000" cy="28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square"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strike="noStrike" kern="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공정</a:t>
            </a:r>
            <a:r>
              <a:rPr kumimoji="0" lang="en-US" altLang="ko-KR" sz="1000" i="0" u="none" strike="noStrike" kern="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 </a:t>
            </a:r>
            <a:r>
              <a:rPr kumimoji="0" lang="ko-KR" altLang="en-US" sz="1000" i="0" u="none" strike="noStrike" kern="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운전 지원</a:t>
            </a:r>
            <a:endParaRPr kumimoji="0" lang="en-US" altLang="ko-KR" sz="1000" i="0" u="none" strike="noStrike" kern="0" cap="none" spc="-3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</p:txBody>
      </p:sp>
      <p:sp>
        <p:nvSpPr>
          <p:cNvPr id="80" name="사각형: 둥근 모서리 136">
            <a:extLst>
              <a:ext uri="{FF2B5EF4-FFF2-40B4-BE49-F238E27FC236}">
                <a16:creationId xmlns:a16="http://schemas.microsoft.com/office/drawing/2014/main" id="{6EC529DA-0FA6-C805-DB54-EC0BC3078A93}"/>
              </a:ext>
            </a:extLst>
          </p:cNvPr>
          <p:cNvSpPr/>
          <p:nvPr/>
        </p:nvSpPr>
        <p:spPr>
          <a:xfrm>
            <a:off x="3455296" y="1780161"/>
            <a:ext cx="1440000" cy="288000"/>
          </a:xfrm>
          <a:prstGeom prst="rect">
            <a:avLst/>
          </a:prstGeom>
          <a:solidFill>
            <a:srgbClr val="153D64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0" tIns="0" rIns="0" bIns="0" anchor="ctr"/>
          <a:lstStyle/>
          <a:p>
            <a:pPr marL="0" marR="0" lvl="0" indent="0" algn="ctr" defTabSz="7620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원료 변경에 따른 운전 조정 검토</a:t>
            </a:r>
            <a:endParaRPr kumimoji="0" lang="en-US" altLang="ko-KR" sz="9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6" name="사각형: 둥근 모서리 138">
            <a:extLst>
              <a:ext uri="{FF2B5EF4-FFF2-40B4-BE49-F238E27FC236}">
                <a16:creationId xmlns:a16="http://schemas.microsoft.com/office/drawing/2014/main" id="{1CE6FA21-E0EF-DF22-6132-0DE5A2383FBA}"/>
              </a:ext>
            </a:extLst>
          </p:cNvPr>
          <p:cNvSpPr/>
          <p:nvPr/>
        </p:nvSpPr>
        <p:spPr>
          <a:xfrm>
            <a:off x="3455296" y="2136682"/>
            <a:ext cx="1440000" cy="288000"/>
          </a:xfrm>
          <a:prstGeom prst="rect">
            <a:avLst/>
          </a:prstGeom>
          <a:solidFill>
            <a:srgbClr val="153D64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0" tIns="0" rIns="0" bIns="0" anchor="ctr"/>
          <a:lstStyle/>
          <a:p>
            <a:pPr marL="0" marR="0" lvl="0" indent="0" algn="ctr" defTabSz="7620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제품 마진 확대를 위한 운전 조정 검토</a:t>
            </a:r>
            <a:endParaRPr kumimoji="0" lang="en-US" altLang="ko-KR" sz="9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7" name="사각형: 둥근 모서리 138">
            <a:extLst>
              <a:ext uri="{FF2B5EF4-FFF2-40B4-BE49-F238E27FC236}">
                <a16:creationId xmlns:a16="http://schemas.microsoft.com/office/drawing/2014/main" id="{3FA0CC1E-09F0-6A4C-E83E-20EBE65782FD}"/>
              </a:ext>
            </a:extLst>
          </p:cNvPr>
          <p:cNvSpPr/>
          <p:nvPr/>
        </p:nvSpPr>
        <p:spPr>
          <a:xfrm>
            <a:off x="3455296" y="2493203"/>
            <a:ext cx="1440000" cy="288000"/>
          </a:xfrm>
          <a:prstGeom prst="rect">
            <a:avLst/>
          </a:prstGeom>
          <a:solidFill>
            <a:srgbClr val="153D64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0" tIns="0" rIns="0" bIns="0" anchor="ctr"/>
          <a:lstStyle/>
          <a:p>
            <a:pPr marL="0" marR="0" lvl="0" indent="0" algn="ctr" defTabSz="7620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공정 조건</a:t>
            </a:r>
            <a:r>
              <a:rPr kumimoji="0" lang="en-US" altLang="ko-KR" sz="9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(</a:t>
            </a: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촉매 활성 등</a:t>
            </a:r>
            <a:r>
              <a:rPr kumimoji="0" lang="en-US" altLang="ko-KR" sz="9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)</a:t>
            </a: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에 따른 운전 조정 검토</a:t>
            </a:r>
            <a:endParaRPr kumimoji="0" lang="en-US" altLang="ko-KR" sz="9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8" name="사각형: 둥근 모서리 136">
            <a:extLst>
              <a:ext uri="{FF2B5EF4-FFF2-40B4-BE49-F238E27FC236}">
                <a16:creationId xmlns:a16="http://schemas.microsoft.com/office/drawing/2014/main" id="{41BDC101-2208-6A56-D033-F950CC054D1B}"/>
              </a:ext>
            </a:extLst>
          </p:cNvPr>
          <p:cNvSpPr/>
          <p:nvPr/>
        </p:nvSpPr>
        <p:spPr>
          <a:xfrm>
            <a:off x="3455296" y="2849724"/>
            <a:ext cx="1440000" cy="288000"/>
          </a:xfrm>
          <a:prstGeom prst="rect">
            <a:avLst/>
          </a:prstGeom>
          <a:solidFill>
            <a:srgbClr val="153D64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0" tIns="0" rIns="0" bIns="0" anchor="ctr"/>
          <a:lstStyle/>
          <a:p>
            <a:pPr marL="0" marR="0" lvl="0" indent="0" algn="ctr" defTabSz="7620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정기보수 지원</a:t>
            </a:r>
            <a:endParaRPr kumimoji="0" lang="en-US" altLang="ko-KR" sz="9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9" name="사각형: 둥근 모서리 138">
            <a:extLst>
              <a:ext uri="{FF2B5EF4-FFF2-40B4-BE49-F238E27FC236}">
                <a16:creationId xmlns:a16="http://schemas.microsoft.com/office/drawing/2014/main" id="{773D4967-D53C-661E-C901-F0D65214778B}"/>
              </a:ext>
            </a:extLst>
          </p:cNvPr>
          <p:cNvSpPr/>
          <p:nvPr/>
        </p:nvSpPr>
        <p:spPr>
          <a:xfrm>
            <a:off x="3455296" y="3206245"/>
            <a:ext cx="1440000" cy="28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square"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strike="noStrike" kern="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운전 이상 상황 원인 분석 및 </a:t>
            </a:r>
            <a:br>
              <a:rPr kumimoji="0" lang="en-US" altLang="ko-KR" sz="1000" i="0" u="none" strike="noStrike" kern="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</a:br>
            <a:r>
              <a:rPr kumimoji="0" lang="ko-KR" altLang="en-US" sz="1000" i="0" u="none" strike="noStrike" kern="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대책 수립</a:t>
            </a:r>
            <a:endParaRPr kumimoji="0" lang="en-US" altLang="ko-KR" sz="1000" i="0" u="none" strike="noStrike" kern="0" cap="none" spc="-3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</p:txBody>
      </p:sp>
      <p:sp>
        <p:nvSpPr>
          <p:cNvPr id="60" name="사각형: 둥근 모서리 138">
            <a:extLst>
              <a:ext uri="{FF2B5EF4-FFF2-40B4-BE49-F238E27FC236}">
                <a16:creationId xmlns:a16="http://schemas.microsoft.com/office/drawing/2014/main" id="{E3FC6EDB-8E45-4E0B-34FF-00156A2CC399}"/>
              </a:ext>
            </a:extLst>
          </p:cNvPr>
          <p:cNvSpPr/>
          <p:nvPr/>
        </p:nvSpPr>
        <p:spPr>
          <a:xfrm>
            <a:off x="3455296" y="3562766"/>
            <a:ext cx="1440000" cy="288000"/>
          </a:xfrm>
          <a:prstGeom prst="rect">
            <a:avLst/>
          </a:prstGeom>
          <a:solidFill>
            <a:srgbClr val="153D64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0" tIns="0" rIns="0" bIns="0" anchor="ctr"/>
          <a:lstStyle/>
          <a:p>
            <a:pPr marL="0" marR="0" lvl="0" indent="0" algn="ctr" defTabSz="7620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이상 상황 데이터 수집</a:t>
            </a:r>
            <a:endParaRPr kumimoji="0" lang="en-US" altLang="ko-KR" sz="9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1" name="사각형: 둥근 모서리 138">
            <a:extLst>
              <a:ext uri="{FF2B5EF4-FFF2-40B4-BE49-F238E27FC236}">
                <a16:creationId xmlns:a16="http://schemas.microsoft.com/office/drawing/2014/main" id="{6DDF65A6-388E-8B0B-9F0A-198596C9C9B6}"/>
              </a:ext>
            </a:extLst>
          </p:cNvPr>
          <p:cNvSpPr/>
          <p:nvPr/>
        </p:nvSpPr>
        <p:spPr>
          <a:xfrm>
            <a:off x="3455296" y="3919287"/>
            <a:ext cx="1440000" cy="288000"/>
          </a:xfrm>
          <a:prstGeom prst="rect">
            <a:avLst/>
          </a:prstGeom>
          <a:solidFill>
            <a:srgbClr val="153D64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0" tIns="0" rIns="0" bIns="0" anchor="ctr"/>
          <a:lstStyle/>
          <a:p>
            <a:pPr marL="0" marR="0" lvl="0" indent="0" algn="ctr" defTabSz="7620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운전 변수 이탈 원인 분석</a:t>
            </a:r>
            <a:endParaRPr kumimoji="0" lang="en-US" altLang="ko-KR" sz="9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2" name="사각형: 둥근 모서리 138">
            <a:extLst>
              <a:ext uri="{FF2B5EF4-FFF2-40B4-BE49-F238E27FC236}">
                <a16:creationId xmlns:a16="http://schemas.microsoft.com/office/drawing/2014/main" id="{7713E53B-42E1-6F67-C175-80F9336179C2}"/>
              </a:ext>
            </a:extLst>
          </p:cNvPr>
          <p:cNvSpPr/>
          <p:nvPr/>
        </p:nvSpPr>
        <p:spPr>
          <a:xfrm>
            <a:off x="3455296" y="4275808"/>
            <a:ext cx="1440000" cy="288000"/>
          </a:xfrm>
          <a:prstGeom prst="rect">
            <a:avLst/>
          </a:prstGeom>
          <a:solidFill>
            <a:srgbClr val="153D64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0" tIns="0" rIns="0" bIns="0" anchor="ctr"/>
          <a:lstStyle/>
          <a:p>
            <a:pPr marL="0" marR="0" lvl="0" indent="0" algn="ctr" defTabSz="7620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과거 운전</a:t>
            </a:r>
            <a:r>
              <a:rPr kumimoji="0" lang="en-US" altLang="ko-KR" sz="9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, </a:t>
            </a: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유사 공정 사례 조사</a:t>
            </a:r>
            <a:endParaRPr kumimoji="0" lang="en-US" altLang="ko-KR" sz="9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3" name="사각형: 둥근 모서리 138">
            <a:extLst>
              <a:ext uri="{FF2B5EF4-FFF2-40B4-BE49-F238E27FC236}">
                <a16:creationId xmlns:a16="http://schemas.microsoft.com/office/drawing/2014/main" id="{52D3BACA-934D-0CDA-384D-B3C8E784CB50}"/>
              </a:ext>
            </a:extLst>
          </p:cNvPr>
          <p:cNvSpPr/>
          <p:nvPr/>
        </p:nvSpPr>
        <p:spPr>
          <a:xfrm>
            <a:off x="3455296" y="4632329"/>
            <a:ext cx="1440000" cy="288000"/>
          </a:xfrm>
          <a:prstGeom prst="rect">
            <a:avLst/>
          </a:prstGeom>
          <a:solidFill>
            <a:srgbClr val="153D64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0" tIns="0" rIns="0" bIns="0" anchor="ctr"/>
          <a:lstStyle/>
          <a:p>
            <a:pPr marL="0" marR="0" lvl="0" indent="0" algn="ctr" defTabSz="7620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재발 방지 대책 및 실행 계획 수립</a:t>
            </a:r>
            <a:endParaRPr kumimoji="0" lang="en-US" altLang="ko-KR" sz="9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BF0EF574-1CCE-46FD-2A5B-6DE9E37198F9}"/>
              </a:ext>
            </a:extLst>
          </p:cNvPr>
          <p:cNvSpPr/>
          <p:nvPr/>
        </p:nvSpPr>
        <p:spPr>
          <a:xfrm>
            <a:off x="5010700" y="1423640"/>
            <a:ext cx="1440000" cy="28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square"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strike="noStrike" kern="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설비 고장</a:t>
            </a:r>
            <a:r>
              <a:rPr kumimoji="0" lang="en-US" altLang="ko-KR" sz="1000" i="0" u="none" strike="noStrike" kern="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, </a:t>
            </a:r>
            <a:r>
              <a:rPr kumimoji="0" lang="ko-KR" altLang="en-US" sz="1000" i="0" u="none" strike="noStrike" kern="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성능 저하 원인 분석 및 대책 수립</a:t>
            </a:r>
            <a:endParaRPr kumimoji="0" lang="en-US" altLang="ko-KR" sz="1000" i="0" u="none" strike="noStrike" kern="0" cap="none" spc="-3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</p:txBody>
      </p:sp>
      <p:sp>
        <p:nvSpPr>
          <p:cNvPr id="96" name="사각형: 둥근 모서리 136">
            <a:extLst>
              <a:ext uri="{FF2B5EF4-FFF2-40B4-BE49-F238E27FC236}">
                <a16:creationId xmlns:a16="http://schemas.microsoft.com/office/drawing/2014/main" id="{D15E46E5-550D-7759-1654-8515782CDE6C}"/>
              </a:ext>
            </a:extLst>
          </p:cNvPr>
          <p:cNvSpPr/>
          <p:nvPr/>
        </p:nvSpPr>
        <p:spPr>
          <a:xfrm>
            <a:off x="5010700" y="1780161"/>
            <a:ext cx="1440000" cy="288000"/>
          </a:xfrm>
          <a:prstGeom prst="rect">
            <a:avLst/>
          </a:prstGeom>
          <a:solidFill>
            <a:srgbClr val="153D64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0" tIns="0" rIns="0" bIns="0" anchor="ctr"/>
          <a:lstStyle/>
          <a:p>
            <a:pPr marL="0" marR="0" lvl="0" indent="0" algn="ctr" defTabSz="7620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설비 고장 패턴 파악 및 이력 분석</a:t>
            </a:r>
            <a:endParaRPr kumimoji="0" lang="en-US" altLang="ko-KR" sz="9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4" name="사각형: 둥근 모서리 138">
            <a:extLst>
              <a:ext uri="{FF2B5EF4-FFF2-40B4-BE49-F238E27FC236}">
                <a16:creationId xmlns:a16="http://schemas.microsoft.com/office/drawing/2014/main" id="{5AD213FA-8D96-BDE3-FC4C-1BB21727AEF0}"/>
              </a:ext>
            </a:extLst>
          </p:cNvPr>
          <p:cNvSpPr/>
          <p:nvPr/>
        </p:nvSpPr>
        <p:spPr>
          <a:xfrm>
            <a:off x="5010700" y="2136682"/>
            <a:ext cx="1440000" cy="288000"/>
          </a:xfrm>
          <a:prstGeom prst="rect">
            <a:avLst/>
          </a:prstGeom>
          <a:solidFill>
            <a:srgbClr val="153D64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0" tIns="0" rIns="0" bIns="0" anchor="ctr"/>
          <a:lstStyle/>
          <a:p>
            <a:pPr marL="0" marR="0" lvl="0" indent="0" algn="ctr" defTabSz="7620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설비 성능 테스트 계획 수립</a:t>
            </a:r>
            <a:endParaRPr kumimoji="0" lang="en-US" altLang="ko-KR" sz="9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5" name="사각형: 둥근 모서리 138">
            <a:extLst>
              <a:ext uri="{FF2B5EF4-FFF2-40B4-BE49-F238E27FC236}">
                <a16:creationId xmlns:a16="http://schemas.microsoft.com/office/drawing/2014/main" id="{9177483C-A964-9980-3D18-238EF6A536BF}"/>
              </a:ext>
            </a:extLst>
          </p:cNvPr>
          <p:cNvSpPr/>
          <p:nvPr/>
        </p:nvSpPr>
        <p:spPr>
          <a:xfrm>
            <a:off x="5010700" y="2493203"/>
            <a:ext cx="1440000" cy="288000"/>
          </a:xfrm>
          <a:prstGeom prst="rect">
            <a:avLst/>
          </a:prstGeom>
          <a:solidFill>
            <a:srgbClr val="153D64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0" tIns="0" rIns="0" bIns="0" anchor="ctr"/>
          <a:lstStyle/>
          <a:p>
            <a:pPr marL="0" marR="0" lvl="0" indent="0" algn="ctr" defTabSz="7620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유관부서</a:t>
            </a:r>
            <a:r>
              <a:rPr kumimoji="0" lang="en-US" altLang="ko-KR" sz="9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, </a:t>
            </a: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제작사 협업 및 개선 방안 도출</a:t>
            </a:r>
            <a:endParaRPr kumimoji="0" lang="en-US" altLang="ko-KR" sz="9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6" name="사각형: 둥근 모서리 136">
            <a:extLst>
              <a:ext uri="{FF2B5EF4-FFF2-40B4-BE49-F238E27FC236}">
                <a16:creationId xmlns:a16="http://schemas.microsoft.com/office/drawing/2014/main" id="{0F3CE01F-1CA2-3A1A-8918-69AA412D57E6}"/>
              </a:ext>
            </a:extLst>
          </p:cNvPr>
          <p:cNvSpPr/>
          <p:nvPr/>
        </p:nvSpPr>
        <p:spPr>
          <a:xfrm>
            <a:off x="5010700" y="2849724"/>
            <a:ext cx="1440000" cy="288000"/>
          </a:xfrm>
          <a:prstGeom prst="rect">
            <a:avLst/>
          </a:prstGeom>
          <a:solidFill>
            <a:srgbClr val="153D64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0" tIns="0" rIns="0" bIns="0" anchor="ctr"/>
          <a:lstStyle/>
          <a:p>
            <a:pPr marL="0" marR="0" lvl="0" indent="0" algn="ctr" defTabSz="7620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운전 가이드 라인 재설정</a:t>
            </a:r>
            <a:endParaRPr kumimoji="0" lang="en-US" altLang="ko-KR" sz="9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7" name="사각형: 둥근 모서리 138">
            <a:extLst>
              <a:ext uri="{FF2B5EF4-FFF2-40B4-BE49-F238E27FC236}">
                <a16:creationId xmlns:a16="http://schemas.microsoft.com/office/drawing/2014/main" id="{A8F063F0-D94A-F4B9-93A4-8259D56DC683}"/>
              </a:ext>
            </a:extLst>
          </p:cNvPr>
          <p:cNvSpPr/>
          <p:nvPr/>
        </p:nvSpPr>
        <p:spPr>
          <a:xfrm>
            <a:off x="5010700" y="3206245"/>
            <a:ext cx="1440000" cy="28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square"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strike="noStrike" kern="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제품 품질 문제 해결 및 개선 방안 도출</a:t>
            </a:r>
            <a:endParaRPr kumimoji="0" lang="en-US" altLang="ko-KR" sz="1000" i="0" u="none" strike="noStrike" kern="0" cap="none" spc="-3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</p:txBody>
      </p:sp>
      <p:sp>
        <p:nvSpPr>
          <p:cNvPr id="68" name="사각형: 둥근 모서리 138">
            <a:extLst>
              <a:ext uri="{FF2B5EF4-FFF2-40B4-BE49-F238E27FC236}">
                <a16:creationId xmlns:a16="http://schemas.microsoft.com/office/drawing/2014/main" id="{9A269BF3-589A-385D-9539-DB56C0C4CF5F}"/>
              </a:ext>
            </a:extLst>
          </p:cNvPr>
          <p:cNvSpPr/>
          <p:nvPr/>
        </p:nvSpPr>
        <p:spPr>
          <a:xfrm>
            <a:off x="5010700" y="3562766"/>
            <a:ext cx="1440000" cy="288000"/>
          </a:xfrm>
          <a:prstGeom prst="rect">
            <a:avLst/>
          </a:prstGeom>
          <a:solidFill>
            <a:srgbClr val="153D64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0" tIns="0" rIns="0" bIns="0" anchor="ctr"/>
          <a:lstStyle/>
          <a:p>
            <a:pPr marL="0" marR="0" lvl="0" indent="0" algn="ctr" defTabSz="7620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품질 이슈 데이터 수집 및 통계 분석</a:t>
            </a:r>
            <a:endParaRPr kumimoji="0" lang="en-US" altLang="ko-KR" sz="9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9" name="사각형: 둥근 모서리 138">
            <a:extLst>
              <a:ext uri="{FF2B5EF4-FFF2-40B4-BE49-F238E27FC236}">
                <a16:creationId xmlns:a16="http://schemas.microsoft.com/office/drawing/2014/main" id="{D821D3D5-5F4C-A041-ED3B-6946FC0C5E43}"/>
              </a:ext>
            </a:extLst>
          </p:cNvPr>
          <p:cNvSpPr/>
          <p:nvPr/>
        </p:nvSpPr>
        <p:spPr>
          <a:xfrm>
            <a:off x="5010700" y="3919287"/>
            <a:ext cx="1440000" cy="288000"/>
          </a:xfrm>
          <a:prstGeom prst="rect">
            <a:avLst/>
          </a:prstGeom>
          <a:solidFill>
            <a:srgbClr val="153D64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0" tIns="0" rIns="0" bIns="0" anchor="ctr"/>
          <a:lstStyle/>
          <a:p>
            <a:pPr marL="0" marR="0" lvl="0" indent="0" algn="ctr" defTabSz="7620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공정 조건과 제품 품질 간 상관관계 분석</a:t>
            </a:r>
            <a:endParaRPr kumimoji="0" lang="en-US" altLang="ko-KR" sz="9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70" name="사각형: 둥근 모서리 138">
            <a:extLst>
              <a:ext uri="{FF2B5EF4-FFF2-40B4-BE49-F238E27FC236}">
                <a16:creationId xmlns:a16="http://schemas.microsoft.com/office/drawing/2014/main" id="{AC3C2471-2E56-B3D1-0DC6-102CCD75A835}"/>
              </a:ext>
            </a:extLst>
          </p:cNvPr>
          <p:cNvSpPr/>
          <p:nvPr/>
        </p:nvSpPr>
        <p:spPr>
          <a:xfrm>
            <a:off x="5010700" y="4275808"/>
            <a:ext cx="1440000" cy="288000"/>
          </a:xfrm>
          <a:prstGeom prst="rect">
            <a:avLst/>
          </a:prstGeom>
          <a:solidFill>
            <a:srgbClr val="153D64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0" tIns="0" rIns="0" bIns="0" anchor="ctr"/>
          <a:lstStyle/>
          <a:p>
            <a:pPr marL="0" marR="0" lvl="0" indent="0" algn="ctr" defTabSz="7620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품질 개선을 위한 공정 개선점 도출</a:t>
            </a:r>
            <a:endParaRPr kumimoji="0" lang="en-US" altLang="ko-KR" sz="9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71" name="사각형: 둥근 모서리 138">
            <a:extLst>
              <a:ext uri="{FF2B5EF4-FFF2-40B4-BE49-F238E27FC236}">
                <a16:creationId xmlns:a16="http://schemas.microsoft.com/office/drawing/2014/main" id="{32DD00CA-E7DB-42CF-688D-353B8D2BF889}"/>
              </a:ext>
            </a:extLst>
          </p:cNvPr>
          <p:cNvSpPr/>
          <p:nvPr/>
        </p:nvSpPr>
        <p:spPr>
          <a:xfrm>
            <a:off x="4989512" y="4632329"/>
            <a:ext cx="1461187" cy="288000"/>
          </a:xfrm>
          <a:prstGeom prst="rect">
            <a:avLst/>
          </a:prstGeom>
          <a:solidFill>
            <a:srgbClr val="A6C9EC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0" tIns="0" rIns="0" bIns="0" anchor="ctr"/>
          <a:lstStyle/>
          <a:p>
            <a:pPr marL="0" marR="0" lvl="0" indent="0" algn="ctr" defTabSz="7620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품질 이슈 문서화 및 이력 관리</a:t>
            </a:r>
            <a:endParaRPr kumimoji="0" lang="en-US" altLang="ko-KR" sz="9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CAE41ED9-7DF0-9241-99DC-C5AE05B9DFB1}"/>
              </a:ext>
            </a:extLst>
          </p:cNvPr>
          <p:cNvSpPr/>
          <p:nvPr/>
        </p:nvSpPr>
        <p:spPr>
          <a:xfrm>
            <a:off x="8121507" y="1423640"/>
            <a:ext cx="1440000" cy="28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square"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strike="noStrike" kern="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생산성</a:t>
            </a:r>
            <a:r>
              <a:rPr kumimoji="0" lang="en-US" altLang="ko-KR" sz="1000" i="0" u="none" strike="noStrike" kern="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 </a:t>
            </a:r>
            <a:r>
              <a:rPr kumimoji="0" lang="ko-KR" altLang="en-US" sz="1000" i="0" u="none" strike="noStrike" kern="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향상</a:t>
            </a:r>
            <a:r>
              <a:rPr kumimoji="0" lang="en-US" altLang="ko-KR" sz="1000" i="0" u="none" strike="noStrike" kern="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 </a:t>
            </a:r>
            <a:r>
              <a:rPr kumimoji="0" lang="ko-KR" altLang="en-US" sz="1000" i="0" u="none" strike="noStrike" kern="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기술</a:t>
            </a:r>
            <a:r>
              <a:rPr kumimoji="0" lang="en-US" altLang="ko-KR" sz="1000" i="0" u="none" strike="noStrike" kern="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 </a:t>
            </a:r>
            <a:r>
              <a:rPr kumimoji="0" lang="ko-KR" altLang="en-US" sz="1000" i="0" u="none" strike="noStrike" kern="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검토</a:t>
            </a:r>
            <a:r>
              <a:rPr kumimoji="0" lang="en-US" altLang="ko-KR" sz="1000" i="0" u="none" strike="noStrike" kern="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 </a:t>
            </a:r>
            <a:r>
              <a:rPr kumimoji="0" lang="ko-KR" altLang="en-US" sz="1000" i="0" u="none" strike="noStrike" kern="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및 도입</a:t>
            </a:r>
            <a:endParaRPr kumimoji="0" lang="en-US" altLang="ko-KR" sz="1000" i="0" u="none" strike="noStrike" kern="0" cap="none" spc="-3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</p:txBody>
      </p:sp>
      <p:sp>
        <p:nvSpPr>
          <p:cNvPr id="88" name="사각형: 둥근 모서리 136">
            <a:extLst>
              <a:ext uri="{FF2B5EF4-FFF2-40B4-BE49-F238E27FC236}">
                <a16:creationId xmlns:a16="http://schemas.microsoft.com/office/drawing/2014/main" id="{E5EC069B-E238-0C48-E117-550A87CDDE17}"/>
              </a:ext>
            </a:extLst>
          </p:cNvPr>
          <p:cNvSpPr/>
          <p:nvPr/>
        </p:nvSpPr>
        <p:spPr>
          <a:xfrm>
            <a:off x="8121507" y="1780161"/>
            <a:ext cx="1440000" cy="288000"/>
          </a:xfrm>
          <a:prstGeom prst="rect">
            <a:avLst/>
          </a:prstGeom>
          <a:solidFill>
            <a:srgbClr val="153D64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0" tIns="0" rIns="0" bIns="0" anchor="ctr"/>
          <a:lstStyle/>
          <a:p>
            <a:pPr marL="0" marR="0" lvl="0" indent="0" algn="ctr" defTabSz="7620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도입 가능 기술 정보 수집 및 분석</a:t>
            </a:r>
            <a:endParaRPr kumimoji="0" lang="en-US" altLang="ko-KR" sz="9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89" name="Rectangle 29">
            <a:extLst>
              <a:ext uri="{FF2B5EF4-FFF2-40B4-BE49-F238E27FC236}">
                <a16:creationId xmlns:a16="http://schemas.microsoft.com/office/drawing/2014/main" id="{06F8191A-19D9-3A2D-742D-BB0C05E6AA9D}"/>
              </a:ext>
            </a:extLst>
          </p:cNvPr>
          <p:cNvSpPr>
            <a:spLocks noChangeArrowheads="1"/>
          </p:cNvSpPr>
          <p:nvPr/>
        </p:nvSpPr>
        <p:spPr bwMode="gray">
          <a:xfrm>
            <a:off x="6566104" y="991837"/>
            <a:ext cx="2995404" cy="360000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strike="noStrike" kern="1200" cap="none" spc="-30" normalizeH="0" baseline="0" noProof="0">
                <a:ln>
                  <a:solidFill>
                    <a:srgbClr val="404040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n-cs"/>
              </a:rPr>
              <a:t>공정 최적화 및 개선</a:t>
            </a:r>
          </a:p>
        </p:txBody>
      </p:sp>
      <p:sp>
        <p:nvSpPr>
          <p:cNvPr id="113" name="사각형: 둥근 모서리 136">
            <a:extLst>
              <a:ext uri="{FF2B5EF4-FFF2-40B4-BE49-F238E27FC236}">
                <a16:creationId xmlns:a16="http://schemas.microsoft.com/office/drawing/2014/main" id="{F19C1809-4CD2-FF4D-8BE3-B405AAE49C9A}"/>
              </a:ext>
            </a:extLst>
          </p:cNvPr>
          <p:cNvSpPr/>
          <p:nvPr/>
        </p:nvSpPr>
        <p:spPr>
          <a:xfrm>
            <a:off x="6566104" y="2136682"/>
            <a:ext cx="1440000" cy="288000"/>
          </a:xfrm>
          <a:prstGeom prst="rect">
            <a:avLst/>
          </a:prstGeom>
          <a:solidFill>
            <a:srgbClr val="153D64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0" tIns="0" rIns="0" bIns="0" anchor="ctr"/>
          <a:lstStyle/>
          <a:p>
            <a:pPr marL="0" marR="0" lvl="0" indent="0" algn="ctr" defTabSz="7620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운전 데이터 추세 분석 및</a:t>
            </a:r>
            <a:br>
              <a:rPr kumimoji="0" lang="en-US" altLang="ko-KR" sz="9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</a:b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편차 확인</a:t>
            </a:r>
            <a:endParaRPr kumimoji="0" lang="en-US" altLang="ko-KR" sz="9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90" name="사각형: 둥근 모서리 138">
            <a:extLst>
              <a:ext uri="{FF2B5EF4-FFF2-40B4-BE49-F238E27FC236}">
                <a16:creationId xmlns:a16="http://schemas.microsoft.com/office/drawing/2014/main" id="{B3F5DCD9-BB61-10F8-2F86-DB141ACF4719}"/>
              </a:ext>
            </a:extLst>
          </p:cNvPr>
          <p:cNvSpPr/>
          <p:nvPr/>
        </p:nvSpPr>
        <p:spPr>
          <a:xfrm>
            <a:off x="6566104" y="2493203"/>
            <a:ext cx="1440000" cy="288000"/>
          </a:xfrm>
          <a:prstGeom prst="rect">
            <a:avLst/>
          </a:prstGeom>
          <a:solidFill>
            <a:srgbClr val="153D64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0" tIns="0" rIns="0" bIns="0" anchor="ctr"/>
          <a:lstStyle/>
          <a:p>
            <a:pPr marL="0" marR="0" lvl="0" indent="0" algn="ctr" defTabSz="7620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운전 변수 이상치 점검 및 관리</a:t>
            </a:r>
            <a:endParaRPr kumimoji="0" lang="en-US" altLang="ko-KR" sz="9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24" name="사각형: 둥근 모서리 136">
            <a:extLst>
              <a:ext uri="{FF2B5EF4-FFF2-40B4-BE49-F238E27FC236}">
                <a16:creationId xmlns:a16="http://schemas.microsoft.com/office/drawing/2014/main" id="{6C06D0D0-E0C0-7C41-0F1E-ABA112324B60}"/>
              </a:ext>
            </a:extLst>
          </p:cNvPr>
          <p:cNvSpPr/>
          <p:nvPr/>
        </p:nvSpPr>
        <p:spPr>
          <a:xfrm>
            <a:off x="6566104" y="1780161"/>
            <a:ext cx="1440000" cy="288000"/>
          </a:xfrm>
          <a:prstGeom prst="rect">
            <a:avLst/>
          </a:prstGeom>
          <a:solidFill>
            <a:srgbClr val="4D93D9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0" tIns="0" rIns="0" bIns="0" anchor="ctr"/>
          <a:lstStyle/>
          <a:p>
            <a:pPr marL="0" marR="0" lvl="0" indent="0" algn="ctr" defTabSz="7620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실시간 운전 현황 모니터링</a:t>
            </a:r>
            <a:endParaRPr kumimoji="0" lang="en-US" altLang="ko-KR" sz="9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91" name="사각형: 둥근 모서리 138">
            <a:extLst>
              <a:ext uri="{FF2B5EF4-FFF2-40B4-BE49-F238E27FC236}">
                <a16:creationId xmlns:a16="http://schemas.microsoft.com/office/drawing/2014/main" id="{AC247279-1440-A133-6C5E-7E88AC7C0588}"/>
              </a:ext>
            </a:extLst>
          </p:cNvPr>
          <p:cNvSpPr/>
          <p:nvPr/>
        </p:nvSpPr>
        <p:spPr>
          <a:xfrm>
            <a:off x="6566104" y="3206245"/>
            <a:ext cx="1440000" cy="288000"/>
          </a:xfrm>
          <a:prstGeom prst="rect">
            <a:avLst/>
          </a:prstGeom>
          <a:solidFill>
            <a:srgbClr val="153D64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0" tIns="0" rIns="0" bIns="0" anchor="ctr"/>
          <a:lstStyle/>
          <a:p>
            <a:pPr marL="0" marR="0" lvl="0" indent="0" algn="ctr" defTabSz="7620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공정 시뮬레이션을 통한 최적 운전 조건 도출</a:t>
            </a:r>
            <a:endParaRPr kumimoji="0" lang="en-US" altLang="ko-KR" sz="9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26" name="사각형: 둥근 모서리 136">
            <a:extLst>
              <a:ext uri="{FF2B5EF4-FFF2-40B4-BE49-F238E27FC236}">
                <a16:creationId xmlns:a16="http://schemas.microsoft.com/office/drawing/2014/main" id="{837E672E-3B61-06FB-47BC-425D12135C0A}"/>
              </a:ext>
            </a:extLst>
          </p:cNvPr>
          <p:cNvSpPr/>
          <p:nvPr/>
        </p:nvSpPr>
        <p:spPr>
          <a:xfrm>
            <a:off x="6566104" y="2849724"/>
            <a:ext cx="1440000" cy="28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square"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strike="noStrike" kern="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최적 운전 조건 설정 및 </a:t>
            </a:r>
            <a:br>
              <a:rPr kumimoji="0" lang="en-US" altLang="ko-KR" sz="1000" i="0" u="none" strike="noStrike" kern="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</a:br>
            <a:r>
              <a:rPr kumimoji="0" lang="ko-KR" altLang="en-US" sz="1000" i="0" u="none" strike="noStrike" kern="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운전 전략 수립</a:t>
            </a:r>
            <a:endParaRPr kumimoji="0" lang="en-US" altLang="ko-KR" sz="1000" i="0" u="none" strike="noStrike" kern="0" cap="none" spc="-3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</p:txBody>
      </p:sp>
      <p:sp>
        <p:nvSpPr>
          <p:cNvPr id="127" name="사각형: 둥근 모서리 138">
            <a:extLst>
              <a:ext uri="{FF2B5EF4-FFF2-40B4-BE49-F238E27FC236}">
                <a16:creationId xmlns:a16="http://schemas.microsoft.com/office/drawing/2014/main" id="{C53B9BA7-3AB0-BDA4-96E7-47BBA61E6081}"/>
              </a:ext>
            </a:extLst>
          </p:cNvPr>
          <p:cNvSpPr/>
          <p:nvPr/>
        </p:nvSpPr>
        <p:spPr>
          <a:xfrm>
            <a:off x="6566104" y="3562766"/>
            <a:ext cx="1440000" cy="288000"/>
          </a:xfrm>
          <a:prstGeom prst="rect">
            <a:avLst/>
          </a:prstGeom>
          <a:solidFill>
            <a:srgbClr val="153D64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0" tIns="0" rIns="0" bIns="0" anchor="ctr"/>
          <a:lstStyle/>
          <a:p>
            <a:pPr marL="0" marR="0" lvl="0" indent="0" algn="ctr" defTabSz="7620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에너지 효율화를 위한 운전 조건 최적화</a:t>
            </a:r>
            <a:endParaRPr kumimoji="0" lang="en-US" altLang="ko-KR" sz="9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29" name="사각형: 둥근 모서리 138">
            <a:extLst>
              <a:ext uri="{FF2B5EF4-FFF2-40B4-BE49-F238E27FC236}">
                <a16:creationId xmlns:a16="http://schemas.microsoft.com/office/drawing/2014/main" id="{C423F883-481C-A0FB-FDAE-8775CE0DB92B}"/>
              </a:ext>
            </a:extLst>
          </p:cNvPr>
          <p:cNvSpPr/>
          <p:nvPr/>
        </p:nvSpPr>
        <p:spPr>
          <a:xfrm>
            <a:off x="6566104" y="3919287"/>
            <a:ext cx="1440000" cy="288000"/>
          </a:xfrm>
          <a:prstGeom prst="rect">
            <a:avLst/>
          </a:prstGeom>
          <a:solidFill>
            <a:srgbClr val="153D64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0" tIns="0" rIns="0" bIns="0" anchor="ctr"/>
          <a:lstStyle/>
          <a:p>
            <a:pPr marL="0" marR="0" lvl="0" indent="0" algn="ctr" defTabSz="7620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설비 부하 분산을 위한 운전 패턴 분석 및 개선</a:t>
            </a:r>
            <a:endParaRPr kumimoji="0" lang="en-US" altLang="ko-KR" sz="9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31" name="사각형: 둥근 모서리 138">
            <a:extLst>
              <a:ext uri="{FF2B5EF4-FFF2-40B4-BE49-F238E27FC236}">
                <a16:creationId xmlns:a16="http://schemas.microsoft.com/office/drawing/2014/main" id="{E56BDDCD-7A47-6D63-98DA-9802D1315571}"/>
              </a:ext>
            </a:extLst>
          </p:cNvPr>
          <p:cNvSpPr/>
          <p:nvPr/>
        </p:nvSpPr>
        <p:spPr>
          <a:xfrm>
            <a:off x="6566104" y="4275808"/>
            <a:ext cx="1440000" cy="288000"/>
          </a:xfrm>
          <a:prstGeom prst="rect">
            <a:avLst/>
          </a:prstGeom>
          <a:solidFill>
            <a:srgbClr val="153D64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0" tIns="0" rIns="0" bIns="0" anchor="ctr"/>
          <a:lstStyle/>
          <a:p>
            <a:pPr marL="0" marR="0" lvl="0" indent="0" algn="ctr" defTabSz="7620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외부 영향</a:t>
            </a:r>
            <a:r>
              <a:rPr kumimoji="0" lang="en-US" altLang="ko-KR" sz="9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(</a:t>
            </a: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계절</a:t>
            </a:r>
            <a:r>
              <a:rPr kumimoji="0" lang="en-US" altLang="ko-KR" sz="9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) </a:t>
            </a: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대응 최적 운전 조건 개발</a:t>
            </a:r>
            <a:endParaRPr kumimoji="0" lang="en-US" altLang="ko-KR" sz="9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34" name="사각형: 둥근 모서리 138">
            <a:extLst>
              <a:ext uri="{FF2B5EF4-FFF2-40B4-BE49-F238E27FC236}">
                <a16:creationId xmlns:a16="http://schemas.microsoft.com/office/drawing/2014/main" id="{A63A586D-0A9F-8492-8E53-1CD0802E5F5E}"/>
              </a:ext>
            </a:extLst>
          </p:cNvPr>
          <p:cNvSpPr/>
          <p:nvPr/>
        </p:nvSpPr>
        <p:spPr>
          <a:xfrm>
            <a:off x="6566104" y="4988850"/>
            <a:ext cx="1440000" cy="288000"/>
          </a:xfrm>
          <a:prstGeom prst="rect">
            <a:avLst/>
          </a:prstGeom>
          <a:solidFill>
            <a:srgbClr val="153D64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0" tIns="0" rIns="0" bIns="0" anchor="ctr"/>
          <a:lstStyle/>
          <a:p>
            <a:pPr marL="0" marR="0" lvl="0" indent="0" algn="ctr" defTabSz="7620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개선 아이디어 도출</a:t>
            </a:r>
            <a:endParaRPr kumimoji="0" lang="en-US" altLang="ko-KR" sz="9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35" name="사각형: 둥근 모서리 136">
            <a:extLst>
              <a:ext uri="{FF2B5EF4-FFF2-40B4-BE49-F238E27FC236}">
                <a16:creationId xmlns:a16="http://schemas.microsoft.com/office/drawing/2014/main" id="{1155700D-A99C-8595-95C3-39F2FE77F4D5}"/>
              </a:ext>
            </a:extLst>
          </p:cNvPr>
          <p:cNvSpPr/>
          <p:nvPr/>
        </p:nvSpPr>
        <p:spPr>
          <a:xfrm>
            <a:off x="6566104" y="4632329"/>
            <a:ext cx="1440000" cy="28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square"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strike="noStrike" kern="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공정 개선 과제 도출 및 적용</a:t>
            </a:r>
            <a:endParaRPr kumimoji="0" lang="en-US" altLang="ko-KR" sz="1000" i="0" u="none" strike="noStrike" kern="0" cap="none" spc="-3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</p:txBody>
      </p:sp>
      <p:sp>
        <p:nvSpPr>
          <p:cNvPr id="136" name="사각형: 둥근 모서리 138">
            <a:extLst>
              <a:ext uri="{FF2B5EF4-FFF2-40B4-BE49-F238E27FC236}">
                <a16:creationId xmlns:a16="http://schemas.microsoft.com/office/drawing/2014/main" id="{1C6BCBA3-9038-0031-87FA-2FDF9AE4BC46}"/>
              </a:ext>
            </a:extLst>
          </p:cNvPr>
          <p:cNvSpPr/>
          <p:nvPr/>
        </p:nvSpPr>
        <p:spPr>
          <a:xfrm>
            <a:off x="6566104" y="5345371"/>
            <a:ext cx="1440000" cy="288000"/>
          </a:xfrm>
          <a:prstGeom prst="rect">
            <a:avLst/>
          </a:prstGeom>
          <a:solidFill>
            <a:srgbClr val="153D64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0" tIns="0" rIns="0" bIns="0" anchor="ctr"/>
          <a:lstStyle/>
          <a:p>
            <a:pPr marL="0" marR="0" lvl="0" indent="0" algn="ctr" defTabSz="7620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과제 타당성 검토 및 대상 선정</a:t>
            </a:r>
            <a:endParaRPr kumimoji="0" lang="en-US" altLang="ko-KR" sz="9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37" name="사각형: 둥근 모서리 138">
            <a:extLst>
              <a:ext uri="{FF2B5EF4-FFF2-40B4-BE49-F238E27FC236}">
                <a16:creationId xmlns:a16="http://schemas.microsoft.com/office/drawing/2014/main" id="{20F0D3ED-2D1C-8E22-8E24-533AC850BB57}"/>
              </a:ext>
            </a:extLst>
          </p:cNvPr>
          <p:cNvSpPr/>
          <p:nvPr/>
        </p:nvSpPr>
        <p:spPr>
          <a:xfrm>
            <a:off x="6566104" y="5701892"/>
            <a:ext cx="1440000" cy="288000"/>
          </a:xfrm>
          <a:prstGeom prst="rect">
            <a:avLst/>
          </a:prstGeom>
          <a:solidFill>
            <a:srgbClr val="153D64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0" tIns="0" rIns="0" bIns="0" anchor="ctr"/>
          <a:lstStyle/>
          <a:p>
            <a:pPr marL="0" marR="0" lvl="0" indent="0" algn="ctr" defTabSz="7620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실행 계획 수립 및 과제 수행</a:t>
            </a:r>
            <a:endParaRPr kumimoji="0" lang="en-US" altLang="ko-KR" sz="9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38" name="사각형: 둥근 모서리 138">
            <a:extLst>
              <a:ext uri="{FF2B5EF4-FFF2-40B4-BE49-F238E27FC236}">
                <a16:creationId xmlns:a16="http://schemas.microsoft.com/office/drawing/2014/main" id="{33E18BCA-D201-BFEE-73D5-B0EAEC4B3904}"/>
              </a:ext>
            </a:extLst>
          </p:cNvPr>
          <p:cNvSpPr/>
          <p:nvPr/>
        </p:nvSpPr>
        <p:spPr>
          <a:xfrm>
            <a:off x="6566104" y="6058413"/>
            <a:ext cx="1440000" cy="288000"/>
          </a:xfrm>
          <a:prstGeom prst="rect">
            <a:avLst/>
          </a:prstGeom>
          <a:solidFill>
            <a:srgbClr val="4D93D9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0" tIns="0" rIns="0" bIns="0" anchor="ctr"/>
          <a:lstStyle/>
          <a:p>
            <a:pPr marL="0" marR="0" lvl="0" indent="0" algn="ctr" defTabSz="7620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효과 검증 및 </a:t>
            </a:r>
            <a:r>
              <a:rPr kumimoji="0" lang="en-US" altLang="ko-KR" sz="9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Best Practice </a:t>
            </a: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공유</a:t>
            </a:r>
            <a:endParaRPr kumimoji="0" lang="en-US" altLang="ko-KR" sz="9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39" name="사각형: 둥근 모서리 136">
            <a:extLst>
              <a:ext uri="{FF2B5EF4-FFF2-40B4-BE49-F238E27FC236}">
                <a16:creationId xmlns:a16="http://schemas.microsoft.com/office/drawing/2014/main" id="{12802BF2-4700-A099-34D1-C57044218035}"/>
              </a:ext>
            </a:extLst>
          </p:cNvPr>
          <p:cNvSpPr/>
          <p:nvPr/>
        </p:nvSpPr>
        <p:spPr>
          <a:xfrm>
            <a:off x="8121507" y="2136682"/>
            <a:ext cx="1440000" cy="288000"/>
          </a:xfrm>
          <a:prstGeom prst="rect">
            <a:avLst/>
          </a:prstGeom>
          <a:solidFill>
            <a:srgbClr val="153D64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0" tIns="0" rIns="0" bIns="0" anchor="ctr"/>
          <a:lstStyle/>
          <a:p>
            <a:pPr marL="0" marR="0" lvl="0" indent="0" algn="ctr" defTabSz="7620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기본 설계</a:t>
            </a:r>
            <a:r>
              <a:rPr kumimoji="0" lang="en-US" altLang="ko-KR" sz="9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(BDP) </a:t>
            </a: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및 엔지니어링 검토</a:t>
            </a:r>
            <a:endParaRPr kumimoji="0" lang="en-US" altLang="ko-KR" sz="9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40" name="사각형: 둥근 모서리 138">
            <a:extLst>
              <a:ext uri="{FF2B5EF4-FFF2-40B4-BE49-F238E27FC236}">
                <a16:creationId xmlns:a16="http://schemas.microsoft.com/office/drawing/2014/main" id="{B5FD09C5-9643-3C01-43FC-9614A5990955}"/>
              </a:ext>
            </a:extLst>
          </p:cNvPr>
          <p:cNvSpPr/>
          <p:nvPr/>
        </p:nvSpPr>
        <p:spPr>
          <a:xfrm>
            <a:off x="8121507" y="2493203"/>
            <a:ext cx="1440000" cy="288000"/>
          </a:xfrm>
          <a:prstGeom prst="rect">
            <a:avLst/>
          </a:prstGeom>
          <a:solidFill>
            <a:srgbClr val="153D64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0" tIns="0" rIns="0" bIns="0" anchor="ctr"/>
          <a:lstStyle/>
          <a:p>
            <a:pPr marL="0" marR="0" lvl="0" indent="0" algn="ctr" defTabSz="7620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경제성 분석 및 투자 타당성 검증</a:t>
            </a:r>
            <a:endParaRPr kumimoji="0" lang="en-US" altLang="ko-KR" sz="9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41" name="사각형: 둥근 모서리 136">
            <a:extLst>
              <a:ext uri="{FF2B5EF4-FFF2-40B4-BE49-F238E27FC236}">
                <a16:creationId xmlns:a16="http://schemas.microsoft.com/office/drawing/2014/main" id="{0BBDB714-2210-1125-833A-4CA47FF57140}"/>
              </a:ext>
            </a:extLst>
          </p:cNvPr>
          <p:cNvSpPr/>
          <p:nvPr/>
        </p:nvSpPr>
        <p:spPr>
          <a:xfrm>
            <a:off x="8121507" y="2849724"/>
            <a:ext cx="1440000" cy="288000"/>
          </a:xfrm>
          <a:prstGeom prst="rect">
            <a:avLst/>
          </a:prstGeom>
          <a:solidFill>
            <a:srgbClr val="153D64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0" tIns="0" rIns="0" bIns="0" anchor="ctr"/>
          <a:lstStyle/>
          <a:p>
            <a:pPr marL="0" marR="0" lvl="0" indent="0" algn="ctr" defTabSz="7620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실행 계획 수립 및 승인 문서화</a:t>
            </a:r>
            <a:endParaRPr kumimoji="0" lang="en-US" altLang="ko-KR" sz="9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42" name="사각형: 둥근 모서리 138">
            <a:extLst>
              <a:ext uri="{FF2B5EF4-FFF2-40B4-BE49-F238E27FC236}">
                <a16:creationId xmlns:a16="http://schemas.microsoft.com/office/drawing/2014/main" id="{F8B02644-A9C7-D65E-3536-DBFDEB6822B5}"/>
              </a:ext>
            </a:extLst>
          </p:cNvPr>
          <p:cNvSpPr/>
          <p:nvPr/>
        </p:nvSpPr>
        <p:spPr>
          <a:xfrm>
            <a:off x="8121507" y="3206245"/>
            <a:ext cx="1440000" cy="28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square"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strike="noStrike" kern="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촉매 기술 평가</a:t>
            </a:r>
            <a:endParaRPr kumimoji="0" lang="en-US" altLang="ko-KR" sz="1000" i="0" u="none" strike="noStrike" kern="0" cap="none" spc="-3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</p:txBody>
      </p:sp>
      <p:sp>
        <p:nvSpPr>
          <p:cNvPr id="143" name="사각형: 둥근 모서리 138">
            <a:extLst>
              <a:ext uri="{FF2B5EF4-FFF2-40B4-BE49-F238E27FC236}">
                <a16:creationId xmlns:a16="http://schemas.microsoft.com/office/drawing/2014/main" id="{9CFE1AF4-B0AC-B2F1-6047-DC4579F81C08}"/>
              </a:ext>
            </a:extLst>
          </p:cNvPr>
          <p:cNvSpPr/>
          <p:nvPr/>
        </p:nvSpPr>
        <p:spPr>
          <a:xfrm>
            <a:off x="8121507" y="3562766"/>
            <a:ext cx="1440000" cy="288000"/>
          </a:xfrm>
          <a:prstGeom prst="rect">
            <a:avLst/>
          </a:prstGeom>
          <a:solidFill>
            <a:srgbClr val="A6C9EC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0" tIns="0" rIns="0" bIns="0" anchor="ctr"/>
          <a:lstStyle/>
          <a:p>
            <a:pPr marL="0" marR="0" lvl="0" indent="0" algn="ctr" defTabSz="7620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촉매 구매 </a:t>
            </a:r>
            <a:r>
              <a:rPr kumimoji="0" lang="en-US" altLang="ko-KR" sz="9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ITB </a:t>
            </a: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발송 및 </a:t>
            </a:r>
            <a:r>
              <a:rPr kumimoji="0" lang="en-US" altLang="ko-KR" sz="9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Proposal </a:t>
            </a: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접수</a:t>
            </a:r>
            <a:endParaRPr kumimoji="0" lang="en-US" altLang="ko-KR" sz="9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44" name="사각형: 둥근 모서리 138">
            <a:extLst>
              <a:ext uri="{FF2B5EF4-FFF2-40B4-BE49-F238E27FC236}">
                <a16:creationId xmlns:a16="http://schemas.microsoft.com/office/drawing/2014/main" id="{B6C9B986-8188-0609-B55F-8F6B12A1CD0D}"/>
              </a:ext>
            </a:extLst>
          </p:cNvPr>
          <p:cNvSpPr/>
          <p:nvPr/>
        </p:nvSpPr>
        <p:spPr>
          <a:xfrm>
            <a:off x="8121507" y="3919287"/>
            <a:ext cx="1440000" cy="288000"/>
          </a:xfrm>
          <a:prstGeom prst="rect">
            <a:avLst/>
          </a:prstGeom>
          <a:solidFill>
            <a:srgbClr val="153D64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0" tIns="0" rIns="0" bIns="0" anchor="ctr"/>
          <a:lstStyle/>
          <a:p>
            <a:pPr marL="0" marR="0" lvl="0" indent="0" algn="ctr" defTabSz="7620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촉매 테스트 실시</a:t>
            </a:r>
            <a:endParaRPr kumimoji="0" lang="en-US" altLang="ko-KR" sz="9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45" name="사각형: 둥근 모서리 138">
            <a:extLst>
              <a:ext uri="{FF2B5EF4-FFF2-40B4-BE49-F238E27FC236}">
                <a16:creationId xmlns:a16="http://schemas.microsoft.com/office/drawing/2014/main" id="{4646F90A-1D43-8874-8EF8-18BE307DAD2B}"/>
              </a:ext>
            </a:extLst>
          </p:cNvPr>
          <p:cNvSpPr/>
          <p:nvPr/>
        </p:nvSpPr>
        <p:spPr>
          <a:xfrm>
            <a:off x="8121507" y="4275808"/>
            <a:ext cx="1440000" cy="288000"/>
          </a:xfrm>
          <a:prstGeom prst="rect">
            <a:avLst/>
          </a:prstGeom>
          <a:solidFill>
            <a:srgbClr val="153D64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0" tIns="0" rIns="0" bIns="0" anchor="ctr"/>
          <a:lstStyle/>
          <a:p>
            <a:pPr marL="0" marR="0" lvl="0" indent="0" algn="ctr" defTabSz="7620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촉매 기술 성능 평가</a:t>
            </a:r>
            <a:endParaRPr kumimoji="0" lang="en-US" altLang="ko-KR" sz="9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46" name="사각형: 둥근 모서리 138">
            <a:extLst>
              <a:ext uri="{FF2B5EF4-FFF2-40B4-BE49-F238E27FC236}">
                <a16:creationId xmlns:a16="http://schemas.microsoft.com/office/drawing/2014/main" id="{6E03037B-CF33-9BBA-3F45-097623D54EAF}"/>
              </a:ext>
            </a:extLst>
          </p:cNvPr>
          <p:cNvSpPr/>
          <p:nvPr/>
        </p:nvSpPr>
        <p:spPr>
          <a:xfrm>
            <a:off x="8121507" y="4632329"/>
            <a:ext cx="1440000" cy="288000"/>
          </a:xfrm>
          <a:prstGeom prst="rect">
            <a:avLst/>
          </a:prstGeom>
          <a:solidFill>
            <a:srgbClr val="153D64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0" tIns="0" rIns="0" bIns="0" anchor="ctr"/>
          <a:lstStyle/>
          <a:p>
            <a:pPr marL="0" marR="0" lvl="0" indent="0" algn="ctr" defTabSz="7620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계약 조건 검토 및 협상 지원</a:t>
            </a:r>
            <a:endParaRPr kumimoji="0" lang="en-US" altLang="ko-KR" sz="9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6C35F4F-7016-4374-9B27-E9F4D508AE06}"/>
              </a:ext>
            </a:extLst>
          </p:cNvPr>
          <p:cNvSpPr/>
          <p:nvPr/>
        </p:nvSpPr>
        <p:spPr>
          <a:xfrm>
            <a:off x="7010230" y="701354"/>
            <a:ext cx="428741" cy="154237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0" tIns="0" rIns="0" bIns="0" anchor="ctr"/>
          <a:lstStyle/>
          <a:p>
            <a:pPr marL="0" marR="0" lvl="0" indent="0" algn="ctr" defTabSz="7620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수작업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37DC271-8E73-8149-F1AB-D5EB2035EA01}"/>
              </a:ext>
            </a:extLst>
          </p:cNvPr>
          <p:cNvSpPr/>
          <p:nvPr/>
        </p:nvSpPr>
        <p:spPr>
          <a:xfrm>
            <a:off x="7480814" y="701354"/>
            <a:ext cx="668943" cy="154237"/>
          </a:xfrm>
          <a:prstGeom prst="rect">
            <a:avLst/>
          </a:prstGeom>
          <a:solidFill>
            <a:srgbClr val="DAE9F8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0" tIns="0" rIns="0" bIns="0" anchor="ctr"/>
          <a:lstStyle/>
          <a:p>
            <a:pPr marL="0" marR="0" lvl="0" indent="0" algn="ctr" defTabSz="7620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정보화 초기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0EA66A5-2582-1CE7-DAF8-A3C27017A191}"/>
              </a:ext>
            </a:extLst>
          </p:cNvPr>
          <p:cNvSpPr/>
          <p:nvPr/>
        </p:nvSpPr>
        <p:spPr>
          <a:xfrm>
            <a:off x="8191600" y="701354"/>
            <a:ext cx="428741" cy="154237"/>
          </a:xfrm>
          <a:prstGeom prst="rect">
            <a:avLst/>
          </a:prstGeom>
          <a:solidFill>
            <a:srgbClr val="A6C9EC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0" tIns="0" rIns="0" bIns="0" anchor="ctr"/>
          <a:lstStyle/>
          <a:p>
            <a:pPr marL="0" marR="0" lvl="0" indent="0" algn="ctr" defTabSz="7620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정보화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55CB15C-FC48-C4FB-5237-A565B96D0717}"/>
              </a:ext>
            </a:extLst>
          </p:cNvPr>
          <p:cNvSpPr/>
          <p:nvPr/>
        </p:nvSpPr>
        <p:spPr>
          <a:xfrm>
            <a:off x="8662183" y="701354"/>
            <a:ext cx="428741" cy="154237"/>
          </a:xfrm>
          <a:prstGeom prst="rect">
            <a:avLst/>
          </a:prstGeom>
          <a:solidFill>
            <a:srgbClr val="4D93D9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0" tIns="0" rIns="0" bIns="0" anchor="ctr"/>
          <a:lstStyle/>
          <a:p>
            <a:pPr marL="0" marR="0" lvl="0" indent="0" algn="ctr" defTabSz="7620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자동화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0B34138-DB48-5275-6E15-0812069CA245}"/>
              </a:ext>
            </a:extLst>
          </p:cNvPr>
          <p:cNvSpPr/>
          <p:nvPr/>
        </p:nvSpPr>
        <p:spPr>
          <a:xfrm>
            <a:off x="9132766" y="701354"/>
            <a:ext cx="428741" cy="154237"/>
          </a:xfrm>
          <a:prstGeom prst="rect">
            <a:avLst/>
          </a:prstGeom>
          <a:solidFill>
            <a:srgbClr val="153D64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0" tIns="0" rIns="0" bIns="0" anchor="ctr"/>
          <a:lstStyle/>
          <a:p>
            <a:pPr marL="0" marR="0" lvl="0" indent="0" algn="ctr" defTabSz="7620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지능화</a:t>
            </a:r>
          </a:p>
        </p:txBody>
      </p:sp>
      <p:sp>
        <p:nvSpPr>
          <p:cNvPr id="8" name="Rectangle 29">
            <a:extLst>
              <a:ext uri="{FF2B5EF4-FFF2-40B4-BE49-F238E27FC236}">
                <a16:creationId xmlns:a16="http://schemas.microsoft.com/office/drawing/2014/main" id="{2DF55A16-BFC1-82E2-EA1C-FF495FE9C6F7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4486" y="701354"/>
            <a:ext cx="834931" cy="154237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i="0" u="none" strike="noStrike" kern="1200" cap="none" spc="-30" normalizeH="0" baseline="0" noProof="0">
                <a:ln>
                  <a:solidFill>
                    <a:srgbClr val="404040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Process Group</a:t>
            </a:r>
            <a:endParaRPr kumimoji="0" lang="ko-KR" altLang="en-US" sz="900" i="0" u="none" strike="noStrike" kern="1200" cap="none" spc="-30" normalizeH="0" baseline="0" noProof="0">
              <a:ln>
                <a:solidFill>
                  <a:srgbClr val="404040">
                    <a:alpha val="0"/>
                  </a:srgbClr>
                </a:solidFill>
              </a:ln>
              <a:solidFill>
                <a:schemeClr val="bg1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1" name="Rectangle 29">
            <a:extLst>
              <a:ext uri="{FF2B5EF4-FFF2-40B4-BE49-F238E27FC236}">
                <a16:creationId xmlns:a16="http://schemas.microsoft.com/office/drawing/2014/main" id="{10025AC6-2A6E-FE47-E048-563EEA3B77DE}"/>
              </a:ext>
            </a:extLst>
          </p:cNvPr>
          <p:cNvSpPr>
            <a:spLocks noChangeArrowheads="1"/>
          </p:cNvSpPr>
          <p:nvPr/>
        </p:nvSpPr>
        <p:spPr bwMode="gray">
          <a:xfrm>
            <a:off x="1249211" y="701354"/>
            <a:ext cx="560538" cy="154237"/>
          </a:xfrm>
          <a:prstGeom prst="rect">
            <a:avLst/>
          </a:prstGeom>
          <a:solidFill>
            <a:srgbClr val="595959"/>
          </a:solidFill>
          <a:ln w="6350">
            <a:solidFill>
              <a:schemeClr val="tx1"/>
            </a:solidFill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i="0" u="none" strike="noStrike" kern="1200" cap="none" spc="-30" normalizeH="0" baseline="0" noProof="0">
                <a:ln>
                  <a:solidFill>
                    <a:srgbClr val="404040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Process</a:t>
            </a:r>
            <a:endParaRPr kumimoji="0" lang="ko-KR" altLang="en-US" sz="900" i="0" u="none" strike="noStrike" kern="1200" cap="none" spc="-30" normalizeH="0" baseline="0" noProof="0">
              <a:ln>
                <a:solidFill>
                  <a:srgbClr val="404040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2" name="Rectangle 29">
            <a:extLst>
              <a:ext uri="{FF2B5EF4-FFF2-40B4-BE49-F238E27FC236}">
                <a16:creationId xmlns:a16="http://schemas.microsoft.com/office/drawing/2014/main" id="{2C15DB76-265B-0196-9446-4F37846A337B}"/>
              </a:ext>
            </a:extLst>
          </p:cNvPr>
          <p:cNvSpPr>
            <a:spLocks noChangeArrowheads="1"/>
          </p:cNvSpPr>
          <p:nvPr/>
        </p:nvSpPr>
        <p:spPr bwMode="gray">
          <a:xfrm>
            <a:off x="6481940" y="701354"/>
            <a:ext cx="486447" cy="154237"/>
          </a:xfrm>
          <a:prstGeom prst="rect">
            <a:avLst/>
          </a:prstGeom>
          <a:noFill/>
          <a:ln w="6350"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i="0" u="none" strike="noStrike" kern="1200" cap="none" spc="-30" normalizeH="0" baseline="0" noProof="0">
                <a:ln>
                  <a:solidFill>
                    <a:srgbClr val="404040">
                      <a:alpha val="0"/>
                    </a:srgbClr>
                  </a:solidFill>
                </a:ln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Activity</a:t>
            </a:r>
            <a:endParaRPr kumimoji="0" lang="ko-KR" altLang="en-US" sz="900" i="0" u="none" strike="noStrike" kern="1200" cap="none" spc="-30" normalizeH="0" baseline="0" noProof="0">
              <a:ln>
                <a:solidFill>
                  <a:srgbClr val="404040">
                    <a:alpha val="0"/>
                  </a:srgbClr>
                </a:solidFill>
              </a:ln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527757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08F69-A6B9-0D17-5BAA-4AE8439F9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2B5C0DD-0D41-BBC9-F51B-2D2E2D8112E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4487" y="254884"/>
            <a:ext cx="4687502" cy="343235"/>
          </a:xfrm>
          <a:solidFill>
            <a:schemeClr val="bg1"/>
          </a:solidFill>
        </p:spPr>
        <p:txBody>
          <a:bodyPr wrap="none" anchor="ctr">
            <a:spAutoFit/>
          </a:bodyPr>
          <a:lstStyle/>
          <a:p>
            <a:r>
              <a:rPr lang="en-US" altLang="ko-KR" b="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Appendix. </a:t>
            </a:r>
            <a:r>
              <a:rPr lang="ko-KR" altLang="en-US" b="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생산기술 디지털화 진단 결과 </a:t>
            </a:r>
            <a:r>
              <a:rPr lang="en-US" altLang="ko-KR" b="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(2/2)</a:t>
            </a:r>
            <a:endParaRPr lang="ko-KR" altLang="en-US" b="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9" name="Rectangle 29">
            <a:extLst>
              <a:ext uri="{FF2B5EF4-FFF2-40B4-BE49-F238E27FC236}">
                <a16:creationId xmlns:a16="http://schemas.microsoft.com/office/drawing/2014/main" id="{4ED4F0EA-60F3-3450-7914-6DFE11ABBCBC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4488" y="991837"/>
            <a:ext cx="2995400" cy="360000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strike="noStrike" kern="1200" cap="none" spc="-30" normalizeH="0" baseline="0" noProof="0">
                <a:ln>
                  <a:solidFill>
                    <a:srgbClr val="404040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n-cs"/>
              </a:rPr>
              <a:t>전략 과제 기획 및 관리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A2478A5-DCBE-58F1-4CA0-317022C3B7FF}"/>
              </a:ext>
            </a:extLst>
          </p:cNvPr>
          <p:cNvSpPr/>
          <p:nvPr/>
        </p:nvSpPr>
        <p:spPr>
          <a:xfrm>
            <a:off x="344487" y="1423640"/>
            <a:ext cx="1440000" cy="28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square"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strike="noStrike" kern="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전략 과제 발굴</a:t>
            </a:r>
            <a:endParaRPr kumimoji="0" lang="en-US" altLang="ko-KR" sz="1000" i="0" u="none" strike="noStrike" kern="0" cap="none" spc="-3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</p:txBody>
      </p:sp>
      <p:sp>
        <p:nvSpPr>
          <p:cNvPr id="13" name="사각형: 둥근 모서리 136">
            <a:extLst>
              <a:ext uri="{FF2B5EF4-FFF2-40B4-BE49-F238E27FC236}">
                <a16:creationId xmlns:a16="http://schemas.microsoft.com/office/drawing/2014/main" id="{63ACBB5E-7486-5930-0AE6-C8EFBB4A5AEC}"/>
              </a:ext>
            </a:extLst>
          </p:cNvPr>
          <p:cNvSpPr/>
          <p:nvPr/>
        </p:nvSpPr>
        <p:spPr>
          <a:xfrm>
            <a:off x="344487" y="1780161"/>
            <a:ext cx="1440000" cy="288000"/>
          </a:xfrm>
          <a:prstGeom prst="rect">
            <a:avLst/>
          </a:prstGeom>
          <a:solidFill>
            <a:srgbClr val="DAE9F8"/>
          </a:solidFill>
          <a:ln w="3175">
            <a:solidFill>
              <a:schemeClr val="bg1">
                <a:lumMod val="65000"/>
              </a:schemeClr>
            </a:solidFill>
            <a:prstDash val="solid"/>
          </a:ln>
          <a:effectLst/>
        </p:spPr>
        <p:txBody>
          <a:bodyPr wrap="square" lIns="0" tIns="36000" rIns="0" bIns="36000" rtlCol="0" anchor="ctr"/>
          <a:lstStyle/>
          <a:p>
            <a:pPr algn="ctr" defTabSz="914400"/>
            <a:r>
              <a:rPr lang="en-US" altLang="ko-KR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Revamp Study, </a:t>
            </a:r>
            <a:r>
              <a:rPr lang="ko-KR" altLang="en-US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신규 사업 동향 정보 수집</a:t>
            </a:r>
            <a:endParaRPr lang="en-US" altLang="ko-KR" sz="900" kern="0" spc="-3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8" name="사각형: 둥근 모서리 138">
            <a:extLst>
              <a:ext uri="{FF2B5EF4-FFF2-40B4-BE49-F238E27FC236}">
                <a16:creationId xmlns:a16="http://schemas.microsoft.com/office/drawing/2014/main" id="{A96C06B4-9219-328D-6B32-C1F3C66C61FA}"/>
              </a:ext>
            </a:extLst>
          </p:cNvPr>
          <p:cNvSpPr/>
          <p:nvPr/>
        </p:nvSpPr>
        <p:spPr>
          <a:xfrm>
            <a:off x="344487" y="2136682"/>
            <a:ext cx="1440000" cy="288000"/>
          </a:xfrm>
          <a:prstGeom prst="rect">
            <a:avLst/>
          </a:prstGeom>
          <a:solidFill>
            <a:srgbClr val="A6C9EC"/>
          </a:solidFill>
          <a:ln w="3175">
            <a:solidFill>
              <a:schemeClr val="bg1">
                <a:lumMod val="65000"/>
              </a:schemeClr>
            </a:solidFill>
            <a:prstDash val="solid"/>
          </a:ln>
          <a:effectLst/>
        </p:spPr>
        <p:txBody>
          <a:bodyPr wrap="square" lIns="0" tIns="36000" rIns="0" bIns="36000" rtlCol="0" anchor="ctr"/>
          <a:lstStyle/>
          <a:p>
            <a:pPr algn="ctr" defTabSz="914400"/>
            <a:r>
              <a:rPr lang="en-US" altLang="ko-KR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Revamping, </a:t>
            </a:r>
            <a:r>
              <a:rPr lang="ko-KR" altLang="en-US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신규 사업 적합성 평가 및 도입 방안 수립</a:t>
            </a:r>
            <a:endParaRPr lang="en-US" altLang="ko-KR" sz="900" kern="0" spc="-3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0" name="사각형: 둥근 모서리 138">
            <a:extLst>
              <a:ext uri="{FF2B5EF4-FFF2-40B4-BE49-F238E27FC236}">
                <a16:creationId xmlns:a16="http://schemas.microsoft.com/office/drawing/2014/main" id="{B0E87A95-394C-A562-1437-C30391BE1BAD}"/>
              </a:ext>
            </a:extLst>
          </p:cNvPr>
          <p:cNvSpPr/>
          <p:nvPr/>
        </p:nvSpPr>
        <p:spPr>
          <a:xfrm>
            <a:off x="344487" y="2493203"/>
            <a:ext cx="1440000" cy="28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square"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strike="noStrike" kern="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전략 과제 검토</a:t>
            </a:r>
            <a:endParaRPr kumimoji="0" lang="en-US" altLang="ko-KR" sz="1000" i="0" u="none" strike="noStrike" kern="0" cap="none" spc="-3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4BAEFBEB-3990-FAB4-78CB-D333204A37CA}"/>
              </a:ext>
            </a:extLst>
          </p:cNvPr>
          <p:cNvSpPr/>
          <p:nvPr/>
        </p:nvSpPr>
        <p:spPr>
          <a:xfrm>
            <a:off x="344488" y="2849724"/>
            <a:ext cx="1440000" cy="288000"/>
          </a:xfrm>
          <a:prstGeom prst="rect">
            <a:avLst/>
          </a:prstGeom>
          <a:solidFill>
            <a:srgbClr val="A6C9EC"/>
          </a:solidFill>
          <a:ln w="3175">
            <a:solidFill>
              <a:schemeClr val="bg1">
                <a:lumMod val="65000"/>
              </a:schemeClr>
            </a:solidFill>
            <a:prstDash val="solid"/>
          </a:ln>
          <a:effectLst/>
        </p:spPr>
        <p:txBody>
          <a:bodyPr wrap="square" lIns="0" tIns="36000" rIns="0" bIns="36000" rtlCol="0" anchor="ctr"/>
          <a:lstStyle/>
          <a:p>
            <a:pPr algn="ctr" defTabSz="914400"/>
            <a:r>
              <a:rPr lang="en-US" altLang="ko-KR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Revamping, </a:t>
            </a:r>
            <a:r>
              <a:rPr lang="ko-KR" altLang="en-US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신규 사업 테스트 지원 및 결과 검증</a:t>
            </a:r>
            <a:endParaRPr lang="en-US" altLang="ko-KR" sz="900" kern="0" spc="-3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3" name="사각형: 둥근 모서리 138">
            <a:extLst>
              <a:ext uri="{FF2B5EF4-FFF2-40B4-BE49-F238E27FC236}">
                <a16:creationId xmlns:a16="http://schemas.microsoft.com/office/drawing/2014/main" id="{6AE96942-FF01-5250-6A8C-CFF86FFB7B74}"/>
              </a:ext>
            </a:extLst>
          </p:cNvPr>
          <p:cNvSpPr/>
          <p:nvPr/>
        </p:nvSpPr>
        <p:spPr>
          <a:xfrm>
            <a:off x="344488" y="3206245"/>
            <a:ext cx="1440000" cy="288000"/>
          </a:xfrm>
          <a:prstGeom prst="rect">
            <a:avLst/>
          </a:prstGeom>
          <a:solidFill>
            <a:srgbClr val="A6C9EC"/>
          </a:solidFill>
          <a:ln w="3175">
            <a:solidFill>
              <a:schemeClr val="bg1">
                <a:lumMod val="65000"/>
              </a:schemeClr>
            </a:solidFill>
            <a:prstDash val="solid"/>
          </a:ln>
          <a:effectLst/>
        </p:spPr>
        <p:txBody>
          <a:bodyPr wrap="square" lIns="0" tIns="36000" rIns="0" bIns="36000" rtlCol="0" anchor="ctr"/>
          <a:lstStyle/>
          <a:p>
            <a:pPr algn="ctr" defTabSz="914400"/>
            <a:r>
              <a:rPr lang="en-US" altLang="ko-KR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Revamping, </a:t>
            </a:r>
            <a:r>
              <a:rPr lang="ko-KR" altLang="en-US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신규 사업 상용화 관련 표준</a:t>
            </a:r>
            <a:r>
              <a:rPr lang="en-US" altLang="ko-KR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매뉴얼</a:t>
            </a:r>
            <a:r>
              <a:rPr lang="en-US" altLang="ko-KR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 </a:t>
            </a:r>
            <a:r>
              <a:rPr lang="ko-KR" altLang="en-US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작성</a:t>
            </a:r>
            <a:endParaRPr lang="en-US" altLang="ko-KR" sz="900" kern="0" spc="-3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4" name="사각형: 둥근 모서리 138">
            <a:extLst>
              <a:ext uri="{FF2B5EF4-FFF2-40B4-BE49-F238E27FC236}">
                <a16:creationId xmlns:a16="http://schemas.microsoft.com/office/drawing/2014/main" id="{566F4B82-3F73-333F-67E5-6E852A3D0FE4}"/>
              </a:ext>
            </a:extLst>
          </p:cNvPr>
          <p:cNvSpPr/>
          <p:nvPr/>
        </p:nvSpPr>
        <p:spPr>
          <a:xfrm>
            <a:off x="344488" y="3562766"/>
            <a:ext cx="1440000" cy="28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square"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strike="noStrike" kern="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외부 기술 도입 및 라이선스 선정</a:t>
            </a:r>
            <a:endParaRPr kumimoji="0" lang="en-US" altLang="ko-KR" sz="1000" i="0" u="none" strike="noStrike" kern="0" cap="none" spc="-3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</p:txBody>
      </p:sp>
      <p:sp>
        <p:nvSpPr>
          <p:cNvPr id="45" name="사각형: 둥근 모서리 138">
            <a:extLst>
              <a:ext uri="{FF2B5EF4-FFF2-40B4-BE49-F238E27FC236}">
                <a16:creationId xmlns:a16="http://schemas.microsoft.com/office/drawing/2014/main" id="{892209F4-51F6-FE55-C1BF-A0168DE9AA47}"/>
              </a:ext>
            </a:extLst>
          </p:cNvPr>
          <p:cNvSpPr/>
          <p:nvPr/>
        </p:nvSpPr>
        <p:spPr>
          <a:xfrm>
            <a:off x="344488" y="3919287"/>
            <a:ext cx="1440000" cy="288000"/>
          </a:xfrm>
          <a:prstGeom prst="rect">
            <a:avLst/>
          </a:prstGeom>
          <a:solidFill>
            <a:srgbClr val="DAE9F8"/>
          </a:solidFill>
          <a:ln w="3175">
            <a:solidFill>
              <a:schemeClr val="bg1">
                <a:lumMod val="65000"/>
              </a:schemeClr>
            </a:solidFill>
            <a:prstDash val="solid"/>
          </a:ln>
          <a:effectLst/>
        </p:spPr>
        <p:txBody>
          <a:bodyPr wrap="square" lIns="0" tIns="36000" rIns="0" bIns="36000" rtlCol="0" anchor="ctr"/>
          <a:lstStyle/>
          <a:p>
            <a:pPr algn="ctr" defTabSz="914400"/>
            <a:r>
              <a:rPr lang="ko-KR" altLang="en-US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후보 기술 조사</a:t>
            </a:r>
            <a:endParaRPr lang="en-US" altLang="ko-KR" sz="900" kern="0" spc="-3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AF6AB1B5-CB71-D0D6-5054-E98B81792B08}"/>
              </a:ext>
            </a:extLst>
          </p:cNvPr>
          <p:cNvSpPr/>
          <p:nvPr/>
        </p:nvSpPr>
        <p:spPr>
          <a:xfrm>
            <a:off x="344488" y="4275808"/>
            <a:ext cx="1440000" cy="288000"/>
          </a:xfrm>
          <a:prstGeom prst="rect">
            <a:avLst/>
          </a:prstGeom>
          <a:solidFill>
            <a:srgbClr val="DAE9F8"/>
          </a:solidFill>
          <a:ln w="3175">
            <a:solidFill>
              <a:schemeClr val="bg1">
                <a:lumMod val="65000"/>
              </a:schemeClr>
            </a:solidFill>
            <a:prstDash val="solid"/>
          </a:ln>
          <a:effectLst/>
        </p:spPr>
        <p:txBody>
          <a:bodyPr wrap="square" lIns="0" tIns="36000" rIns="0" bIns="36000" rtlCol="0" anchor="ctr"/>
          <a:lstStyle/>
          <a:p>
            <a:pPr algn="ctr" defTabSz="914400"/>
            <a:r>
              <a:rPr lang="ko-KR" altLang="en-US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테스트 및 후보 기술 성능 평가</a:t>
            </a:r>
            <a:endParaRPr lang="en-US" altLang="ko-KR" sz="900" kern="0" spc="-3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9" name="사각형: 둥근 모서리 138">
            <a:extLst>
              <a:ext uri="{FF2B5EF4-FFF2-40B4-BE49-F238E27FC236}">
                <a16:creationId xmlns:a16="http://schemas.microsoft.com/office/drawing/2014/main" id="{8258B3DE-944B-8D1E-7A48-40D6CFACA6D4}"/>
              </a:ext>
            </a:extLst>
          </p:cNvPr>
          <p:cNvSpPr/>
          <p:nvPr/>
        </p:nvSpPr>
        <p:spPr>
          <a:xfrm>
            <a:off x="344488" y="4632329"/>
            <a:ext cx="1440000" cy="288000"/>
          </a:xfrm>
          <a:prstGeom prst="rect">
            <a:avLst/>
          </a:prstGeom>
          <a:solidFill>
            <a:srgbClr val="DAE9F8"/>
          </a:solidFill>
          <a:ln w="3175">
            <a:solidFill>
              <a:schemeClr val="bg1">
                <a:lumMod val="65000"/>
              </a:schemeClr>
            </a:solidFill>
            <a:prstDash val="solid"/>
          </a:ln>
          <a:effectLst/>
        </p:spPr>
        <p:txBody>
          <a:bodyPr wrap="square" lIns="0" tIns="36000" rIns="0" bIns="36000" rtlCol="0" anchor="ctr"/>
          <a:lstStyle/>
          <a:p>
            <a:pPr algn="ctr" defTabSz="914400"/>
            <a:r>
              <a:rPr lang="ko-KR" altLang="en-US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계약 조건 검토 및 협상 지원</a:t>
            </a:r>
            <a:endParaRPr lang="en-US" altLang="ko-KR" sz="900" kern="0" spc="-3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C083CA31-A96F-4390-BA20-613C5BFD4707}"/>
              </a:ext>
            </a:extLst>
          </p:cNvPr>
          <p:cNvGrpSpPr/>
          <p:nvPr/>
        </p:nvGrpSpPr>
        <p:grpSpPr>
          <a:xfrm>
            <a:off x="1899888" y="1423640"/>
            <a:ext cx="1440000" cy="1714084"/>
            <a:chOff x="344488" y="4988850"/>
            <a:chExt cx="1440000" cy="1714084"/>
          </a:xfrm>
        </p:grpSpPr>
        <p:sp>
          <p:nvSpPr>
            <p:cNvPr id="50" name="사각형: 둥근 모서리 138">
              <a:extLst>
                <a:ext uri="{FF2B5EF4-FFF2-40B4-BE49-F238E27FC236}">
                  <a16:creationId xmlns:a16="http://schemas.microsoft.com/office/drawing/2014/main" id="{9EC959C3-B519-6C61-312E-4573ADF6055E}"/>
                </a:ext>
              </a:extLst>
            </p:cNvPr>
            <p:cNvSpPr/>
            <p:nvPr/>
          </p:nvSpPr>
          <p:spPr>
            <a:xfrm>
              <a:off x="344488" y="4988850"/>
              <a:ext cx="1440000" cy="2880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3175">
              <a:solidFill>
                <a:schemeClr val="tx1">
                  <a:lumMod val="65000"/>
                  <a:lumOff val="35000"/>
                </a:schemeClr>
              </a:solidFill>
            </a:ln>
            <a:effectLst/>
          </p:spPr>
          <p:txBody>
            <a:bodyPr wrap="square" lIns="0" tIns="36000" rIns="0" b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i="0" u="none" strike="noStrike" kern="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n-cs"/>
                </a:rPr>
                <a:t>R-</a:t>
              </a:r>
              <a:r>
                <a:rPr kumimoji="0" lang="ko-KR" altLang="en-US" sz="1000" i="0" u="none" strike="noStrike" kern="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n-cs"/>
                </a:rPr>
                <a:t>연구회 운영</a:t>
              </a:r>
              <a:endParaRPr kumimoji="0" lang="en-US" altLang="ko-KR" sz="1000" i="0" u="none" strike="noStrike" kern="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endParaRPr>
            </a:p>
          </p:txBody>
        </p:sp>
        <p:sp>
          <p:nvSpPr>
            <p:cNvPr id="16" name="사각형: 둥근 모서리 138">
              <a:extLst>
                <a:ext uri="{FF2B5EF4-FFF2-40B4-BE49-F238E27FC236}">
                  <a16:creationId xmlns:a16="http://schemas.microsoft.com/office/drawing/2014/main" id="{B192AF7B-F377-B1B4-5CCE-8CEF9AD45F44}"/>
                </a:ext>
              </a:extLst>
            </p:cNvPr>
            <p:cNvSpPr/>
            <p:nvPr/>
          </p:nvSpPr>
          <p:spPr>
            <a:xfrm>
              <a:off x="344488" y="5345371"/>
              <a:ext cx="1440000" cy="288000"/>
            </a:xfrm>
            <a:prstGeom prst="rect">
              <a:avLst/>
            </a:prstGeom>
            <a:solidFill>
              <a:srgbClr val="DAE9F8"/>
            </a:solidFill>
            <a:ln w="3175">
              <a:solidFill>
                <a:schemeClr val="bg1">
                  <a:lumMod val="65000"/>
                </a:schemeClr>
              </a:solidFill>
              <a:prstDash val="solid"/>
            </a:ln>
            <a:effectLst/>
          </p:spPr>
          <p:txBody>
            <a:bodyPr wrap="square" lIns="0" tIns="36000" rIns="0" bIns="36000" rtlCol="0" anchor="ctr"/>
            <a:lstStyle/>
            <a:p>
              <a:pPr algn="ctr" defTabSz="914400"/>
              <a:r>
                <a:rPr lang="ko-KR" altLang="en-US" sz="900" kern="0" spc="-30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공동 연구 주제 발굴 및 과제 정의</a:t>
              </a:r>
              <a:endParaRPr lang="en-US" altLang="ko-KR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7" name="사각형: 둥근 모서리 138">
              <a:extLst>
                <a:ext uri="{FF2B5EF4-FFF2-40B4-BE49-F238E27FC236}">
                  <a16:creationId xmlns:a16="http://schemas.microsoft.com/office/drawing/2014/main" id="{2B7E69EA-4B23-07D2-FE4F-CFFB710692D0}"/>
                </a:ext>
              </a:extLst>
            </p:cNvPr>
            <p:cNvSpPr/>
            <p:nvPr/>
          </p:nvSpPr>
          <p:spPr>
            <a:xfrm>
              <a:off x="344488" y="5701892"/>
              <a:ext cx="1440000" cy="288000"/>
            </a:xfrm>
            <a:prstGeom prst="rect">
              <a:avLst/>
            </a:prstGeom>
            <a:solidFill>
              <a:srgbClr val="DAE9F8"/>
            </a:solidFill>
            <a:ln w="3175">
              <a:solidFill>
                <a:schemeClr val="bg1">
                  <a:lumMod val="65000"/>
                </a:schemeClr>
              </a:solidFill>
              <a:prstDash val="solid"/>
            </a:ln>
            <a:effectLst/>
          </p:spPr>
          <p:txBody>
            <a:bodyPr wrap="square" lIns="0" tIns="36000" rIns="0" bIns="36000" rtlCol="0" anchor="ctr"/>
            <a:lstStyle/>
            <a:p>
              <a:pPr algn="ctr" defTabSz="914400"/>
              <a:r>
                <a:rPr lang="ko-KR" altLang="en-US" sz="900" kern="0" spc="-30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연구 계획 수립 및 자원 할당</a:t>
              </a:r>
              <a:endParaRPr lang="en-US" altLang="ko-KR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8" name="사각형: 둥근 모서리 136">
              <a:extLst>
                <a:ext uri="{FF2B5EF4-FFF2-40B4-BE49-F238E27FC236}">
                  <a16:creationId xmlns:a16="http://schemas.microsoft.com/office/drawing/2014/main" id="{7978FA1D-0358-8C02-6FC5-5AE980CB3315}"/>
                </a:ext>
              </a:extLst>
            </p:cNvPr>
            <p:cNvSpPr/>
            <p:nvPr/>
          </p:nvSpPr>
          <p:spPr>
            <a:xfrm>
              <a:off x="344488" y="6058413"/>
              <a:ext cx="1440000" cy="288000"/>
            </a:xfrm>
            <a:prstGeom prst="rect">
              <a:avLst/>
            </a:prstGeom>
            <a:solidFill>
              <a:srgbClr val="DAE9F8"/>
            </a:solidFill>
            <a:ln w="3175">
              <a:solidFill>
                <a:schemeClr val="bg1">
                  <a:lumMod val="65000"/>
                </a:schemeClr>
              </a:solidFill>
              <a:prstDash val="solid"/>
            </a:ln>
            <a:effectLst/>
          </p:spPr>
          <p:txBody>
            <a:bodyPr wrap="square" lIns="0" tIns="36000" rIns="0" bIns="36000" rtlCol="0" anchor="ctr"/>
            <a:lstStyle/>
            <a:p>
              <a:pPr algn="ctr" defTabSz="914400"/>
              <a:r>
                <a:rPr lang="ko-KR" altLang="en-US" sz="900" kern="0" spc="-30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현장 테스트 지원 및 결과 피드백</a:t>
              </a:r>
              <a:endParaRPr lang="en-US" altLang="ko-KR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9" name="사각형: 둥근 모서리 136">
              <a:extLst>
                <a:ext uri="{FF2B5EF4-FFF2-40B4-BE49-F238E27FC236}">
                  <a16:creationId xmlns:a16="http://schemas.microsoft.com/office/drawing/2014/main" id="{0FF0F9B5-2EBD-8D02-F62F-16130E99C471}"/>
                </a:ext>
              </a:extLst>
            </p:cNvPr>
            <p:cNvSpPr/>
            <p:nvPr/>
          </p:nvSpPr>
          <p:spPr>
            <a:xfrm>
              <a:off x="344488" y="6414934"/>
              <a:ext cx="1440000" cy="288000"/>
            </a:xfrm>
            <a:prstGeom prst="rect">
              <a:avLst/>
            </a:prstGeom>
            <a:solidFill>
              <a:srgbClr val="DAE9F8"/>
            </a:solidFill>
            <a:ln w="3175">
              <a:solidFill>
                <a:schemeClr val="bg1">
                  <a:lumMod val="65000"/>
                </a:schemeClr>
              </a:solidFill>
              <a:prstDash val="solid"/>
            </a:ln>
            <a:effectLst/>
          </p:spPr>
          <p:txBody>
            <a:bodyPr wrap="square" lIns="0" tIns="36000" rIns="0" bIns="36000" rtlCol="0" anchor="ctr"/>
            <a:lstStyle/>
            <a:p>
              <a:pPr algn="ctr" defTabSz="914400"/>
              <a:r>
                <a:rPr lang="ko-KR" altLang="en-US" sz="900" kern="0" spc="-30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연구 결과 검토 및 현장 적용 방안 도출</a:t>
              </a:r>
              <a:endParaRPr lang="en-US" altLang="ko-KR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</p:grpSp>
      <p:sp>
        <p:nvSpPr>
          <p:cNvPr id="78" name="Rectangle 29">
            <a:extLst>
              <a:ext uri="{FF2B5EF4-FFF2-40B4-BE49-F238E27FC236}">
                <a16:creationId xmlns:a16="http://schemas.microsoft.com/office/drawing/2014/main" id="{F7F543B7-DCF1-C786-535E-FD89C76C4256}"/>
              </a:ext>
            </a:extLst>
          </p:cNvPr>
          <p:cNvSpPr>
            <a:spLocks noChangeArrowheads="1"/>
          </p:cNvSpPr>
          <p:nvPr/>
        </p:nvSpPr>
        <p:spPr bwMode="gray">
          <a:xfrm>
            <a:off x="6566101" y="991837"/>
            <a:ext cx="1440001" cy="360000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strike="noStrike" kern="1200" cap="none" spc="-30" normalizeH="0" baseline="0" noProof="0">
                <a:ln>
                  <a:solidFill>
                    <a:srgbClr val="404040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n-cs"/>
              </a:rPr>
              <a:t>공장 운영 및 운전 정보 제공</a:t>
            </a:r>
          </a:p>
        </p:txBody>
      </p: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475F079D-4DE3-3C2D-C028-F1A10CDAD884}"/>
              </a:ext>
            </a:extLst>
          </p:cNvPr>
          <p:cNvSpPr/>
          <p:nvPr/>
        </p:nvSpPr>
        <p:spPr>
          <a:xfrm>
            <a:off x="8121507" y="1423640"/>
            <a:ext cx="1440000" cy="28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square"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strike="noStrike" kern="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사내 기술 세미나 및 워크숍 운영</a:t>
            </a:r>
            <a:endParaRPr kumimoji="0" lang="en-US" altLang="ko-KR" sz="1000" i="0" u="none" strike="noStrike" kern="0" cap="none" spc="-3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ECE28465-9A97-1337-4C03-EC789639B539}"/>
              </a:ext>
            </a:extLst>
          </p:cNvPr>
          <p:cNvSpPr/>
          <p:nvPr/>
        </p:nvSpPr>
        <p:spPr>
          <a:xfrm>
            <a:off x="3455294" y="1423640"/>
            <a:ext cx="1440000" cy="28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square"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strike="noStrike" kern="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공정 안전성 평가 및 </a:t>
            </a:r>
            <a:br>
              <a:rPr kumimoji="0" lang="en-US" altLang="ko-KR" sz="1000" i="0" u="none" strike="noStrike" kern="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</a:br>
            <a:r>
              <a:rPr kumimoji="0" lang="ko-KR" altLang="en-US" sz="1000" i="0" u="none" strike="noStrike" kern="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위험 관리</a:t>
            </a:r>
            <a:endParaRPr kumimoji="0" lang="en-US" altLang="ko-KR" sz="1000" i="0" u="none" strike="noStrike" kern="0" cap="none" spc="-3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</p:txBody>
      </p:sp>
      <p:sp>
        <p:nvSpPr>
          <p:cNvPr id="28" name="사각형: 둥근 모서리 136">
            <a:extLst>
              <a:ext uri="{FF2B5EF4-FFF2-40B4-BE49-F238E27FC236}">
                <a16:creationId xmlns:a16="http://schemas.microsoft.com/office/drawing/2014/main" id="{A9EAA392-F666-ED54-9A4B-0EB6FD28E33E}"/>
              </a:ext>
            </a:extLst>
          </p:cNvPr>
          <p:cNvSpPr/>
          <p:nvPr/>
        </p:nvSpPr>
        <p:spPr>
          <a:xfrm>
            <a:off x="3455294" y="1780161"/>
            <a:ext cx="1440000" cy="288000"/>
          </a:xfrm>
          <a:prstGeom prst="rect">
            <a:avLst/>
          </a:prstGeom>
          <a:solidFill>
            <a:srgbClr val="A6C9EC"/>
          </a:solidFill>
          <a:ln w="3175">
            <a:solidFill>
              <a:schemeClr val="bg1">
                <a:lumMod val="65000"/>
              </a:schemeClr>
            </a:solidFill>
            <a:prstDash val="solid"/>
          </a:ln>
          <a:effectLst/>
        </p:spPr>
        <p:txBody>
          <a:bodyPr wrap="square" lIns="0" tIns="36000" rIns="0" bIns="36000" rtlCol="0" anchor="ctr"/>
          <a:lstStyle/>
          <a:p>
            <a:pPr algn="ctr" defTabSz="914400"/>
            <a:r>
              <a:rPr lang="ko-KR" altLang="en-US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공정 위험성 평가 수행 및 관리</a:t>
            </a:r>
            <a:endParaRPr lang="en-US" altLang="ko-KR" sz="900" kern="0" spc="-3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1" name="Rectangle 29">
            <a:extLst>
              <a:ext uri="{FF2B5EF4-FFF2-40B4-BE49-F238E27FC236}">
                <a16:creationId xmlns:a16="http://schemas.microsoft.com/office/drawing/2014/main" id="{55C46624-936C-54A5-7219-75B7D6F23577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55294" y="991837"/>
            <a:ext cx="2995401" cy="360000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strike="noStrike" kern="1200" cap="none" spc="-30" normalizeH="0" baseline="0" noProof="0">
                <a:ln>
                  <a:solidFill>
                    <a:srgbClr val="404040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n-cs"/>
              </a:rPr>
              <a:t>안전</a:t>
            </a:r>
            <a:r>
              <a:rPr kumimoji="0" lang="en-US" altLang="ko-KR" sz="1000" i="0" u="none" strike="noStrike" kern="1200" cap="none" spc="-30" normalizeH="0" baseline="0" noProof="0">
                <a:ln>
                  <a:solidFill>
                    <a:srgbClr val="404040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n-cs"/>
              </a:rPr>
              <a:t>/</a:t>
            </a:r>
            <a:r>
              <a:rPr kumimoji="0" lang="ko-KR" altLang="en-US" sz="1000" i="0" u="none" strike="noStrike" kern="1200" cap="none" spc="-30" normalizeH="0" baseline="0" noProof="0">
                <a:ln>
                  <a:solidFill>
                    <a:srgbClr val="404040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n-cs"/>
              </a:rPr>
              <a:t>환경 관리</a:t>
            </a:r>
          </a:p>
        </p:txBody>
      </p:sp>
      <p:sp>
        <p:nvSpPr>
          <p:cNvPr id="52" name="사각형: 둥근 모서리 138">
            <a:extLst>
              <a:ext uri="{FF2B5EF4-FFF2-40B4-BE49-F238E27FC236}">
                <a16:creationId xmlns:a16="http://schemas.microsoft.com/office/drawing/2014/main" id="{3724A5A9-E194-8AAA-6302-4175A36B8D4C}"/>
              </a:ext>
            </a:extLst>
          </p:cNvPr>
          <p:cNvSpPr/>
          <p:nvPr/>
        </p:nvSpPr>
        <p:spPr>
          <a:xfrm>
            <a:off x="3455294" y="2136682"/>
            <a:ext cx="1440000" cy="288000"/>
          </a:xfrm>
          <a:prstGeom prst="rect">
            <a:avLst/>
          </a:prstGeom>
          <a:solidFill>
            <a:srgbClr val="A6C9EC"/>
          </a:solidFill>
          <a:ln w="3175">
            <a:solidFill>
              <a:schemeClr val="bg1">
                <a:lumMod val="65000"/>
              </a:schemeClr>
            </a:solidFill>
            <a:prstDash val="solid"/>
          </a:ln>
          <a:effectLst/>
        </p:spPr>
        <p:txBody>
          <a:bodyPr wrap="square" lIns="0" tIns="36000" rIns="0" bIns="36000" rtlCol="0" anchor="ctr"/>
          <a:lstStyle/>
          <a:p>
            <a:pPr algn="ctr" defTabSz="914400"/>
            <a:r>
              <a:rPr lang="ko-KR" altLang="en-US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작업 위험성 평가 수행 및 관리</a:t>
            </a:r>
            <a:endParaRPr lang="en-US" altLang="ko-KR" sz="900" kern="0" spc="-3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EC3A1202-A4B1-3077-5DEA-6427663C81C8}"/>
              </a:ext>
            </a:extLst>
          </p:cNvPr>
          <p:cNvSpPr/>
          <p:nvPr/>
        </p:nvSpPr>
        <p:spPr>
          <a:xfrm>
            <a:off x="3455294" y="2493203"/>
            <a:ext cx="1440000" cy="288000"/>
          </a:xfrm>
          <a:prstGeom prst="rect">
            <a:avLst/>
          </a:prstGeom>
          <a:solidFill>
            <a:srgbClr val="DAE9F8"/>
          </a:solidFill>
          <a:ln w="3175">
            <a:solidFill>
              <a:schemeClr val="bg1">
                <a:lumMod val="65000"/>
              </a:schemeClr>
            </a:solidFill>
            <a:prstDash val="solid"/>
          </a:ln>
          <a:effectLst/>
        </p:spPr>
        <p:txBody>
          <a:bodyPr wrap="square" lIns="0" tIns="36000" rIns="0" bIns="36000" rtlCol="0" anchor="ctr"/>
          <a:lstStyle/>
          <a:p>
            <a:pPr algn="ctr" defTabSz="914400"/>
            <a:r>
              <a:rPr lang="en-US" altLang="ko-KR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PSM </a:t>
            </a:r>
            <a:r>
              <a:rPr lang="ko-KR" altLang="en-US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구성 요소 관리 및 점검 대응</a:t>
            </a:r>
            <a:endParaRPr lang="en-US" altLang="ko-KR" sz="900" kern="0" spc="-3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4" name="사각형: 둥근 모서리 136">
            <a:extLst>
              <a:ext uri="{FF2B5EF4-FFF2-40B4-BE49-F238E27FC236}">
                <a16:creationId xmlns:a16="http://schemas.microsoft.com/office/drawing/2014/main" id="{1A13E387-535C-88D3-A633-25427610ABCF}"/>
              </a:ext>
            </a:extLst>
          </p:cNvPr>
          <p:cNvSpPr/>
          <p:nvPr/>
        </p:nvSpPr>
        <p:spPr>
          <a:xfrm>
            <a:off x="3455294" y="2849724"/>
            <a:ext cx="1440000" cy="288000"/>
          </a:xfrm>
          <a:prstGeom prst="rect">
            <a:avLst/>
          </a:prstGeom>
          <a:solidFill>
            <a:srgbClr val="DAE9F8"/>
          </a:solidFill>
          <a:ln w="3175">
            <a:solidFill>
              <a:schemeClr val="bg1">
                <a:lumMod val="65000"/>
              </a:schemeClr>
            </a:solidFill>
            <a:prstDash val="solid"/>
          </a:ln>
          <a:effectLst/>
        </p:spPr>
        <p:txBody>
          <a:bodyPr wrap="square" lIns="0" tIns="36000" rIns="0" bIns="36000" rtlCol="0" anchor="ctr"/>
          <a:lstStyle/>
          <a:p>
            <a:pPr algn="ctr" defTabSz="914400"/>
            <a:r>
              <a:rPr lang="en-US" altLang="ko-KR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SMS </a:t>
            </a:r>
            <a:r>
              <a:rPr lang="ko-KR" altLang="en-US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구성 요소 관리 및 점검 대응</a:t>
            </a:r>
            <a:endParaRPr lang="en-US" altLang="ko-KR" sz="900" kern="0" spc="-3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9" name="사각형: 둥근 모서리 138">
            <a:extLst>
              <a:ext uri="{FF2B5EF4-FFF2-40B4-BE49-F238E27FC236}">
                <a16:creationId xmlns:a16="http://schemas.microsoft.com/office/drawing/2014/main" id="{FAA8CCCB-7781-D0B6-EF36-891CA2D3ECB8}"/>
              </a:ext>
            </a:extLst>
          </p:cNvPr>
          <p:cNvSpPr/>
          <p:nvPr/>
        </p:nvSpPr>
        <p:spPr>
          <a:xfrm>
            <a:off x="5010699" y="3206245"/>
            <a:ext cx="1440000" cy="28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square"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strike="noStrike" kern="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안전 및 환경 인허가 </a:t>
            </a:r>
            <a:br>
              <a:rPr kumimoji="0" lang="en-US" altLang="ko-KR" sz="1000" i="0" u="none" strike="noStrike" kern="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</a:br>
            <a:r>
              <a:rPr kumimoji="0" lang="ko-KR" altLang="en-US" sz="1000" i="0" u="none" strike="noStrike" kern="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업무 지원</a:t>
            </a:r>
            <a:endParaRPr kumimoji="0" lang="en-US" altLang="ko-KR" sz="1000" i="0" u="none" strike="noStrike" kern="0" cap="none" spc="-3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</p:txBody>
      </p:sp>
      <p:sp>
        <p:nvSpPr>
          <p:cNvPr id="60" name="사각형: 둥근 모서리 138">
            <a:extLst>
              <a:ext uri="{FF2B5EF4-FFF2-40B4-BE49-F238E27FC236}">
                <a16:creationId xmlns:a16="http://schemas.microsoft.com/office/drawing/2014/main" id="{433D66D8-FC40-FD5E-3DF6-91A9CECC520D}"/>
              </a:ext>
            </a:extLst>
          </p:cNvPr>
          <p:cNvSpPr/>
          <p:nvPr/>
        </p:nvSpPr>
        <p:spPr>
          <a:xfrm>
            <a:off x="5010699" y="3562766"/>
            <a:ext cx="1440000" cy="288000"/>
          </a:xfrm>
          <a:prstGeom prst="rect">
            <a:avLst/>
          </a:prstGeom>
          <a:solidFill>
            <a:srgbClr val="DAE9F8"/>
          </a:solidFill>
          <a:ln w="3175">
            <a:solidFill>
              <a:schemeClr val="bg1">
                <a:lumMod val="65000"/>
              </a:schemeClr>
            </a:solidFill>
            <a:prstDash val="solid"/>
          </a:ln>
          <a:effectLst/>
        </p:spPr>
        <p:txBody>
          <a:bodyPr wrap="square" lIns="0" tIns="36000" rIns="0" bIns="36000" rtlCol="0" anchor="ctr"/>
          <a:lstStyle/>
          <a:p>
            <a:pPr algn="ctr" defTabSz="914400"/>
            <a:r>
              <a:rPr lang="ko-KR" altLang="en-US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인허가 기초 자료 작성 및 신청</a:t>
            </a:r>
            <a:r>
              <a:rPr lang="en-US" altLang="ko-KR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갱신 의뢰</a:t>
            </a:r>
            <a:endParaRPr lang="en-US" altLang="ko-KR" sz="900" kern="0" spc="-3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1" name="사각형: 둥근 모서리 138">
            <a:extLst>
              <a:ext uri="{FF2B5EF4-FFF2-40B4-BE49-F238E27FC236}">
                <a16:creationId xmlns:a16="http://schemas.microsoft.com/office/drawing/2014/main" id="{7A96D9B4-FE1C-E2A3-45E6-A0ED3915C7DC}"/>
              </a:ext>
            </a:extLst>
          </p:cNvPr>
          <p:cNvSpPr/>
          <p:nvPr/>
        </p:nvSpPr>
        <p:spPr>
          <a:xfrm>
            <a:off x="5010699" y="3919287"/>
            <a:ext cx="1440000" cy="288000"/>
          </a:xfrm>
          <a:prstGeom prst="rect">
            <a:avLst/>
          </a:prstGeom>
          <a:solidFill>
            <a:srgbClr val="DAE9F8"/>
          </a:solidFill>
          <a:ln w="3175">
            <a:solidFill>
              <a:schemeClr val="bg1">
                <a:lumMod val="65000"/>
              </a:schemeClr>
            </a:solidFill>
            <a:prstDash val="solid"/>
          </a:ln>
          <a:effectLst/>
        </p:spPr>
        <p:txBody>
          <a:bodyPr wrap="square" lIns="0" tIns="36000" rIns="0" bIns="36000" rtlCol="0" anchor="ctr"/>
          <a:lstStyle/>
          <a:p>
            <a:pPr algn="ctr" defTabSz="914400"/>
            <a:r>
              <a:rPr lang="ko-KR" altLang="en-US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인허가 과정 기술 이슈 대응</a:t>
            </a:r>
            <a:endParaRPr lang="en-US" altLang="ko-KR" sz="900" kern="0" spc="-3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2" name="사각형: 둥근 모서리 138">
            <a:extLst>
              <a:ext uri="{FF2B5EF4-FFF2-40B4-BE49-F238E27FC236}">
                <a16:creationId xmlns:a16="http://schemas.microsoft.com/office/drawing/2014/main" id="{D3CA171F-9203-2C62-C64B-F82EDEEF5A8F}"/>
              </a:ext>
            </a:extLst>
          </p:cNvPr>
          <p:cNvSpPr/>
          <p:nvPr/>
        </p:nvSpPr>
        <p:spPr>
          <a:xfrm>
            <a:off x="5010699" y="4275808"/>
            <a:ext cx="1440000" cy="288000"/>
          </a:xfrm>
          <a:prstGeom prst="rect">
            <a:avLst/>
          </a:prstGeom>
          <a:solidFill>
            <a:srgbClr val="DAE9F8"/>
          </a:solidFill>
          <a:ln w="3175">
            <a:solidFill>
              <a:schemeClr val="bg1">
                <a:lumMod val="65000"/>
              </a:schemeClr>
            </a:solidFill>
            <a:prstDash val="solid"/>
          </a:ln>
          <a:effectLst/>
        </p:spPr>
        <p:txBody>
          <a:bodyPr wrap="square" lIns="0" tIns="36000" rIns="0" bIns="36000" rtlCol="0" anchor="ctr"/>
          <a:lstStyle/>
          <a:p>
            <a:pPr algn="ctr" defTabSz="914400"/>
            <a:r>
              <a:rPr lang="ko-KR" altLang="en-US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인허가 기관 실사 대응 및 후속 조치 이행</a:t>
            </a:r>
            <a:endParaRPr lang="en-US" altLang="ko-KR" sz="900" kern="0" spc="-3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7B20DB0F-6FF9-B695-83AA-40CDC98BF6BA}"/>
              </a:ext>
            </a:extLst>
          </p:cNvPr>
          <p:cNvSpPr/>
          <p:nvPr/>
        </p:nvSpPr>
        <p:spPr>
          <a:xfrm>
            <a:off x="6566103" y="1423640"/>
            <a:ext cx="1440000" cy="28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square"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strike="noStrike" kern="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공장 운영 정보 작성 및 제공</a:t>
            </a:r>
            <a:endParaRPr kumimoji="0" lang="en-US" altLang="ko-KR" sz="1000" i="0" u="none" strike="noStrike" kern="0" cap="none" spc="-3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</p:txBody>
      </p:sp>
      <p:sp>
        <p:nvSpPr>
          <p:cNvPr id="96" name="사각형: 둥근 모서리 136">
            <a:extLst>
              <a:ext uri="{FF2B5EF4-FFF2-40B4-BE49-F238E27FC236}">
                <a16:creationId xmlns:a16="http://schemas.microsoft.com/office/drawing/2014/main" id="{8E38CE28-DA3C-7B1A-6E4B-ABEEA668E8C0}"/>
              </a:ext>
            </a:extLst>
          </p:cNvPr>
          <p:cNvSpPr/>
          <p:nvPr/>
        </p:nvSpPr>
        <p:spPr>
          <a:xfrm>
            <a:off x="6566103" y="1780161"/>
            <a:ext cx="1440000" cy="288000"/>
          </a:xfrm>
          <a:prstGeom prst="rect">
            <a:avLst/>
          </a:prstGeom>
          <a:solidFill>
            <a:srgbClr val="DAE9F8"/>
          </a:solidFill>
          <a:ln w="3175">
            <a:solidFill>
              <a:schemeClr val="bg1">
                <a:lumMod val="65000"/>
              </a:schemeClr>
            </a:solidFill>
            <a:prstDash val="solid"/>
          </a:ln>
          <a:effectLst/>
        </p:spPr>
        <p:txBody>
          <a:bodyPr wrap="square" lIns="0" tIns="36000" rIns="0" bIns="36000" rtlCol="0" anchor="ctr"/>
          <a:lstStyle/>
          <a:p>
            <a:pPr algn="ctr" defTabSz="914400"/>
            <a:r>
              <a:rPr lang="ko-KR" altLang="en-US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운영 정보 취합 및 가공</a:t>
            </a:r>
            <a:endParaRPr lang="en-US" altLang="ko-KR" sz="900" kern="0" spc="-3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4" name="사각형: 둥근 모서리 138">
            <a:extLst>
              <a:ext uri="{FF2B5EF4-FFF2-40B4-BE49-F238E27FC236}">
                <a16:creationId xmlns:a16="http://schemas.microsoft.com/office/drawing/2014/main" id="{BC30047E-F0EC-0E1E-A2A4-441E285E87D8}"/>
              </a:ext>
            </a:extLst>
          </p:cNvPr>
          <p:cNvSpPr/>
          <p:nvPr/>
        </p:nvSpPr>
        <p:spPr>
          <a:xfrm>
            <a:off x="6566103" y="2136682"/>
            <a:ext cx="1440000" cy="288000"/>
          </a:xfrm>
          <a:prstGeom prst="rect">
            <a:avLst/>
          </a:prstGeom>
          <a:solidFill>
            <a:srgbClr val="DAE9F8"/>
          </a:solidFill>
          <a:ln w="3175">
            <a:solidFill>
              <a:schemeClr val="bg1">
                <a:lumMod val="65000"/>
              </a:schemeClr>
            </a:solidFill>
            <a:prstDash val="solid"/>
          </a:ln>
          <a:effectLst/>
        </p:spPr>
        <p:txBody>
          <a:bodyPr wrap="square" lIns="0" tIns="36000" rIns="0" bIns="36000" rtlCol="0" anchor="ctr"/>
          <a:lstStyle/>
          <a:p>
            <a:pPr algn="ctr" defTabSz="914400"/>
            <a:r>
              <a:rPr lang="ko-KR" altLang="en-US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운영 정보 제공 및 </a:t>
            </a:r>
            <a:r>
              <a:rPr lang="en-US" altLang="ko-KR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DB</a:t>
            </a:r>
            <a:r>
              <a:rPr lang="ko-KR" altLang="en-US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화</a:t>
            </a:r>
            <a:endParaRPr lang="en-US" altLang="ko-KR" sz="900" kern="0" spc="-3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5" name="사각형: 둥근 모서리 138">
            <a:extLst>
              <a:ext uri="{FF2B5EF4-FFF2-40B4-BE49-F238E27FC236}">
                <a16:creationId xmlns:a16="http://schemas.microsoft.com/office/drawing/2014/main" id="{42422D01-62BF-A3DC-53F4-E22E8DEF8EE9}"/>
              </a:ext>
            </a:extLst>
          </p:cNvPr>
          <p:cNvSpPr/>
          <p:nvPr/>
        </p:nvSpPr>
        <p:spPr>
          <a:xfrm>
            <a:off x="6566103" y="2493203"/>
            <a:ext cx="1440000" cy="288000"/>
          </a:xfrm>
          <a:prstGeom prst="rect">
            <a:avLst/>
          </a:prstGeom>
          <a:solidFill>
            <a:srgbClr val="DAE9F8"/>
          </a:solidFill>
          <a:ln w="3175">
            <a:solidFill>
              <a:schemeClr val="bg1">
                <a:lumMod val="65000"/>
              </a:schemeClr>
            </a:solidFill>
            <a:prstDash val="solid"/>
          </a:ln>
          <a:effectLst/>
        </p:spPr>
        <p:txBody>
          <a:bodyPr wrap="square" lIns="0" tIns="36000" rIns="0" bIns="36000" rtlCol="0" anchor="ctr"/>
          <a:lstStyle/>
          <a:p>
            <a:pPr algn="ctr" defTabSz="914400"/>
            <a:r>
              <a:rPr lang="ko-KR" altLang="en-US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운전 데이터 수집 및 분석</a:t>
            </a:r>
            <a:endParaRPr lang="en-US" altLang="ko-KR" sz="900" kern="0" spc="-3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6" name="사각형: 둥근 모서리 136">
            <a:extLst>
              <a:ext uri="{FF2B5EF4-FFF2-40B4-BE49-F238E27FC236}">
                <a16:creationId xmlns:a16="http://schemas.microsoft.com/office/drawing/2014/main" id="{B8B04533-C6F7-3DC0-5894-DC9973D14F6B}"/>
              </a:ext>
            </a:extLst>
          </p:cNvPr>
          <p:cNvSpPr/>
          <p:nvPr/>
        </p:nvSpPr>
        <p:spPr>
          <a:xfrm>
            <a:off x="6566103" y="2849724"/>
            <a:ext cx="1440000" cy="288000"/>
          </a:xfrm>
          <a:prstGeom prst="rect">
            <a:avLst/>
          </a:prstGeom>
          <a:solidFill>
            <a:srgbClr val="DAE9F8"/>
          </a:solidFill>
          <a:ln w="3175">
            <a:solidFill>
              <a:schemeClr val="bg1">
                <a:lumMod val="65000"/>
              </a:schemeClr>
            </a:solidFill>
            <a:prstDash val="solid"/>
          </a:ln>
          <a:effectLst/>
        </p:spPr>
        <p:txBody>
          <a:bodyPr wrap="square" lIns="0" tIns="36000" rIns="0" bIns="36000" rtlCol="0" anchor="ctr"/>
          <a:lstStyle/>
          <a:p>
            <a:pPr algn="ctr" defTabSz="914400"/>
            <a:r>
              <a:rPr lang="ko-KR" altLang="en-US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운전 데이터 제공 및 </a:t>
            </a:r>
            <a:r>
              <a:rPr lang="en-US" altLang="ko-KR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DB</a:t>
            </a:r>
            <a:r>
              <a:rPr lang="ko-KR" altLang="en-US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화</a:t>
            </a:r>
            <a:endParaRPr lang="en-US" altLang="ko-KR" sz="900" kern="0" spc="-3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89" name="Rectangle 29">
            <a:extLst>
              <a:ext uri="{FF2B5EF4-FFF2-40B4-BE49-F238E27FC236}">
                <a16:creationId xmlns:a16="http://schemas.microsoft.com/office/drawing/2014/main" id="{2E50C22D-D63A-F35A-607A-2417EBD1FA18}"/>
              </a:ext>
            </a:extLst>
          </p:cNvPr>
          <p:cNvSpPr>
            <a:spLocks noChangeArrowheads="1"/>
          </p:cNvSpPr>
          <p:nvPr/>
        </p:nvSpPr>
        <p:spPr bwMode="gray">
          <a:xfrm>
            <a:off x="8121507" y="991837"/>
            <a:ext cx="1440000" cy="360000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strike="noStrike" kern="1200" cap="none" spc="-30" normalizeH="0" baseline="0" noProof="0">
                <a:ln>
                  <a:solidFill>
                    <a:srgbClr val="404040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n-cs"/>
              </a:rPr>
              <a:t>기술 교육 및 역량 강화</a:t>
            </a:r>
          </a:p>
        </p:txBody>
      </p:sp>
      <p:sp>
        <p:nvSpPr>
          <p:cNvPr id="113" name="사각형: 둥근 모서리 136">
            <a:extLst>
              <a:ext uri="{FF2B5EF4-FFF2-40B4-BE49-F238E27FC236}">
                <a16:creationId xmlns:a16="http://schemas.microsoft.com/office/drawing/2014/main" id="{E6D2E73B-6163-42D1-62B1-CB0DD96647F2}"/>
              </a:ext>
            </a:extLst>
          </p:cNvPr>
          <p:cNvSpPr/>
          <p:nvPr/>
        </p:nvSpPr>
        <p:spPr>
          <a:xfrm>
            <a:off x="8121507" y="2136682"/>
            <a:ext cx="14400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prstDash val="solid"/>
          </a:ln>
          <a:effectLst/>
        </p:spPr>
        <p:txBody>
          <a:bodyPr wrap="square" lIns="0" tIns="36000" rIns="0" bIns="36000" rtlCol="0" anchor="ctr"/>
          <a:lstStyle/>
          <a:p>
            <a:pPr algn="ctr" defTabSz="914400"/>
            <a:r>
              <a:rPr lang="ko-KR" altLang="en-US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세미나</a:t>
            </a:r>
            <a:r>
              <a:rPr lang="en-US" altLang="ko-KR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워크숍 실행 및 </a:t>
            </a:r>
            <a:br>
              <a:rPr lang="en-US" altLang="ko-KR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lang="ko-KR" altLang="en-US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결과 관리</a:t>
            </a:r>
            <a:endParaRPr lang="en-US" altLang="ko-KR" sz="900" kern="0" spc="-3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90" name="사각형: 둥근 모서리 138">
            <a:extLst>
              <a:ext uri="{FF2B5EF4-FFF2-40B4-BE49-F238E27FC236}">
                <a16:creationId xmlns:a16="http://schemas.microsoft.com/office/drawing/2014/main" id="{86745BF7-026C-715E-6B11-6EC939C59784}"/>
              </a:ext>
            </a:extLst>
          </p:cNvPr>
          <p:cNvSpPr/>
          <p:nvPr/>
        </p:nvSpPr>
        <p:spPr>
          <a:xfrm>
            <a:off x="8121507" y="2493203"/>
            <a:ext cx="1440000" cy="28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square"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strike="noStrike" kern="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엔지니어 교육 및 멘토링</a:t>
            </a:r>
            <a:endParaRPr kumimoji="0" lang="en-US" altLang="ko-KR" sz="1000" i="0" u="none" strike="noStrike" kern="0" cap="none" spc="-3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</p:txBody>
      </p:sp>
      <p:sp>
        <p:nvSpPr>
          <p:cNvPr id="124" name="사각형: 둥근 모서리 136">
            <a:extLst>
              <a:ext uri="{FF2B5EF4-FFF2-40B4-BE49-F238E27FC236}">
                <a16:creationId xmlns:a16="http://schemas.microsoft.com/office/drawing/2014/main" id="{9FF6C9C2-602C-3ED4-DF72-35334A9C9F44}"/>
              </a:ext>
            </a:extLst>
          </p:cNvPr>
          <p:cNvSpPr/>
          <p:nvPr/>
        </p:nvSpPr>
        <p:spPr>
          <a:xfrm>
            <a:off x="8121507" y="1780161"/>
            <a:ext cx="1440000" cy="28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  <a:prstDash val="solid"/>
          </a:ln>
          <a:effectLst/>
        </p:spPr>
        <p:txBody>
          <a:bodyPr wrap="square" lIns="0" tIns="36000" rIns="0" bIns="36000" rtlCol="0" anchor="ctr"/>
          <a:lstStyle/>
          <a:p>
            <a:pPr algn="ctr" defTabSz="914400"/>
            <a:r>
              <a:rPr lang="ko-KR" altLang="en-US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세미나</a:t>
            </a:r>
            <a:r>
              <a:rPr lang="en-US" altLang="ko-KR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워크숍 준비</a:t>
            </a:r>
            <a:endParaRPr lang="en-US" altLang="ko-KR" sz="900" kern="0" spc="-3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91" name="사각형: 둥근 모서리 138">
            <a:extLst>
              <a:ext uri="{FF2B5EF4-FFF2-40B4-BE49-F238E27FC236}">
                <a16:creationId xmlns:a16="http://schemas.microsoft.com/office/drawing/2014/main" id="{D594D4EC-9476-B855-A443-0E288705B6BA}"/>
              </a:ext>
            </a:extLst>
          </p:cNvPr>
          <p:cNvSpPr/>
          <p:nvPr/>
        </p:nvSpPr>
        <p:spPr>
          <a:xfrm>
            <a:off x="8121507" y="3206245"/>
            <a:ext cx="1440000" cy="288000"/>
          </a:xfrm>
          <a:prstGeom prst="rect">
            <a:avLst/>
          </a:prstGeom>
          <a:solidFill>
            <a:srgbClr val="DAE9F8"/>
          </a:solidFill>
          <a:ln w="3175">
            <a:solidFill>
              <a:schemeClr val="bg1">
                <a:lumMod val="65000"/>
              </a:schemeClr>
            </a:solidFill>
            <a:prstDash val="solid"/>
          </a:ln>
          <a:effectLst/>
        </p:spPr>
        <p:txBody>
          <a:bodyPr wrap="square" lIns="0" tIns="36000" rIns="0" bIns="36000" rtlCol="0" anchor="ctr"/>
          <a:lstStyle/>
          <a:p>
            <a:pPr algn="ctr" defTabSz="914400"/>
            <a:r>
              <a:rPr lang="ko-KR" altLang="en-US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신입 엔지니어 교육 프로그램 기획 및 운영</a:t>
            </a:r>
            <a:endParaRPr lang="en-US" altLang="ko-KR" sz="900" kern="0" spc="-3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6" name="사각형: 둥근 모서리 136">
            <a:extLst>
              <a:ext uri="{FF2B5EF4-FFF2-40B4-BE49-F238E27FC236}">
                <a16:creationId xmlns:a16="http://schemas.microsoft.com/office/drawing/2014/main" id="{5F162955-58E5-1A31-D03B-4A1763194EC1}"/>
              </a:ext>
            </a:extLst>
          </p:cNvPr>
          <p:cNvSpPr/>
          <p:nvPr/>
        </p:nvSpPr>
        <p:spPr>
          <a:xfrm>
            <a:off x="8121507" y="2849724"/>
            <a:ext cx="1440000" cy="288000"/>
          </a:xfrm>
          <a:prstGeom prst="rect">
            <a:avLst/>
          </a:prstGeom>
          <a:solidFill>
            <a:srgbClr val="DAE9F8"/>
          </a:solidFill>
          <a:ln w="3175">
            <a:solidFill>
              <a:schemeClr val="bg1">
                <a:lumMod val="65000"/>
              </a:schemeClr>
            </a:solidFill>
            <a:prstDash val="solid"/>
          </a:ln>
          <a:effectLst/>
        </p:spPr>
        <p:txBody>
          <a:bodyPr wrap="square" lIns="0" tIns="36000" rIns="0" bIns="36000" rtlCol="0" anchor="ctr"/>
          <a:lstStyle/>
          <a:p>
            <a:pPr algn="ctr" defTabSz="914400"/>
            <a:r>
              <a:rPr lang="ko-KR" altLang="en-US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엔지니어 역량 개발 계획 수립 및 운영</a:t>
            </a:r>
            <a:endParaRPr lang="en-US" altLang="ko-KR" sz="900" kern="0" spc="-3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7" name="사각형: 둥근 모서리 138">
            <a:extLst>
              <a:ext uri="{FF2B5EF4-FFF2-40B4-BE49-F238E27FC236}">
                <a16:creationId xmlns:a16="http://schemas.microsoft.com/office/drawing/2014/main" id="{5D1A5A53-5CA3-4D70-57D7-4FBDBE49E8E3}"/>
              </a:ext>
            </a:extLst>
          </p:cNvPr>
          <p:cNvSpPr/>
          <p:nvPr/>
        </p:nvSpPr>
        <p:spPr>
          <a:xfrm>
            <a:off x="8121507" y="3562766"/>
            <a:ext cx="1440000" cy="288000"/>
          </a:xfrm>
          <a:prstGeom prst="rect">
            <a:avLst/>
          </a:prstGeom>
          <a:solidFill>
            <a:srgbClr val="DAE9F8"/>
          </a:solidFill>
          <a:ln w="3175">
            <a:solidFill>
              <a:schemeClr val="bg1">
                <a:lumMod val="65000"/>
              </a:schemeClr>
            </a:solidFill>
            <a:prstDash val="solid"/>
          </a:ln>
          <a:effectLst/>
        </p:spPr>
        <p:txBody>
          <a:bodyPr wrap="square" lIns="0" tIns="36000" rIns="0" bIns="36000" rtlCol="0" anchor="ctr"/>
          <a:lstStyle/>
          <a:p>
            <a:pPr algn="ctr" defTabSz="914400"/>
            <a:r>
              <a:rPr lang="ko-KR" altLang="en-US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교육 효과 측정 및 개선 방안 도출</a:t>
            </a:r>
            <a:endParaRPr lang="en-US" altLang="ko-KR" sz="900" kern="0" spc="-3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4A1A27BC-7F85-AEAD-2BB2-A85102C41434}"/>
              </a:ext>
            </a:extLst>
          </p:cNvPr>
          <p:cNvGrpSpPr/>
          <p:nvPr/>
        </p:nvGrpSpPr>
        <p:grpSpPr>
          <a:xfrm>
            <a:off x="3455294" y="3206245"/>
            <a:ext cx="1440000" cy="1357563"/>
            <a:chOff x="1899891" y="3206245"/>
            <a:chExt cx="1440000" cy="1357563"/>
          </a:xfrm>
        </p:grpSpPr>
        <p:sp>
          <p:nvSpPr>
            <p:cNvPr id="55" name="사각형: 둥근 모서리 138">
              <a:extLst>
                <a:ext uri="{FF2B5EF4-FFF2-40B4-BE49-F238E27FC236}">
                  <a16:creationId xmlns:a16="http://schemas.microsoft.com/office/drawing/2014/main" id="{BF7EB628-9F74-94E8-6268-E8FC6661AE89}"/>
                </a:ext>
              </a:extLst>
            </p:cNvPr>
            <p:cNvSpPr/>
            <p:nvPr/>
          </p:nvSpPr>
          <p:spPr>
            <a:xfrm>
              <a:off x="1899891" y="3206245"/>
              <a:ext cx="1440000" cy="2880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3175">
              <a:solidFill>
                <a:schemeClr val="tx1">
                  <a:lumMod val="65000"/>
                  <a:lumOff val="35000"/>
                </a:schemeClr>
              </a:solidFill>
            </a:ln>
            <a:effectLst/>
          </p:spPr>
          <p:txBody>
            <a:bodyPr wrap="square" lIns="0" tIns="36000" rIns="0" b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i="0" u="none" strike="noStrike" kern="0" cap="none" spc="-3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n-cs"/>
                </a:rPr>
                <a:t>오염물</a:t>
              </a:r>
              <a:r>
                <a:rPr kumimoji="0" lang="ko-KR" altLang="en-US" sz="1000" i="0" u="none" strike="noStrike" kern="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n-cs"/>
                </a:rPr>
                <a:t> 배출 관리 및 환경 규제 대응</a:t>
              </a:r>
              <a:endParaRPr kumimoji="0" lang="en-US" altLang="ko-KR" sz="1000" i="0" u="none" strike="noStrike" kern="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endParaRPr>
            </a:p>
          </p:txBody>
        </p:sp>
        <p:sp>
          <p:nvSpPr>
            <p:cNvPr id="20" name="사각형: 둥근 모서리 138">
              <a:extLst>
                <a:ext uri="{FF2B5EF4-FFF2-40B4-BE49-F238E27FC236}">
                  <a16:creationId xmlns:a16="http://schemas.microsoft.com/office/drawing/2014/main" id="{7C370E48-067C-A084-BF24-81E430492DE1}"/>
                </a:ext>
              </a:extLst>
            </p:cNvPr>
            <p:cNvSpPr/>
            <p:nvPr/>
          </p:nvSpPr>
          <p:spPr>
            <a:xfrm>
              <a:off x="1899891" y="3562766"/>
              <a:ext cx="1440000" cy="288000"/>
            </a:xfrm>
            <a:prstGeom prst="rect">
              <a:avLst/>
            </a:prstGeom>
            <a:solidFill>
              <a:srgbClr val="A6C9EC"/>
            </a:solidFill>
            <a:ln w="3175">
              <a:solidFill>
                <a:schemeClr val="bg1">
                  <a:lumMod val="65000"/>
                </a:schemeClr>
              </a:solidFill>
              <a:prstDash val="solid"/>
            </a:ln>
            <a:effectLst/>
          </p:spPr>
          <p:txBody>
            <a:bodyPr wrap="square" lIns="0" tIns="36000" rIns="0" bIns="36000" rtlCol="0" anchor="ctr"/>
            <a:lstStyle/>
            <a:p>
              <a:pPr algn="ctr" defTabSz="914400"/>
              <a:r>
                <a:rPr lang="ko-KR" altLang="en-US" sz="900" kern="0" spc="-30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오염물질</a:t>
              </a:r>
              <a:r>
                <a:rPr lang="en-US" altLang="ko-KR" sz="900" kern="0" spc="-30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(</a:t>
              </a:r>
              <a:r>
                <a:rPr lang="ko-KR" altLang="en-US" sz="900" kern="0" spc="-30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대기</a:t>
              </a:r>
              <a:r>
                <a:rPr lang="en-US" altLang="ko-KR" sz="900" kern="0" spc="-30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, </a:t>
              </a:r>
              <a:r>
                <a:rPr lang="ko-KR" altLang="en-US" sz="900" kern="0" spc="-30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폐수 등</a:t>
              </a:r>
              <a:r>
                <a:rPr lang="en-US" altLang="ko-KR" sz="900" kern="0" spc="-30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) </a:t>
              </a:r>
              <a:r>
                <a:rPr lang="ko-KR" altLang="en-US" sz="900" kern="0" spc="-30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배출 현황 모니터링 및 결과 작성</a:t>
              </a:r>
              <a:endParaRPr lang="en-US" altLang="ko-KR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22" name="사각형: 둥근 모서리 138">
              <a:extLst>
                <a:ext uri="{FF2B5EF4-FFF2-40B4-BE49-F238E27FC236}">
                  <a16:creationId xmlns:a16="http://schemas.microsoft.com/office/drawing/2014/main" id="{12485BC6-1A06-590B-40AC-DABA8CC1F85E}"/>
                </a:ext>
              </a:extLst>
            </p:cNvPr>
            <p:cNvSpPr/>
            <p:nvPr/>
          </p:nvSpPr>
          <p:spPr>
            <a:xfrm>
              <a:off x="1899891" y="3919287"/>
              <a:ext cx="1440000" cy="288000"/>
            </a:xfrm>
            <a:prstGeom prst="rect">
              <a:avLst/>
            </a:prstGeom>
            <a:solidFill>
              <a:srgbClr val="DAE9F8"/>
            </a:solidFill>
            <a:ln w="3175">
              <a:solidFill>
                <a:schemeClr val="bg1">
                  <a:lumMod val="65000"/>
                </a:schemeClr>
              </a:solidFill>
              <a:prstDash val="solid"/>
            </a:ln>
            <a:effectLst/>
          </p:spPr>
          <p:txBody>
            <a:bodyPr wrap="square" lIns="0" tIns="36000" rIns="0" bIns="36000" rtlCol="0" anchor="ctr"/>
            <a:lstStyle/>
            <a:p>
              <a:pPr algn="ctr" defTabSz="914400"/>
              <a:r>
                <a:rPr lang="ko-KR" altLang="en-US" sz="900" kern="0" spc="-30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환경 통합법 관련 데이터 관리 및 점검 대응</a:t>
              </a:r>
              <a:endParaRPr lang="en-US" altLang="ko-KR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23" name="사각형: 둥근 모서리 138">
              <a:extLst>
                <a:ext uri="{FF2B5EF4-FFF2-40B4-BE49-F238E27FC236}">
                  <a16:creationId xmlns:a16="http://schemas.microsoft.com/office/drawing/2014/main" id="{26DC9DAA-AD16-8EE0-19AD-1E1A1A11F199}"/>
                </a:ext>
              </a:extLst>
            </p:cNvPr>
            <p:cNvSpPr/>
            <p:nvPr/>
          </p:nvSpPr>
          <p:spPr>
            <a:xfrm>
              <a:off x="1899891" y="4275808"/>
              <a:ext cx="1440000" cy="288000"/>
            </a:xfrm>
            <a:prstGeom prst="rect">
              <a:avLst/>
            </a:prstGeom>
            <a:solidFill>
              <a:srgbClr val="DAE9F8"/>
            </a:solidFill>
            <a:ln w="3175">
              <a:solidFill>
                <a:schemeClr val="bg1">
                  <a:lumMod val="65000"/>
                </a:schemeClr>
              </a:solidFill>
              <a:prstDash val="solid"/>
            </a:ln>
            <a:effectLst/>
          </p:spPr>
          <p:txBody>
            <a:bodyPr wrap="square" lIns="0" tIns="36000" rIns="0" bIns="36000" rtlCol="0" anchor="ctr"/>
            <a:lstStyle/>
            <a:p>
              <a:pPr algn="ctr" defTabSz="914400"/>
              <a:r>
                <a:rPr lang="ko-KR" altLang="en-US" sz="900" kern="0" spc="-30" err="1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화관법</a:t>
              </a:r>
              <a:r>
                <a:rPr lang="ko-KR" altLang="en-US" sz="900" kern="0" spc="-30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관련 데이터 관리 및 점검 대응</a:t>
              </a:r>
              <a:endParaRPr lang="en-US" altLang="ko-KR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82CD2789-EB25-4A32-61F2-28E250535E95}"/>
              </a:ext>
            </a:extLst>
          </p:cNvPr>
          <p:cNvGrpSpPr/>
          <p:nvPr/>
        </p:nvGrpSpPr>
        <p:grpSpPr>
          <a:xfrm>
            <a:off x="5010699" y="1423640"/>
            <a:ext cx="1440000" cy="1714084"/>
            <a:chOff x="1899891" y="4632329"/>
            <a:chExt cx="1440000" cy="1714084"/>
          </a:xfrm>
        </p:grpSpPr>
        <p:sp>
          <p:nvSpPr>
            <p:cNvPr id="26" name="사각형: 둥근 모서리 138">
              <a:extLst>
                <a:ext uri="{FF2B5EF4-FFF2-40B4-BE49-F238E27FC236}">
                  <a16:creationId xmlns:a16="http://schemas.microsoft.com/office/drawing/2014/main" id="{A0E76024-E969-4632-9E45-258B2808F9D8}"/>
                </a:ext>
              </a:extLst>
            </p:cNvPr>
            <p:cNvSpPr/>
            <p:nvPr/>
          </p:nvSpPr>
          <p:spPr>
            <a:xfrm>
              <a:off x="1899891" y="4632329"/>
              <a:ext cx="1440000" cy="2880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3175">
              <a:solidFill>
                <a:schemeClr val="tx1">
                  <a:lumMod val="65000"/>
                  <a:lumOff val="35000"/>
                </a:schemeClr>
              </a:solidFill>
            </a:ln>
            <a:effectLst/>
          </p:spPr>
          <p:txBody>
            <a:bodyPr wrap="square" lIns="0" tIns="36000" rIns="0" b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i="0" u="none" strike="noStrike" kern="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n-cs"/>
                </a:rPr>
                <a:t>사고 조사 및 재발 방지 </a:t>
              </a:r>
              <a:br>
                <a:rPr kumimoji="0" lang="en-US" altLang="ko-KR" sz="1000" i="0" u="none" strike="noStrike" kern="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n-cs"/>
                </a:rPr>
              </a:br>
              <a:r>
                <a:rPr kumimoji="0" lang="ko-KR" altLang="en-US" sz="1000" i="0" u="none" strike="noStrike" kern="0" cap="none" spc="-3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n-cs"/>
                </a:rPr>
                <a:t>대책 수립</a:t>
              </a:r>
              <a:endParaRPr kumimoji="0" lang="en-US" altLang="ko-KR" sz="1000" i="0" u="none" strike="noStrike" kern="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endParaRPr>
            </a:p>
          </p:txBody>
        </p:sp>
        <p:sp>
          <p:nvSpPr>
            <p:cNvPr id="29" name="사각형: 둥근 모서리 138">
              <a:extLst>
                <a:ext uri="{FF2B5EF4-FFF2-40B4-BE49-F238E27FC236}">
                  <a16:creationId xmlns:a16="http://schemas.microsoft.com/office/drawing/2014/main" id="{B67EE2EB-0540-B666-FDC9-BBFA5143022A}"/>
                </a:ext>
              </a:extLst>
            </p:cNvPr>
            <p:cNvSpPr/>
            <p:nvPr/>
          </p:nvSpPr>
          <p:spPr>
            <a:xfrm>
              <a:off x="1899891" y="4988850"/>
              <a:ext cx="1440000" cy="288000"/>
            </a:xfrm>
            <a:prstGeom prst="rect">
              <a:avLst/>
            </a:prstGeom>
            <a:solidFill>
              <a:srgbClr val="A6C9EC"/>
            </a:solidFill>
            <a:ln w="3175">
              <a:solidFill>
                <a:schemeClr val="bg1">
                  <a:lumMod val="65000"/>
                </a:schemeClr>
              </a:solidFill>
              <a:prstDash val="solid"/>
            </a:ln>
            <a:effectLst/>
          </p:spPr>
          <p:txBody>
            <a:bodyPr wrap="square" lIns="0" tIns="36000" rIns="0" bIns="36000" rtlCol="0" anchor="ctr"/>
            <a:lstStyle/>
            <a:p>
              <a:pPr algn="ctr" defTabSz="914400"/>
              <a:r>
                <a:rPr lang="ko-KR" altLang="en-US" sz="900" kern="0" spc="-30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사고 조사 조직</a:t>
              </a:r>
              <a:r>
                <a:rPr lang="en-US" altLang="ko-KR" sz="900" kern="0" spc="-30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(TF) </a:t>
              </a:r>
              <a:r>
                <a:rPr lang="ko-KR" altLang="en-US" sz="900" kern="0" spc="-30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구성</a:t>
              </a:r>
              <a:endParaRPr lang="en-US" altLang="ko-KR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30" name="사각형: 둥근 모서리 138">
              <a:extLst>
                <a:ext uri="{FF2B5EF4-FFF2-40B4-BE49-F238E27FC236}">
                  <a16:creationId xmlns:a16="http://schemas.microsoft.com/office/drawing/2014/main" id="{847C80D6-2AE3-1028-8243-AC9F8284057E}"/>
                </a:ext>
              </a:extLst>
            </p:cNvPr>
            <p:cNvSpPr/>
            <p:nvPr/>
          </p:nvSpPr>
          <p:spPr>
            <a:xfrm>
              <a:off x="1899891" y="5345371"/>
              <a:ext cx="1440000" cy="288000"/>
            </a:xfrm>
            <a:prstGeom prst="rect">
              <a:avLst/>
            </a:prstGeom>
            <a:solidFill>
              <a:srgbClr val="A6C9EC"/>
            </a:solidFill>
            <a:ln w="3175">
              <a:solidFill>
                <a:schemeClr val="bg1">
                  <a:lumMod val="65000"/>
                </a:schemeClr>
              </a:solidFill>
              <a:prstDash val="solid"/>
            </a:ln>
            <a:effectLst/>
          </p:spPr>
          <p:txBody>
            <a:bodyPr wrap="square" lIns="0" tIns="36000" rIns="0" bIns="36000" rtlCol="0" anchor="ctr"/>
            <a:lstStyle/>
            <a:p>
              <a:pPr algn="ctr" defTabSz="914400"/>
              <a:r>
                <a:rPr lang="ko-KR" altLang="en-US" sz="900" kern="0" spc="-30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사고 분석 및 근본 원인 파악</a:t>
              </a:r>
              <a:endParaRPr lang="en-US" altLang="ko-KR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31" name="사각형: 둥근 모서리 138">
              <a:extLst>
                <a:ext uri="{FF2B5EF4-FFF2-40B4-BE49-F238E27FC236}">
                  <a16:creationId xmlns:a16="http://schemas.microsoft.com/office/drawing/2014/main" id="{062D825E-4DCE-9718-B77E-89A1EFA03A8B}"/>
                </a:ext>
              </a:extLst>
            </p:cNvPr>
            <p:cNvSpPr/>
            <p:nvPr/>
          </p:nvSpPr>
          <p:spPr>
            <a:xfrm>
              <a:off x="1899891" y="5701892"/>
              <a:ext cx="1440000" cy="288000"/>
            </a:xfrm>
            <a:prstGeom prst="rect">
              <a:avLst/>
            </a:prstGeom>
            <a:solidFill>
              <a:srgbClr val="A6C9EC"/>
            </a:solidFill>
            <a:ln w="3175">
              <a:solidFill>
                <a:schemeClr val="bg1">
                  <a:lumMod val="65000"/>
                </a:schemeClr>
              </a:solidFill>
              <a:prstDash val="solid"/>
            </a:ln>
            <a:effectLst/>
          </p:spPr>
          <p:txBody>
            <a:bodyPr wrap="square" lIns="0" tIns="36000" rIns="0" bIns="36000" rtlCol="0" anchor="ctr"/>
            <a:lstStyle/>
            <a:p>
              <a:pPr algn="ctr" defTabSz="914400"/>
              <a:r>
                <a:rPr lang="ko-KR" altLang="en-US" sz="900" kern="0" spc="-30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기술적</a:t>
              </a:r>
              <a:r>
                <a:rPr lang="en-US" altLang="ko-KR" sz="900" kern="0" spc="-30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/</a:t>
              </a:r>
              <a:r>
                <a:rPr lang="ko-KR" altLang="en-US" sz="900" kern="0" spc="-30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관리적 재발 방지 대책 수립 및 이행 관리</a:t>
              </a:r>
              <a:endParaRPr lang="en-US" altLang="ko-KR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33" name="사각형: 둥근 모서리 138">
              <a:extLst>
                <a:ext uri="{FF2B5EF4-FFF2-40B4-BE49-F238E27FC236}">
                  <a16:creationId xmlns:a16="http://schemas.microsoft.com/office/drawing/2014/main" id="{25487340-3D71-984A-580D-1134B5072D64}"/>
                </a:ext>
              </a:extLst>
            </p:cNvPr>
            <p:cNvSpPr/>
            <p:nvPr/>
          </p:nvSpPr>
          <p:spPr>
            <a:xfrm>
              <a:off x="1899891" y="6058413"/>
              <a:ext cx="1440000" cy="288000"/>
            </a:xfrm>
            <a:prstGeom prst="rect">
              <a:avLst/>
            </a:prstGeom>
            <a:solidFill>
              <a:srgbClr val="A6C9EC"/>
            </a:solidFill>
            <a:ln w="3175">
              <a:solidFill>
                <a:schemeClr val="bg1">
                  <a:lumMod val="65000"/>
                </a:schemeClr>
              </a:solidFill>
              <a:prstDash val="solid"/>
            </a:ln>
            <a:effectLst/>
          </p:spPr>
          <p:txBody>
            <a:bodyPr wrap="square" lIns="0" tIns="36000" rIns="0" bIns="36000" rtlCol="0" anchor="ctr"/>
            <a:lstStyle/>
            <a:p>
              <a:pPr algn="ctr" defTabSz="914400"/>
              <a:r>
                <a:rPr lang="ko-KR" altLang="en-US" sz="900" kern="0" spc="-30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사고 조사 보고서 작성 및 사례 공유</a:t>
              </a:r>
              <a:endParaRPr lang="en-US" altLang="ko-KR" sz="900" kern="0" spc="-3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</p:grpSp>
      <p:sp>
        <p:nvSpPr>
          <p:cNvPr id="2" name="직사각형 1">
            <a:extLst>
              <a:ext uri="{FF2B5EF4-FFF2-40B4-BE49-F238E27FC236}">
                <a16:creationId xmlns:a16="http://schemas.microsoft.com/office/drawing/2014/main" id="{C94010AA-62EB-F8C8-94C4-210D2376B6DF}"/>
              </a:ext>
            </a:extLst>
          </p:cNvPr>
          <p:cNvSpPr/>
          <p:nvPr/>
        </p:nvSpPr>
        <p:spPr>
          <a:xfrm>
            <a:off x="7010230" y="701354"/>
            <a:ext cx="428741" cy="154237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0" tIns="0" rIns="0" bIns="0" anchor="ctr"/>
          <a:lstStyle/>
          <a:p>
            <a:pPr marL="0" marR="0" lvl="0" indent="0" algn="ctr" defTabSz="7620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수작업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9A197AF-D83D-19EB-674D-FB3B9F812B55}"/>
              </a:ext>
            </a:extLst>
          </p:cNvPr>
          <p:cNvSpPr/>
          <p:nvPr/>
        </p:nvSpPr>
        <p:spPr>
          <a:xfrm>
            <a:off x="7480814" y="701354"/>
            <a:ext cx="668943" cy="154237"/>
          </a:xfrm>
          <a:prstGeom prst="rect">
            <a:avLst/>
          </a:prstGeom>
          <a:solidFill>
            <a:srgbClr val="DAE9F8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0" tIns="0" rIns="0" bIns="0" anchor="ctr"/>
          <a:lstStyle/>
          <a:p>
            <a:pPr marL="0" marR="0" lvl="0" indent="0" algn="ctr" defTabSz="7620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정보화 초기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23C2B54-34F4-0509-4DA5-CDF3380BBAF1}"/>
              </a:ext>
            </a:extLst>
          </p:cNvPr>
          <p:cNvSpPr/>
          <p:nvPr/>
        </p:nvSpPr>
        <p:spPr>
          <a:xfrm>
            <a:off x="8191600" y="701354"/>
            <a:ext cx="428741" cy="154237"/>
          </a:xfrm>
          <a:prstGeom prst="rect">
            <a:avLst/>
          </a:prstGeom>
          <a:solidFill>
            <a:srgbClr val="A6C9EC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0" tIns="0" rIns="0" bIns="0" anchor="ctr"/>
          <a:lstStyle/>
          <a:p>
            <a:pPr marL="0" marR="0" lvl="0" indent="0" algn="ctr" defTabSz="7620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정보화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AD7F9CB-3A5A-FD57-E196-B157D3E4C38C}"/>
              </a:ext>
            </a:extLst>
          </p:cNvPr>
          <p:cNvSpPr/>
          <p:nvPr/>
        </p:nvSpPr>
        <p:spPr>
          <a:xfrm>
            <a:off x="8662183" y="701354"/>
            <a:ext cx="428741" cy="154237"/>
          </a:xfrm>
          <a:prstGeom prst="rect">
            <a:avLst/>
          </a:prstGeom>
          <a:solidFill>
            <a:srgbClr val="4D93D9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0" tIns="0" rIns="0" bIns="0" anchor="ctr"/>
          <a:lstStyle/>
          <a:p>
            <a:pPr marL="0" marR="0" lvl="0" indent="0" algn="ctr" defTabSz="7620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자동화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FAA5628-E4BB-5FD4-34BA-763CA4451FDD}"/>
              </a:ext>
            </a:extLst>
          </p:cNvPr>
          <p:cNvSpPr/>
          <p:nvPr/>
        </p:nvSpPr>
        <p:spPr>
          <a:xfrm>
            <a:off x="9132766" y="701354"/>
            <a:ext cx="428741" cy="154237"/>
          </a:xfrm>
          <a:prstGeom prst="rect">
            <a:avLst/>
          </a:prstGeom>
          <a:solidFill>
            <a:srgbClr val="153D64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0" tIns="0" rIns="0" bIns="0" anchor="ctr"/>
          <a:lstStyle/>
          <a:p>
            <a:pPr marL="0" marR="0" lvl="0" indent="0" algn="ctr" defTabSz="7620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지능화</a:t>
            </a:r>
          </a:p>
        </p:txBody>
      </p:sp>
      <p:sp>
        <p:nvSpPr>
          <p:cNvPr id="8" name="Rectangle 29">
            <a:extLst>
              <a:ext uri="{FF2B5EF4-FFF2-40B4-BE49-F238E27FC236}">
                <a16:creationId xmlns:a16="http://schemas.microsoft.com/office/drawing/2014/main" id="{A04C5781-2FF6-2811-6324-05DAF34BA4DD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4486" y="701354"/>
            <a:ext cx="834931" cy="154237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i="0" u="none" strike="noStrike" kern="1200" cap="none" spc="-30" normalizeH="0" baseline="0" noProof="0">
                <a:ln>
                  <a:solidFill>
                    <a:srgbClr val="404040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Process Group</a:t>
            </a:r>
            <a:endParaRPr kumimoji="0" lang="ko-KR" altLang="en-US" sz="900" i="0" u="none" strike="noStrike" kern="1200" cap="none" spc="-30" normalizeH="0" baseline="0" noProof="0">
              <a:ln>
                <a:solidFill>
                  <a:srgbClr val="404040">
                    <a:alpha val="0"/>
                  </a:srgbClr>
                </a:solidFill>
              </a:ln>
              <a:solidFill>
                <a:schemeClr val="bg1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1" name="Rectangle 29">
            <a:extLst>
              <a:ext uri="{FF2B5EF4-FFF2-40B4-BE49-F238E27FC236}">
                <a16:creationId xmlns:a16="http://schemas.microsoft.com/office/drawing/2014/main" id="{1209B943-180B-3AFD-5EB8-89A26E807A09}"/>
              </a:ext>
            </a:extLst>
          </p:cNvPr>
          <p:cNvSpPr>
            <a:spLocks noChangeArrowheads="1"/>
          </p:cNvSpPr>
          <p:nvPr/>
        </p:nvSpPr>
        <p:spPr bwMode="gray">
          <a:xfrm>
            <a:off x="1249211" y="701354"/>
            <a:ext cx="560538" cy="154237"/>
          </a:xfrm>
          <a:prstGeom prst="rect">
            <a:avLst/>
          </a:prstGeom>
          <a:solidFill>
            <a:srgbClr val="595959"/>
          </a:solidFill>
          <a:ln w="6350">
            <a:solidFill>
              <a:schemeClr val="tx1"/>
            </a:solidFill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i="0" u="none" strike="noStrike" kern="1200" cap="none" spc="-30" normalizeH="0" baseline="0" noProof="0">
                <a:ln>
                  <a:solidFill>
                    <a:srgbClr val="404040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Process</a:t>
            </a:r>
            <a:endParaRPr kumimoji="0" lang="ko-KR" altLang="en-US" sz="900" i="0" u="none" strike="noStrike" kern="1200" cap="none" spc="-30" normalizeH="0" baseline="0" noProof="0">
              <a:ln>
                <a:solidFill>
                  <a:srgbClr val="404040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2" name="Rectangle 29">
            <a:extLst>
              <a:ext uri="{FF2B5EF4-FFF2-40B4-BE49-F238E27FC236}">
                <a16:creationId xmlns:a16="http://schemas.microsoft.com/office/drawing/2014/main" id="{8476833E-0E51-3204-0155-1A02F764ADA8}"/>
              </a:ext>
            </a:extLst>
          </p:cNvPr>
          <p:cNvSpPr>
            <a:spLocks noChangeArrowheads="1"/>
          </p:cNvSpPr>
          <p:nvPr/>
        </p:nvSpPr>
        <p:spPr bwMode="gray">
          <a:xfrm>
            <a:off x="6481940" y="701354"/>
            <a:ext cx="486447" cy="154237"/>
          </a:xfrm>
          <a:prstGeom prst="rect">
            <a:avLst/>
          </a:prstGeom>
          <a:noFill/>
          <a:ln w="6350"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i="0" u="none" strike="noStrike" kern="1200" cap="none" spc="-30" normalizeH="0" baseline="0" noProof="0">
                <a:ln>
                  <a:solidFill>
                    <a:srgbClr val="404040">
                      <a:alpha val="0"/>
                    </a:srgbClr>
                  </a:solidFill>
                </a:ln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Activity</a:t>
            </a:r>
            <a:endParaRPr kumimoji="0" lang="ko-KR" altLang="en-US" sz="900" i="0" u="none" strike="noStrike" kern="1200" cap="none" spc="-30" normalizeH="0" baseline="0" noProof="0">
              <a:ln>
                <a:solidFill>
                  <a:srgbClr val="404040">
                    <a:alpha val="0"/>
                  </a:srgbClr>
                </a:solidFill>
              </a:ln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434142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61AFE-537D-9936-EEA9-9423FB0FE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5F92BDE-0D33-0C62-2706-6DCCC552951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4487" y="254884"/>
            <a:ext cx="4209807" cy="343235"/>
          </a:xfrm>
          <a:solidFill>
            <a:schemeClr val="bg1"/>
          </a:solidFill>
        </p:spPr>
        <p:txBody>
          <a:bodyPr wrap="none" anchor="ctr">
            <a:spAutoFit/>
          </a:bodyPr>
          <a:lstStyle/>
          <a:p>
            <a:r>
              <a:rPr lang="en-US" altLang="ko-KR" b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Appendix. </a:t>
            </a:r>
            <a:r>
              <a:rPr lang="ko-KR" altLang="en-US" b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생산기술 디지털화 목표 </a:t>
            </a:r>
            <a:r>
              <a:rPr lang="en-US" altLang="ko-KR" b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(2/2)</a:t>
            </a:r>
            <a:endParaRPr lang="ko-KR" altLang="en-US" b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9" name="Rectangle 29">
            <a:extLst>
              <a:ext uri="{FF2B5EF4-FFF2-40B4-BE49-F238E27FC236}">
                <a16:creationId xmlns:a16="http://schemas.microsoft.com/office/drawing/2014/main" id="{C14C2FA6-9367-613F-D6CD-71320BA3B5FE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4488" y="991837"/>
            <a:ext cx="2995400" cy="360000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strike="noStrike" kern="1200" cap="none" spc="-30" normalizeH="0" baseline="0" noProof="0">
                <a:ln>
                  <a:solidFill>
                    <a:srgbClr val="404040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n-cs"/>
              </a:rPr>
              <a:t>전략 과제 기획 및 관리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42E8F3E-9DFF-C2E9-98EF-A7ED7C87FC33}"/>
              </a:ext>
            </a:extLst>
          </p:cNvPr>
          <p:cNvSpPr/>
          <p:nvPr/>
        </p:nvSpPr>
        <p:spPr>
          <a:xfrm>
            <a:off x="344487" y="1423640"/>
            <a:ext cx="1440000" cy="28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square"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strike="noStrike" kern="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전략 과제 발굴</a:t>
            </a:r>
            <a:endParaRPr kumimoji="0" lang="en-US" altLang="ko-KR" sz="1000" i="0" u="none" strike="noStrike" kern="0" cap="none" spc="-3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</p:txBody>
      </p:sp>
      <p:sp>
        <p:nvSpPr>
          <p:cNvPr id="13" name="사각형: 둥근 모서리 136">
            <a:extLst>
              <a:ext uri="{FF2B5EF4-FFF2-40B4-BE49-F238E27FC236}">
                <a16:creationId xmlns:a16="http://schemas.microsoft.com/office/drawing/2014/main" id="{0C8AB029-D915-5BEB-39F3-DB2F21E126EE}"/>
              </a:ext>
            </a:extLst>
          </p:cNvPr>
          <p:cNvSpPr/>
          <p:nvPr/>
        </p:nvSpPr>
        <p:spPr>
          <a:xfrm>
            <a:off x="344487" y="1780161"/>
            <a:ext cx="1440000" cy="288000"/>
          </a:xfrm>
          <a:prstGeom prst="rect">
            <a:avLst/>
          </a:prstGeom>
          <a:solidFill>
            <a:srgbClr val="4D93D9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0" tIns="0" rIns="0" bIns="0" anchor="ctr"/>
          <a:lstStyle/>
          <a:p>
            <a:pPr algn="ctr" defTabSz="762000" eaLnBrk="0" hangingPunct="0"/>
            <a:r>
              <a:rPr lang="en-US" altLang="ko-KR" sz="900">
                <a:solidFill>
                  <a:prstClr val="white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Revamp Study, </a:t>
            </a:r>
            <a:r>
              <a:rPr lang="ko-KR" altLang="en-US" sz="900">
                <a:solidFill>
                  <a:prstClr val="white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신규 사업 동향 정보 수집</a:t>
            </a:r>
            <a:endParaRPr lang="en-US" altLang="ko-KR" sz="900">
              <a:solidFill>
                <a:prstClr val="white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38" name="사각형: 둥근 모서리 138">
            <a:extLst>
              <a:ext uri="{FF2B5EF4-FFF2-40B4-BE49-F238E27FC236}">
                <a16:creationId xmlns:a16="http://schemas.microsoft.com/office/drawing/2014/main" id="{34577157-DD0D-FFD5-2C3F-14175CA4196C}"/>
              </a:ext>
            </a:extLst>
          </p:cNvPr>
          <p:cNvSpPr/>
          <p:nvPr/>
        </p:nvSpPr>
        <p:spPr>
          <a:xfrm>
            <a:off x="344487" y="2136682"/>
            <a:ext cx="1440000" cy="288000"/>
          </a:xfrm>
          <a:prstGeom prst="rect">
            <a:avLst/>
          </a:prstGeom>
          <a:solidFill>
            <a:srgbClr val="153D64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0" tIns="0" rIns="0" bIns="0" anchor="ctr"/>
          <a:lstStyle/>
          <a:p>
            <a:pPr marL="0" marR="0" lvl="0" indent="0" algn="ctr" defTabSz="7620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Revamping, </a:t>
            </a: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신규 사업 적합성 평가 및 도입 방안 수립</a:t>
            </a:r>
            <a:endParaRPr kumimoji="0" lang="en-US" altLang="ko-KR" sz="9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0" name="사각형: 둥근 모서리 138">
            <a:extLst>
              <a:ext uri="{FF2B5EF4-FFF2-40B4-BE49-F238E27FC236}">
                <a16:creationId xmlns:a16="http://schemas.microsoft.com/office/drawing/2014/main" id="{664CDFA4-CF82-1F8D-5701-8976AC46B383}"/>
              </a:ext>
            </a:extLst>
          </p:cNvPr>
          <p:cNvSpPr/>
          <p:nvPr/>
        </p:nvSpPr>
        <p:spPr>
          <a:xfrm>
            <a:off x="344487" y="2493203"/>
            <a:ext cx="1440000" cy="28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square"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strike="noStrike" kern="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전략 과제 검토</a:t>
            </a:r>
            <a:endParaRPr kumimoji="0" lang="en-US" altLang="ko-KR" sz="1000" i="0" u="none" strike="noStrike" kern="0" cap="none" spc="-3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B7B23F9A-BBE4-8F4E-D97B-AF9AC9DF59C9}"/>
              </a:ext>
            </a:extLst>
          </p:cNvPr>
          <p:cNvSpPr/>
          <p:nvPr/>
        </p:nvSpPr>
        <p:spPr>
          <a:xfrm>
            <a:off x="344488" y="2849724"/>
            <a:ext cx="1440000" cy="288000"/>
          </a:xfrm>
          <a:prstGeom prst="rect">
            <a:avLst/>
          </a:prstGeom>
          <a:solidFill>
            <a:srgbClr val="A6C9EC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0" tIns="0" rIns="0" bIns="0" anchor="ctr"/>
          <a:lstStyle/>
          <a:p>
            <a:pPr algn="ctr" defTabSz="762000" eaLnBrk="0" hangingPunct="0"/>
            <a:r>
              <a:rPr lang="en-US" altLang="ko-KR" sz="90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Revamping, </a:t>
            </a:r>
            <a:r>
              <a:rPr lang="ko-KR" altLang="en-US" sz="90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신규 사업 테스트 지원 및 결과 검증</a:t>
            </a:r>
            <a:endParaRPr lang="en-US" altLang="ko-KR" sz="90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3" name="사각형: 둥근 모서리 138">
            <a:extLst>
              <a:ext uri="{FF2B5EF4-FFF2-40B4-BE49-F238E27FC236}">
                <a16:creationId xmlns:a16="http://schemas.microsoft.com/office/drawing/2014/main" id="{AE2BE435-932C-1D60-4E94-5A2427531363}"/>
              </a:ext>
            </a:extLst>
          </p:cNvPr>
          <p:cNvSpPr/>
          <p:nvPr/>
        </p:nvSpPr>
        <p:spPr>
          <a:xfrm>
            <a:off x="344488" y="3206245"/>
            <a:ext cx="1440000" cy="288000"/>
          </a:xfrm>
          <a:prstGeom prst="rect">
            <a:avLst/>
          </a:prstGeom>
          <a:solidFill>
            <a:srgbClr val="A6C9EC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0" tIns="0" rIns="0" bIns="0" anchor="ctr"/>
          <a:lstStyle/>
          <a:p>
            <a:pPr algn="ctr" defTabSz="762000" eaLnBrk="0" hangingPunct="0"/>
            <a:r>
              <a:rPr lang="en-US" altLang="ko-KR" sz="90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Revamping, </a:t>
            </a:r>
            <a:r>
              <a:rPr lang="ko-KR" altLang="en-US" sz="90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신규 사업 상용화 관련 표준</a:t>
            </a:r>
            <a:r>
              <a:rPr lang="en-US" altLang="ko-KR" sz="90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(</a:t>
            </a:r>
            <a:r>
              <a:rPr lang="ko-KR" altLang="en-US" sz="90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매뉴얼</a:t>
            </a:r>
            <a:r>
              <a:rPr lang="en-US" altLang="ko-KR" sz="90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) </a:t>
            </a:r>
            <a:r>
              <a:rPr lang="ko-KR" altLang="en-US" sz="90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작성</a:t>
            </a:r>
            <a:endParaRPr lang="en-US" altLang="ko-KR" sz="90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4" name="사각형: 둥근 모서리 138">
            <a:extLst>
              <a:ext uri="{FF2B5EF4-FFF2-40B4-BE49-F238E27FC236}">
                <a16:creationId xmlns:a16="http://schemas.microsoft.com/office/drawing/2014/main" id="{249EDB8E-A986-B93C-7E3F-E7B6A3BE9B7D}"/>
              </a:ext>
            </a:extLst>
          </p:cNvPr>
          <p:cNvSpPr/>
          <p:nvPr/>
        </p:nvSpPr>
        <p:spPr>
          <a:xfrm>
            <a:off x="344488" y="3562766"/>
            <a:ext cx="1440000" cy="28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square"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strike="noStrike" kern="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외부 기술 도입 및 라이선스 선정</a:t>
            </a:r>
            <a:endParaRPr kumimoji="0" lang="en-US" altLang="ko-KR" sz="1000" i="0" u="none" strike="noStrike" kern="0" cap="none" spc="-3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</p:txBody>
      </p:sp>
      <p:sp>
        <p:nvSpPr>
          <p:cNvPr id="45" name="사각형: 둥근 모서리 138">
            <a:extLst>
              <a:ext uri="{FF2B5EF4-FFF2-40B4-BE49-F238E27FC236}">
                <a16:creationId xmlns:a16="http://schemas.microsoft.com/office/drawing/2014/main" id="{914665C4-8E36-3287-F7EE-4BC22610C9F0}"/>
              </a:ext>
            </a:extLst>
          </p:cNvPr>
          <p:cNvSpPr/>
          <p:nvPr/>
        </p:nvSpPr>
        <p:spPr>
          <a:xfrm>
            <a:off x="344488" y="3919287"/>
            <a:ext cx="1440000" cy="288000"/>
          </a:xfrm>
          <a:prstGeom prst="rect">
            <a:avLst/>
          </a:prstGeom>
          <a:solidFill>
            <a:srgbClr val="4D93D9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0" tIns="0" rIns="0" bIns="0" anchor="ctr"/>
          <a:lstStyle/>
          <a:p>
            <a:pPr algn="ctr" defTabSz="762000" eaLnBrk="0" hangingPunct="0"/>
            <a:r>
              <a:rPr lang="ko-KR" altLang="en-US" sz="900">
                <a:solidFill>
                  <a:prstClr val="white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후보 기술 조사</a:t>
            </a:r>
            <a:endParaRPr lang="en-US" altLang="ko-KR" sz="900">
              <a:solidFill>
                <a:prstClr val="white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26F66582-F964-0011-B21D-D5EFCA0295DF}"/>
              </a:ext>
            </a:extLst>
          </p:cNvPr>
          <p:cNvSpPr/>
          <p:nvPr/>
        </p:nvSpPr>
        <p:spPr>
          <a:xfrm>
            <a:off x="344488" y="4275808"/>
            <a:ext cx="1440000" cy="288000"/>
          </a:xfrm>
          <a:prstGeom prst="rect">
            <a:avLst/>
          </a:prstGeom>
          <a:solidFill>
            <a:srgbClr val="A6C9EC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0" tIns="0" rIns="0" bIns="0" anchor="ctr"/>
          <a:lstStyle/>
          <a:p>
            <a:pPr algn="ctr" defTabSz="762000" eaLnBrk="0" hangingPunct="0"/>
            <a:r>
              <a:rPr lang="ko-KR" altLang="en-US" sz="90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테스트 및 후보 기술 성능 평가</a:t>
            </a:r>
            <a:endParaRPr lang="en-US" altLang="ko-KR" sz="90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9" name="사각형: 둥근 모서리 138">
            <a:extLst>
              <a:ext uri="{FF2B5EF4-FFF2-40B4-BE49-F238E27FC236}">
                <a16:creationId xmlns:a16="http://schemas.microsoft.com/office/drawing/2014/main" id="{F8E3C598-3E46-9A00-7235-81039A780D04}"/>
              </a:ext>
            </a:extLst>
          </p:cNvPr>
          <p:cNvSpPr/>
          <p:nvPr/>
        </p:nvSpPr>
        <p:spPr>
          <a:xfrm>
            <a:off x="344488" y="4632329"/>
            <a:ext cx="1440000" cy="288000"/>
          </a:xfrm>
          <a:prstGeom prst="rect">
            <a:avLst/>
          </a:prstGeom>
          <a:solidFill>
            <a:srgbClr val="A6C9EC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0" tIns="0" rIns="0" bIns="0" anchor="ctr"/>
          <a:lstStyle/>
          <a:p>
            <a:pPr algn="ctr" defTabSz="762000" eaLnBrk="0" hangingPunct="0"/>
            <a:r>
              <a:rPr lang="ko-KR" altLang="en-US" sz="90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계약 조건 검토 및 협상 지원</a:t>
            </a:r>
            <a:endParaRPr lang="en-US" altLang="ko-KR" sz="90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0" name="사각형: 둥근 모서리 138">
            <a:extLst>
              <a:ext uri="{FF2B5EF4-FFF2-40B4-BE49-F238E27FC236}">
                <a16:creationId xmlns:a16="http://schemas.microsoft.com/office/drawing/2014/main" id="{7F0D05B1-324C-B8BF-55D4-56FFF8738D63}"/>
              </a:ext>
            </a:extLst>
          </p:cNvPr>
          <p:cNvSpPr/>
          <p:nvPr/>
        </p:nvSpPr>
        <p:spPr>
          <a:xfrm>
            <a:off x="1899888" y="1423640"/>
            <a:ext cx="1440000" cy="28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square"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i="0" u="none" strike="noStrike" kern="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R-</a:t>
            </a:r>
            <a:r>
              <a:rPr kumimoji="0" lang="ko-KR" altLang="en-US" sz="1000" i="0" u="none" strike="noStrike" kern="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연구회 운영</a:t>
            </a:r>
            <a:endParaRPr kumimoji="0" lang="en-US" altLang="ko-KR" sz="1000" i="0" u="none" strike="noStrike" kern="0" cap="none" spc="-3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</p:txBody>
      </p:sp>
      <p:sp>
        <p:nvSpPr>
          <p:cNvPr id="16" name="사각형: 둥근 모서리 138">
            <a:extLst>
              <a:ext uri="{FF2B5EF4-FFF2-40B4-BE49-F238E27FC236}">
                <a16:creationId xmlns:a16="http://schemas.microsoft.com/office/drawing/2014/main" id="{9D403F83-A8B7-33F8-A10C-4B713C2CA884}"/>
              </a:ext>
            </a:extLst>
          </p:cNvPr>
          <p:cNvSpPr/>
          <p:nvPr/>
        </p:nvSpPr>
        <p:spPr>
          <a:xfrm>
            <a:off x="1899888" y="1780161"/>
            <a:ext cx="1440000" cy="288000"/>
          </a:xfrm>
          <a:prstGeom prst="rect">
            <a:avLst/>
          </a:prstGeom>
          <a:solidFill>
            <a:srgbClr val="A6C9EC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0" tIns="0" rIns="0" bIns="0" anchor="ctr"/>
          <a:lstStyle/>
          <a:p>
            <a:pPr algn="ctr" defTabSz="762000" eaLnBrk="0" hangingPunct="0"/>
            <a:r>
              <a:rPr lang="ko-KR" altLang="en-US" sz="90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공동 연구 주제 발굴 및 과제 정의</a:t>
            </a:r>
            <a:endParaRPr lang="en-US" altLang="ko-KR" sz="90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7" name="사각형: 둥근 모서리 138">
            <a:extLst>
              <a:ext uri="{FF2B5EF4-FFF2-40B4-BE49-F238E27FC236}">
                <a16:creationId xmlns:a16="http://schemas.microsoft.com/office/drawing/2014/main" id="{2D9F3AB7-21FF-F378-08CB-ABD2DBA98058}"/>
              </a:ext>
            </a:extLst>
          </p:cNvPr>
          <p:cNvSpPr/>
          <p:nvPr/>
        </p:nvSpPr>
        <p:spPr>
          <a:xfrm>
            <a:off x="1899888" y="2136682"/>
            <a:ext cx="1440000" cy="288000"/>
          </a:xfrm>
          <a:prstGeom prst="rect">
            <a:avLst/>
          </a:prstGeom>
          <a:solidFill>
            <a:srgbClr val="A6C9EC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0" tIns="0" rIns="0" bIns="0" anchor="ctr"/>
          <a:lstStyle/>
          <a:p>
            <a:pPr algn="ctr" defTabSz="762000" eaLnBrk="0" hangingPunct="0"/>
            <a:r>
              <a:rPr lang="ko-KR" altLang="en-US" sz="90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연구 계획 수립 및 자원 할당</a:t>
            </a:r>
            <a:endParaRPr lang="en-US" altLang="ko-KR" sz="90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8" name="사각형: 둥근 모서리 136">
            <a:extLst>
              <a:ext uri="{FF2B5EF4-FFF2-40B4-BE49-F238E27FC236}">
                <a16:creationId xmlns:a16="http://schemas.microsoft.com/office/drawing/2014/main" id="{E8D700B4-69F0-EDB4-C8B1-960744C365D3}"/>
              </a:ext>
            </a:extLst>
          </p:cNvPr>
          <p:cNvSpPr/>
          <p:nvPr/>
        </p:nvSpPr>
        <p:spPr>
          <a:xfrm>
            <a:off x="1899888" y="2493203"/>
            <a:ext cx="1440000" cy="288000"/>
          </a:xfrm>
          <a:prstGeom prst="rect">
            <a:avLst/>
          </a:prstGeom>
          <a:solidFill>
            <a:srgbClr val="A6C9EC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0" tIns="0" rIns="0" bIns="0" anchor="ctr"/>
          <a:lstStyle/>
          <a:p>
            <a:pPr algn="ctr" defTabSz="762000" eaLnBrk="0" hangingPunct="0"/>
            <a:r>
              <a:rPr lang="ko-KR" altLang="en-US" sz="90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현장 테스트 지원 및 결과 피드백</a:t>
            </a:r>
            <a:endParaRPr lang="en-US" altLang="ko-KR" sz="90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9" name="사각형: 둥근 모서리 136">
            <a:extLst>
              <a:ext uri="{FF2B5EF4-FFF2-40B4-BE49-F238E27FC236}">
                <a16:creationId xmlns:a16="http://schemas.microsoft.com/office/drawing/2014/main" id="{DCC6FD67-ED29-D463-BC1C-DE082B5C2F1E}"/>
              </a:ext>
            </a:extLst>
          </p:cNvPr>
          <p:cNvSpPr/>
          <p:nvPr/>
        </p:nvSpPr>
        <p:spPr>
          <a:xfrm>
            <a:off x="1899888" y="2849724"/>
            <a:ext cx="1440000" cy="288000"/>
          </a:xfrm>
          <a:prstGeom prst="rect">
            <a:avLst/>
          </a:prstGeom>
          <a:solidFill>
            <a:srgbClr val="153D64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0" tIns="0" rIns="0" bIns="0" anchor="ctr"/>
          <a:lstStyle/>
          <a:p>
            <a:pPr marL="0" marR="0" lvl="0" indent="0" algn="ctr" defTabSz="7620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연구 결과 검토 및 현장 적용 방안 도출</a:t>
            </a:r>
            <a:endParaRPr kumimoji="0" lang="en-US" altLang="ko-KR" sz="9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78" name="Rectangle 29">
            <a:extLst>
              <a:ext uri="{FF2B5EF4-FFF2-40B4-BE49-F238E27FC236}">
                <a16:creationId xmlns:a16="http://schemas.microsoft.com/office/drawing/2014/main" id="{BCC082F7-1000-CF84-30F3-55AE7AE59B55}"/>
              </a:ext>
            </a:extLst>
          </p:cNvPr>
          <p:cNvSpPr>
            <a:spLocks noChangeArrowheads="1"/>
          </p:cNvSpPr>
          <p:nvPr/>
        </p:nvSpPr>
        <p:spPr bwMode="gray">
          <a:xfrm>
            <a:off x="6566101" y="991837"/>
            <a:ext cx="1440001" cy="360000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strike="noStrike" kern="1200" cap="none" spc="-30" normalizeH="0" baseline="0" noProof="0">
                <a:ln>
                  <a:solidFill>
                    <a:srgbClr val="404040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n-cs"/>
              </a:rPr>
              <a:t>공장 운영 및 운전 정보 제공</a:t>
            </a:r>
          </a:p>
        </p:txBody>
      </p: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9C37D28C-8B27-A758-562E-4F493C9674EB}"/>
              </a:ext>
            </a:extLst>
          </p:cNvPr>
          <p:cNvSpPr/>
          <p:nvPr/>
        </p:nvSpPr>
        <p:spPr>
          <a:xfrm>
            <a:off x="8121507" y="1423640"/>
            <a:ext cx="1440000" cy="28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square"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strike="noStrike" kern="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사내 기술 세미나 및 워크숍 운영</a:t>
            </a:r>
            <a:endParaRPr kumimoji="0" lang="en-US" altLang="ko-KR" sz="1000" i="0" u="none" strike="noStrike" kern="0" cap="none" spc="-3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8FA9A644-5535-E151-8DF8-D70AF54C4E0C}"/>
              </a:ext>
            </a:extLst>
          </p:cNvPr>
          <p:cNvSpPr/>
          <p:nvPr/>
        </p:nvSpPr>
        <p:spPr>
          <a:xfrm>
            <a:off x="3455294" y="1423640"/>
            <a:ext cx="1440000" cy="28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square"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strike="noStrike" kern="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공정 안전성 평가 및 </a:t>
            </a:r>
            <a:br>
              <a:rPr kumimoji="0" lang="en-US" altLang="ko-KR" sz="1000" i="0" u="none" strike="noStrike" kern="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</a:br>
            <a:r>
              <a:rPr kumimoji="0" lang="ko-KR" altLang="en-US" sz="1000" i="0" u="none" strike="noStrike" kern="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위험 관리</a:t>
            </a:r>
            <a:endParaRPr kumimoji="0" lang="en-US" altLang="ko-KR" sz="1000" i="0" u="none" strike="noStrike" kern="0" cap="none" spc="-3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</p:txBody>
      </p:sp>
      <p:sp>
        <p:nvSpPr>
          <p:cNvPr id="28" name="사각형: 둥근 모서리 136">
            <a:extLst>
              <a:ext uri="{FF2B5EF4-FFF2-40B4-BE49-F238E27FC236}">
                <a16:creationId xmlns:a16="http://schemas.microsoft.com/office/drawing/2014/main" id="{F8B905C4-C3AB-199A-114A-3066A126A888}"/>
              </a:ext>
            </a:extLst>
          </p:cNvPr>
          <p:cNvSpPr/>
          <p:nvPr/>
        </p:nvSpPr>
        <p:spPr>
          <a:xfrm>
            <a:off x="3455294" y="1780161"/>
            <a:ext cx="1440000" cy="288000"/>
          </a:xfrm>
          <a:prstGeom prst="rect">
            <a:avLst/>
          </a:prstGeom>
          <a:solidFill>
            <a:srgbClr val="153D64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0" tIns="0" rIns="0" bIns="0" anchor="ctr"/>
          <a:lstStyle/>
          <a:p>
            <a:pPr marL="0" marR="0" lvl="0" indent="0" algn="ctr" defTabSz="7620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공정 위험성 평가 수행 및 관리</a:t>
            </a:r>
            <a:endParaRPr kumimoji="0" lang="en-US" altLang="ko-KR" sz="9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1" name="Rectangle 29">
            <a:extLst>
              <a:ext uri="{FF2B5EF4-FFF2-40B4-BE49-F238E27FC236}">
                <a16:creationId xmlns:a16="http://schemas.microsoft.com/office/drawing/2014/main" id="{EC42F82B-BA31-DC83-D4EA-ADCCBFFF284A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55294" y="991837"/>
            <a:ext cx="2995401" cy="360000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strike="noStrike" kern="1200" cap="none" spc="-30" normalizeH="0" baseline="0" noProof="0">
                <a:ln>
                  <a:solidFill>
                    <a:srgbClr val="404040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n-cs"/>
              </a:rPr>
              <a:t>안전</a:t>
            </a:r>
            <a:r>
              <a:rPr kumimoji="0" lang="en-US" altLang="ko-KR" sz="1000" i="0" u="none" strike="noStrike" kern="1200" cap="none" spc="-30" normalizeH="0" baseline="0" noProof="0">
                <a:ln>
                  <a:solidFill>
                    <a:srgbClr val="404040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n-cs"/>
              </a:rPr>
              <a:t>/</a:t>
            </a:r>
            <a:r>
              <a:rPr kumimoji="0" lang="ko-KR" altLang="en-US" sz="1000" i="0" u="none" strike="noStrike" kern="1200" cap="none" spc="-30" normalizeH="0" baseline="0" noProof="0">
                <a:ln>
                  <a:solidFill>
                    <a:srgbClr val="404040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n-cs"/>
              </a:rPr>
              <a:t>환경 관리</a:t>
            </a:r>
          </a:p>
        </p:txBody>
      </p:sp>
      <p:sp>
        <p:nvSpPr>
          <p:cNvPr id="52" name="사각형: 둥근 모서리 138">
            <a:extLst>
              <a:ext uri="{FF2B5EF4-FFF2-40B4-BE49-F238E27FC236}">
                <a16:creationId xmlns:a16="http://schemas.microsoft.com/office/drawing/2014/main" id="{0CF98537-1530-A931-F1FE-B3FB829860C4}"/>
              </a:ext>
            </a:extLst>
          </p:cNvPr>
          <p:cNvSpPr/>
          <p:nvPr/>
        </p:nvSpPr>
        <p:spPr>
          <a:xfrm>
            <a:off x="3455294" y="2136682"/>
            <a:ext cx="1440000" cy="288000"/>
          </a:xfrm>
          <a:prstGeom prst="rect">
            <a:avLst/>
          </a:prstGeom>
          <a:solidFill>
            <a:srgbClr val="153D64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0" tIns="0" rIns="0" bIns="0" anchor="ctr"/>
          <a:lstStyle/>
          <a:p>
            <a:pPr marL="0" marR="0" lvl="0" indent="0" algn="ctr" defTabSz="7620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작업 위험성 평가 수행 및 관리</a:t>
            </a:r>
            <a:endParaRPr kumimoji="0" lang="en-US" altLang="ko-KR" sz="9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B2AD1712-C269-A505-6AB0-6CF431DCBB44}"/>
              </a:ext>
            </a:extLst>
          </p:cNvPr>
          <p:cNvSpPr/>
          <p:nvPr/>
        </p:nvSpPr>
        <p:spPr>
          <a:xfrm>
            <a:off x="3455294" y="2493203"/>
            <a:ext cx="1440000" cy="288000"/>
          </a:xfrm>
          <a:prstGeom prst="rect">
            <a:avLst/>
          </a:prstGeom>
          <a:solidFill>
            <a:srgbClr val="4D93D9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0" tIns="0" rIns="0" bIns="0" anchor="ctr"/>
          <a:lstStyle/>
          <a:p>
            <a:pPr marL="0" marR="0" lvl="0" indent="0" algn="ctr" defTabSz="7620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PSM </a:t>
            </a: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구성 요소 관리 및 점검 대응</a:t>
            </a:r>
            <a:endParaRPr kumimoji="0" lang="en-US" altLang="ko-KR" sz="9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4" name="사각형: 둥근 모서리 136">
            <a:extLst>
              <a:ext uri="{FF2B5EF4-FFF2-40B4-BE49-F238E27FC236}">
                <a16:creationId xmlns:a16="http://schemas.microsoft.com/office/drawing/2014/main" id="{A5C601B4-ADF4-57DC-6042-51CDEC57089C}"/>
              </a:ext>
            </a:extLst>
          </p:cNvPr>
          <p:cNvSpPr/>
          <p:nvPr/>
        </p:nvSpPr>
        <p:spPr>
          <a:xfrm>
            <a:off x="3455294" y="2849724"/>
            <a:ext cx="1440000" cy="288000"/>
          </a:xfrm>
          <a:prstGeom prst="rect">
            <a:avLst/>
          </a:prstGeom>
          <a:solidFill>
            <a:srgbClr val="4D93D9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0" tIns="0" rIns="0" bIns="0" anchor="ctr"/>
          <a:lstStyle/>
          <a:p>
            <a:pPr marL="0" marR="0" lvl="0" indent="0" algn="ctr" defTabSz="7620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SMS </a:t>
            </a: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구성 요소 관리 및 점검 대응</a:t>
            </a:r>
            <a:endParaRPr kumimoji="0" lang="en-US" altLang="ko-KR" sz="9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9" name="사각형: 둥근 모서리 138">
            <a:extLst>
              <a:ext uri="{FF2B5EF4-FFF2-40B4-BE49-F238E27FC236}">
                <a16:creationId xmlns:a16="http://schemas.microsoft.com/office/drawing/2014/main" id="{D7BD296B-88CD-2B89-5F16-6B99CAEFF3AA}"/>
              </a:ext>
            </a:extLst>
          </p:cNvPr>
          <p:cNvSpPr/>
          <p:nvPr/>
        </p:nvSpPr>
        <p:spPr>
          <a:xfrm>
            <a:off x="5010699" y="3206245"/>
            <a:ext cx="1440000" cy="28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square"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strike="noStrike" kern="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안전 및 환경 인허가 </a:t>
            </a:r>
            <a:br>
              <a:rPr kumimoji="0" lang="en-US" altLang="ko-KR" sz="1000" i="0" u="none" strike="noStrike" kern="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</a:br>
            <a:r>
              <a:rPr kumimoji="0" lang="ko-KR" altLang="en-US" sz="1000" i="0" u="none" strike="noStrike" kern="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업무 지원</a:t>
            </a:r>
            <a:endParaRPr kumimoji="0" lang="en-US" altLang="ko-KR" sz="1000" i="0" u="none" strike="noStrike" kern="0" cap="none" spc="-3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</p:txBody>
      </p:sp>
      <p:sp>
        <p:nvSpPr>
          <p:cNvPr id="60" name="사각형: 둥근 모서리 138">
            <a:extLst>
              <a:ext uri="{FF2B5EF4-FFF2-40B4-BE49-F238E27FC236}">
                <a16:creationId xmlns:a16="http://schemas.microsoft.com/office/drawing/2014/main" id="{6D714DCE-F25B-BAA9-620F-A87ADF69267B}"/>
              </a:ext>
            </a:extLst>
          </p:cNvPr>
          <p:cNvSpPr/>
          <p:nvPr/>
        </p:nvSpPr>
        <p:spPr>
          <a:xfrm>
            <a:off x="5010699" y="3562766"/>
            <a:ext cx="1440000" cy="288000"/>
          </a:xfrm>
          <a:prstGeom prst="rect">
            <a:avLst/>
          </a:prstGeom>
          <a:solidFill>
            <a:srgbClr val="A6C9EC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0" tIns="0" rIns="0" bIns="0" anchor="ctr"/>
          <a:lstStyle/>
          <a:p>
            <a:pPr marL="0" marR="0" lvl="0" indent="0" algn="ctr" defTabSz="7620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인허가 기초 자료 작성 및 신청</a:t>
            </a:r>
            <a:r>
              <a:rPr kumimoji="0" lang="en-US" altLang="ko-KR" sz="9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/</a:t>
            </a: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갱신 의뢰</a:t>
            </a:r>
            <a:endParaRPr kumimoji="0" lang="en-US" altLang="ko-KR" sz="9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1" name="사각형: 둥근 모서리 138">
            <a:extLst>
              <a:ext uri="{FF2B5EF4-FFF2-40B4-BE49-F238E27FC236}">
                <a16:creationId xmlns:a16="http://schemas.microsoft.com/office/drawing/2014/main" id="{0536E286-98EB-C72E-580B-6AD65C6FAE83}"/>
              </a:ext>
            </a:extLst>
          </p:cNvPr>
          <p:cNvSpPr/>
          <p:nvPr/>
        </p:nvSpPr>
        <p:spPr>
          <a:xfrm>
            <a:off x="5010699" y="3919287"/>
            <a:ext cx="1440000" cy="288000"/>
          </a:xfrm>
          <a:prstGeom prst="rect">
            <a:avLst/>
          </a:prstGeom>
          <a:solidFill>
            <a:srgbClr val="153D64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0" tIns="0" rIns="0" bIns="0" anchor="ctr"/>
          <a:lstStyle/>
          <a:p>
            <a:pPr marL="0" marR="0" lvl="0" indent="0" algn="ctr" defTabSz="7620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인허가 과정 기술 이슈 대응</a:t>
            </a:r>
            <a:endParaRPr kumimoji="0" lang="en-US" altLang="ko-KR" sz="9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2" name="사각형: 둥근 모서리 138">
            <a:extLst>
              <a:ext uri="{FF2B5EF4-FFF2-40B4-BE49-F238E27FC236}">
                <a16:creationId xmlns:a16="http://schemas.microsoft.com/office/drawing/2014/main" id="{77A58BB4-2495-3D48-DB58-F08ACEB44F1F}"/>
              </a:ext>
            </a:extLst>
          </p:cNvPr>
          <p:cNvSpPr/>
          <p:nvPr/>
        </p:nvSpPr>
        <p:spPr>
          <a:xfrm>
            <a:off x="5010699" y="4275808"/>
            <a:ext cx="1440000" cy="288000"/>
          </a:xfrm>
          <a:prstGeom prst="rect">
            <a:avLst/>
          </a:prstGeom>
          <a:solidFill>
            <a:srgbClr val="153D64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0" tIns="0" rIns="0" bIns="0" anchor="ctr"/>
          <a:lstStyle/>
          <a:p>
            <a:pPr marL="0" marR="0" lvl="0" indent="0" algn="ctr" defTabSz="7620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인허가 기관 실사 대응 및 후속 조치 이행</a:t>
            </a:r>
            <a:endParaRPr kumimoji="0" lang="en-US" altLang="ko-KR" sz="9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4014B079-4CA4-F965-0648-9E2CA43D2BC3}"/>
              </a:ext>
            </a:extLst>
          </p:cNvPr>
          <p:cNvSpPr/>
          <p:nvPr/>
        </p:nvSpPr>
        <p:spPr>
          <a:xfrm>
            <a:off x="6566103" y="1423640"/>
            <a:ext cx="1440000" cy="28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square"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strike="noStrike" kern="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공장 운영 정보 작성 및 제공</a:t>
            </a:r>
            <a:endParaRPr kumimoji="0" lang="en-US" altLang="ko-KR" sz="1000" i="0" u="none" strike="noStrike" kern="0" cap="none" spc="-3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</p:txBody>
      </p:sp>
      <p:sp>
        <p:nvSpPr>
          <p:cNvPr id="96" name="사각형: 둥근 모서리 136">
            <a:extLst>
              <a:ext uri="{FF2B5EF4-FFF2-40B4-BE49-F238E27FC236}">
                <a16:creationId xmlns:a16="http://schemas.microsoft.com/office/drawing/2014/main" id="{CEF0F500-3FCD-809E-7682-ABDF5B78FF64}"/>
              </a:ext>
            </a:extLst>
          </p:cNvPr>
          <p:cNvSpPr/>
          <p:nvPr/>
        </p:nvSpPr>
        <p:spPr>
          <a:xfrm>
            <a:off x="6566103" y="1780161"/>
            <a:ext cx="1440000" cy="288000"/>
          </a:xfrm>
          <a:prstGeom prst="rect">
            <a:avLst/>
          </a:prstGeom>
          <a:solidFill>
            <a:srgbClr val="4D93D9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0" tIns="0" rIns="0" bIns="0" anchor="ctr"/>
          <a:lstStyle/>
          <a:p>
            <a:pPr marL="0" marR="0" lvl="0" indent="0" algn="ctr" defTabSz="7620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운영 정보 취합 및 가공</a:t>
            </a:r>
            <a:endParaRPr kumimoji="0" lang="en-US" altLang="ko-KR" sz="9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4" name="사각형: 둥근 모서리 138">
            <a:extLst>
              <a:ext uri="{FF2B5EF4-FFF2-40B4-BE49-F238E27FC236}">
                <a16:creationId xmlns:a16="http://schemas.microsoft.com/office/drawing/2014/main" id="{A30D445C-CF1C-5764-F278-29894B5F2AFF}"/>
              </a:ext>
            </a:extLst>
          </p:cNvPr>
          <p:cNvSpPr/>
          <p:nvPr/>
        </p:nvSpPr>
        <p:spPr>
          <a:xfrm>
            <a:off x="6566103" y="2136682"/>
            <a:ext cx="1440000" cy="288000"/>
          </a:xfrm>
          <a:prstGeom prst="rect">
            <a:avLst/>
          </a:prstGeom>
          <a:solidFill>
            <a:srgbClr val="4D93D9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0" tIns="0" rIns="0" bIns="0" anchor="ctr"/>
          <a:lstStyle/>
          <a:p>
            <a:pPr marL="0" marR="0" lvl="0" indent="0" algn="ctr" defTabSz="7620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운영 정보 제공 및 </a:t>
            </a:r>
            <a:r>
              <a:rPr kumimoji="0" lang="en-US" altLang="ko-KR" sz="9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DB</a:t>
            </a: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화</a:t>
            </a:r>
            <a:endParaRPr kumimoji="0" lang="en-US" altLang="ko-KR" sz="9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5" name="사각형: 둥근 모서리 138">
            <a:extLst>
              <a:ext uri="{FF2B5EF4-FFF2-40B4-BE49-F238E27FC236}">
                <a16:creationId xmlns:a16="http://schemas.microsoft.com/office/drawing/2014/main" id="{305E96B9-2A18-0527-0941-343B967AA9B7}"/>
              </a:ext>
            </a:extLst>
          </p:cNvPr>
          <p:cNvSpPr/>
          <p:nvPr/>
        </p:nvSpPr>
        <p:spPr>
          <a:xfrm>
            <a:off x="6566103" y="2493203"/>
            <a:ext cx="1440000" cy="288000"/>
          </a:xfrm>
          <a:prstGeom prst="rect">
            <a:avLst/>
          </a:prstGeom>
          <a:solidFill>
            <a:srgbClr val="4D93D9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0" tIns="0" rIns="0" bIns="0" anchor="ctr"/>
          <a:lstStyle/>
          <a:p>
            <a:pPr marL="0" marR="0" lvl="0" indent="0" algn="ctr" defTabSz="7620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운전 데이터 수집 및 분석</a:t>
            </a:r>
            <a:endParaRPr kumimoji="0" lang="en-US" altLang="ko-KR" sz="9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6" name="사각형: 둥근 모서리 136">
            <a:extLst>
              <a:ext uri="{FF2B5EF4-FFF2-40B4-BE49-F238E27FC236}">
                <a16:creationId xmlns:a16="http://schemas.microsoft.com/office/drawing/2014/main" id="{50170AA3-F7B8-F1A6-6873-301F8EF79BCA}"/>
              </a:ext>
            </a:extLst>
          </p:cNvPr>
          <p:cNvSpPr/>
          <p:nvPr/>
        </p:nvSpPr>
        <p:spPr>
          <a:xfrm>
            <a:off x="6566103" y="2849724"/>
            <a:ext cx="1440000" cy="288000"/>
          </a:xfrm>
          <a:prstGeom prst="rect">
            <a:avLst/>
          </a:prstGeom>
          <a:solidFill>
            <a:srgbClr val="4D93D9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0" tIns="0" rIns="0" bIns="0" anchor="ctr"/>
          <a:lstStyle/>
          <a:p>
            <a:pPr marL="0" marR="0" lvl="0" indent="0" algn="ctr" defTabSz="7620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운전 데이터 제공 및 </a:t>
            </a:r>
            <a:r>
              <a:rPr kumimoji="0" lang="en-US" altLang="ko-KR" sz="9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DB</a:t>
            </a: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화</a:t>
            </a:r>
            <a:endParaRPr kumimoji="0" lang="en-US" altLang="ko-KR" sz="9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89" name="Rectangle 29">
            <a:extLst>
              <a:ext uri="{FF2B5EF4-FFF2-40B4-BE49-F238E27FC236}">
                <a16:creationId xmlns:a16="http://schemas.microsoft.com/office/drawing/2014/main" id="{22E9DA71-6189-D854-8A5B-F6C99CCC8FB7}"/>
              </a:ext>
            </a:extLst>
          </p:cNvPr>
          <p:cNvSpPr>
            <a:spLocks noChangeArrowheads="1"/>
          </p:cNvSpPr>
          <p:nvPr/>
        </p:nvSpPr>
        <p:spPr bwMode="gray">
          <a:xfrm>
            <a:off x="8121507" y="991837"/>
            <a:ext cx="1440000" cy="360000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strike="noStrike" kern="1200" cap="none" spc="-30" normalizeH="0" baseline="0" noProof="0">
                <a:ln>
                  <a:solidFill>
                    <a:srgbClr val="404040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n-cs"/>
              </a:rPr>
              <a:t>기술 교육 및 역량 강화</a:t>
            </a:r>
          </a:p>
        </p:txBody>
      </p:sp>
      <p:sp>
        <p:nvSpPr>
          <p:cNvPr id="113" name="사각형: 둥근 모서리 136">
            <a:extLst>
              <a:ext uri="{FF2B5EF4-FFF2-40B4-BE49-F238E27FC236}">
                <a16:creationId xmlns:a16="http://schemas.microsoft.com/office/drawing/2014/main" id="{FB280299-2510-2E3B-D4D5-2300E4D4A11B}"/>
              </a:ext>
            </a:extLst>
          </p:cNvPr>
          <p:cNvSpPr/>
          <p:nvPr/>
        </p:nvSpPr>
        <p:spPr>
          <a:xfrm>
            <a:off x="8121507" y="2136682"/>
            <a:ext cx="1440000" cy="288000"/>
          </a:xfrm>
          <a:prstGeom prst="rect">
            <a:avLst/>
          </a:prstGeom>
          <a:solidFill>
            <a:srgbClr val="A6C9EC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0" tIns="0" rIns="0" bIns="0" anchor="ctr"/>
          <a:lstStyle/>
          <a:p>
            <a:pPr marL="0" marR="0" lvl="0" indent="0" algn="ctr" defTabSz="7620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세미나</a:t>
            </a:r>
            <a:r>
              <a:rPr kumimoji="0" lang="en-US" altLang="ko-KR" sz="9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/</a:t>
            </a: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워크숍 실행 및 </a:t>
            </a:r>
            <a:br>
              <a:rPr kumimoji="0" lang="en-US" altLang="ko-KR" sz="9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</a:b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결과 관리</a:t>
            </a:r>
            <a:endParaRPr kumimoji="0" lang="en-US" altLang="ko-KR" sz="9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90" name="사각형: 둥근 모서리 138">
            <a:extLst>
              <a:ext uri="{FF2B5EF4-FFF2-40B4-BE49-F238E27FC236}">
                <a16:creationId xmlns:a16="http://schemas.microsoft.com/office/drawing/2014/main" id="{EB683204-DE9D-D646-1A93-178ADA0E519B}"/>
              </a:ext>
            </a:extLst>
          </p:cNvPr>
          <p:cNvSpPr/>
          <p:nvPr/>
        </p:nvSpPr>
        <p:spPr>
          <a:xfrm>
            <a:off x="8121507" y="2493203"/>
            <a:ext cx="1440000" cy="28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square"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strike="noStrike" kern="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엔지니어 교육 및 멘토링</a:t>
            </a:r>
            <a:endParaRPr kumimoji="0" lang="en-US" altLang="ko-KR" sz="1000" i="0" u="none" strike="noStrike" kern="0" cap="none" spc="-3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</p:txBody>
      </p:sp>
      <p:sp>
        <p:nvSpPr>
          <p:cNvPr id="124" name="사각형: 둥근 모서리 136">
            <a:extLst>
              <a:ext uri="{FF2B5EF4-FFF2-40B4-BE49-F238E27FC236}">
                <a16:creationId xmlns:a16="http://schemas.microsoft.com/office/drawing/2014/main" id="{FF36A305-71C0-CA99-78D2-639C8B39CBD8}"/>
              </a:ext>
            </a:extLst>
          </p:cNvPr>
          <p:cNvSpPr/>
          <p:nvPr/>
        </p:nvSpPr>
        <p:spPr>
          <a:xfrm>
            <a:off x="8121507" y="1780161"/>
            <a:ext cx="1440000" cy="288000"/>
          </a:xfrm>
          <a:prstGeom prst="rect">
            <a:avLst/>
          </a:prstGeom>
          <a:solidFill>
            <a:srgbClr val="A6C9EC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0" tIns="0" rIns="0" bIns="0" anchor="ctr"/>
          <a:lstStyle/>
          <a:p>
            <a:pPr marL="0" marR="0" lvl="0" indent="0" algn="ctr" defTabSz="7620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세미나</a:t>
            </a:r>
            <a:r>
              <a:rPr kumimoji="0" lang="en-US" altLang="ko-KR" sz="9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/</a:t>
            </a: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워크숍 준비</a:t>
            </a:r>
            <a:endParaRPr kumimoji="0" lang="en-US" altLang="ko-KR" sz="9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91" name="사각형: 둥근 모서리 138">
            <a:extLst>
              <a:ext uri="{FF2B5EF4-FFF2-40B4-BE49-F238E27FC236}">
                <a16:creationId xmlns:a16="http://schemas.microsoft.com/office/drawing/2014/main" id="{3ED50FC3-91C9-3014-95D1-E5D6ACE380EA}"/>
              </a:ext>
            </a:extLst>
          </p:cNvPr>
          <p:cNvSpPr/>
          <p:nvPr/>
        </p:nvSpPr>
        <p:spPr>
          <a:xfrm>
            <a:off x="8121507" y="3206245"/>
            <a:ext cx="1440000" cy="288000"/>
          </a:xfrm>
          <a:prstGeom prst="rect">
            <a:avLst/>
          </a:prstGeom>
          <a:solidFill>
            <a:srgbClr val="A6C9EC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0" tIns="0" rIns="0" bIns="0" anchor="ctr"/>
          <a:lstStyle/>
          <a:p>
            <a:pPr marL="0" marR="0" lvl="0" indent="0" algn="ctr" defTabSz="7620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신입 엔지니어 교육 프로그램 기획 및 운영</a:t>
            </a:r>
            <a:endParaRPr kumimoji="0" lang="en-US" altLang="ko-KR" sz="9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26" name="사각형: 둥근 모서리 136">
            <a:extLst>
              <a:ext uri="{FF2B5EF4-FFF2-40B4-BE49-F238E27FC236}">
                <a16:creationId xmlns:a16="http://schemas.microsoft.com/office/drawing/2014/main" id="{23F6E5C4-0A6A-DEA6-1BD3-81DBDA2BF43A}"/>
              </a:ext>
            </a:extLst>
          </p:cNvPr>
          <p:cNvSpPr/>
          <p:nvPr/>
        </p:nvSpPr>
        <p:spPr>
          <a:xfrm>
            <a:off x="8121507" y="2849724"/>
            <a:ext cx="1440000" cy="288000"/>
          </a:xfrm>
          <a:prstGeom prst="rect">
            <a:avLst/>
          </a:prstGeom>
          <a:solidFill>
            <a:srgbClr val="A6C9EC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0" tIns="0" rIns="0" bIns="0" anchor="ctr"/>
          <a:lstStyle/>
          <a:p>
            <a:pPr marL="0" marR="0" lvl="0" indent="0" algn="ctr" defTabSz="7620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엔지니어 역량 개발 계획 수립 및 운영</a:t>
            </a:r>
            <a:endParaRPr kumimoji="0" lang="en-US" altLang="ko-KR" sz="9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27" name="사각형: 둥근 모서리 138">
            <a:extLst>
              <a:ext uri="{FF2B5EF4-FFF2-40B4-BE49-F238E27FC236}">
                <a16:creationId xmlns:a16="http://schemas.microsoft.com/office/drawing/2014/main" id="{FDA1EB9C-68CB-6884-22C0-A16450BC42D7}"/>
              </a:ext>
            </a:extLst>
          </p:cNvPr>
          <p:cNvSpPr/>
          <p:nvPr/>
        </p:nvSpPr>
        <p:spPr>
          <a:xfrm>
            <a:off x="8121507" y="3562766"/>
            <a:ext cx="1440000" cy="288000"/>
          </a:xfrm>
          <a:prstGeom prst="rect">
            <a:avLst/>
          </a:prstGeom>
          <a:solidFill>
            <a:srgbClr val="A6C9EC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0" tIns="0" rIns="0" bIns="0" anchor="ctr"/>
          <a:lstStyle/>
          <a:p>
            <a:pPr marL="0" marR="0" lvl="0" indent="0" algn="ctr" defTabSz="7620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교육 효과 측정 및 개선 방안 도출</a:t>
            </a:r>
            <a:endParaRPr kumimoji="0" lang="en-US" altLang="ko-KR" sz="9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5" name="사각형: 둥근 모서리 138">
            <a:extLst>
              <a:ext uri="{FF2B5EF4-FFF2-40B4-BE49-F238E27FC236}">
                <a16:creationId xmlns:a16="http://schemas.microsoft.com/office/drawing/2014/main" id="{E14A6FBA-E9C6-2366-F9D0-028A9FD7EEB3}"/>
              </a:ext>
            </a:extLst>
          </p:cNvPr>
          <p:cNvSpPr/>
          <p:nvPr/>
        </p:nvSpPr>
        <p:spPr>
          <a:xfrm>
            <a:off x="3455294" y="3206245"/>
            <a:ext cx="1440000" cy="28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square"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strike="noStrike" kern="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오염물 배출 관리 및 환경 규제 대응</a:t>
            </a:r>
            <a:endParaRPr kumimoji="0" lang="en-US" altLang="ko-KR" sz="1000" i="0" u="none" strike="noStrike" kern="0" cap="none" spc="-3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</p:txBody>
      </p:sp>
      <p:sp>
        <p:nvSpPr>
          <p:cNvPr id="20" name="사각형: 둥근 모서리 138">
            <a:extLst>
              <a:ext uri="{FF2B5EF4-FFF2-40B4-BE49-F238E27FC236}">
                <a16:creationId xmlns:a16="http://schemas.microsoft.com/office/drawing/2014/main" id="{D723C368-AF36-174E-B50D-D37D81B2AB2E}"/>
              </a:ext>
            </a:extLst>
          </p:cNvPr>
          <p:cNvSpPr/>
          <p:nvPr/>
        </p:nvSpPr>
        <p:spPr>
          <a:xfrm>
            <a:off x="3455294" y="3562766"/>
            <a:ext cx="1440000" cy="288000"/>
          </a:xfrm>
          <a:prstGeom prst="rect">
            <a:avLst/>
          </a:prstGeom>
          <a:solidFill>
            <a:srgbClr val="A6C9EC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0" tIns="0" rIns="0" bIns="0" anchor="ctr"/>
          <a:lstStyle/>
          <a:p>
            <a:pPr marL="0" marR="0" lvl="0" indent="0" algn="ctr" defTabSz="7620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오염물질</a:t>
            </a:r>
            <a:r>
              <a:rPr kumimoji="0" lang="en-US" altLang="ko-KR" sz="9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(</a:t>
            </a: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대기</a:t>
            </a:r>
            <a:r>
              <a:rPr kumimoji="0" lang="en-US" altLang="ko-KR" sz="9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, </a:t>
            </a: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폐수 등</a:t>
            </a:r>
            <a:r>
              <a:rPr kumimoji="0" lang="en-US" altLang="ko-KR" sz="9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) </a:t>
            </a: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배출 현황 모니터링 및 결과 작성</a:t>
            </a:r>
            <a:endParaRPr kumimoji="0" lang="en-US" altLang="ko-KR" sz="9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2" name="사각형: 둥근 모서리 138">
            <a:extLst>
              <a:ext uri="{FF2B5EF4-FFF2-40B4-BE49-F238E27FC236}">
                <a16:creationId xmlns:a16="http://schemas.microsoft.com/office/drawing/2014/main" id="{664641A5-1BC5-6714-2587-1254AFD4FACA}"/>
              </a:ext>
            </a:extLst>
          </p:cNvPr>
          <p:cNvSpPr/>
          <p:nvPr/>
        </p:nvSpPr>
        <p:spPr>
          <a:xfrm>
            <a:off x="3455294" y="3919287"/>
            <a:ext cx="1440000" cy="288000"/>
          </a:xfrm>
          <a:prstGeom prst="rect">
            <a:avLst/>
          </a:prstGeom>
          <a:solidFill>
            <a:srgbClr val="A6C9EC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0" tIns="0" rIns="0" bIns="0" anchor="ctr"/>
          <a:lstStyle/>
          <a:p>
            <a:pPr marL="0" marR="0" lvl="0" indent="0" algn="ctr" defTabSz="7620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환경 통합법 관련 데이터 관리 및 점검 대응</a:t>
            </a:r>
            <a:endParaRPr kumimoji="0" lang="en-US" altLang="ko-KR" sz="9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3" name="사각형: 둥근 모서리 138">
            <a:extLst>
              <a:ext uri="{FF2B5EF4-FFF2-40B4-BE49-F238E27FC236}">
                <a16:creationId xmlns:a16="http://schemas.microsoft.com/office/drawing/2014/main" id="{6085757A-26A9-0B88-E7AA-E9EBC83F48FA}"/>
              </a:ext>
            </a:extLst>
          </p:cNvPr>
          <p:cNvSpPr/>
          <p:nvPr/>
        </p:nvSpPr>
        <p:spPr>
          <a:xfrm>
            <a:off x="3455294" y="4275808"/>
            <a:ext cx="1440000" cy="288000"/>
          </a:xfrm>
          <a:prstGeom prst="rect">
            <a:avLst/>
          </a:prstGeom>
          <a:solidFill>
            <a:srgbClr val="A6C9EC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0" tIns="0" rIns="0" bIns="0" anchor="ctr"/>
          <a:lstStyle/>
          <a:p>
            <a:pPr marL="0" marR="0" lvl="0" indent="0" algn="ctr" defTabSz="7620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화관법 관련 데이터 관리 및 점검 대응</a:t>
            </a:r>
            <a:endParaRPr kumimoji="0" lang="en-US" altLang="ko-KR" sz="9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6" name="사각형: 둥근 모서리 138">
            <a:extLst>
              <a:ext uri="{FF2B5EF4-FFF2-40B4-BE49-F238E27FC236}">
                <a16:creationId xmlns:a16="http://schemas.microsoft.com/office/drawing/2014/main" id="{72F76F39-0D2B-0288-8A73-84CAF5B35CEA}"/>
              </a:ext>
            </a:extLst>
          </p:cNvPr>
          <p:cNvSpPr/>
          <p:nvPr/>
        </p:nvSpPr>
        <p:spPr>
          <a:xfrm>
            <a:off x="5010699" y="1423640"/>
            <a:ext cx="1440000" cy="28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square"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strike="noStrike" kern="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사고 조사 및 재발 방지 </a:t>
            </a:r>
            <a:br>
              <a:rPr kumimoji="0" lang="en-US" altLang="ko-KR" sz="1000" i="0" u="none" strike="noStrike" kern="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</a:br>
            <a:r>
              <a:rPr kumimoji="0" lang="ko-KR" altLang="en-US" sz="1000" i="0" u="none" strike="noStrike" kern="0" cap="none" spc="-3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대책 수립</a:t>
            </a:r>
            <a:endParaRPr kumimoji="0" lang="en-US" altLang="ko-KR" sz="1000" i="0" u="none" strike="noStrike" kern="0" cap="none" spc="-3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</p:txBody>
      </p:sp>
      <p:sp>
        <p:nvSpPr>
          <p:cNvPr id="29" name="사각형: 둥근 모서리 138">
            <a:extLst>
              <a:ext uri="{FF2B5EF4-FFF2-40B4-BE49-F238E27FC236}">
                <a16:creationId xmlns:a16="http://schemas.microsoft.com/office/drawing/2014/main" id="{4ADCBF52-02AF-453B-4992-AB183DD3FB0A}"/>
              </a:ext>
            </a:extLst>
          </p:cNvPr>
          <p:cNvSpPr/>
          <p:nvPr/>
        </p:nvSpPr>
        <p:spPr>
          <a:xfrm>
            <a:off x="5010699" y="1780161"/>
            <a:ext cx="1440000" cy="288000"/>
          </a:xfrm>
          <a:prstGeom prst="rect">
            <a:avLst/>
          </a:prstGeom>
          <a:solidFill>
            <a:srgbClr val="153D64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0" tIns="0" rIns="0" bIns="0" anchor="ctr"/>
          <a:lstStyle/>
          <a:p>
            <a:pPr marL="0" marR="0" lvl="0" indent="0" algn="ctr" defTabSz="7620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사고 조사 조직</a:t>
            </a:r>
            <a:r>
              <a:rPr kumimoji="0" lang="en-US" altLang="ko-KR" sz="9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(TF) </a:t>
            </a: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구성</a:t>
            </a:r>
            <a:endParaRPr kumimoji="0" lang="en-US" altLang="ko-KR" sz="9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30" name="사각형: 둥근 모서리 138">
            <a:extLst>
              <a:ext uri="{FF2B5EF4-FFF2-40B4-BE49-F238E27FC236}">
                <a16:creationId xmlns:a16="http://schemas.microsoft.com/office/drawing/2014/main" id="{ECE3D640-98BC-F629-BF1C-692F6167F641}"/>
              </a:ext>
            </a:extLst>
          </p:cNvPr>
          <p:cNvSpPr/>
          <p:nvPr/>
        </p:nvSpPr>
        <p:spPr>
          <a:xfrm>
            <a:off x="5010699" y="2136682"/>
            <a:ext cx="1440000" cy="288000"/>
          </a:xfrm>
          <a:prstGeom prst="rect">
            <a:avLst/>
          </a:prstGeom>
          <a:solidFill>
            <a:srgbClr val="153D64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0" tIns="0" rIns="0" bIns="0" anchor="ctr"/>
          <a:lstStyle/>
          <a:p>
            <a:pPr marL="0" marR="0" lvl="0" indent="0" algn="ctr" defTabSz="7620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사고 분석 및 근본 원인 파악</a:t>
            </a:r>
            <a:endParaRPr kumimoji="0" lang="en-US" altLang="ko-KR" sz="9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31" name="사각형: 둥근 모서리 138">
            <a:extLst>
              <a:ext uri="{FF2B5EF4-FFF2-40B4-BE49-F238E27FC236}">
                <a16:creationId xmlns:a16="http://schemas.microsoft.com/office/drawing/2014/main" id="{48A87871-AD95-8DC9-F666-BC91D0A644F7}"/>
              </a:ext>
            </a:extLst>
          </p:cNvPr>
          <p:cNvSpPr/>
          <p:nvPr/>
        </p:nvSpPr>
        <p:spPr>
          <a:xfrm>
            <a:off x="5010699" y="2493203"/>
            <a:ext cx="1440000" cy="288000"/>
          </a:xfrm>
          <a:prstGeom prst="rect">
            <a:avLst/>
          </a:prstGeom>
          <a:solidFill>
            <a:srgbClr val="153D64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0" tIns="0" rIns="0" bIns="0" anchor="ctr"/>
          <a:lstStyle/>
          <a:p>
            <a:pPr marL="0" marR="0" lvl="0" indent="0" algn="ctr" defTabSz="7620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기술적</a:t>
            </a:r>
            <a:r>
              <a:rPr kumimoji="0" lang="en-US" altLang="ko-KR" sz="9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/</a:t>
            </a: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관리적 재발 방지 대책 수립 및 이행 관리</a:t>
            </a:r>
            <a:endParaRPr kumimoji="0" lang="en-US" altLang="ko-KR" sz="9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33" name="사각형: 둥근 모서리 138">
            <a:extLst>
              <a:ext uri="{FF2B5EF4-FFF2-40B4-BE49-F238E27FC236}">
                <a16:creationId xmlns:a16="http://schemas.microsoft.com/office/drawing/2014/main" id="{24B9CA87-5C3F-4484-6FFF-A85970B70AAB}"/>
              </a:ext>
            </a:extLst>
          </p:cNvPr>
          <p:cNvSpPr/>
          <p:nvPr/>
        </p:nvSpPr>
        <p:spPr>
          <a:xfrm>
            <a:off x="5010699" y="2849724"/>
            <a:ext cx="1440000" cy="288000"/>
          </a:xfrm>
          <a:prstGeom prst="rect">
            <a:avLst/>
          </a:prstGeom>
          <a:solidFill>
            <a:srgbClr val="153D64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0" tIns="0" rIns="0" bIns="0" anchor="ctr"/>
          <a:lstStyle/>
          <a:p>
            <a:pPr marL="0" marR="0" lvl="0" indent="0" algn="ctr" defTabSz="7620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사고 조사 보고서 작성 및 사례 공유</a:t>
            </a:r>
            <a:endParaRPr kumimoji="0" lang="en-US" altLang="ko-KR" sz="9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23B6DB9-2394-FA8D-DBDA-B9DE5C4BC765}"/>
              </a:ext>
            </a:extLst>
          </p:cNvPr>
          <p:cNvSpPr/>
          <p:nvPr/>
        </p:nvSpPr>
        <p:spPr>
          <a:xfrm>
            <a:off x="7010230" y="701354"/>
            <a:ext cx="428741" cy="154237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0" tIns="0" rIns="0" bIns="0" anchor="ctr"/>
          <a:lstStyle/>
          <a:p>
            <a:pPr marL="0" marR="0" lvl="0" indent="0" algn="ctr" defTabSz="7620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수작업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E62A2AE-3241-CB52-C641-C210477D0D63}"/>
              </a:ext>
            </a:extLst>
          </p:cNvPr>
          <p:cNvSpPr/>
          <p:nvPr/>
        </p:nvSpPr>
        <p:spPr>
          <a:xfrm>
            <a:off x="7480814" y="701354"/>
            <a:ext cx="668943" cy="154237"/>
          </a:xfrm>
          <a:prstGeom prst="rect">
            <a:avLst/>
          </a:prstGeom>
          <a:solidFill>
            <a:srgbClr val="DAE9F8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0" tIns="0" rIns="0" bIns="0" anchor="ctr"/>
          <a:lstStyle/>
          <a:p>
            <a:pPr marL="0" marR="0" lvl="0" indent="0" algn="ctr" defTabSz="7620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정보화 초기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419CAB9-DFCD-B335-C75E-1B549D592B86}"/>
              </a:ext>
            </a:extLst>
          </p:cNvPr>
          <p:cNvSpPr/>
          <p:nvPr/>
        </p:nvSpPr>
        <p:spPr>
          <a:xfrm>
            <a:off x="8191600" y="701354"/>
            <a:ext cx="428741" cy="154237"/>
          </a:xfrm>
          <a:prstGeom prst="rect">
            <a:avLst/>
          </a:prstGeom>
          <a:solidFill>
            <a:srgbClr val="A6C9EC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0" tIns="0" rIns="0" bIns="0" anchor="ctr"/>
          <a:lstStyle/>
          <a:p>
            <a:pPr marL="0" marR="0" lvl="0" indent="0" algn="ctr" defTabSz="7620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정보화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7C36B75-FDC1-5699-2E46-3147D6544D7F}"/>
              </a:ext>
            </a:extLst>
          </p:cNvPr>
          <p:cNvSpPr/>
          <p:nvPr/>
        </p:nvSpPr>
        <p:spPr>
          <a:xfrm>
            <a:off x="8662183" y="701354"/>
            <a:ext cx="428741" cy="154237"/>
          </a:xfrm>
          <a:prstGeom prst="rect">
            <a:avLst/>
          </a:prstGeom>
          <a:solidFill>
            <a:srgbClr val="4D93D9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0" tIns="0" rIns="0" bIns="0" anchor="ctr"/>
          <a:lstStyle/>
          <a:p>
            <a:pPr marL="0" marR="0" lvl="0" indent="0" algn="ctr" defTabSz="7620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자동화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E29D60D-6EC1-1216-5E16-E664CF267515}"/>
              </a:ext>
            </a:extLst>
          </p:cNvPr>
          <p:cNvSpPr/>
          <p:nvPr/>
        </p:nvSpPr>
        <p:spPr>
          <a:xfrm>
            <a:off x="9132766" y="701354"/>
            <a:ext cx="428741" cy="154237"/>
          </a:xfrm>
          <a:prstGeom prst="rect">
            <a:avLst/>
          </a:prstGeom>
          <a:solidFill>
            <a:srgbClr val="153D64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0" tIns="0" rIns="0" bIns="0" anchor="ctr"/>
          <a:lstStyle/>
          <a:p>
            <a:pPr marL="0" marR="0" lvl="0" indent="0" algn="ctr" defTabSz="7620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지능화</a:t>
            </a:r>
          </a:p>
        </p:txBody>
      </p:sp>
      <p:sp>
        <p:nvSpPr>
          <p:cNvPr id="8" name="Rectangle 29">
            <a:extLst>
              <a:ext uri="{FF2B5EF4-FFF2-40B4-BE49-F238E27FC236}">
                <a16:creationId xmlns:a16="http://schemas.microsoft.com/office/drawing/2014/main" id="{EBD372DA-402D-A0B2-9C22-EB82F3CF136D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4486" y="701354"/>
            <a:ext cx="834931" cy="154237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i="0" u="none" strike="noStrike" kern="1200" cap="none" spc="-30" normalizeH="0" baseline="0" noProof="0">
                <a:ln>
                  <a:solidFill>
                    <a:srgbClr val="404040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Process Group</a:t>
            </a:r>
            <a:endParaRPr kumimoji="0" lang="ko-KR" altLang="en-US" sz="900" i="0" u="none" strike="noStrike" kern="1200" cap="none" spc="-30" normalizeH="0" baseline="0" noProof="0">
              <a:ln>
                <a:solidFill>
                  <a:srgbClr val="404040">
                    <a:alpha val="0"/>
                  </a:srgbClr>
                </a:solidFill>
              </a:ln>
              <a:solidFill>
                <a:schemeClr val="bg1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1" name="Rectangle 29">
            <a:extLst>
              <a:ext uri="{FF2B5EF4-FFF2-40B4-BE49-F238E27FC236}">
                <a16:creationId xmlns:a16="http://schemas.microsoft.com/office/drawing/2014/main" id="{2A72131D-28C3-1682-C8DC-B8FD0D67C109}"/>
              </a:ext>
            </a:extLst>
          </p:cNvPr>
          <p:cNvSpPr>
            <a:spLocks noChangeArrowheads="1"/>
          </p:cNvSpPr>
          <p:nvPr/>
        </p:nvSpPr>
        <p:spPr bwMode="gray">
          <a:xfrm>
            <a:off x="1249211" y="701354"/>
            <a:ext cx="560538" cy="154237"/>
          </a:xfrm>
          <a:prstGeom prst="rect">
            <a:avLst/>
          </a:prstGeom>
          <a:solidFill>
            <a:srgbClr val="595959"/>
          </a:solidFill>
          <a:ln w="6350">
            <a:solidFill>
              <a:schemeClr val="tx1"/>
            </a:solidFill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i="0" u="none" strike="noStrike" kern="1200" cap="none" spc="-30" normalizeH="0" baseline="0" noProof="0">
                <a:ln>
                  <a:solidFill>
                    <a:srgbClr val="404040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Process</a:t>
            </a:r>
            <a:endParaRPr kumimoji="0" lang="ko-KR" altLang="en-US" sz="900" i="0" u="none" strike="noStrike" kern="1200" cap="none" spc="-30" normalizeH="0" baseline="0" noProof="0">
              <a:ln>
                <a:solidFill>
                  <a:srgbClr val="404040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2" name="Rectangle 29">
            <a:extLst>
              <a:ext uri="{FF2B5EF4-FFF2-40B4-BE49-F238E27FC236}">
                <a16:creationId xmlns:a16="http://schemas.microsoft.com/office/drawing/2014/main" id="{4D1B9A2D-4BD5-EE6F-DFE7-6E404A20B68E}"/>
              </a:ext>
            </a:extLst>
          </p:cNvPr>
          <p:cNvSpPr>
            <a:spLocks noChangeArrowheads="1"/>
          </p:cNvSpPr>
          <p:nvPr/>
        </p:nvSpPr>
        <p:spPr bwMode="gray">
          <a:xfrm>
            <a:off x="6481940" y="701354"/>
            <a:ext cx="486447" cy="154237"/>
          </a:xfrm>
          <a:prstGeom prst="rect">
            <a:avLst/>
          </a:prstGeom>
          <a:noFill/>
          <a:ln w="6350"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i="0" u="none" strike="noStrike" kern="1200" cap="none" spc="-30" normalizeH="0" baseline="0" noProof="0">
                <a:ln>
                  <a:solidFill>
                    <a:srgbClr val="404040">
                      <a:alpha val="0"/>
                    </a:srgbClr>
                  </a:solidFill>
                </a:ln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Activity</a:t>
            </a:r>
            <a:endParaRPr kumimoji="0" lang="ko-KR" altLang="en-US" sz="900" i="0" u="none" strike="noStrike" kern="1200" cap="none" spc="-30" normalizeH="0" baseline="0" noProof="0">
              <a:ln>
                <a:solidFill>
                  <a:srgbClr val="404040">
                    <a:alpha val="0"/>
                  </a:srgbClr>
                </a:solidFill>
              </a:ln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924206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228B1-A0AD-5708-B971-D4C148A87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45BE2DC-5A0B-5B62-4D0F-7E29E81CCA6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55375" y="254884"/>
            <a:ext cx="3737818" cy="343235"/>
          </a:xfrm>
        </p:spPr>
        <p:txBody>
          <a:bodyPr/>
          <a:lstStyle/>
          <a:p>
            <a:r>
              <a:rPr lang="en-US" altLang="ko-KR" b="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Appendix. </a:t>
            </a:r>
            <a:r>
              <a:rPr lang="ko-KR" altLang="en-US" b="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생산기술 </a:t>
            </a:r>
            <a:r>
              <a:rPr lang="en-US" altLang="ko-KR" b="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LKM Concept</a:t>
            </a:r>
          </a:p>
        </p:txBody>
      </p:sp>
      <p:sp>
        <p:nvSpPr>
          <p:cNvPr id="4" name="텍스트 개체 틀 4">
            <a:extLst>
              <a:ext uri="{FF2B5EF4-FFF2-40B4-BE49-F238E27FC236}">
                <a16:creationId xmlns:a16="http://schemas.microsoft.com/office/drawing/2014/main" id="{89507429-4A02-D29F-4EB7-E7CF28F512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3063" y="765175"/>
            <a:ext cx="9193040" cy="719138"/>
          </a:xfrm>
        </p:spPr>
        <p:txBody>
          <a:bodyPr vert="horz" lIns="91440" tIns="45720" rIns="91440" bIns="45720" rtlCol="0">
            <a:norm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</a:pPr>
            <a:r>
              <a:rPr lang="ko-KR" altLang="en-US" sz="1600" b="0"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ngal Pro" panose="020B0502040204020203" pitchFamily="2" charset="0"/>
              </a:rPr>
              <a:t>공정 운전 </a:t>
            </a:r>
            <a:r>
              <a:rPr lang="en-US" altLang="ko-KR" sz="1600" b="0"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ngal Pro" panose="020B0502040204020203" pitchFamily="2" charset="0"/>
              </a:rPr>
              <a:t>Data</a:t>
            </a:r>
            <a:r>
              <a:rPr lang="ko-KR" altLang="en-US" sz="1600" b="0"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ngal Pro" panose="020B0502040204020203" pitchFamily="2" charset="0"/>
              </a:rPr>
              <a:t>에 기반한 생산 </a:t>
            </a:r>
            <a:r>
              <a:rPr lang="en-US" altLang="ko-KR" sz="1600" b="0"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ngal Pro" panose="020B0502040204020203" pitchFamily="2" charset="0"/>
              </a:rPr>
              <a:t>LKM </a:t>
            </a:r>
            <a:r>
              <a:rPr lang="ko-KR" altLang="en-US" sz="1600" b="0"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ngal Pro" panose="020B0502040204020203" pitchFamily="2" charset="0"/>
              </a:rPr>
              <a:t>도입을 통해 공정 운전을 자동화하고</a:t>
            </a:r>
            <a:br>
              <a:rPr lang="en-US" altLang="ko-KR" sz="1600" b="0"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ngal Pro" panose="020B0502040204020203" pitchFamily="2" charset="0"/>
              </a:rPr>
            </a:br>
            <a:r>
              <a:rPr lang="ko-KR" altLang="en-US" sz="1600" b="0"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ngal Pro" panose="020B0502040204020203" pitchFamily="2" charset="0"/>
              </a:rPr>
              <a:t>운전원 업무를 지원하여 공정 안정성을 향상</a:t>
            </a:r>
          </a:p>
        </p:txBody>
      </p:sp>
      <p:sp>
        <p:nvSpPr>
          <p:cNvPr id="14" name="Rectangle 29">
            <a:extLst>
              <a:ext uri="{FF2B5EF4-FFF2-40B4-BE49-F238E27FC236}">
                <a16:creationId xmlns:a16="http://schemas.microsoft.com/office/drawing/2014/main" id="{4B7B2133-1A4E-35DD-9197-D4D376A7E76B}"/>
              </a:ext>
            </a:extLst>
          </p:cNvPr>
          <p:cNvSpPr>
            <a:spLocks noChangeArrowheads="1"/>
          </p:cNvSpPr>
          <p:nvPr/>
        </p:nvSpPr>
        <p:spPr bwMode="gray">
          <a:xfrm>
            <a:off x="678550" y="5733001"/>
            <a:ext cx="3779149" cy="727542"/>
          </a:xfrm>
          <a:prstGeom prst="rect">
            <a:avLst/>
          </a:prstGeom>
          <a:solidFill>
            <a:schemeClr val="bg1"/>
          </a:solidFill>
          <a:ln w="19050">
            <a:solidFill>
              <a:srgbClr val="217CFA"/>
            </a:solidFill>
            <a:prstDash val="solid"/>
          </a:ln>
        </p:spPr>
        <p:txBody>
          <a:bodyPr wrap="square" lIns="36000" rIns="36000" rtlCol="0" anchor="t">
            <a:noAutofit/>
          </a:bodyPr>
          <a:lstStyle/>
          <a:p>
            <a:pPr algn="ctr"/>
            <a:endParaRPr lang="ko-KR" altLang="en-US" sz="1100">
              <a:ln>
                <a:solidFill>
                  <a:srgbClr val="404040">
                    <a:alpha val="0"/>
                  </a:srgbClr>
                </a:solidFill>
              </a:ln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15" name="그래픽 14" descr="데이터베이스 윤곽선">
            <a:extLst>
              <a:ext uri="{FF2B5EF4-FFF2-40B4-BE49-F238E27FC236}">
                <a16:creationId xmlns:a16="http://schemas.microsoft.com/office/drawing/2014/main" id="{939F6524-0648-0DCE-F374-604BF4A5DC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84475" y="5283674"/>
            <a:ext cx="367300" cy="367300"/>
          </a:xfrm>
          <a:prstGeom prst="rect">
            <a:avLst/>
          </a:prstGeom>
        </p:spPr>
      </p:pic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8031B612-BAE3-1D61-ECEB-2A58F2F38AE4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2568121" y="5113504"/>
            <a:ext cx="4" cy="170170"/>
          </a:xfrm>
          <a:prstGeom prst="straightConnector1">
            <a:avLst/>
          </a:prstGeom>
          <a:ln w="63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" name="그룹 8">
            <a:extLst>
              <a:ext uri="{FF2B5EF4-FFF2-40B4-BE49-F238E27FC236}">
                <a16:creationId xmlns:a16="http://schemas.microsoft.com/office/drawing/2014/main" id="{190726E2-683E-C757-E18C-1DBEACB4967D}"/>
              </a:ext>
            </a:extLst>
          </p:cNvPr>
          <p:cNvGrpSpPr/>
          <p:nvPr/>
        </p:nvGrpSpPr>
        <p:grpSpPr>
          <a:xfrm>
            <a:off x="678546" y="2643490"/>
            <a:ext cx="3779149" cy="2470014"/>
            <a:chOff x="678546" y="2554872"/>
            <a:chExt cx="3779149" cy="2470014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3800DD1B-639F-8FED-8267-CEF3F2A51A7E}"/>
                </a:ext>
              </a:extLst>
            </p:cNvPr>
            <p:cNvSpPr/>
            <p:nvPr/>
          </p:nvSpPr>
          <p:spPr>
            <a:xfrm>
              <a:off x="678546" y="2554872"/>
              <a:ext cx="3779149" cy="2470014"/>
            </a:xfrm>
            <a:prstGeom prst="rect">
              <a:avLst/>
            </a:prstGeom>
            <a:noFill/>
            <a:ln w="6350">
              <a:solidFill>
                <a:schemeClr val="bg1">
                  <a:lumMod val="65000"/>
                </a:schemeClr>
              </a:solidFill>
              <a:prstDash val="dash"/>
            </a:ln>
          </p:spPr>
          <p:txBody>
            <a:bodyPr wrap="square" lIns="36000" tIns="72000" rIns="36000" rtlCol="0" anchor="t">
              <a:noAutofit/>
            </a:bodyPr>
            <a:lstStyle/>
            <a:p>
              <a:pPr algn="ctr"/>
              <a:r>
                <a:rPr lang="ko-KR" altLang="en-US" sz="1200" u="sng">
                  <a:ln>
                    <a:solidFill>
                      <a:srgbClr val="404040">
                        <a:alpha val="0"/>
                      </a:srgbClr>
                    </a:solidFill>
                  </a:ln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생산 </a:t>
              </a:r>
              <a:r>
                <a:rPr lang="en-US" altLang="ko-KR" sz="1200" u="sng">
                  <a:ln>
                    <a:solidFill>
                      <a:srgbClr val="404040">
                        <a:alpha val="0"/>
                      </a:srgbClr>
                    </a:solidFill>
                  </a:ln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Large Knowledge Model(LKM)</a:t>
              </a:r>
              <a:endParaRPr lang="ko-KR" altLang="en-US" sz="1200" u="sng">
                <a:ln>
                  <a:solidFill>
                    <a:srgbClr val="404040">
                      <a:alpha val="0"/>
                    </a:srgbClr>
                  </a:solidFill>
                </a:ln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17" name="이등변 삼각형 16">
              <a:extLst>
                <a:ext uri="{FF2B5EF4-FFF2-40B4-BE49-F238E27FC236}">
                  <a16:creationId xmlns:a16="http://schemas.microsoft.com/office/drawing/2014/main" id="{73BEC91E-0FF2-A2F3-8DF4-F06C85F39086}"/>
                </a:ext>
              </a:extLst>
            </p:cNvPr>
            <p:cNvSpPr/>
            <p:nvPr/>
          </p:nvSpPr>
          <p:spPr>
            <a:xfrm>
              <a:off x="2177195" y="3678925"/>
              <a:ext cx="788250" cy="547139"/>
            </a:xfrm>
            <a:prstGeom prst="triangle">
              <a:avLst/>
            </a:prstGeom>
            <a:solidFill>
              <a:srgbClr val="DCEAF7"/>
            </a:solidFill>
            <a:ln w="6350">
              <a:solidFill>
                <a:srgbClr val="1C6AAC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7C1C3E57-2FF7-13BD-10A9-3C898874A785}"/>
                </a:ext>
              </a:extLst>
            </p:cNvPr>
            <p:cNvSpPr/>
            <p:nvPr/>
          </p:nvSpPr>
          <p:spPr>
            <a:xfrm>
              <a:off x="2359567" y="3453640"/>
              <a:ext cx="417114" cy="417114"/>
            </a:xfrm>
            <a:prstGeom prst="ellipse">
              <a:avLst/>
            </a:prstGeom>
            <a:solidFill>
              <a:srgbClr val="217CFA"/>
            </a:solidFill>
            <a:ln w="3175">
              <a:solidFill>
                <a:srgbClr val="1C6AAC"/>
              </a:solidFill>
            </a:ln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100" kern="0">
                  <a:solidFill>
                    <a:schemeClr val="bg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cs typeface="Arial" panose="020B0604020202020204" pitchFamily="34" charset="0"/>
                </a:rPr>
                <a:t>상황</a:t>
              </a:r>
              <a:endParaRPr kumimoji="1" lang="en-US" altLang="ko-KR" sz="110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4575E62C-C92E-A568-0E63-2ED7EDC31A3B}"/>
                </a:ext>
              </a:extLst>
            </p:cNvPr>
            <p:cNvSpPr/>
            <p:nvPr/>
          </p:nvSpPr>
          <p:spPr>
            <a:xfrm>
              <a:off x="1954907" y="3979601"/>
              <a:ext cx="417114" cy="417114"/>
            </a:xfrm>
            <a:prstGeom prst="ellipse">
              <a:avLst/>
            </a:prstGeom>
            <a:solidFill>
              <a:srgbClr val="217CFA"/>
            </a:solidFill>
            <a:ln w="3175">
              <a:solidFill>
                <a:srgbClr val="1C6AAC"/>
              </a:solidFill>
            </a:ln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100" kern="0">
                  <a:solidFill>
                    <a:schemeClr val="bg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cs typeface="Arial" panose="020B0604020202020204" pitchFamily="34" charset="0"/>
                </a:rPr>
                <a:t>증상</a:t>
              </a:r>
              <a:endParaRPr kumimoji="1" lang="en-US" altLang="ko-KR" sz="110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DC17C3AA-9D81-E876-0D7C-099B2FDE8201}"/>
                </a:ext>
              </a:extLst>
            </p:cNvPr>
            <p:cNvSpPr/>
            <p:nvPr/>
          </p:nvSpPr>
          <p:spPr>
            <a:xfrm>
              <a:off x="2764228" y="3979601"/>
              <a:ext cx="417114" cy="417114"/>
            </a:xfrm>
            <a:prstGeom prst="ellipse">
              <a:avLst/>
            </a:prstGeom>
            <a:solidFill>
              <a:srgbClr val="217CFA"/>
            </a:solidFill>
            <a:ln w="3175">
              <a:solidFill>
                <a:srgbClr val="1C6AAC"/>
              </a:solidFill>
            </a:ln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100" kern="0">
                  <a:solidFill>
                    <a:schemeClr val="bg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cs typeface="Arial" panose="020B0604020202020204" pitchFamily="34" charset="0"/>
                </a:rPr>
                <a:t>조치</a:t>
              </a:r>
              <a:endParaRPr kumimoji="1" lang="en-US" altLang="ko-KR" sz="110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5444AE5-A1EC-9C3B-F411-F875DE871BF0}"/>
                </a:ext>
              </a:extLst>
            </p:cNvPr>
            <p:cNvSpPr txBox="1"/>
            <p:nvPr/>
          </p:nvSpPr>
          <p:spPr>
            <a:xfrm>
              <a:off x="2359567" y="3929216"/>
              <a:ext cx="417114" cy="200932"/>
            </a:xfrm>
            <a:prstGeom prst="rect">
              <a:avLst/>
            </a:prstGeom>
            <a:noFill/>
          </p:spPr>
          <p:txBody>
            <a:bodyPr wrap="square" lIns="0" rIns="0" rtlCol="0" anchor="ctr">
              <a:noAutofit/>
            </a:bodyPr>
            <a:lstStyle/>
            <a:p>
              <a:pPr algn="ctr"/>
              <a:r>
                <a:rPr lang="en-US" altLang="ko-KR" sz="110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LKM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2433709-5C92-9E65-3627-12069050DF55}"/>
                </a:ext>
              </a:extLst>
            </p:cNvPr>
            <p:cNvSpPr txBox="1"/>
            <p:nvPr/>
          </p:nvSpPr>
          <p:spPr>
            <a:xfrm>
              <a:off x="2856532" y="3353229"/>
              <a:ext cx="1561369" cy="395340"/>
            </a:xfrm>
            <a:prstGeom prst="rect">
              <a:avLst/>
            </a:prstGeom>
            <a:noFill/>
          </p:spPr>
          <p:txBody>
            <a:bodyPr wrap="square" lIns="0" rIns="0" rtlCol="0" anchor="t">
              <a:noAutofit/>
            </a:bodyPr>
            <a:lstStyle>
              <a:defPPr>
                <a:defRPr lang="en-US"/>
              </a:defPPr>
              <a:lvl1pPr marL="171450" indent="-171450">
                <a:buFont typeface="Wingdings" panose="05000000000000000000" pitchFamily="2" charset="2"/>
                <a:buChar char="ü"/>
                <a:defRPr sz="1000" i="1" spc="-50">
                  <a:latin typeface="나눔스퀘어 Bold" panose="020B0600000101010101" pitchFamily="50" charset="-127"/>
                  <a:ea typeface="나눔스퀘어 Bold" panose="020B0600000101010101" pitchFamily="50" charset="-127"/>
                </a:defRPr>
              </a:lvl1pPr>
            </a:lstStyle>
            <a:p>
              <a:pPr marL="88900" indent="-88900"/>
              <a:r>
                <a:rPr lang="ko-KR" altLang="en-US">
                  <a:solidFill>
                    <a:srgbClr val="217CFA"/>
                  </a:solidFill>
                </a:rPr>
                <a:t>공정 정상 운전</a:t>
              </a:r>
              <a:r>
                <a:rPr lang="en-US" altLang="ko-KR">
                  <a:solidFill>
                    <a:srgbClr val="217CFA"/>
                  </a:solidFill>
                </a:rPr>
                <a:t>, </a:t>
              </a:r>
              <a:r>
                <a:rPr lang="ko-KR" altLang="en-US">
                  <a:solidFill>
                    <a:srgbClr val="217CFA"/>
                  </a:solidFill>
                </a:rPr>
                <a:t>이상 발생 상황을 설명  </a:t>
              </a:r>
              <a:endParaRPr lang="en-US" altLang="ko-KR">
                <a:solidFill>
                  <a:srgbClr val="217CFA"/>
                </a:solidFill>
              </a:endParaRPr>
            </a:p>
          </p:txBody>
        </p: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7127977F-1829-02AE-7C73-9FD4296FBF70}"/>
                </a:ext>
              </a:extLst>
            </p:cNvPr>
            <p:cNvCxnSpPr>
              <a:cxnSpLocks/>
              <a:stCxn id="26" idx="2"/>
              <a:endCxn id="18" idx="0"/>
            </p:cNvCxnSpPr>
            <p:nvPr/>
          </p:nvCxnSpPr>
          <p:spPr>
            <a:xfrm>
              <a:off x="1875973" y="3244229"/>
              <a:ext cx="692151" cy="209411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dash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43EC2A02-ADF2-5C1A-68A5-166EA58D0FDA}"/>
                </a:ext>
              </a:extLst>
            </p:cNvPr>
            <p:cNvCxnSpPr>
              <a:cxnSpLocks/>
              <a:stCxn id="27" idx="2"/>
              <a:endCxn id="18" idx="0"/>
            </p:cNvCxnSpPr>
            <p:nvPr/>
          </p:nvCxnSpPr>
          <p:spPr>
            <a:xfrm>
              <a:off x="2337407" y="3244229"/>
              <a:ext cx="230717" cy="209411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dash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06618F61-7290-7490-60BC-17E1A88F1108}"/>
                </a:ext>
              </a:extLst>
            </p:cNvPr>
            <p:cNvCxnSpPr>
              <a:cxnSpLocks/>
              <a:stCxn id="28" idx="2"/>
              <a:endCxn id="18" idx="0"/>
            </p:cNvCxnSpPr>
            <p:nvPr/>
          </p:nvCxnSpPr>
          <p:spPr>
            <a:xfrm flipH="1">
              <a:off x="2568124" y="3244229"/>
              <a:ext cx="230717" cy="209411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dash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0A9A3DC-8252-AEED-687D-08B0784BDCB2}"/>
                </a:ext>
              </a:extLst>
            </p:cNvPr>
            <p:cNvSpPr txBox="1"/>
            <p:nvPr/>
          </p:nvSpPr>
          <p:spPr>
            <a:xfrm>
              <a:off x="1705687" y="2926854"/>
              <a:ext cx="340571" cy="317375"/>
            </a:xfrm>
            <a:prstGeom prst="rect">
              <a:avLst/>
            </a:prstGeom>
            <a:noFill/>
          </p:spPr>
          <p:txBody>
            <a:bodyPr wrap="square" lIns="0" rIns="0" rtlCol="0" anchor="ctr">
              <a:noAutofit/>
            </a:bodyPr>
            <a:lstStyle/>
            <a:p>
              <a:pPr algn="ctr"/>
              <a:r>
                <a:rPr lang="ko-KR" altLang="en-US" sz="900" i="1" spc="-5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공정 </a:t>
              </a:r>
              <a:r>
                <a:rPr lang="en-US" altLang="ko-KR" sz="900" i="1" spc="-5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Alarm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0DD0D8F-9803-A9F6-D882-D0890C79A474}"/>
                </a:ext>
              </a:extLst>
            </p:cNvPr>
            <p:cNvSpPr txBox="1"/>
            <p:nvPr/>
          </p:nvSpPr>
          <p:spPr>
            <a:xfrm>
              <a:off x="2167121" y="2926854"/>
              <a:ext cx="340571" cy="317375"/>
            </a:xfrm>
            <a:prstGeom prst="rect">
              <a:avLst/>
            </a:prstGeom>
            <a:noFill/>
          </p:spPr>
          <p:txBody>
            <a:bodyPr wrap="square" lIns="0" rIns="0" rtlCol="0" anchor="ctr">
              <a:noAutofit/>
            </a:bodyPr>
            <a:lstStyle/>
            <a:p>
              <a:pPr algn="ctr"/>
              <a:r>
                <a:rPr lang="ko-KR" altLang="en-US" sz="900" i="1" spc="-5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근무</a:t>
              </a:r>
              <a:endParaRPr lang="en-US" altLang="ko-KR" sz="900" i="1" spc="-5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  <a:p>
              <a:pPr algn="ctr"/>
              <a:r>
                <a:rPr lang="ko-KR" altLang="en-US" sz="900" i="1" spc="-5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일지</a:t>
              </a:r>
              <a:endParaRPr lang="en-US" altLang="ko-KR" sz="900" i="1" spc="-5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3130D49-4166-BB06-819E-3EF867D371BA}"/>
                </a:ext>
              </a:extLst>
            </p:cNvPr>
            <p:cNvSpPr txBox="1"/>
            <p:nvPr/>
          </p:nvSpPr>
          <p:spPr>
            <a:xfrm>
              <a:off x="2628555" y="2926854"/>
              <a:ext cx="340571" cy="317375"/>
            </a:xfrm>
            <a:prstGeom prst="rect">
              <a:avLst/>
            </a:prstGeom>
            <a:noFill/>
          </p:spPr>
          <p:txBody>
            <a:bodyPr wrap="square" lIns="0" rIns="0" rtlCol="0" anchor="ctr">
              <a:noAutofit/>
            </a:bodyPr>
            <a:lstStyle/>
            <a:p>
              <a:pPr algn="ctr"/>
              <a:r>
                <a:rPr lang="ko-KR" altLang="en-US" sz="900" i="1" spc="-5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작업</a:t>
              </a:r>
              <a:endParaRPr lang="en-US" altLang="ko-KR" sz="900" i="1" spc="-5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  <a:p>
              <a:pPr algn="ctr"/>
              <a:r>
                <a:rPr lang="ko-KR" altLang="en-US" sz="900" i="1" spc="-5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표준</a:t>
              </a:r>
              <a:endParaRPr lang="en-US" altLang="ko-KR" sz="900" i="1" spc="-5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CBD3B01-5779-DAB7-4685-15F862E74806}"/>
                </a:ext>
              </a:extLst>
            </p:cNvPr>
            <p:cNvSpPr txBox="1"/>
            <p:nvPr/>
          </p:nvSpPr>
          <p:spPr>
            <a:xfrm>
              <a:off x="3089991" y="2926854"/>
              <a:ext cx="340571" cy="317375"/>
            </a:xfrm>
            <a:prstGeom prst="rect">
              <a:avLst/>
            </a:prstGeom>
            <a:noFill/>
          </p:spPr>
          <p:txBody>
            <a:bodyPr wrap="square" lIns="0" rIns="0" rtlCol="0" anchor="ctr">
              <a:noAutofit/>
            </a:bodyPr>
            <a:lstStyle/>
            <a:p>
              <a:pPr algn="ctr"/>
              <a:r>
                <a:rPr lang="ko-KR" altLang="en-US" sz="900" i="1" spc="-5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암묵지</a:t>
              </a:r>
              <a:endParaRPr lang="en-US" altLang="ko-KR" sz="900" i="1" spc="-5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6126C47D-C222-FD34-3270-4C4361C83E11}"/>
                </a:ext>
              </a:extLst>
            </p:cNvPr>
            <p:cNvCxnSpPr>
              <a:cxnSpLocks/>
              <a:stCxn id="29" idx="2"/>
              <a:endCxn id="18" idx="0"/>
            </p:cNvCxnSpPr>
            <p:nvPr/>
          </p:nvCxnSpPr>
          <p:spPr>
            <a:xfrm flipH="1">
              <a:off x="2568124" y="3244229"/>
              <a:ext cx="692153" cy="209411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dash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147E4C08-7FF2-8AC0-BAD1-F3C43F78073F}"/>
                </a:ext>
              </a:extLst>
            </p:cNvPr>
            <p:cNvCxnSpPr>
              <a:cxnSpLocks/>
              <a:stCxn id="20" idx="4"/>
            </p:cNvCxnSpPr>
            <p:nvPr/>
          </p:nvCxnSpPr>
          <p:spPr>
            <a:xfrm>
              <a:off x="2972785" y="4396715"/>
              <a:ext cx="568093" cy="13073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dash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A8F2C27C-02CE-BDDD-93B0-AA89E80B06E8}"/>
                </a:ext>
              </a:extLst>
            </p:cNvPr>
            <p:cNvCxnSpPr>
              <a:cxnSpLocks/>
              <a:stCxn id="20" idx="4"/>
            </p:cNvCxnSpPr>
            <p:nvPr/>
          </p:nvCxnSpPr>
          <p:spPr>
            <a:xfrm>
              <a:off x="2972785" y="4396715"/>
              <a:ext cx="167555" cy="13073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dash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D1EC1ACC-B5DC-2253-2931-45E537987AA0}"/>
                </a:ext>
              </a:extLst>
            </p:cNvPr>
            <p:cNvCxnSpPr>
              <a:cxnSpLocks/>
              <a:stCxn id="20" idx="4"/>
            </p:cNvCxnSpPr>
            <p:nvPr/>
          </p:nvCxnSpPr>
          <p:spPr>
            <a:xfrm flipH="1">
              <a:off x="2739801" y="4396715"/>
              <a:ext cx="232984" cy="13073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dash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2D5C77EF-575F-DC1B-AE80-FFE6893BB85B}"/>
                </a:ext>
              </a:extLst>
            </p:cNvPr>
            <p:cNvGrpSpPr/>
            <p:nvPr/>
          </p:nvGrpSpPr>
          <p:grpSpPr>
            <a:xfrm>
              <a:off x="2569516" y="4527445"/>
              <a:ext cx="1542186" cy="411669"/>
              <a:chOff x="2138890" y="4023743"/>
              <a:chExt cx="1463432" cy="301167"/>
            </a:xfrm>
          </p:grpSpPr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05EA379-5812-384E-5054-790A1F06B34C}"/>
                  </a:ext>
                </a:extLst>
              </p:cNvPr>
              <p:cNvSpPr txBox="1"/>
              <p:nvPr/>
            </p:nvSpPr>
            <p:spPr>
              <a:xfrm flipH="1">
                <a:off x="2518974" y="4023743"/>
                <a:ext cx="323179" cy="301167"/>
              </a:xfrm>
              <a:prstGeom prst="rect">
                <a:avLst/>
              </a:prstGeom>
              <a:noFill/>
            </p:spPr>
            <p:txBody>
              <a:bodyPr wrap="square" lIns="0" rIns="0" rtlCol="0" anchor="ctr">
                <a:noAutofit/>
              </a:bodyPr>
              <a:lstStyle/>
              <a:p>
                <a:pPr algn="ctr"/>
                <a:r>
                  <a:rPr lang="en-US" altLang="ko-KR" sz="900" i="1" spc="-5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DCS,</a:t>
                </a:r>
              </a:p>
              <a:p>
                <a:pPr algn="ctr"/>
                <a:r>
                  <a:rPr lang="en-US" altLang="ko-KR" sz="900" i="1" spc="-5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RTDB</a:t>
                </a:r>
              </a:p>
              <a:p>
                <a:pPr algn="ctr"/>
                <a:r>
                  <a:rPr lang="en-US" altLang="ko-KR" sz="900" i="1" spc="-5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(SP,OP)</a:t>
                </a: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CE107F3-3446-6C75-09E6-C0050FD01AD3}"/>
                  </a:ext>
                </a:extLst>
              </p:cNvPr>
              <p:cNvSpPr txBox="1"/>
              <p:nvPr/>
            </p:nvSpPr>
            <p:spPr>
              <a:xfrm flipH="1">
                <a:off x="2138890" y="4023743"/>
                <a:ext cx="323179" cy="301167"/>
              </a:xfrm>
              <a:prstGeom prst="rect">
                <a:avLst/>
              </a:prstGeom>
              <a:noFill/>
            </p:spPr>
            <p:txBody>
              <a:bodyPr wrap="square" lIns="0" rIns="0" rtlCol="0" anchor="ctr">
                <a:noAutofit/>
              </a:bodyPr>
              <a:lstStyle/>
              <a:p>
                <a:pPr algn="ctr"/>
                <a:r>
                  <a:rPr lang="ko-KR" altLang="en-US" sz="900" i="1" spc="-5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근무</a:t>
                </a:r>
                <a:endParaRPr lang="en-US" altLang="ko-KR" sz="900" i="1" spc="-5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  <a:p>
                <a:pPr algn="ctr"/>
                <a:r>
                  <a:rPr lang="ko-KR" altLang="en-US" sz="900" i="1" spc="-5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일지</a:t>
                </a:r>
                <a:endParaRPr lang="en-US" altLang="ko-KR" sz="900" i="1" spc="-5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9E831F8-4534-B95F-0D51-9983210F1D63}"/>
                  </a:ext>
                </a:extLst>
              </p:cNvPr>
              <p:cNvSpPr txBox="1"/>
              <p:nvPr/>
            </p:nvSpPr>
            <p:spPr>
              <a:xfrm flipH="1">
                <a:off x="2899058" y="4023743"/>
                <a:ext cx="323179" cy="301167"/>
              </a:xfrm>
              <a:prstGeom prst="rect">
                <a:avLst/>
              </a:prstGeom>
              <a:noFill/>
            </p:spPr>
            <p:txBody>
              <a:bodyPr wrap="square" lIns="0" rIns="0" rtlCol="0" anchor="ctr">
                <a:noAutofit/>
              </a:bodyPr>
              <a:lstStyle/>
              <a:p>
                <a:pPr algn="ctr"/>
                <a:r>
                  <a:rPr lang="ko-KR" altLang="en-US" sz="900" i="1" spc="-5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작업</a:t>
                </a:r>
                <a:endParaRPr lang="en-US" altLang="ko-KR" sz="900" i="1" spc="-5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  <a:p>
                <a:pPr algn="ctr"/>
                <a:r>
                  <a:rPr lang="ko-KR" altLang="en-US" sz="900" i="1" spc="-5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표준</a:t>
                </a:r>
                <a:endParaRPr lang="en-US" altLang="ko-KR" sz="900" i="1" spc="-5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F8F30A5-5DE9-CBCF-61A7-45C141933D32}"/>
                  </a:ext>
                </a:extLst>
              </p:cNvPr>
              <p:cNvSpPr txBox="1"/>
              <p:nvPr/>
            </p:nvSpPr>
            <p:spPr>
              <a:xfrm flipH="1">
                <a:off x="3279143" y="4023743"/>
                <a:ext cx="323179" cy="301167"/>
              </a:xfrm>
              <a:prstGeom prst="rect">
                <a:avLst/>
              </a:prstGeom>
              <a:noFill/>
            </p:spPr>
            <p:txBody>
              <a:bodyPr wrap="square" lIns="0" rIns="0" rtlCol="0" anchor="ctr">
                <a:noAutofit/>
              </a:bodyPr>
              <a:lstStyle/>
              <a:p>
                <a:pPr algn="ctr"/>
                <a:r>
                  <a:rPr lang="ko-KR" altLang="en-US" sz="900" i="1" spc="-50" err="1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암묵지</a:t>
                </a:r>
                <a:endParaRPr lang="en-US" altLang="ko-KR" sz="900" i="1" spc="-5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p:grpSp>
        <p:cxnSp>
          <p:nvCxnSpPr>
            <p:cNvPr id="39" name="직선 연결선 38">
              <a:extLst>
                <a:ext uri="{FF2B5EF4-FFF2-40B4-BE49-F238E27FC236}">
                  <a16:creationId xmlns:a16="http://schemas.microsoft.com/office/drawing/2014/main" id="{DF1CA4CE-5A72-D0B7-DAC7-8221D63514BC}"/>
                </a:ext>
              </a:extLst>
            </p:cNvPr>
            <p:cNvCxnSpPr>
              <a:cxnSpLocks/>
              <a:stCxn id="20" idx="4"/>
            </p:cNvCxnSpPr>
            <p:nvPr/>
          </p:nvCxnSpPr>
          <p:spPr>
            <a:xfrm>
              <a:off x="2972785" y="4396715"/>
              <a:ext cx="968633" cy="13073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dash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2DE3D31A-B30C-CC94-778F-6D3D1B59F1C3}"/>
                </a:ext>
              </a:extLst>
            </p:cNvPr>
            <p:cNvSpPr txBox="1"/>
            <p:nvPr/>
          </p:nvSpPr>
          <p:spPr>
            <a:xfrm flipH="1">
              <a:off x="1462162" y="4527445"/>
              <a:ext cx="340571" cy="411669"/>
            </a:xfrm>
            <a:prstGeom prst="rect">
              <a:avLst/>
            </a:prstGeom>
            <a:noFill/>
          </p:spPr>
          <p:txBody>
            <a:bodyPr wrap="square" lIns="0" rIns="0" rtlCol="0" anchor="ctr">
              <a:noAutofit/>
            </a:bodyPr>
            <a:lstStyle/>
            <a:p>
              <a:pPr algn="ctr"/>
              <a:r>
                <a:rPr lang="en-US" altLang="ko-KR" sz="900" i="1" spc="-5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DCS,</a:t>
              </a:r>
            </a:p>
            <a:p>
              <a:pPr algn="ctr"/>
              <a:r>
                <a:rPr lang="en-US" altLang="ko-KR" sz="900" i="1" spc="-5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RTDB</a:t>
              </a:r>
            </a:p>
            <a:p>
              <a:pPr algn="ctr"/>
              <a:r>
                <a:rPr lang="en-US" altLang="ko-KR" sz="900" i="1" spc="-5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(PV)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209AF7F0-07E9-F755-D594-B86D58AD5115}"/>
                </a:ext>
              </a:extLst>
            </p:cNvPr>
            <p:cNvSpPr txBox="1"/>
            <p:nvPr/>
          </p:nvSpPr>
          <p:spPr>
            <a:xfrm flipH="1">
              <a:off x="1061624" y="4527445"/>
              <a:ext cx="340571" cy="411669"/>
            </a:xfrm>
            <a:prstGeom prst="rect">
              <a:avLst/>
            </a:prstGeom>
            <a:noFill/>
          </p:spPr>
          <p:txBody>
            <a:bodyPr wrap="square" lIns="0" rIns="0" rtlCol="0" anchor="ctr">
              <a:noAutofit/>
            </a:bodyPr>
            <a:lstStyle/>
            <a:p>
              <a:pPr algn="ctr"/>
              <a:r>
                <a:rPr lang="ko-KR" altLang="en-US" sz="900" i="1" spc="-5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근무</a:t>
              </a:r>
              <a:endParaRPr lang="en-US" altLang="ko-KR" sz="900" i="1" spc="-5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  <a:p>
              <a:pPr algn="ctr"/>
              <a:r>
                <a:rPr lang="ko-KR" altLang="en-US" sz="900" i="1" spc="-5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일지</a:t>
              </a:r>
              <a:endParaRPr lang="en-US" altLang="ko-KR" sz="900" i="1" spc="-5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8FD31D33-FB58-E41E-87C1-3FA7D88D089A}"/>
                </a:ext>
              </a:extLst>
            </p:cNvPr>
            <p:cNvSpPr txBox="1"/>
            <p:nvPr/>
          </p:nvSpPr>
          <p:spPr>
            <a:xfrm flipH="1">
              <a:off x="1862701" y="4527445"/>
              <a:ext cx="340571" cy="411669"/>
            </a:xfrm>
            <a:prstGeom prst="rect">
              <a:avLst/>
            </a:prstGeom>
            <a:noFill/>
          </p:spPr>
          <p:txBody>
            <a:bodyPr wrap="square" lIns="0" rIns="0" rtlCol="0" anchor="ctr">
              <a:noAutofit/>
            </a:bodyPr>
            <a:lstStyle/>
            <a:p>
              <a:pPr algn="ctr"/>
              <a:r>
                <a:rPr lang="ko-KR" altLang="en-US" sz="900" i="1" spc="-5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암묵지</a:t>
              </a:r>
              <a:endParaRPr lang="en-US" altLang="ko-KR" sz="900" i="1" spc="-5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cxnSp>
          <p:nvCxnSpPr>
            <p:cNvPr id="43" name="직선 연결선 42">
              <a:extLst>
                <a:ext uri="{FF2B5EF4-FFF2-40B4-BE49-F238E27FC236}">
                  <a16:creationId xmlns:a16="http://schemas.microsoft.com/office/drawing/2014/main" id="{EF7E37E7-7539-D9F3-4CE2-E1347D08CD11}"/>
                </a:ext>
              </a:extLst>
            </p:cNvPr>
            <p:cNvCxnSpPr>
              <a:cxnSpLocks/>
              <a:stCxn id="19" idx="4"/>
              <a:endCxn id="41" idx="0"/>
            </p:cNvCxnSpPr>
            <p:nvPr/>
          </p:nvCxnSpPr>
          <p:spPr>
            <a:xfrm flipH="1">
              <a:off x="1231909" y="4396715"/>
              <a:ext cx="931555" cy="13073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dash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id="{B977853E-3CFA-72A3-6F77-A3142534155B}"/>
                </a:ext>
              </a:extLst>
            </p:cNvPr>
            <p:cNvCxnSpPr>
              <a:cxnSpLocks/>
              <a:stCxn id="19" idx="4"/>
              <a:endCxn id="40" idx="0"/>
            </p:cNvCxnSpPr>
            <p:nvPr/>
          </p:nvCxnSpPr>
          <p:spPr>
            <a:xfrm flipH="1">
              <a:off x="1632447" y="4396715"/>
              <a:ext cx="531017" cy="13073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dash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직선 연결선 44">
              <a:extLst>
                <a:ext uri="{FF2B5EF4-FFF2-40B4-BE49-F238E27FC236}">
                  <a16:creationId xmlns:a16="http://schemas.microsoft.com/office/drawing/2014/main" id="{924BA244-7F3D-B288-05C4-D8C15D1E6094}"/>
                </a:ext>
              </a:extLst>
            </p:cNvPr>
            <p:cNvCxnSpPr>
              <a:cxnSpLocks/>
              <a:stCxn id="19" idx="4"/>
              <a:endCxn id="42" idx="0"/>
            </p:cNvCxnSpPr>
            <p:nvPr/>
          </p:nvCxnSpPr>
          <p:spPr>
            <a:xfrm flipH="1">
              <a:off x="2032986" y="4396715"/>
              <a:ext cx="130478" cy="13073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dash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D68A528F-8078-504B-02E6-9A44D9114101}"/>
                </a:ext>
              </a:extLst>
            </p:cNvPr>
            <p:cNvSpPr txBox="1"/>
            <p:nvPr/>
          </p:nvSpPr>
          <p:spPr>
            <a:xfrm>
              <a:off x="814051" y="3949621"/>
              <a:ext cx="1060456" cy="443317"/>
            </a:xfrm>
            <a:prstGeom prst="rect">
              <a:avLst/>
            </a:prstGeom>
            <a:noFill/>
          </p:spPr>
          <p:txBody>
            <a:bodyPr wrap="square" lIns="0" rIns="0" rtlCol="0" anchor="t">
              <a:noAutofit/>
            </a:bodyPr>
            <a:lstStyle/>
            <a:p>
              <a:pPr marL="88900" indent="-88900">
                <a:buFont typeface="Wingdings" panose="05000000000000000000" pitchFamily="2" charset="2"/>
                <a:buChar char="ü"/>
              </a:pPr>
              <a:r>
                <a:rPr lang="ko-KR" altLang="en-US" sz="1000" i="1" spc="-50">
                  <a:solidFill>
                    <a:srgbClr val="217CFA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상황 발생 시</a:t>
              </a:r>
              <a:r>
                <a:rPr lang="en-US" altLang="ko-KR" sz="1000" i="1" spc="-50">
                  <a:solidFill>
                    <a:srgbClr val="217CFA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, </a:t>
              </a:r>
              <a:br>
                <a:rPr lang="en-US" altLang="ko-KR" sz="1000" i="1" spc="-50">
                  <a:solidFill>
                    <a:srgbClr val="217CFA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</a:br>
              <a:r>
                <a:rPr lang="ko-KR" altLang="en-US" sz="1000" i="1" spc="-50">
                  <a:solidFill>
                    <a:srgbClr val="217CFA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공정 변화를 설명</a:t>
              </a:r>
              <a:endParaRPr lang="en-US" altLang="ko-KR" sz="1000" i="1" spc="-50">
                <a:solidFill>
                  <a:srgbClr val="217CF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36CA6D0D-AF00-565C-E3FC-6E07D18640D0}"/>
                </a:ext>
              </a:extLst>
            </p:cNvPr>
            <p:cNvSpPr txBox="1"/>
            <p:nvPr/>
          </p:nvSpPr>
          <p:spPr>
            <a:xfrm>
              <a:off x="3251095" y="3949621"/>
              <a:ext cx="1173842" cy="443317"/>
            </a:xfrm>
            <a:prstGeom prst="rect">
              <a:avLst/>
            </a:prstGeom>
            <a:noFill/>
          </p:spPr>
          <p:txBody>
            <a:bodyPr wrap="square" lIns="0" rIns="0" rtlCol="0" anchor="t">
              <a:noAutofit/>
            </a:bodyPr>
            <a:lstStyle/>
            <a:p>
              <a:pPr marL="88900" indent="-88900">
                <a:buFont typeface="Wingdings" panose="05000000000000000000" pitchFamily="2" charset="2"/>
                <a:buChar char="ü"/>
              </a:pPr>
              <a:r>
                <a:rPr lang="ko-KR" altLang="en-US" sz="1000" i="1" spc="-50">
                  <a:solidFill>
                    <a:srgbClr val="217CFA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상황 발생 시</a:t>
              </a:r>
              <a:r>
                <a:rPr lang="en-US" altLang="ko-KR" sz="1000" i="1" spc="-50">
                  <a:solidFill>
                    <a:srgbClr val="217CFA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, </a:t>
              </a:r>
              <a:r>
                <a:rPr lang="ko-KR" altLang="en-US" sz="1000" i="1" spc="-50">
                  <a:solidFill>
                    <a:srgbClr val="217CFA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공정</a:t>
              </a:r>
              <a:br>
                <a:rPr lang="en-US" altLang="ko-KR" sz="1000" i="1" spc="-50">
                  <a:solidFill>
                    <a:srgbClr val="217CFA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</a:br>
              <a:r>
                <a:rPr lang="ko-KR" altLang="en-US" sz="1000" i="1" spc="-50">
                  <a:solidFill>
                    <a:srgbClr val="217CFA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조치 방법을 설명</a:t>
              </a:r>
              <a:endParaRPr lang="en-US" altLang="ko-KR" sz="1000" i="1" spc="-50">
                <a:solidFill>
                  <a:srgbClr val="217CF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BD80EF74-770A-0BD4-C274-13FD9FABFCED}"/>
              </a:ext>
            </a:extLst>
          </p:cNvPr>
          <p:cNvSpPr txBox="1"/>
          <p:nvPr/>
        </p:nvSpPr>
        <p:spPr>
          <a:xfrm>
            <a:off x="2727974" y="5284531"/>
            <a:ext cx="1597231" cy="325829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/>
          <a:p>
            <a:pPr algn="ctr"/>
            <a:r>
              <a:rPr lang="ko-KR" altLang="en-US" sz="1000" i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상황</a:t>
            </a:r>
            <a:r>
              <a:rPr lang="en-US" altLang="ko-KR" sz="1000" i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-</a:t>
            </a:r>
            <a:r>
              <a:rPr lang="ko-KR" altLang="en-US" sz="1000" i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증상</a:t>
            </a:r>
            <a:r>
              <a:rPr lang="en-US" altLang="ko-KR" sz="1000" i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-</a:t>
            </a:r>
            <a:r>
              <a:rPr lang="ko-KR" altLang="en-US" sz="1000" i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조치 연계 </a:t>
            </a:r>
            <a:r>
              <a:rPr lang="en-US" altLang="ko-KR" sz="1000" i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Data</a:t>
            </a:r>
          </a:p>
          <a:p>
            <a:pPr algn="ctr"/>
            <a:r>
              <a:rPr lang="en-US" altLang="ko-KR" sz="1000" i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Vector DB </a:t>
            </a:r>
            <a:r>
              <a:rPr lang="ko-KR" altLang="en-US" sz="1000" i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化</a:t>
            </a:r>
            <a:endParaRPr lang="en-US" altLang="ko-KR" sz="1000" i="1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FF6129D8-714A-21D9-EE1C-A7C9FD3F4940}"/>
              </a:ext>
            </a:extLst>
          </p:cNvPr>
          <p:cNvSpPr/>
          <p:nvPr/>
        </p:nvSpPr>
        <p:spPr>
          <a:xfrm>
            <a:off x="749696" y="6104921"/>
            <a:ext cx="1077151" cy="240118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65000"/>
              </a:schemeClr>
            </a:solidFill>
            <a:prstDash val="solid"/>
          </a:ln>
          <a:effectLst/>
        </p:spPr>
        <p:txBody>
          <a:bodyPr lIns="36000" tIns="36000" rIns="36000" rtlCol="0" anchor="ctr"/>
          <a:lstStyle/>
          <a:p>
            <a:pPr algn="ctr" defTabSz="914400"/>
            <a:r>
              <a:rPr lang="ko-KR" altLang="en-US" sz="1000" kern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공정 운전 </a:t>
            </a:r>
            <a:r>
              <a:rPr lang="en-US" altLang="ko-KR" sz="1000" kern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Guide</a:t>
            </a:r>
            <a:endParaRPr lang="ko-KR" altLang="en-US" sz="1000" kern="0">
              <a:solidFill>
                <a:schemeClr val="tx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6A6702D2-DF97-5E58-DCD3-104F4AA7DFD1}"/>
              </a:ext>
            </a:extLst>
          </p:cNvPr>
          <p:cNvSpPr/>
          <p:nvPr/>
        </p:nvSpPr>
        <p:spPr>
          <a:xfrm>
            <a:off x="1891770" y="6104921"/>
            <a:ext cx="1077151" cy="240118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  <a:prstDash val="solid"/>
          </a:ln>
          <a:effectLst/>
        </p:spPr>
        <p:txBody>
          <a:bodyPr lIns="36000" tIns="36000" rIns="36000" rtlCol="0" anchor="ctr"/>
          <a:lstStyle/>
          <a:p>
            <a:pPr algn="ctr" defTabSz="914400"/>
            <a:r>
              <a:rPr lang="ko-KR" altLang="en-US" sz="1000" kern="0">
                <a:solidFill>
                  <a:schemeClr val="bg1">
                    <a:lumMod val="7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근무일지 작성</a:t>
            </a: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C37EE0CC-92C3-FB49-D460-1CBAFBDA387A}"/>
              </a:ext>
            </a:extLst>
          </p:cNvPr>
          <p:cNvSpPr/>
          <p:nvPr/>
        </p:nvSpPr>
        <p:spPr>
          <a:xfrm>
            <a:off x="3033844" y="6104921"/>
            <a:ext cx="1077151" cy="240118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  <a:prstDash val="solid"/>
          </a:ln>
          <a:effectLst/>
        </p:spPr>
        <p:txBody>
          <a:bodyPr lIns="36000" tIns="36000" rIns="36000" rtlCol="0" anchor="ctr"/>
          <a:lstStyle/>
          <a:p>
            <a:pPr algn="ctr" defTabSz="914400"/>
            <a:r>
              <a:rPr lang="ko-KR" altLang="en-US" sz="1000" kern="0">
                <a:solidFill>
                  <a:schemeClr val="bg1">
                    <a:lumMod val="7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작업표준 제</a:t>
            </a:r>
            <a:r>
              <a:rPr lang="en-US" altLang="ko-KR" sz="1000" kern="0">
                <a:solidFill>
                  <a:schemeClr val="bg1">
                    <a:lumMod val="7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</a:t>
            </a:r>
            <a:r>
              <a:rPr lang="ko-KR" altLang="en-US" sz="1000" kern="0">
                <a:solidFill>
                  <a:schemeClr val="bg1">
                    <a:lumMod val="7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개정</a:t>
            </a: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37CCC188-C3D6-3A06-9AA4-E7259B71E6D8}"/>
              </a:ext>
            </a:extLst>
          </p:cNvPr>
          <p:cNvSpPr/>
          <p:nvPr/>
        </p:nvSpPr>
        <p:spPr>
          <a:xfrm>
            <a:off x="4175918" y="6104920"/>
            <a:ext cx="149288" cy="24211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noFill/>
            <a:prstDash val="solid"/>
          </a:ln>
          <a:effectLst/>
        </p:spPr>
        <p:txBody>
          <a:bodyPr lIns="36000" tIns="36000" rIns="36000" rtlCol="0" anchor="ctr"/>
          <a:lstStyle/>
          <a:p>
            <a:pPr algn="ctr" defTabSz="914400"/>
            <a:r>
              <a:rPr lang="en-US" altLang="ko-KR" sz="1000" kern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…</a:t>
            </a:r>
            <a:endParaRPr lang="ko-KR" altLang="en-US" sz="1000" kern="0">
              <a:solidFill>
                <a:schemeClr val="tx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53" name="연결선: 꺾임 52">
            <a:extLst>
              <a:ext uri="{FF2B5EF4-FFF2-40B4-BE49-F238E27FC236}">
                <a16:creationId xmlns:a16="http://schemas.microsoft.com/office/drawing/2014/main" id="{040009D5-36BA-E43F-E74C-0B27F1EF877E}"/>
              </a:ext>
            </a:extLst>
          </p:cNvPr>
          <p:cNvCxnSpPr>
            <a:cxnSpLocks/>
            <a:stCxn id="15" idx="2"/>
            <a:endCxn id="49" idx="0"/>
          </p:cNvCxnSpPr>
          <p:nvPr/>
        </p:nvCxnSpPr>
        <p:spPr>
          <a:xfrm rot="5400000">
            <a:off x="1701226" y="5238021"/>
            <a:ext cx="453947" cy="1279853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연결선: 꺾임 53">
            <a:extLst>
              <a:ext uri="{FF2B5EF4-FFF2-40B4-BE49-F238E27FC236}">
                <a16:creationId xmlns:a16="http://schemas.microsoft.com/office/drawing/2014/main" id="{77399A9C-FEEA-14F3-56FA-3A5F14DCBA2D}"/>
              </a:ext>
            </a:extLst>
          </p:cNvPr>
          <p:cNvCxnSpPr>
            <a:cxnSpLocks/>
            <a:stCxn id="15" idx="2"/>
            <a:endCxn id="50" idx="0"/>
          </p:cNvCxnSpPr>
          <p:nvPr/>
        </p:nvCxnSpPr>
        <p:spPr>
          <a:xfrm rot="5400000">
            <a:off x="2272263" y="5809058"/>
            <a:ext cx="453947" cy="137779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연결선: 꺾임 56">
            <a:extLst>
              <a:ext uri="{FF2B5EF4-FFF2-40B4-BE49-F238E27FC236}">
                <a16:creationId xmlns:a16="http://schemas.microsoft.com/office/drawing/2014/main" id="{E629EE76-E80D-71C8-F9AE-932DBCBA1218}"/>
              </a:ext>
            </a:extLst>
          </p:cNvPr>
          <p:cNvCxnSpPr>
            <a:cxnSpLocks/>
            <a:stCxn id="15" idx="2"/>
            <a:endCxn id="51" idx="0"/>
          </p:cNvCxnSpPr>
          <p:nvPr/>
        </p:nvCxnSpPr>
        <p:spPr>
          <a:xfrm rot="16200000" flipH="1">
            <a:off x="2843299" y="5375799"/>
            <a:ext cx="453947" cy="1004295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연결선: 꺾임 60">
            <a:extLst>
              <a:ext uri="{FF2B5EF4-FFF2-40B4-BE49-F238E27FC236}">
                <a16:creationId xmlns:a16="http://schemas.microsoft.com/office/drawing/2014/main" id="{3EE23D37-F7CF-D6AF-7E5B-52B1A2542111}"/>
              </a:ext>
            </a:extLst>
          </p:cNvPr>
          <p:cNvCxnSpPr>
            <a:cxnSpLocks/>
            <a:stCxn id="15" idx="2"/>
            <a:endCxn id="52" idx="0"/>
          </p:cNvCxnSpPr>
          <p:nvPr/>
        </p:nvCxnSpPr>
        <p:spPr>
          <a:xfrm rot="16200000" flipH="1">
            <a:off x="3182370" y="5036728"/>
            <a:ext cx="453946" cy="1682437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EC4FADE6-00D5-9B7B-7981-C91C610AF1B0}"/>
              </a:ext>
            </a:extLst>
          </p:cNvPr>
          <p:cNvSpPr txBox="1"/>
          <p:nvPr/>
        </p:nvSpPr>
        <p:spPr>
          <a:xfrm flipH="1">
            <a:off x="2044800" y="5788910"/>
            <a:ext cx="1046649" cy="170270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 rtlCol="0" anchor="ctr">
            <a:noAutofit/>
          </a:bodyPr>
          <a:lstStyle/>
          <a:p>
            <a:pPr algn="ctr"/>
            <a:r>
              <a:rPr lang="ko-KR" altLang="en-US" sz="1100" u="sng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생산 </a:t>
            </a:r>
            <a:r>
              <a:rPr lang="en-US" altLang="ko-KR" sz="1100" u="sng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Agentic AI</a:t>
            </a:r>
          </a:p>
        </p:txBody>
      </p: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DD2C7BA2-E04C-1292-15F4-E0798A306220}"/>
              </a:ext>
            </a:extLst>
          </p:cNvPr>
          <p:cNvGrpSpPr/>
          <p:nvPr/>
        </p:nvGrpSpPr>
        <p:grpSpPr>
          <a:xfrm>
            <a:off x="344488" y="1435627"/>
            <a:ext cx="4359397" cy="346893"/>
            <a:chOff x="6859049" y="1423605"/>
            <a:chExt cx="2702458" cy="346893"/>
          </a:xfrm>
        </p:grpSpPr>
        <p:cxnSp>
          <p:nvCxnSpPr>
            <p:cNvPr id="75" name="직선 연결선 74">
              <a:extLst>
                <a:ext uri="{FF2B5EF4-FFF2-40B4-BE49-F238E27FC236}">
                  <a16:creationId xmlns:a16="http://schemas.microsoft.com/office/drawing/2014/main" id="{281C75B2-6869-E24A-EE9B-255A6E650CB3}"/>
                </a:ext>
              </a:extLst>
            </p:cNvPr>
            <p:cNvCxnSpPr>
              <a:cxnSpLocks/>
            </p:cNvCxnSpPr>
            <p:nvPr/>
          </p:nvCxnSpPr>
          <p:spPr>
            <a:xfrm>
              <a:off x="6859050" y="1770498"/>
              <a:ext cx="2702457" cy="0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4C61A641-116C-D7FC-3C10-A276909AA912}"/>
                </a:ext>
              </a:extLst>
            </p:cNvPr>
            <p:cNvSpPr txBox="1"/>
            <p:nvPr/>
          </p:nvSpPr>
          <p:spPr>
            <a:xfrm>
              <a:off x="6859049" y="1423605"/>
              <a:ext cx="2702456" cy="34323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rIns="0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lang="ko-KR" altLang="en-US" sz="1400">
                  <a:ln>
                    <a:solidFill>
                      <a:schemeClr val="tx1">
                        <a:alpha val="0"/>
                      </a:schemeClr>
                    </a:solidFill>
                  </a:ln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생산 </a:t>
              </a:r>
              <a:r>
                <a:rPr lang="en-US" altLang="ko-KR" sz="1400">
                  <a:ln>
                    <a:solidFill>
                      <a:schemeClr val="tx1">
                        <a:alpha val="0"/>
                      </a:schemeClr>
                    </a:solidFill>
                  </a:ln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LKM </a:t>
              </a:r>
              <a:r>
                <a:rPr lang="ko-KR" altLang="en-US" sz="1400">
                  <a:ln>
                    <a:solidFill>
                      <a:schemeClr val="tx1">
                        <a:alpha val="0"/>
                      </a:schemeClr>
                    </a:solidFill>
                  </a:ln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구조</a:t>
              </a:r>
              <a:endParaRPr lang="en-US" altLang="ko-KR" sz="1400">
                <a:ln>
                  <a:solidFill>
                    <a:schemeClr val="tx1">
                      <a:alpha val="0"/>
                    </a:schemeClr>
                  </a:solidFill>
                </a:ln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</p:grp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6BF8154A-93FE-1337-B90D-EF82B48ED77A}"/>
              </a:ext>
            </a:extLst>
          </p:cNvPr>
          <p:cNvGrpSpPr/>
          <p:nvPr/>
        </p:nvGrpSpPr>
        <p:grpSpPr>
          <a:xfrm>
            <a:off x="5235283" y="1435627"/>
            <a:ext cx="4330822" cy="346893"/>
            <a:chOff x="6859049" y="1423605"/>
            <a:chExt cx="2702458" cy="346893"/>
          </a:xfrm>
        </p:grpSpPr>
        <p:cxnSp>
          <p:nvCxnSpPr>
            <p:cNvPr id="73" name="직선 연결선 72">
              <a:extLst>
                <a:ext uri="{FF2B5EF4-FFF2-40B4-BE49-F238E27FC236}">
                  <a16:creationId xmlns:a16="http://schemas.microsoft.com/office/drawing/2014/main" id="{BB3E3CA5-AD05-A908-7B75-C5E93B500FCB}"/>
                </a:ext>
              </a:extLst>
            </p:cNvPr>
            <p:cNvCxnSpPr>
              <a:cxnSpLocks/>
            </p:cNvCxnSpPr>
            <p:nvPr/>
          </p:nvCxnSpPr>
          <p:spPr>
            <a:xfrm>
              <a:off x="6859050" y="1770498"/>
              <a:ext cx="2702457" cy="0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30A00F74-0769-F275-C794-1C9A6AEE9F44}"/>
                </a:ext>
              </a:extLst>
            </p:cNvPr>
            <p:cNvSpPr txBox="1"/>
            <p:nvPr/>
          </p:nvSpPr>
          <p:spPr>
            <a:xfrm>
              <a:off x="6859049" y="1423605"/>
              <a:ext cx="2702456" cy="34323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rIns="0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lang="ko-KR" altLang="en-US" sz="140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생산기술 </a:t>
              </a:r>
              <a:r>
                <a:rPr lang="en-US" altLang="ko-KR" sz="140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LKM </a:t>
              </a:r>
              <a:r>
                <a:rPr lang="ko-KR" altLang="en-US" sz="140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핵심 </a:t>
              </a:r>
              <a:r>
                <a:rPr lang="en-US" altLang="ko-KR" sz="140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Point </a:t>
              </a:r>
            </a:p>
          </p:txBody>
        </p:sp>
      </p:grpSp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55DD3744-2440-3CA5-2A1D-D217F8523673}"/>
              </a:ext>
            </a:extLst>
          </p:cNvPr>
          <p:cNvSpPr/>
          <p:nvPr/>
        </p:nvSpPr>
        <p:spPr>
          <a:xfrm>
            <a:off x="5235283" y="1923695"/>
            <a:ext cx="2832280" cy="255988"/>
          </a:xfrm>
          <a:prstGeom prst="roundRect">
            <a:avLst>
              <a:gd name="adj" fmla="val 50000"/>
            </a:avLst>
          </a:prstGeom>
          <a:solidFill>
            <a:srgbClr val="217CFA"/>
          </a:solidFill>
          <a:ln w="6350">
            <a:solidFill>
              <a:srgbClr val="217C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생산기술 </a:t>
            </a:r>
            <a:r>
              <a:rPr lang="en-US" altLang="ko-KR" sz="13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LKM </a:t>
            </a:r>
            <a:r>
              <a:rPr lang="ko-KR" altLang="en-US" sz="13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구축</a:t>
            </a:r>
          </a:p>
        </p:txBody>
      </p:sp>
      <p:sp>
        <p:nvSpPr>
          <p:cNvPr id="80" name="사각형: 둥근 모서리 79">
            <a:extLst>
              <a:ext uri="{FF2B5EF4-FFF2-40B4-BE49-F238E27FC236}">
                <a16:creationId xmlns:a16="http://schemas.microsoft.com/office/drawing/2014/main" id="{41B7BEC7-6C21-5452-FD42-25300DFBAC7C}"/>
              </a:ext>
            </a:extLst>
          </p:cNvPr>
          <p:cNvSpPr/>
          <p:nvPr/>
        </p:nvSpPr>
        <p:spPr>
          <a:xfrm>
            <a:off x="5231318" y="4222390"/>
            <a:ext cx="2832280" cy="255988"/>
          </a:xfrm>
          <a:prstGeom prst="roundRect">
            <a:avLst>
              <a:gd name="adj" fmla="val 50000"/>
            </a:avLst>
          </a:prstGeom>
          <a:solidFill>
            <a:srgbClr val="217CFA"/>
          </a:solidFill>
          <a:ln w="6350">
            <a:solidFill>
              <a:srgbClr val="217C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생산 </a:t>
            </a:r>
            <a:r>
              <a:rPr lang="en-US" altLang="ko-KR" sz="130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AI </a:t>
            </a:r>
            <a:r>
              <a:rPr lang="ko-KR" altLang="en-US" sz="130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구성원 역량 확보</a:t>
            </a: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394BBA4F-824F-97F5-CDE3-2D580DD2B900}"/>
              </a:ext>
            </a:extLst>
          </p:cNvPr>
          <p:cNvSpPr/>
          <p:nvPr/>
        </p:nvSpPr>
        <p:spPr>
          <a:xfrm>
            <a:off x="5249339" y="2273770"/>
            <a:ext cx="705600" cy="81882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14400" fontAlgn="base" latinLnBrk="1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tabLst>
                <a:tab pos="979488" algn="l"/>
              </a:tabLst>
            </a:pPr>
            <a:r>
              <a:rPr kumimoji="1" lang="en-US" altLang="ko-KR" sz="1200" b="1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LKM</a:t>
            </a:r>
            <a:br>
              <a:rPr kumimoji="1" lang="en-US" altLang="ko-KR" sz="1200" b="1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kumimoji="1" lang="ko-KR" altLang="en-US" sz="1200" b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축적</a:t>
            </a:r>
            <a:r>
              <a:rPr kumimoji="1" lang="en-US" altLang="ko-KR" sz="1200" b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kumimoji="1" lang="ko-KR" altLang="en-US" sz="1200" b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대상</a:t>
            </a:r>
            <a:br>
              <a:rPr kumimoji="1" lang="en-US" altLang="ko-KR" sz="1200" b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kumimoji="1" lang="ko-KR" altLang="en-US" sz="1200" b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확보</a:t>
            </a:r>
            <a:endParaRPr kumimoji="1" lang="ko-KR" altLang="en-US" sz="1200" b="1">
              <a:solidFill>
                <a:schemeClr val="tx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B78C715B-2EE4-0D4A-0AD2-43865004BD99}"/>
              </a:ext>
            </a:extLst>
          </p:cNvPr>
          <p:cNvSpPr/>
          <p:nvPr/>
        </p:nvSpPr>
        <p:spPr>
          <a:xfrm>
            <a:off x="5249339" y="3211480"/>
            <a:ext cx="705600" cy="81882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14400" fontAlgn="base" latinLnBrk="1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tabLst>
                <a:tab pos="979488" algn="l"/>
              </a:tabLst>
            </a:pPr>
            <a:r>
              <a:rPr kumimoji="1" lang="en-US" altLang="ko-KR" sz="1200" b="1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LKM</a:t>
            </a:r>
            <a:br>
              <a:rPr kumimoji="1" lang="en-US" altLang="ko-KR" sz="1200" b="1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kumimoji="1" lang="ko-KR" altLang="en-US" sz="1200" b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신뢰성</a:t>
            </a:r>
            <a:br>
              <a:rPr kumimoji="1" lang="en-US" altLang="ko-KR" sz="1200" b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kumimoji="1" lang="ko-KR" altLang="en-US" sz="1200" b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확보</a:t>
            </a:r>
            <a:endParaRPr kumimoji="1" lang="ko-KR" altLang="en-US" sz="1200" b="1">
              <a:solidFill>
                <a:schemeClr val="tx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2776B1C-6B4C-D98B-8CF1-C1C2316112C9}"/>
              </a:ext>
            </a:extLst>
          </p:cNvPr>
          <p:cNvSpPr txBox="1"/>
          <p:nvPr/>
        </p:nvSpPr>
        <p:spPr>
          <a:xfrm>
            <a:off x="6072646" y="2264760"/>
            <a:ext cx="3517441" cy="824947"/>
          </a:xfrm>
          <a:prstGeom prst="rect">
            <a:avLst/>
          </a:prstGeom>
          <a:noFill/>
        </p:spPr>
        <p:txBody>
          <a:bodyPr wrap="square" lIns="36000" rIns="36000" rtlCol="0" anchor="t">
            <a:noAutofit/>
          </a:bodyPr>
          <a:lstStyle/>
          <a:p>
            <a:pPr marL="179388" lvl="1" indent="-179388" latinLnBrk="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2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DCS, RTDB</a:t>
            </a:r>
            <a:r>
              <a:rPr lang="ko-KR" altLang="en-US" sz="12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에 축적중인 방대한 운전 </a:t>
            </a:r>
            <a:r>
              <a:rPr lang="en-US" altLang="ko-KR" sz="12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Data</a:t>
            </a:r>
            <a:r>
              <a:rPr lang="ko-KR" altLang="en-US" sz="12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로부터 </a:t>
            </a:r>
            <a:r>
              <a:rPr lang="ko-KR" altLang="en-US" sz="120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고숙련</a:t>
            </a:r>
            <a:r>
              <a:rPr lang="ko-KR" altLang="en-US" sz="12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운전원의 운전 노하우 추출 </a:t>
            </a:r>
            <a:endParaRPr lang="en-US" altLang="ko-KR" sz="120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179388" lvl="1" indent="-179388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2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AMS – RTDB - </a:t>
            </a:r>
            <a:r>
              <a:rPr lang="ko-KR" altLang="en-US" sz="12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작업표준</a:t>
            </a:r>
            <a:r>
              <a:rPr lang="en-US" altLang="ko-KR" sz="12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12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연계한 상황 및 조치 </a:t>
            </a:r>
            <a:r>
              <a:rPr lang="en-US" altLang="ko-KR" sz="12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DB</a:t>
            </a:r>
            <a:r>
              <a:rPr lang="ko-KR" altLang="en-US" sz="12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화</a:t>
            </a:r>
            <a:endParaRPr lang="en-US" altLang="ko-KR" sz="120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179388" lvl="1" indent="-179388" latinLnBrk="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§"/>
            </a:pPr>
            <a:endParaRPr lang="ko-KR" altLang="en-US" sz="120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9C49B8E-4FD1-2504-FEAD-568AE44C2E85}"/>
              </a:ext>
            </a:extLst>
          </p:cNvPr>
          <p:cNvSpPr txBox="1"/>
          <p:nvPr/>
        </p:nvSpPr>
        <p:spPr>
          <a:xfrm>
            <a:off x="6072647" y="3211479"/>
            <a:ext cx="3517441" cy="818825"/>
          </a:xfrm>
          <a:prstGeom prst="rect">
            <a:avLst/>
          </a:prstGeom>
          <a:noFill/>
        </p:spPr>
        <p:txBody>
          <a:bodyPr wrap="square" lIns="36000" rIns="36000" rtlCol="0" anchor="t">
            <a:noAutofit/>
          </a:bodyPr>
          <a:lstStyle/>
          <a:p>
            <a:pPr marL="179388" lvl="1" indent="-179388" latinLnBrk="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12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생산 설비에서 발생하는 </a:t>
            </a:r>
            <a:r>
              <a:rPr lang="en-US" altLang="ko-KR" sz="12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Data</a:t>
            </a:r>
            <a:r>
              <a:rPr lang="ko-KR" altLang="en-US" sz="12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와 운전 시 활용되는 </a:t>
            </a:r>
            <a:r>
              <a:rPr lang="en-US" altLang="ko-KR" sz="12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Data</a:t>
            </a:r>
            <a:r>
              <a:rPr lang="ko-KR" altLang="en-US" sz="12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연계를 통해 </a:t>
            </a:r>
            <a:r>
              <a:rPr lang="en-US" altLang="ko-KR" sz="12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AI Readable </a:t>
            </a:r>
            <a:r>
              <a:rPr lang="ko-KR" altLang="en-US" sz="12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기반 구축</a:t>
            </a:r>
            <a:endParaRPr lang="en-US" altLang="ko-KR" sz="120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179388" lvl="1" indent="-179388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12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축적된 </a:t>
            </a:r>
            <a:r>
              <a:rPr lang="en-US" altLang="ko-KR" sz="12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Data</a:t>
            </a:r>
            <a:r>
              <a:rPr lang="ko-KR" altLang="en-US" sz="12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와 실제 운전 노하우 간 정합성</a:t>
            </a:r>
            <a:endParaRPr lang="en-US" altLang="ko-KR" sz="120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179388" lvl="1" indent="-179388" latinLnBrk="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§"/>
            </a:pPr>
            <a:endParaRPr lang="ko-KR" altLang="en-US" sz="120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0DCBACD1-DD64-9FC5-E151-05AA7804EC2E}"/>
              </a:ext>
            </a:extLst>
          </p:cNvPr>
          <p:cNvSpPr/>
          <p:nvPr/>
        </p:nvSpPr>
        <p:spPr>
          <a:xfrm>
            <a:off x="5249339" y="4595288"/>
            <a:ext cx="705600" cy="8208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14400" fontAlgn="base" latinLnBrk="1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tabLst>
                <a:tab pos="979488" algn="l"/>
              </a:tabLst>
            </a:pPr>
            <a:r>
              <a:rPr kumimoji="1" lang="ko-KR" altLang="en-US" sz="1200" b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운전 역량</a:t>
            </a:r>
            <a:br>
              <a:rPr kumimoji="1" lang="en-US" altLang="ko-KR" sz="1200" b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kumimoji="1" lang="ko-KR" altLang="en-US" sz="1200" b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확보</a:t>
            </a:r>
            <a:endParaRPr kumimoji="1" lang="ko-KR" altLang="en-US" sz="1200" b="1">
              <a:solidFill>
                <a:schemeClr val="tx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0DD64A23-DCB3-A9A9-7C04-D4023424D238}"/>
              </a:ext>
            </a:extLst>
          </p:cNvPr>
          <p:cNvSpPr/>
          <p:nvPr/>
        </p:nvSpPr>
        <p:spPr>
          <a:xfrm>
            <a:off x="5249339" y="5532998"/>
            <a:ext cx="705600" cy="8208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14400" fontAlgn="base" latinLnBrk="1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tabLst>
                <a:tab pos="979488" algn="l"/>
              </a:tabLst>
            </a:pPr>
            <a:r>
              <a:rPr kumimoji="1" lang="ko-KR" altLang="en-US" sz="1200" b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업무 역량</a:t>
            </a:r>
            <a:br>
              <a:rPr kumimoji="1" lang="en-US" altLang="ko-KR" sz="1200" b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kumimoji="1" lang="ko-KR" altLang="en-US" sz="1200" b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확보</a:t>
            </a:r>
            <a:endParaRPr kumimoji="1" lang="ko-KR" altLang="en-US" sz="1200" b="1">
              <a:solidFill>
                <a:schemeClr val="tx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534CF7-09D7-9A72-8219-74452E0E70D9}"/>
              </a:ext>
            </a:extLst>
          </p:cNvPr>
          <p:cNvSpPr txBox="1"/>
          <p:nvPr/>
        </p:nvSpPr>
        <p:spPr>
          <a:xfrm>
            <a:off x="6072647" y="4595288"/>
            <a:ext cx="3517440" cy="816295"/>
          </a:xfrm>
          <a:prstGeom prst="rect">
            <a:avLst/>
          </a:prstGeom>
          <a:noFill/>
        </p:spPr>
        <p:txBody>
          <a:bodyPr wrap="square" lIns="36000" rIns="36000" rtlCol="0" anchor="t">
            <a:noAutofit/>
          </a:bodyPr>
          <a:lstStyle/>
          <a:p>
            <a:pPr marL="179388" lvl="1" indent="-179388" latinLnBrk="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200" spc="-5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LKM</a:t>
            </a:r>
            <a:r>
              <a:rPr lang="ko-KR" altLang="en-US" sz="1200" spc="-5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축적 운전 노하우 확대로 보다 넓은 범위의 유사</a:t>
            </a:r>
            <a:br>
              <a:rPr lang="en-US" altLang="ko-KR" sz="1200" spc="-50"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ko-KR" altLang="en-US" sz="1200" spc="-5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상황 </a:t>
            </a:r>
            <a:r>
              <a:rPr lang="en-US" altLang="ko-KR" sz="1200" spc="-5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Data </a:t>
            </a:r>
            <a:r>
              <a:rPr lang="ko-KR" altLang="en-US" sz="1200" spc="-5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제공</a:t>
            </a:r>
            <a:endParaRPr lang="en-US" altLang="ko-KR" sz="1200" spc="-5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179388" lvl="1" indent="-179388" latinLnBrk="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1200" spc="-5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운전 노하우 </a:t>
            </a:r>
            <a:r>
              <a:rPr lang="en-US" altLang="ko-KR" sz="1200" spc="-5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Data</a:t>
            </a:r>
            <a:r>
              <a:rPr lang="ko-KR" altLang="en-US" sz="1200" spc="-5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간 강화 학습으로</a:t>
            </a:r>
            <a:r>
              <a:rPr lang="en-US" altLang="ko-KR" sz="1200" spc="-5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1200" spc="-5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최적 운전 방안 도출</a:t>
            </a:r>
            <a:endParaRPr lang="en-US" altLang="ko-KR" sz="1200" spc="-5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9A58D7D-26D9-9B4E-5036-09615A473D93}"/>
              </a:ext>
            </a:extLst>
          </p:cNvPr>
          <p:cNvSpPr txBox="1"/>
          <p:nvPr/>
        </p:nvSpPr>
        <p:spPr>
          <a:xfrm>
            <a:off x="6111333" y="5532998"/>
            <a:ext cx="3454769" cy="820798"/>
          </a:xfrm>
          <a:prstGeom prst="rect">
            <a:avLst/>
          </a:prstGeom>
          <a:noFill/>
        </p:spPr>
        <p:txBody>
          <a:bodyPr wrap="square" lIns="36000" rIns="36000" rtlCol="0" anchor="t">
            <a:noAutofit/>
          </a:bodyPr>
          <a:lstStyle/>
          <a:p>
            <a:pPr marL="179388" lvl="1" indent="-179388" latinLnBrk="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2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Legacy</a:t>
            </a:r>
            <a:r>
              <a:rPr lang="ko-KR" altLang="en-US" sz="12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 sz="12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DB </a:t>
            </a:r>
            <a:r>
              <a:rPr lang="ko-KR" altLang="en-US" sz="12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체계적 관리로 업무 지원 대상 확대</a:t>
            </a:r>
            <a:endParaRPr lang="en-US" altLang="ko-KR" sz="120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179388" lvl="1" indent="-179388" latinLnBrk="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12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업무 간 상관관계를 고려한 </a:t>
            </a:r>
            <a:r>
              <a:rPr lang="en-US" altLang="ko-KR" sz="12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LKM </a:t>
            </a:r>
            <a:r>
              <a:rPr lang="ko-KR" altLang="en-US" sz="12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구축으로 신규 업무에 대한 지식 정보 제공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01A8172-2A25-F8E2-77B8-BAA7E349117A}"/>
              </a:ext>
            </a:extLst>
          </p:cNvPr>
          <p:cNvSpPr/>
          <p:nvPr/>
        </p:nvSpPr>
        <p:spPr>
          <a:xfrm>
            <a:off x="885525" y="1864547"/>
            <a:ext cx="3818358" cy="519298"/>
          </a:xfrm>
          <a:prstGeom prst="rect">
            <a:avLst/>
          </a:prstGeom>
          <a:noFill/>
          <a:ln w="3175"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algn="ctr">
              <a:spcAft>
                <a:spcPts val="300"/>
              </a:spcAft>
            </a:pPr>
            <a:r>
              <a:rPr lang="en-US" altLang="ko-KR" sz="1200" kern="0">
                <a:solidFill>
                  <a:srgbClr val="37415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Feed·</a:t>
            </a:r>
            <a:r>
              <a:rPr lang="ko-KR" altLang="en-US" sz="1200" kern="0">
                <a:solidFill>
                  <a:srgbClr val="37415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설비</a:t>
            </a:r>
            <a:r>
              <a:rPr lang="en-US" altLang="ko-KR" sz="1200" kern="0">
                <a:solidFill>
                  <a:srgbClr val="37415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·</a:t>
            </a:r>
            <a:r>
              <a:rPr lang="ko-KR" altLang="en-US" sz="1200" kern="0">
                <a:solidFill>
                  <a:srgbClr val="37415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운전 변수 間 복잡한 상관관계를 바탕으로</a:t>
            </a:r>
            <a:endParaRPr lang="en-US" altLang="ko-KR" sz="1200" kern="0">
              <a:solidFill>
                <a:srgbClr val="37415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>
              <a:spcAft>
                <a:spcPts val="300"/>
              </a:spcAft>
            </a:pPr>
            <a:r>
              <a:rPr lang="ko-KR" altLang="en-US" sz="1200" kern="0">
                <a:solidFill>
                  <a:srgbClr val="37415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공정 상태의 신속 진단 및 최적 조치를 가능하게 하는 지식 체계</a:t>
            </a:r>
            <a:endParaRPr lang="en-US" altLang="ko-KR" sz="1200" kern="0">
              <a:solidFill>
                <a:prstClr val="black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3836EE40-4472-B60D-4DA6-010B5CCDC310}"/>
              </a:ext>
            </a:extLst>
          </p:cNvPr>
          <p:cNvSpPr/>
          <p:nvPr/>
        </p:nvSpPr>
        <p:spPr>
          <a:xfrm>
            <a:off x="344488" y="1864547"/>
            <a:ext cx="423330" cy="51929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정의</a:t>
            </a:r>
          </a:p>
        </p:txBody>
      </p:sp>
    </p:spTree>
    <p:extLst>
      <p:ext uri="{BB962C8B-B14F-4D97-AF65-F5344CB8AC3E}">
        <p14:creationId xmlns:p14="http://schemas.microsoft.com/office/powerpoint/2010/main" val="10412134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244AC-6206-9D43-C328-9D5DA9D4D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D4FFB6F-7805-C085-0E38-184795A1D90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0833" y="254884"/>
            <a:ext cx="4341179" cy="343235"/>
          </a:xfrm>
          <a:solidFill>
            <a:schemeClr val="bg1"/>
          </a:solidFill>
        </p:spPr>
        <p:txBody>
          <a:bodyPr wrap="square" anchor="ctr">
            <a:spAutoFit/>
          </a:bodyPr>
          <a:lstStyle/>
          <a:p>
            <a:r>
              <a:rPr lang="en-US" altLang="ko-KR" b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Appendix. Data Source(</a:t>
            </a:r>
            <a:r>
              <a:rPr lang="ko-KR" altLang="en-US" b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생산 </a:t>
            </a:r>
            <a:r>
              <a:rPr lang="en-US" altLang="ko-KR" b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· </a:t>
            </a:r>
            <a:r>
              <a:rPr lang="ko-KR" altLang="en-US" b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생산기술</a:t>
            </a:r>
            <a:r>
              <a:rPr lang="en-US" altLang="ko-KR" b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)</a:t>
            </a:r>
            <a:r>
              <a:rPr lang="ko-KR" altLang="en-US" b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endParaRPr lang="en-US" altLang="ko-KR" b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" name="텍스트 개체 틀 4">
            <a:extLst>
              <a:ext uri="{FF2B5EF4-FFF2-40B4-BE49-F238E27FC236}">
                <a16:creationId xmlns:a16="http://schemas.microsoft.com/office/drawing/2014/main" id="{D325F31E-D626-B520-73AC-ED147A967FF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3063" y="765175"/>
            <a:ext cx="9193040" cy="719138"/>
          </a:xfrm>
        </p:spPr>
        <p:txBody>
          <a:bodyPr vert="horz" lIns="91440" tIns="45720" rIns="91440" bIns="45720" rtlCol="0">
            <a:norm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</a:pPr>
            <a:r>
              <a:rPr lang="ko-KR" altLang="en-US" sz="1600" b="0"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ngal Pro" panose="020B0502040204020203" pitchFamily="2" charset="0"/>
              </a:rPr>
              <a:t>생산 </a:t>
            </a:r>
            <a:r>
              <a:rPr lang="en-US" altLang="ko-KR" sz="1600" b="0"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ngal Pro" panose="020B0502040204020203" pitchFamily="2" charset="0"/>
              </a:rPr>
              <a:t>LKM </a:t>
            </a:r>
            <a:r>
              <a:rPr lang="ko-KR" altLang="en-US" sz="1600" b="0"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ngal Pro" panose="020B0502040204020203" pitchFamily="2" charset="0"/>
              </a:rPr>
              <a:t>생성은 </a:t>
            </a:r>
            <a:r>
              <a:rPr lang="en-US" altLang="ko-KR" sz="1600" b="0"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ngal Pro" panose="020B0502040204020203" pitchFamily="2" charset="0"/>
              </a:rPr>
              <a:t>Process </a:t>
            </a:r>
            <a:r>
              <a:rPr lang="ko-KR" altLang="en-US" sz="1600" b="0"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ngal Pro" panose="020B0502040204020203" pitchFamily="2" charset="0"/>
              </a:rPr>
              <a:t>단위로 활용 </a:t>
            </a:r>
            <a:r>
              <a:rPr lang="en-US" altLang="ko-KR" sz="1600" b="0"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ngal Pro" panose="020B0502040204020203" pitchFamily="2" charset="0"/>
              </a:rPr>
              <a:t>Data</a:t>
            </a:r>
            <a:r>
              <a:rPr lang="ko-KR" altLang="en-US" sz="1600" b="0"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ngal Pro" panose="020B0502040204020203" pitchFamily="2" charset="0"/>
              </a:rPr>
              <a:t>를 분류 및 보완하고</a:t>
            </a:r>
            <a:endParaRPr lang="en-US" altLang="ko-KR" sz="1600" b="0">
              <a:solidFill>
                <a:prstClr val="black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cs typeface="Mangal Pro" panose="020B0502040204020203" pitchFamily="2" charset="0"/>
            </a:endParaRPr>
          </a:p>
          <a:p>
            <a:pPr algn="ctr" latinLnBrk="0">
              <a:lnSpc>
                <a:spcPct val="120000"/>
              </a:lnSpc>
              <a:spcBef>
                <a:spcPts val="0"/>
              </a:spcBef>
            </a:pPr>
            <a:r>
              <a:rPr lang="ko-KR" altLang="en-US" sz="1600" b="0"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ngal Pro" panose="020B0502040204020203" pitchFamily="2" charset="0"/>
              </a:rPr>
              <a:t>상황 </a:t>
            </a:r>
            <a:r>
              <a:rPr lang="en-US" altLang="ko-KR" sz="1600" b="0"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ngal Pro" panose="020B0502040204020203" pitchFamily="2" charset="0"/>
              </a:rPr>
              <a:t>· </a:t>
            </a:r>
            <a:r>
              <a:rPr lang="ko-KR" altLang="en-US" sz="1600" b="0"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ngal Pro" panose="020B0502040204020203" pitchFamily="2" charset="0"/>
              </a:rPr>
              <a:t>증상 </a:t>
            </a:r>
            <a:r>
              <a:rPr lang="en-US" altLang="ko-KR" sz="1600" b="0"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ngal Pro" panose="020B0502040204020203" pitchFamily="2" charset="0"/>
              </a:rPr>
              <a:t>· </a:t>
            </a:r>
            <a:r>
              <a:rPr lang="ko-KR" altLang="en-US" sz="1600" b="0"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ngal Pro" panose="020B0502040204020203" pitchFamily="2" charset="0"/>
              </a:rPr>
              <a:t>조치 연계를 위한 </a:t>
            </a:r>
            <a:r>
              <a:rPr lang="ko-KR" altLang="en-US" sz="1600" b="0" err="1"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ngal Pro" panose="020B0502040204020203" pitchFamily="2" charset="0"/>
              </a:rPr>
              <a:t>고숙련</a:t>
            </a:r>
            <a:r>
              <a:rPr lang="ko-KR" altLang="en-US" sz="1600" b="0"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ngal Pro" panose="020B0502040204020203" pitchFamily="2" charset="0"/>
              </a:rPr>
              <a:t> 운전 노하우 축적 방안 수립이 필요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945DDE7B-C1F5-C343-80C1-5507DD3FDC31}"/>
              </a:ext>
            </a:extLst>
          </p:cNvPr>
          <p:cNvSpPr/>
          <p:nvPr/>
        </p:nvSpPr>
        <p:spPr>
          <a:xfrm>
            <a:off x="8489776" y="1339859"/>
            <a:ext cx="495085" cy="150021"/>
          </a:xfrm>
          <a:prstGeom prst="roundRect">
            <a:avLst>
              <a:gd name="adj" fmla="val 0"/>
            </a:avLst>
          </a:prstGeom>
          <a:solidFill>
            <a:srgbClr val="DCEAF7"/>
          </a:solidFill>
          <a:ln w="3175">
            <a:solidFill>
              <a:srgbClr val="217CFA"/>
            </a:solidFill>
            <a:prstDash val="dash"/>
          </a:ln>
        </p:spPr>
        <p:txBody>
          <a:bodyPr rot="0" spcFirstLastPara="0" vertOverflow="overflow" horzOverflow="overflow" vert="horz" wrap="square" lIns="36000" tIns="0" rIns="36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800" kern="0" spc="-50"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검토 필요</a:t>
            </a:r>
            <a:endParaRPr kumimoji="1" lang="en-US" altLang="ko-KR" sz="800" kern="0" spc="-50">
              <a:latin typeface="나눔스퀘어 Bold" panose="020B0600000101010101" pitchFamily="50" charset="-127"/>
              <a:ea typeface="나눔스퀘어 Bold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AA23FE7C-41CA-E351-AC32-DC71AD1ADB89}"/>
              </a:ext>
            </a:extLst>
          </p:cNvPr>
          <p:cNvSpPr/>
          <p:nvPr/>
        </p:nvSpPr>
        <p:spPr>
          <a:xfrm>
            <a:off x="9018452" y="1340032"/>
            <a:ext cx="547651" cy="14559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txBody>
          <a:bodyPr rot="0" spcFirstLastPara="0" vertOverflow="overflow" horzOverflow="overflow" vert="horz" wrap="square" lIns="36000" tIns="0" rIns="36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800" kern="0" spc="-50"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Legacy</a:t>
            </a: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6325E285-D349-D56A-F6CB-497D4193662E}"/>
              </a:ext>
            </a:extLst>
          </p:cNvPr>
          <p:cNvGrpSpPr/>
          <p:nvPr/>
        </p:nvGrpSpPr>
        <p:grpSpPr>
          <a:xfrm>
            <a:off x="344488" y="1435627"/>
            <a:ext cx="1179849" cy="346893"/>
            <a:chOff x="6859049" y="1423605"/>
            <a:chExt cx="2702458" cy="346893"/>
          </a:xfrm>
        </p:grpSpPr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DBE5D583-41D9-E42D-8F8B-F6DAFB48E56E}"/>
                </a:ext>
              </a:extLst>
            </p:cNvPr>
            <p:cNvCxnSpPr>
              <a:cxnSpLocks/>
            </p:cNvCxnSpPr>
            <p:nvPr/>
          </p:nvCxnSpPr>
          <p:spPr>
            <a:xfrm>
              <a:off x="6859050" y="1770498"/>
              <a:ext cx="2702457" cy="0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49F703E-9E6D-EC04-A84A-D0B1BCC978D8}"/>
                </a:ext>
              </a:extLst>
            </p:cNvPr>
            <p:cNvSpPr txBox="1"/>
            <p:nvPr/>
          </p:nvSpPr>
          <p:spPr>
            <a:xfrm>
              <a:off x="6859049" y="1423605"/>
              <a:ext cx="2702456" cy="34323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rIns="0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lang="ko-KR" altLang="en-US" sz="1400">
                  <a:ln>
                    <a:solidFill>
                      <a:schemeClr val="tx1">
                        <a:alpha val="0"/>
                      </a:schemeClr>
                    </a:solidFill>
                  </a:ln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업무 구분</a:t>
              </a:r>
              <a:endParaRPr lang="en-US" altLang="ko-KR" sz="1400">
                <a:ln>
                  <a:solidFill>
                    <a:schemeClr val="tx1">
                      <a:alpha val="0"/>
                    </a:schemeClr>
                  </a:solidFill>
                </a:ln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26D8C510-04DA-D9E3-D5B3-BE7A4A6B5C60}"/>
              </a:ext>
            </a:extLst>
          </p:cNvPr>
          <p:cNvGrpSpPr/>
          <p:nvPr/>
        </p:nvGrpSpPr>
        <p:grpSpPr>
          <a:xfrm>
            <a:off x="1552911" y="1435627"/>
            <a:ext cx="5061561" cy="346893"/>
            <a:chOff x="6859049" y="1423605"/>
            <a:chExt cx="2702458" cy="346893"/>
          </a:xfrm>
        </p:grpSpPr>
        <p:cxnSp>
          <p:nvCxnSpPr>
            <p:cNvPr id="133" name="직선 연결선 132">
              <a:extLst>
                <a:ext uri="{FF2B5EF4-FFF2-40B4-BE49-F238E27FC236}">
                  <a16:creationId xmlns:a16="http://schemas.microsoft.com/office/drawing/2014/main" id="{FFC60C63-AB41-FAAC-85DD-04D4315910BE}"/>
                </a:ext>
              </a:extLst>
            </p:cNvPr>
            <p:cNvCxnSpPr>
              <a:cxnSpLocks/>
            </p:cNvCxnSpPr>
            <p:nvPr/>
          </p:nvCxnSpPr>
          <p:spPr>
            <a:xfrm>
              <a:off x="6859050" y="1770498"/>
              <a:ext cx="2702457" cy="0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860F9EEA-B845-30D5-D4F6-BB8D9AE14DD8}"/>
                </a:ext>
              </a:extLst>
            </p:cNvPr>
            <p:cNvSpPr txBox="1"/>
            <p:nvPr/>
          </p:nvSpPr>
          <p:spPr>
            <a:xfrm>
              <a:off x="6859049" y="1423605"/>
              <a:ext cx="2702456" cy="34323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rIns="0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ko-KR" sz="1400">
                  <a:ln>
                    <a:solidFill>
                      <a:schemeClr val="tx1">
                        <a:alpha val="0"/>
                      </a:schemeClr>
                    </a:solidFill>
                  </a:ln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Data List</a:t>
              </a:r>
            </a:p>
          </p:txBody>
        </p:sp>
      </p:grpSp>
      <p:grpSp>
        <p:nvGrpSpPr>
          <p:cNvPr id="135" name="그룹 134">
            <a:extLst>
              <a:ext uri="{FF2B5EF4-FFF2-40B4-BE49-F238E27FC236}">
                <a16:creationId xmlns:a16="http://schemas.microsoft.com/office/drawing/2014/main" id="{4319884B-8A1F-0C2A-8FE6-9631ECCF2791}"/>
              </a:ext>
            </a:extLst>
          </p:cNvPr>
          <p:cNvGrpSpPr/>
          <p:nvPr/>
        </p:nvGrpSpPr>
        <p:grpSpPr>
          <a:xfrm>
            <a:off x="6643042" y="1435627"/>
            <a:ext cx="2918471" cy="346893"/>
            <a:chOff x="6859049" y="1423605"/>
            <a:chExt cx="2702458" cy="346893"/>
          </a:xfrm>
          <a:noFill/>
        </p:grpSpPr>
        <p:cxnSp>
          <p:nvCxnSpPr>
            <p:cNvPr id="136" name="직선 연결선 135">
              <a:extLst>
                <a:ext uri="{FF2B5EF4-FFF2-40B4-BE49-F238E27FC236}">
                  <a16:creationId xmlns:a16="http://schemas.microsoft.com/office/drawing/2014/main" id="{7CFE7B80-E4AC-32F5-FAF0-2473C18FF628}"/>
                </a:ext>
              </a:extLst>
            </p:cNvPr>
            <p:cNvCxnSpPr>
              <a:cxnSpLocks/>
            </p:cNvCxnSpPr>
            <p:nvPr/>
          </p:nvCxnSpPr>
          <p:spPr>
            <a:xfrm>
              <a:off x="6859050" y="1770498"/>
              <a:ext cx="2702457" cy="0"/>
            </a:xfrm>
            <a:prstGeom prst="line">
              <a:avLst/>
            </a:prstGeom>
            <a:grp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CE171AB0-C1BD-1A92-1C14-FBDDD2E5BD0C}"/>
                </a:ext>
              </a:extLst>
            </p:cNvPr>
            <p:cNvSpPr txBox="1"/>
            <p:nvPr/>
          </p:nvSpPr>
          <p:spPr>
            <a:xfrm>
              <a:off x="6859049" y="1423605"/>
              <a:ext cx="2702456" cy="343235"/>
            </a:xfrm>
            <a:prstGeom prst="rect">
              <a:avLst/>
            </a:prstGeom>
            <a:grpFill/>
          </p:spPr>
          <p:txBody>
            <a:bodyPr wrap="square" lIns="0" rIns="0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lang="ko-KR" altLang="en-US" sz="1400">
                  <a:ln>
                    <a:solidFill>
                      <a:schemeClr val="tx1">
                        <a:alpha val="0"/>
                      </a:schemeClr>
                    </a:solidFill>
                  </a:ln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개선 </a:t>
              </a:r>
              <a:r>
                <a:rPr lang="en-US" altLang="ko-KR" sz="1400">
                  <a:ln>
                    <a:solidFill>
                      <a:schemeClr val="tx1">
                        <a:alpha val="0"/>
                      </a:schemeClr>
                    </a:solidFill>
                  </a:ln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Point</a:t>
              </a:r>
            </a:p>
          </p:txBody>
        </p:sp>
      </p:grpSp>
      <p:sp>
        <p:nvSpPr>
          <p:cNvPr id="141" name="사각형: 둥근 모서리 140">
            <a:extLst>
              <a:ext uri="{FF2B5EF4-FFF2-40B4-BE49-F238E27FC236}">
                <a16:creationId xmlns:a16="http://schemas.microsoft.com/office/drawing/2014/main" id="{2BEAAA61-432A-3F23-F7F4-E5296F8D1B2A}"/>
              </a:ext>
            </a:extLst>
          </p:cNvPr>
          <p:cNvSpPr/>
          <p:nvPr/>
        </p:nvSpPr>
        <p:spPr>
          <a:xfrm>
            <a:off x="370813" y="1842258"/>
            <a:ext cx="1152000" cy="432000"/>
          </a:xfrm>
          <a:prstGeom prst="roundRect">
            <a:avLst>
              <a:gd name="adj" fmla="val 0"/>
            </a:avLst>
          </a:prstGeom>
          <a:solidFill>
            <a:srgbClr val="EFF5FB"/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100" b="1" kern="0" spc="-50"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생산 계획</a:t>
            </a:r>
            <a:endParaRPr kumimoji="1" lang="en-US" altLang="ko-KR" sz="1100" b="1" kern="0" spc="-50">
              <a:latin typeface="나눔스퀘어 Bold" panose="020B0600000101010101" pitchFamily="50" charset="-127"/>
              <a:ea typeface="나눔스퀘어 Bold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43" name="사각형: 둥근 모서리 142">
            <a:extLst>
              <a:ext uri="{FF2B5EF4-FFF2-40B4-BE49-F238E27FC236}">
                <a16:creationId xmlns:a16="http://schemas.microsoft.com/office/drawing/2014/main" id="{0DC014F4-7D6A-C7D4-790F-98297C96BAE3}"/>
              </a:ext>
            </a:extLst>
          </p:cNvPr>
          <p:cNvSpPr/>
          <p:nvPr/>
        </p:nvSpPr>
        <p:spPr>
          <a:xfrm>
            <a:off x="370813" y="2802734"/>
            <a:ext cx="1152000" cy="432000"/>
          </a:xfrm>
          <a:prstGeom prst="roundRect">
            <a:avLst>
              <a:gd name="adj" fmla="val 0"/>
            </a:avLst>
          </a:prstGeom>
          <a:solidFill>
            <a:srgbClr val="EFF5FB"/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100" b="1" kern="0" spc="-50"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공정 일상</a:t>
            </a:r>
            <a:br>
              <a:rPr kumimoji="1" lang="en-US" altLang="ko-KR" sz="1100" b="1" kern="0" spc="-50"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</a:br>
            <a:r>
              <a:rPr kumimoji="1" lang="ko-KR" altLang="en-US" sz="1100" b="1" kern="0" spc="-50"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점검</a:t>
            </a:r>
            <a:endParaRPr kumimoji="1" lang="en-US" altLang="ko-KR" sz="1100" b="1" kern="0" spc="-50">
              <a:latin typeface="나눔스퀘어 Bold" panose="020B0600000101010101" pitchFamily="50" charset="-127"/>
              <a:ea typeface="나눔스퀘어 Bold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44" name="사각형: 둥근 모서리 143">
            <a:extLst>
              <a:ext uri="{FF2B5EF4-FFF2-40B4-BE49-F238E27FC236}">
                <a16:creationId xmlns:a16="http://schemas.microsoft.com/office/drawing/2014/main" id="{D2BE02AD-1F44-7404-B17D-E2C9FE01997F}"/>
              </a:ext>
            </a:extLst>
          </p:cNvPr>
          <p:cNvSpPr/>
          <p:nvPr/>
        </p:nvSpPr>
        <p:spPr>
          <a:xfrm>
            <a:off x="370814" y="3282972"/>
            <a:ext cx="1152000" cy="432000"/>
          </a:xfrm>
          <a:prstGeom prst="roundRect">
            <a:avLst>
              <a:gd name="adj" fmla="val 0"/>
            </a:avLst>
          </a:prstGeom>
          <a:solidFill>
            <a:srgbClr val="EFF5FB"/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100" b="1" kern="0" spc="-50"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이력 관리</a:t>
            </a:r>
            <a:endParaRPr kumimoji="1" lang="en-US" altLang="ko-KR" sz="1100" b="1" kern="0" spc="-50">
              <a:latin typeface="나눔스퀘어 Bold" panose="020B0600000101010101" pitchFamily="50" charset="-127"/>
              <a:ea typeface="나눔스퀘어 Bold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45" name="사각형: 둥근 모서리 144">
            <a:extLst>
              <a:ext uri="{FF2B5EF4-FFF2-40B4-BE49-F238E27FC236}">
                <a16:creationId xmlns:a16="http://schemas.microsoft.com/office/drawing/2014/main" id="{546AD8A6-8A6B-A369-5E75-B5876BE5B8C6}"/>
              </a:ext>
            </a:extLst>
          </p:cNvPr>
          <p:cNvSpPr/>
          <p:nvPr/>
        </p:nvSpPr>
        <p:spPr>
          <a:xfrm>
            <a:off x="370813" y="3763210"/>
            <a:ext cx="1152000" cy="864000"/>
          </a:xfrm>
          <a:prstGeom prst="roundRect">
            <a:avLst>
              <a:gd name="adj" fmla="val 0"/>
            </a:avLst>
          </a:prstGeom>
          <a:solidFill>
            <a:srgbClr val="EFF5FB"/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100" b="1" kern="0" spc="-50"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공정 최적화</a:t>
            </a:r>
            <a:endParaRPr kumimoji="1" lang="en-US" altLang="ko-KR" sz="1100" b="1" kern="0" spc="-50">
              <a:latin typeface="나눔스퀘어 Bold" panose="020B0600000101010101" pitchFamily="50" charset="-127"/>
              <a:ea typeface="나눔스퀘어 Bold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47" name="사각형: 둥근 모서리 146">
            <a:extLst>
              <a:ext uri="{FF2B5EF4-FFF2-40B4-BE49-F238E27FC236}">
                <a16:creationId xmlns:a16="http://schemas.microsoft.com/office/drawing/2014/main" id="{FF0DE561-FA22-212D-BC70-F52180D28FF2}"/>
              </a:ext>
            </a:extLst>
          </p:cNvPr>
          <p:cNvSpPr/>
          <p:nvPr/>
        </p:nvSpPr>
        <p:spPr>
          <a:xfrm>
            <a:off x="370813" y="4675448"/>
            <a:ext cx="1152000" cy="864000"/>
          </a:xfrm>
          <a:prstGeom prst="roundRect">
            <a:avLst>
              <a:gd name="adj" fmla="val 0"/>
            </a:avLst>
          </a:prstGeom>
          <a:solidFill>
            <a:srgbClr val="EFF5FB"/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100" b="1" kern="0" spc="-50"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공정 이상 대응</a:t>
            </a:r>
            <a:endParaRPr kumimoji="1" lang="en-US" altLang="ko-KR" sz="1100" b="1" kern="0" spc="-50">
              <a:latin typeface="나눔스퀘어 Bold" panose="020B0600000101010101" pitchFamily="50" charset="-127"/>
              <a:ea typeface="나눔스퀘어 Bold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48" name="사각형: 둥근 모서리 147">
            <a:extLst>
              <a:ext uri="{FF2B5EF4-FFF2-40B4-BE49-F238E27FC236}">
                <a16:creationId xmlns:a16="http://schemas.microsoft.com/office/drawing/2014/main" id="{BE77FF57-A837-A616-07AD-61D869CD6216}"/>
              </a:ext>
            </a:extLst>
          </p:cNvPr>
          <p:cNvSpPr/>
          <p:nvPr/>
        </p:nvSpPr>
        <p:spPr>
          <a:xfrm>
            <a:off x="370813" y="5587688"/>
            <a:ext cx="1152000" cy="864000"/>
          </a:xfrm>
          <a:prstGeom prst="roundRect">
            <a:avLst>
              <a:gd name="adj" fmla="val 0"/>
            </a:avLst>
          </a:prstGeom>
          <a:solidFill>
            <a:srgbClr val="EFF5FB"/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100" b="1" kern="0" spc="-50"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공정 성과</a:t>
            </a:r>
            <a:br>
              <a:rPr kumimoji="1" lang="en-US" altLang="ko-KR" sz="1100" b="1" kern="0" spc="-50"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</a:br>
            <a:r>
              <a:rPr kumimoji="1" lang="ko-KR" altLang="en-US" sz="1100" b="1" kern="0" spc="-50"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관리</a:t>
            </a:r>
            <a:endParaRPr kumimoji="1" lang="en-US" altLang="ko-KR" sz="1100" b="1" kern="0" spc="-50">
              <a:latin typeface="나눔스퀘어 Bold" panose="020B0600000101010101" pitchFamily="50" charset="-127"/>
              <a:ea typeface="나눔스퀘어 Bold" panose="020B0600000101010101" pitchFamily="50" charset="-127"/>
              <a:cs typeface="Arial" panose="020B0604020202020204" pitchFamily="34" charset="0"/>
            </a:endParaRPr>
          </a:p>
        </p:txBody>
      </p:sp>
      <p:grpSp>
        <p:nvGrpSpPr>
          <p:cNvPr id="154" name="그룹 153">
            <a:extLst>
              <a:ext uri="{FF2B5EF4-FFF2-40B4-BE49-F238E27FC236}">
                <a16:creationId xmlns:a16="http://schemas.microsoft.com/office/drawing/2014/main" id="{86EA8BC6-A311-68A8-5218-A3E1D87D5146}"/>
              </a:ext>
            </a:extLst>
          </p:cNvPr>
          <p:cNvGrpSpPr/>
          <p:nvPr/>
        </p:nvGrpSpPr>
        <p:grpSpPr>
          <a:xfrm>
            <a:off x="1630018" y="1842258"/>
            <a:ext cx="4877022" cy="432000"/>
            <a:chOff x="2005228" y="1950207"/>
            <a:chExt cx="5061561" cy="586380"/>
          </a:xfrm>
        </p:grpSpPr>
        <p:sp>
          <p:nvSpPr>
            <p:cNvPr id="149" name="사각형: 둥근 모서리 148">
              <a:extLst>
                <a:ext uri="{FF2B5EF4-FFF2-40B4-BE49-F238E27FC236}">
                  <a16:creationId xmlns:a16="http://schemas.microsoft.com/office/drawing/2014/main" id="{A37B5863-AE91-6B80-6A8C-AD042DF2C611}"/>
                </a:ext>
              </a:extLst>
            </p:cNvPr>
            <p:cNvSpPr/>
            <p:nvPr/>
          </p:nvSpPr>
          <p:spPr>
            <a:xfrm>
              <a:off x="5820018" y="1954215"/>
              <a:ext cx="1246771" cy="582363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txBody>
            <a:bodyPr rot="0" spcFirstLastPara="0" vertOverflow="overflow" horzOverflow="overflow" vert="horz" wrap="square" lIns="36000" tIns="0" rIns="3600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실시간 공정 운전 </a:t>
              </a:r>
              <a:r>
                <a:rPr kumimoji="1" lang="en-US" altLang="ko-KR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Data</a:t>
              </a:r>
              <a:br>
                <a:rPr kumimoji="1" lang="en-US" altLang="ko-KR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</a:br>
              <a:r>
                <a:rPr kumimoji="1" lang="en-US" altLang="ko-KR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(RTDB)</a:t>
              </a:r>
            </a:p>
          </p:txBody>
        </p:sp>
        <p:sp>
          <p:nvSpPr>
            <p:cNvPr id="150" name="사각형: 둥근 모서리 149">
              <a:extLst>
                <a:ext uri="{FF2B5EF4-FFF2-40B4-BE49-F238E27FC236}">
                  <a16:creationId xmlns:a16="http://schemas.microsoft.com/office/drawing/2014/main" id="{F31174FA-76C0-1E7D-D2A6-88F72E08F7CC}"/>
                </a:ext>
              </a:extLst>
            </p:cNvPr>
            <p:cNvSpPr/>
            <p:nvPr/>
          </p:nvSpPr>
          <p:spPr>
            <a:xfrm>
              <a:off x="5004498" y="1950207"/>
              <a:ext cx="726197" cy="586375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txBody>
            <a:bodyPr rot="0" spcFirstLastPara="0" vertOverflow="overflow" horzOverflow="overflow" vert="horz" wrap="square" lIns="36000" tIns="0" rIns="3600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작업 표준</a:t>
              </a:r>
              <a:endParaRPr kumimoji="1" lang="en-US" altLang="ko-KR" sz="1000" kern="0" spc="-50"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51" name="사각형: 둥근 모서리 150">
              <a:extLst>
                <a:ext uri="{FF2B5EF4-FFF2-40B4-BE49-F238E27FC236}">
                  <a16:creationId xmlns:a16="http://schemas.microsoft.com/office/drawing/2014/main" id="{B49A056D-8ED5-CD8C-6EFE-4032A2DE1BC0}"/>
                </a:ext>
              </a:extLst>
            </p:cNvPr>
            <p:cNvSpPr/>
            <p:nvPr/>
          </p:nvSpPr>
          <p:spPr>
            <a:xfrm>
              <a:off x="3155810" y="1950207"/>
              <a:ext cx="880606" cy="586379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txBody>
            <a:bodyPr rot="0" spcFirstLastPara="0" vertOverflow="overflow" horzOverflow="overflow" vert="horz" wrap="square" lIns="36000" tIns="0" rIns="3600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000" kern="0" spc="-50">
                  <a:solidFill>
                    <a:prstClr val="black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정비 </a:t>
              </a:r>
              <a:r>
                <a:rPr kumimoji="1" lang="en-US" altLang="ko-KR" sz="1000" kern="0" spc="-50">
                  <a:solidFill>
                    <a:prstClr val="black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Schedule</a:t>
              </a:r>
              <a:br>
                <a:rPr kumimoji="1" lang="en-US" altLang="ko-KR" sz="1000" kern="0" spc="-50">
                  <a:solidFill>
                    <a:prstClr val="black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</a:br>
              <a:r>
                <a:rPr kumimoji="1" lang="en-US" altLang="ko-KR" sz="1000" kern="0" spc="-50">
                  <a:solidFill>
                    <a:prstClr val="black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(Ocean-H)</a:t>
              </a:r>
              <a:endParaRPr kumimoji="1" lang="en-US" altLang="ko-KR" sz="1000" kern="0" spc="-5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52" name="사각형: 둥근 모서리 151">
              <a:extLst>
                <a:ext uri="{FF2B5EF4-FFF2-40B4-BE49-F238E27FC236}">
                  <a16:creationId xmlns:a16="http://schemas.microsoft.com/office/drawing/2014/main" id="{D12C0B7B-DE53-EE34-BB2B-95212FEAF385}"/>
                </a:ext>
              </a:extLst>
            </p:cNvPr>
            <p:cNvSpPr/>
            <p:nvPr/>
          </p:nvSpPr>
          <p:spPr>
            <a:xfrm>
              <a:off x="4125740" y="1950207"/>
              <a:ext cx="789435" cy="586375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txBody>
            <a:bodyPr rot="0" spcFirstLastPara="0" vertOverflow="overflow" horzOverflow="overflow" vert="horz" wrap="square" lIns="36000" tIns="0" rIns="3600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정비 이력</a:t>
              </a:r>
              <a:br>
                <a:rPr kumimoji="1" lang="en-US" altLang="ko-KR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</a:br>
              <a:r>
                <a:rPr kumimoji="1" lang="en-US" altLang="ko-KR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(Ocean-H)</a:t>
              </a:r>
              <a:endParaRPr kumimoji="1" lang="en-US" altLang="ko-KR" sz="1000" kern="0" spc="-5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53" name="사각형: 둥근 모서리 152">
              <a:extLst>
                <a:ext uri="{FF2B5EF4-FFF2-40B4-BE49-F238E27FC236}">
                  <a16:creationId xmlns:a16="http://schemas.microsoft.com/office/drawing/2014/main" id="{5FF8BD66-C19C-5EF8-63E7-64F529440BB8}"/>
                </a:ext>
              </a:extLst>
            </p:cNvPr>
            <p:cNvSpPr/>
            <p:nvPr/>
          </p:nvSpPr>
          <p:spPr>
            <a:xfrm>
              <a:off x="2005228" y="1950207"/>
              <a:ext cx="1061258" cy="586380"/>
            </a:xfrm>
            <a:prstGeom prst="roundRect">
              <a:avLst>
                <a:gd name="adj" fmla="val 0"/>
              </a:avLst>
            </a:prstGeom>
            <a:solidFill>
              <a:srgbClr val="DCEAF7"/>
            </a:solidFill>
            <a:ln w="3175">
              <a:solidFill>
                <a:srgbClr val="217CFA"/>
              </a:solidFill>
              <a:prstDash val="dash"/>
            </a:ln>
          </p:spPr>
          <p:txBody>
            <a:bodyPr rot="0" spcFirstLastPara="0" vertOverflow="overflow" horzOverflow="overflow" vert="horz" wrap="square" lIns="36000" tIns="0" rIns="3600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상황별 운전</a:t>
              </a:r>
              <a:r>
                <a:rPr kumimoji="1" lang="en-US" altLang="ko-KR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 </a:t>
              </a:r>
              <a:r>
                <a:rPr kumimoji="1" lang="ko-KR" altLang="en-US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노하우</a:t>
              </a:r>
              <a:br>
                <a:rPr kumimoji="1" lang="en-US" altLang="ko-KR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</a:br>
              <a:r>
                <a:rPr kumimoji="1" lang="en-US" altLang="ko-KR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(</a:t>
              </a:r>
              <a:r>
                <a:rPr kumimoji="1" lang="ko-KR" altLang="en-US" sz="1000" kern="0" spc="-50" err="1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암묵지</a:t>
              </a:r>
              <a:r>
                <a:rPr kumimoji="1" lang="en-US" altLang="ko-KR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)</a:t>
              </a:r>
            </a:p>
          </p:txBody>
        </p:sp>
      </p:grpSp>
      <p:sp>
        <p:nvSpPr>
          <p:cNvPr id="155" name="사각형: 둥근 모서리 154">
            <a:extLst>
              <a:ext uri="{FF2B5EF4-FFF2-40B4-BE49-F238E27FC236}">
                <a16:creationId xmlns:a16="http://schemas.microsoft.com/office/drawing/2014/main" id="{4361E9AC-16C0-CAE7-304C-312D4970A4F9}"/>
              </a:ext>
            </a:extLst>
          </p:cNvPr>
          <p:cNvSpPr/>
          <p:nvPr/>
        </p:nvSpPr>
        <p:spPr>
          <a:xfrm>
            <a:off x="6643042" y="1852197"/>
            <a:ext cx="2923061" cy="432000"/>
          </a:xfrm>
          <a:prstGeom prst="roundRect">
            <a:avLst>
              <a:gd name="adj" fmla="val 0"/>
            </a:avLst>
          </a:prstGeom>
          <a:solidFill>
            <a:schemeClr val="tx2">
              <a:lumMod val="10000"/>
              <a:lumOff val="90000"/>
            </a:schemeClr>
          </a:solidFill>
          <a:ln w="3175">
            <a:noFill/>
          </a:ln>
        </p:spPr>
        <p:txBody>
          <a:bodyPr rot="0" spcFirstLastPara="0" vertOverflow="overflow" horzOverflow="overflow" vert="horz" wrap="square" lIns="36000" tIns="0" rIns="36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000" i="1" kern="0" spc="-5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공정 정비 </a:t>
            </a:r>
            <a:r>
              <a:rPr kumimoji="1" lang="en-US" altLang="ko-KR" sz="1000" i="1" kern="0" spc="-5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Data </a:t>
            </a:r>
            <a:r>
              <a:rPr kumimoji="1" lang="ko-KR" altLang="en-US" sz="1000" i="1" kern="0" spc="-5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및 공정 운전 中 발생한 </a:t>
            </a:r>
            <a:br>
              <a:rPr kumimoji="1" lang="en-US" altLang="ko-KR" sz="1000" i="1" kern="0" spc="-5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</a:br>
            <a:r>
              <a:rPr kumimoji="1" lang="en-US" altLang="ko-KR" sz="1000" i="1" kern="0" spc="-5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Data </a:t>
            </a:r>
            <a:r>
              <a:rPr kumimoji="1" lang="ko-KR" altLang="en-US" sz="1000" i="1" kern="0" spc="-5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간 연계성 검토 필요</a:t>
            </a:r>
            <a:endParaRPr kumimoji="1" lang="ko-KR" altLang="en-US" sz="1000" i="1" kern="0" spc="-5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grpSp>
        <p:nvGrpSpPr>
          <p:cNvPr id="200" name="그룹 199">
            <a:extLst>
              <a:ext uri="{FF2B5EF4-FFF2-40B4-BE49-F238E27FC236}">
                <a16:creationId xmlns:a16="http://schemas.microsoft.com/office/drawing/2014/main" id="{A1D88072-FEA7-C91E-7A9D-DFD13A664D77}"/>
              </a:ext>
            </a:extLst>
          </p:cNvPr>
          <p:cNvGrpSpPr/>
          <p:nvPr/>
        </p:nvGrpSpPr>
        <p:grpSpPr>
          <a:xfrm>
            <a:off x="1630017" y="3763210"/>
            <a:ext cx="4877021" cy="864000"/>
            <a:chOff x="1552911" y="3779777"/>
            <a:chExt cx="4059469" cy="864000"/>
          </a:xfrm>
        </p:grpSpPr>
        <p:sp>
          <p:nvSpPr>
            <p:cNvPr id="156" name="사각형: 둥근 모서리 155">
              <a:extLst>
                <a:ext uri="{FF2B5EF4-FFF2-40B4-BE49-F238E27FC236}">
                  <a16:creationId xmlns:a16="http://schemas.microsoft.com/office/drawing/2014/main" id="{9291E4E1-EDF2-10AC-11BA-71468CDA21A3}"/>
                </a:ext>
              </a:extLst>
            </p:cNvPr>
            <p:cNvSpPr/>
            <p:nvPr/>
          </p:nvSpPr>
          <p:spPr>
            <a:xfrm>
              <a:off x="2475590" y="4211777"/>
              <a:ext cx="1202618" cy="4320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투자 사업 수행 문서</a:t>
              </a:r>
              <a:br>
                <a:rPr kumimoji="1" lang="en-US" altLang="ko-KR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</a:br>
              <a:r>
                <a:rPr kumimoji="1" lang="en-US" altLang="ko-KR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(</a:t>
              </a:r>
              <a:r>
                <a:rPr kumimoji="1" lang="ko-KR" altLang="en-US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투자관리 시스템</a:t>
              </a:r>
              <a:r>
                <a:rPr kumimoji="1" lang="en-US" altLang="ko-KR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)</a:t>
              </a:r>
              <a:endParaRPr kumimoji="1" lang="en-US" altLang="ko-KR" sz="900" kern="0" spc="-5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57" name="사각형: 둥근 모서리 156">
              <a:extLst>
                <a:ext uri="{FF2B5EF4-FFF2-40B4-BE49-F238E27FC236}">
                  <a16:creationId xmlns:a16="http://schemas.microsoft.com/office/drawing/2014/main" id="{6339C998-D360-C673-3491-B34461B60D7D}"/>
                </a:ext>
              </a:extLst>
            </p:cNvPr>
            <p:cNvSpPr/>
            <p:nvPr/>
          </p:nvSpPr>
          <p:spPr>
            <a:xfrm>
              <a:off x="1552911" y="4211777"/>
              <a:ext cx="853928" cy="432000"/>
            </a:xfrm>
            <a:prstGeom prst="roundRect">
              <a:avLst>
                <a:gd name="adj" fmla="val 0"/>
              </a:avLst>
            </a:prstGeom>
            <a:solidFill>
              <a:srgbClr val="DCEAF7"/>
            </a:solidFill>
            <a:ln w="3175">
              <a:solidFill>
                <a:srgbClr val="217CFA"/>
              </a:solidFill>
              <a:prstDash val="dash"/>
            </a:ln>
          </p:spPr>
          <p:txBody>
            <a:bodyPr rot="0" spcFirstLastPara="0" vertOverflow="overflow" horzOverflow="overflow" vert="horz" wrap="square" lIns="36000" tIns="0" rIns="3600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촉매 유관</a:t>
              </a:r>
              <a:br>
                <a:rPr kumimoji="1" lang="en-US" altLang="ko-KR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</a:br>
              <a:r>
                <a:rPr kumimoji="1" lang="ko-KR" altLang="en-US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정보 </a:t>
              </a:r>
              <a:r>
                <a:rPr kumimoji="1" lang="en-US" altLang="ko-KR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DB</a:t>
              </a:r>
            </a:p>
          </p:txBody>
        </p:sp>
        <p:sp>
          <p:nvSpPr>
            <p:cNvPr id="158" name="사각형: 둥근 모서리 157">
              <a:extLst>
                <a:ext uri="{FF2B5EF4-FFF2-40B4-BE49-F238E27FC236}">
                  <a16:creationId xmlns:a16="http://schemas.microsoft.com/office/drawing/2014/main" id="{0FA9F74F-AEDD-0217-2ED3-90481A02412E}"/>
                </a:ext>
              </a:extLst>
            </p:cNvPr>
            <p:cNvSpPr/>
            <p:nvPr/>
          </p:nvSpPr>
          <p:spPr>
            <a:xfrm>
              <a:off x="1552911" y="3779777"/>
              <a:ext cx="1128958" cy="392727"/>
            </a:xfrm>
            <a:prstGeom prst="roundRect">
              <a:avLst>
                <a:gd name="adj" fmla="val 0"/>
              </a:avLst>
            </a:prstGeom>
            <a:solidFill>
              <a:srgbClr val="DCEAF7"/>
            </a:solidFill>
            <a:ln w="3175">
              <a:solidFill>
                <a:srgbClr val="217CFA"/>
              </a:solidFill>
              <a:prstDash val="dash"/>
            </a:ln>
          </p:spPr>
          <p:txBody>
            <a:bodyPr rot="0" spcFirstLastPara="0" vertOverflow="overflow" horzOverflow="overflow" vert="horz" wrap="square" lIns="36000" tIns="0" rIns="3600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논문</a:t>
              </a:r>
              <a:br>
                <a:rPr kumimoji="1" lang="en-US" altLang="ko-KR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</a:br>
              <a:r>
                <a:rPr kumimoji="1" lang="en-US" altLang="ko-KR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(</a:t>
              </a:r>
              <a:r>
                <a:rPr kumimoji="1" lang="ko-KR" altLang="en-US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유로 저널</a:t>
              </a:r>
              <a:r>
                <a:rPr kumimoji="1" lang="en-US" altLang="ko-KR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, </a:t>
              </a:r>
              <a:r>
                <a:rPr kumimoji="1" lang="ko-KR" altLang="en-US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오픈 소스</a:t>
              </a:r>
              <a:r>
                <a:rPr kumimoji="1" lang="en-US" altLang="ko-KR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)</a:t>
              </a:r>
            </a:p>
          </p:txBody>
        </p:sp>
        <p:sp>
          <p:nvSpPr>
            <p:cNvPr id="159" name="사각형: 둥근 모서리 158">
              <a:extLst>
                <a:ext uri="{FF2B5EF4-FFF2-40B4-BE49-F238E27FC236}">
                  <a16:creationId xmlns:a16="http://schemas.microsoft.com/office/drawing/2014/main" id="{B14B6FDF-4729-81D4-7B49-24C418160867}"/>
                </a:ext>
              </a:extLst>
            </p:cNvPr>
            <p:cNvSpPr/>
            <p:nvPr/>
          </p:nvSpPr>
          <p:spPr>
            <a:xfrm>
              <a:off x="2739439" y="3779777"/>
              <a:ext cx="1128958" cy="392727"/>
            </a:xfrm>
            <a:prstGeom prst="roundRect">
              <a:avLst>
                <a:gd name="adj" fmla="val 0"/>
              </a:avLst>
            </a:prstGeom>
            <a:solidFill>
              <a:srgbClr val="DCEAF7"/>
            </a:solidFill>
            <a:ln w="3175">
              <a:solidFill>
                <a:srgbClr val="217CFA"/>
              </a:solidFill>
              <a:prstDash val="dash"/>
            </a:ln>
          </p:spPr>
          <p:txBody>
            <a:bodyPr rot="0" spcFirstLastPara="0" vertOverflow="overflow" horzOverflow="overflow" vert="horz" wrap="square" lIns="36000" tIns="0" rIns="3600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뉴스</a:t>
              </a:r>
              <a:br>
                <a:rPr kumimoji="1" lang="en-US" altLang="ko-KR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</a:br>
              <a:r>
                <a:rPr kumimoji="1" lang="en-US" altLang="ko-KR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(</a:t>
              </a:r>
              <a:r>
                <a:rPr kumimoji="1" lang="ko-KR" altLang="en-US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검색 엔진</a:t>
              </a:r>
              <a:r>
                <a:rPr kumimoji="1" lang="en-US" altLang="ko-KR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, </a:t>
              </a:r>
              <a:r>
                <a:rPr kumimoji="1" lang="ko-KR" altLang="en-US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뉴스레터</a:t>
              </a:r>
              <a:r>
                <a:rPr kumimoji="1" lang="en-US" altLang="ko-KR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)</a:t>
              </a:r>
            </a:p>
          </p:txBody>
        </p:sp>
        <p:sp>
          <p:nvSpPr>
            <p:cNvPr id="160" name="사각형: 둥근 모서리 159">
              <a:extLst>
                <a:ext uri="{FF2B5EF4-FFF2-40B4-BE49-F238E27FC236}">
                  <a16:creationId xmlns:a16="http://schemas.microsoft.com/office/drawing/2014/main" id="{C5542107-57D8-2D1C-6BE3-27E48EE3A34B}"/>
                </a:ext>
              </a:extLst>
            </p:cNvPr>
            <p:cNvSpPr/>
            <p:nvPr/>
          </p:nvSpPr>
          <p:spPr>
            <a:xfrm>
              <a:off x="4579536" y="4219140"/>
              <a:ext cx="1032844" cy="39272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txBody>
            <a:bodyPr rot="0" spcFirstLastPara="0" vertOverflow="overflow" horzOverflow="overflow" vert="horz" wrap="square" lIns="36000" tIns="0" rIns="3600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촉매 구매 이력 정보</a:t>
              </a:r>
              <a:br>
                <a:rPr kumimoji="1" lang="en-US" altLang="ko-KR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</a:br>
              <a:r>
                <a:rPr kumimoji="1" lang="en-US" altLang="ko-KR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(Ocean-H)</a:t>
              </a:r>
              <a:endParaRPr kumimoji="1" lang="en-US" altLang="ko-KR" sz="900" kern="0" spc="-5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61" name="사각형: 둥근 모서리 160">
              <a:extLst>
                <a:ext uri="{FF2B5EF4-FFF2-40B4-BE49-F238E27FC236}">
                  <a16:creationId xmlns:a16="http://schemas.microsoft.com/office/drawing/2014/main" id="{A4179AF6-84E2-75EF-1759-A0A3033D746F}"/>
                </a:ext>
              </a:extLst>
            </p:cNvPr>
            <p:cNvSpPr/>
            <p:nvPr/>
          </p:nvSpPr>
          <p:spPr>
            <a:xfrm>
              <a:off x="4590905" y="3779777"/>
              <a:ext cx="1021474" cy="39272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txBody>
            <a:bodyPr rot="0" spcFirstLastPara="0" vertOverflow="overflow" horzOverflow="overflow" vert="horz" wrap="square" lIns="36000" tIns="0" rIns="3600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생산 운영 정보</a:t>
              </a:r>
              <a:br>
                <a:rPr kumimoji="1" lang="en-US" altLang="ko-KR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</a:br>
              <a:r>
                <a:rPr kumimoji="1" lang="en-US" altLang="ko-KR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(Teams)</a:t>
              </a:r>
            </a:p>
          </p:txBody>
        </p:sp>
        <p:sp>
          <p:nvSpPr>
            <p:cNvPr id="166" name="사각형: 둥근 모서리 165">
              <a:extLst>
                <a:ext uri="{FF2B5EF4-FFF2-40B4-BE49-F238E27FC236}">
                  <a16:creationId xmlns:a16="http://schemas.microsoft.com/office/drawing/2014/main" id="{3AF09D6B-A608-8886-E4C7-F6CB7CBC3505}"/>
                </a:ext>
              </a:extLst>
            </p:cNvPr>
            <p:cNvSpPr/>
            <p:nvPr/>
          </p:nvSpPr>
          <p:spPr>
            <a:xfrm>
              <a:off x="3746960" y="4211777"/>
              <a:ext cx="808409" cy="4320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txBody>
            <a:bodyPr rot="0" spcFirstLastPara="0" vertOverflow="overflow" horzOverflow="overflow" vert="horz" wrap="square" lIns="36000" tIns="0" rIns="3600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투자 사업 정보 </a:t>
              </a:r>
              <a:r>
                <a:rPr kumimoji="1" lang="en-US" altLang="ko-KR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(Teams)</a:t>
              </a:r>
            </a:p>
          </p:txBody>
        </p:sp>
        <p:sp>
          <p:nvSpPr>
            <p:cNvPr id="167" name="사각형: 둥근 모서리 166">
              <a:extLst>
                <a:ext uri="{FF2B5EF4-FFF2-40B4-BE49-F238E27FC236}">
                  <a16:creationId xmlns:a16="http://schemas.microsoft.com/office/drawing/2014/main" id="{AFDE0006-A7DF-6AF4-57AD-34C83720E20A}"/>
                </a:ext>
              </a:extLst>
            </p:cNvPr>
            <p:cNvSpPr/>
            <p:nvPr/>
          </p:nvSpPr>
          <p:spPr>
            <a:xfrm>
              <a:off x="3925967" y="3779777"/>
              <a:ext cx="607369" cy="39272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txBody>
            <a:bodyPr rot="0" spcFirstLastPara="0" vertOverflow="overflow" horzOverflow="overflow" vert="horz" wrap="square" lIns="36000" tIns="0" rIns="3600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특허</a:t>
              </a:r>
              <a:br>
                <a:rPr kumimoji="1" lang="en-US" altLang="ko-KR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</a:br>
              <a:r>
                <a:rPr kumimoji="1" lang="en-US" altLang="ko-KR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(PMS)</a:t>
              </a:r>
            </a:p>
          </p:txBody>
        </p:sp>
      </p:grpSp>
      <p:sp>
        <p:nvSpPr>
          <p:cNvPr id="142" name="사각형: 둥근 모서리 141">
            <a:extLst>
              <a:ext uri="{FF2B5EF4-FFF2-40B4-BE49-F238E27FC236}">
                <a16:creationId xmlns:a16="http://schemas.microsoft.com/office/drawing/2014/main" id="{BC6915F5-E0A2-237A-A256-584F2E7962E5}"/>
              </a:ext>
            </a:extLst>
          </p:cNvPr>
          <p:cNvSpPr/>
          <p:nvPr/>
        </p:nvSpPr>
        <p:spPr>
          <a:xfrm>
            <a:off x="370813" y="2322496"/>
            <a:ext cx="1152000" cy="432000"/>
          </a:xfrm>
          <a:prstGeom prst="roundRect">
            <a:avLst>
              <a:gd name="adj" fmla="val 0"/>
            </a:avLst>
          </a:prstGeom>
          <a:solidFill>
            <a:srgbClr val="EFF5FB"/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100" b="1" kern="0" spc="-50"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생산 실행</a:t>
            </a:r>
            <a:endParaRPr kumimoji="1" lang="en-US" altLang="ko-KR" sz="1100" b="1" kern="0" spc="-50">
              <a:latin typeface="나눔스퀘어 Bold" panose="020B0600000101010101" pitchFamily="50" charset="-127"/>
              <a:ea typeface="나눔스퀘어 Bold" panose="020B0600000101010101" pitchFamily="50" charset="-127"/>
              <a:cs typeface="Arial" panose="020B0604020202020204" pitchFamily="34" charset="0"/>
            </a:endParaRPr>
          </a:p>
        </p:txBody>
      </p:sp>
      <p:grpSp>
        <p:nvGrpSpPr>
          <p:cNvPr id="178" name="그룹 177">
            <a:extLst>
              <a:ext uri="{FF2B5EF4-FFF2-40B4-BE49-F238E27FC236}">
                <a16:creationId xmlns:a16="http://schemas.microsoft.com/office/drawing/2014/main" id="{2A40DB67-70DE-3B15-0275-3E755A13662D}"/>
              </a:ext>
            </a:extLst>
          </p:cNvPr>
          <p:cNvGrpSpPr/>
          <p:nvPr/>
        </p:nvGrpSpPr>
        <p:grpSpPr>
          <a:xfrm>
            <a:off x="1630018" y="2322496"/>
            <a:ext cx="4877021" cy="432000"/>
            <a:chOff x="1534162" y="2623090"/>
            <a:chExt cx="5061563" cy="292348"/>
          </a:xfrm>
        </p:grpSpPr>
        <p:sp>
          <p:nvSpPr>
            <p:cNvPr id="168" name="사각형: 둥근 모서리 167">
              <a:extLst>
                <a:ext uri="{FF2B5EF4-FFF2-40B4-BE49-F238E27FC236}">
                  <a16:creationId xmlns:a16="http://schemas.microsoft.com/office/drawing/2014/main" id="{140E89DC-C731-52F0-0AB7-966BF546F5ED}"/>
                </a:ext>
              </a:extLst>
            </p:cNvPr>
            <p:cNvSpPr/>
            <p:nvPr/>
          </p:nvSpPr>
          <p:spPr>
            <a:xfrm>
              <a:off x="2692317" y="2623090"/>
              <a:ext cx="1415776" cy="292348"/>
            </a:xfrm>
            <a:prstGeom prst="roundRect">
              <a:avLst>
                <a:gd name="adj" fmla="val 0"/>
              </a:avLst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txBody>
            <a:bodyPr rot="0" spcFirstLastPara="0" vertOverflow="overflow" horzOverflow="overflow" vert="horz" wrap="square" lIns="36000" tIns="0" rIns="3600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공정 운전 실적 </a:t>
              </a:r>
              <a:r>
                <a:rPr kumimoji="1" lang="en-US" altLang="ko-KR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Data (RTDB)</a:t>
              </a:r>
              <a:endParaRPr kumimoji="1" lang="en-US" altLang="ko-KR" sz="900" kern="0" spc="-5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70" name="사각형: 둥근 모서리 169">
              <a:extLst>
                <a:ext uri="{FF2B5EF4-FFF2-40B4-BE49-F238E27FC236}">
                  <a16:creationId xmlns:a16="http://schemas.microsoft.com/office/drawing/2014/main" id="{94C34D5A-0BBE-C173-2B31-53162124BEA6}"/>
                </a:ext>
              </a:extLst>
            </p:cNvPr>
            <p:cNvSpPr/>
            <p:nvPr/>
          </p:nvSpPr>
          <p:spPr>
            <a:xfrm>
              <a:off x="4204990" y="2623090"/>
              <a:ext cx="1549838" cy="292348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txBody>
            <a:bodyPr rot="0" spcFirstLastPara="0" vertOverflow="overflow" horzOverflow="overflow" vert="horz" wrap="square" lIns="36000" tIns="0" rIns="3600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S/U, S/D </a:t>
              </a:r>
              <a:r>
                <a:rPr kumimoji="1" lang="ko-KR" altLang="en-US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작업절차서</a:t>
              </a:r>
              <a:br>
                <a:rPr kumimoji="1" lang="en-US" altLang="ko-KR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</a:br>
              <a:r>
                <a:rPr kumimoji="1" lang="en-US" altLang="ko-KR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(Excel)</a:t>
              </a:r>
            </a:p>
          </p:txBody>
        </p:sp>
        <p:sp>
          <p:nvSpPr>
            <p:cNvPr id="171" name="사각형: 둥근 모서리 170">
              <a:extLst>
                <a:ext uri="{FF2B5EF4-FFF2-40B4-BE49-F238E27FC236}">
                  <a16:creationId xmlns:a16="http://schemas.microsoft.com/office/drawing/2014/main" id="{528E645D-B108-78F7-53F4-B3C14CDF04C1}"/>
                </a:ext>
              </a:extLst>
            </p:cNvPr>
            <p:cNvSpPr/>
            <p:nvPr/>
          </p:nvSpPr>
          <p:spPr>
            <a:xfrm>
              <a:off x="5851724" y="2623090"/>
              <a:ext cx="744001" cy="292348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txBody>
            <a:bodyPr rot="0" spcFirstLastPara="0" vertOverflow="overflow" horzOverflow="overflow" vert="horz" wrap="square" lIns="36000" tIns="0" rIns="3600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작업표준 </a:t>
              </a:r>
              <a:endParaRPr kumimoji="1" lang="en-US" altLang="ko-KR" sz="1000" kern="0" spc="-50"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76" name="사각형: 둥근 모서리 175">
              <a:extLst>
                <a:ext uri="{FF2B5EF4-FFF2-40B4-BE49-F238E27FC236}">
                  <a16:creationId xmlns:a16="http://schemas.microsoft.com/office/drawing/2014/main" id="{F6CEBB2F-7E4A-DDD0-AC95-2043FB434D74}"/>
                </a:ext>
              </a:extLst>
            </p:cNvPr>
            <p:cNvSpPr/>
            <p:nvPr/>
          </p:nvSpPr>
          <p:spPr>
            <a:xfrm>
              <a:off x="1534162" y="2623090"/>
              <a:ext cx="1061258" cy="292348"/>
            </a:xfrm>
            <a:prstGeom prst="roundRect">
              <a:avLst>
                <a:gd name="adj" fmla="val 0"/>
              </a:avLst>
            </a:prstGeom>
            <a:solidFill>
              <a:srgbClr val="DCEAF7"/>
            </a:solidFill>
            <a:ln w="3175">
              <a:solidFill>
                <a:srgbClr val="217CFA"/>
              </a:solidFill>
              <a:prstDash val="dash"/>
            </a:ln>
          </p:spPr>
          <p:txBody>
            <a:bodyPr rot="0" spcFirstLastPara="0" vertOverflow="overflow" horzOverflow="overflow" vert="horz" wrap="square" lIns="36000" tIns="0" rIns="3600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S/U, S/D</a:t>
              </a:r>
              <a:r>
                <a:rPr kumimoji="1" lang="ko-KR" altLang="en-US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 노하우</a:t>
              </a:r>
              <a:br>
                <a:rPr kumimoji="1" lang="en-US" altLang="ko-KR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</a:br>
              <a:r>
                <a:rPr kumimoji="1" lang="en-US" altLang="ko-KR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(</a:t>
              </a:r>
              <a:r>
                <a:rPr kumimoji="1" lang="ko-KR" altLang="en-US" sz="1000" kern="0" spc="-50" err="1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암묵지</a:t>
              </a:r>
              <a:r>
                <a:rPr kumimoji="1" lang="en-US" altLang="ko-KR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)</a:t>
              </a:r>
            </a:p>
          </p:txBody>
        </p:sp>
      </p:grpSp>
      <p:sp>
        <p:nvSpPr>
          <p:cNvPr id="180" name="사각형: 둥근 모서리 179">
            <a:extLst>
              <a:ext uri="{FF2B5EF4-FFF2-40B4-BE49-F238E27FC236}">
                <a16:creationId xmlns:a16="http://schemas.microsoft.com/office/drawing/2014/main" id="{7E271C95-B81E-18AE-1413-219F96C72FFD}"/>
              </a:ext>
            </a:extLst>
          </p:cNvPr>
          <p:cNvSpPr/>
          <p:nvPr/>
        </p:nvSpPr>
        <p:spPr>
          <a:xfrm>
            <a:off x="6643042" y="2322496"/>
            <a:ext cx="2923061" cy="432000"/>
          </a:xfrm>
          <a:prstGeom prst="roundRect">
            <a:avLst>
              <a:gd name="adj" fmla="val 0"/>
            </a:avLst>
          </a:prstGeom>
          <a:solidFill>
            <a:schemeClr val="tx2">
              <a:lumMod val="10000"/>
              <a:lumOff val="90000"/>
            </a:schemeClr>
          </a:solidFill>
          <a:ln w="3175">
            <a:noFill/>
          </a:ln>
        </p:spPr>
        <p:txBody>
          <a:bodyPr rot="0" spcFirstLastPara="0" vertOverflow="overflow" horzOverflow="overflow" vert="horz" wrap="square" lIns="36000" tIns="0" rIns="36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000" i="1" kern="0" spc="-5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정형 </a:t>
            </a:r>
            <a:r>
              <a:rPr kumimoji="1" lang="en-US" altLang="ko-KR" sz="1000" i="1" kern="0" spc="-5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· </a:t>
            </a:r>
            <a:r>
              <a:rPr kumimoji="1" lang="ko-KR" altLang="en-US" sz="1000" i="1" kern="0" spc="-5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비정형 </a:t>
            </a:r>
            <a:r>
              <a:rPr kumimoji="1" lang="en-US" altLang="ko-KR" sz="1000" i="1" kern="0" spc="-5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Data </a:t>
            </a:r>
            <a:r>
              <a:rPr kumimoji="1" lang="ko-KR" altLang="en-US" sz="1000" i="1" kern="0" spc="-5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外 축적된 자산 대상 </a:t>
            </a:r>
            <a:br>
              <a:rPr kumimoji="1" lang="en-US" altLang="ko-KR" sz="1000" i="1" kern="0" spc="-5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</a:br>
            <a:r>
              <a:rPr kumimoji="1" lang="ko-KR" altLang="en-US" sz="1000" i="1" kern="0" spc="-5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세화 및 표준화 필요</a:t>
            </a:r>
          </a:p>
        </p:txBody>
      </p:sp>
      <p:grpSp>
        <p:nvGrpSpPr>
          <p:cNvPr id="187" name="그룹 186">
            <a:extLst>
              <a:ext uri="{FF2B5EF4-FFF2-40B4-BE49-F238E27FC236}">
                <a16:creationId xmlns:a16="http://schemas.microsoft.com/office/drawing/2014/main" id="{68D96136-D353-298E-E818-AF27F50173E5}"/>
              </a:ext>
            </a:extLst>
          </p:cNvPr>
          <p:cNvGrpSpPr/>
          <p:nvPr/>
        </p:nvGrpSpPr>
        <p:grpSpPr>
          <a:xfrm>
            <a:off x="1630018" y="2802734"/>
            <a:ext cx="4877021" cy="432000"/>
            <a:chOff x="1630018" y="2953143"/>
            <a:chExt cx="5048739" cy="293674"/>
          </a:xfrm>
        </p:grpSpPr>
        <p:sp>
          <p:nvSpPr>
            <p:cNvPr id="182" name="사각형: 둥근 모서리 181">
              <a:extLst>
                <a:ext uri="{FF2B5EF4-FFF2-40B4-BE49-F238E27FC236}">
                  <a16:creationId xmlns:a16="http://schemas.microsoft.com/office/drawing/2014/main" id="{FB107836-56F5-63AE-999C-0EDD9A352377}"/>
                </a:ext>
              </a:extLst>
            </p:cNvPr>
            <p:cNvSpPr/>
            <p:nvPr/>
          </p:nvSpPr>
          <p:spPr>
            <a:xfrm>
              <a:off x="1630018" y="2954469"/>
              <a:ext cx="842666" cy="292348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txBody>
            <a:bodyPr rot="0" spcFirstLastPara="0" vertOverflow="overflow" horzOverflow="overflow" vert="horz" wrap="square" lIns="36000" tIns="0" rIns="3600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공정 정보</a:t>
              </a:r>
              <a:br>
                <a:rPr kumimoji="1" lang="en-US" altLang="ko-KR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</a:br>
              <a:r>
                <a:rPr kumimoji="1" lang="en-US" altLang="ko-KR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(RTDB)</a:t>
              </a:r>
            </a:p>
          </p:txBody>
        </p:sp>
        <p:sp>
          <p:nvSpPr>
            <p:cNvPr id="184" name="사각형: 둥근 모서리 183">
              <a:extLst>
                <a:ext uri="{FF2B5EF4-FFF2-40B4-BE49-F238E27FC236}">
                  <a16:creationId xmlns:a16="http://schemas.microsoft.com/office/drawing/2014/main" id="{DDA26B73-48B8-13A4-A318-1E8BAC5BEA37}"/>
                </a:ext>
              </a:extLst>
            </p:cNvPr>
            <p:cNvSpPr/>
            <p:nvPr/>
          </p:nvSpPr>
          <p:spPr>
            <a:xfrm>
              <a:off x="2526958" y="2953143"/>
              <a:ext cx="1224046" cy="292348"/>
            </a:xfrm>
            <a:prstGeom prst="roundRect">
              <a:avLst>
                <a:gd name="adj" fmla="val 0"/>
              </a:avLst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txBody>
            <a:bodyPr rot="0" spcFirstLastPara="0" vertOverflow="overflow" horzOverflow="overflow" vert="horz" wrap="square" lIns="36000" tIns="0" rIns="3600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정비 이력</a:t>
              </a:r>
              <a:br>
                <a:rPr kumimoji="1" lang="en-US" altLang="ko-KR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</a:br>
              <a:r>
                <a:rPr kumimoji="1" lang="en-US" altLang="ko-KR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(Ocean-H)</a:t>
              </a:r>
              <a:endParaRPr kumimoji="1" lang="en-US" altLang="ko-KR" sz="900" kern="0" spc="-5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85" name="사각형: 둥근 모서리 184">
              <a:extLst>
                <a:ext uri="{FF2B5EF4-FFF2-40B4-BE49-F238E27FC236}">
                  <a16:creationId xmlns:a16="http://schemas.microsoft.com/office/drawing/2014/main" id="{187F71B2-2A30-12EB-9666-4819D54CEBED}"/>
                </a:ext>
              </a:extLst>
            </p:cNvPr>
            <p:cNvSpPr/>
            <p:nvPr/>
          </p:nvSpPr>
          <p:spPr>
            <a:xfrm>
              <a:off x="3805278" y="2953143"/>
              <a:ext cx="1224046" cy="292348"/>
            </a:xfrm>
            <a:prstGeom prst="roundRect">
              <a:avLst>
                <a:gd name="adj" fmla="val 0"/>
              </a:avLst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txBody>
            <a:bodyPr rot="0" spcFirstLastPara="0" vertOverflow="overflow" horzOverflow="overflow" vert="horz" wrap="square" lIns="36000" tIns="0" rIns="3600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점검 절차</a:t>
              </a:r>
              <a:br>
                <a:rPr kumimoji="1" lang="en-US" altLang="ko-KR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</a:br>
              <a:r>
                <a:rPr kumimoji="1" lang="en-US" altLang="ko-KR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(</a:t>
              </a:r>
              <a:r>
                <a:rPr kumimoji="1" lang="ko-KR" altLang="en-US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작업 표준</a:t>
              </a:r>
              <a:r>
                <a:rPr kumimoji="1" lang="en-US" altLang="ko-KR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)</a:t>
              </a:r>
              <a:endParaRPr kumimoji="1" lang="en-US" altLang="ko-KR" sz="900" kern="0" spc="-5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86" name="사각형: 둥근 모서리 185">
              <a:extLst>
                <a:ext uri="{FF2B5EF4-FFF2-40B4-BE49-F238E27FC236}">
                  <a16:creationId xmlns:a16="http://schemas.microsoft.com/office/drawing/2014/main" id="{5C2D8D6E-7814-E7A0-121F-35357997EA0B}"/>
                </a:ext>
              </a:extLst>
            </p:cNvPr>
            <p:cNvSpPr/>
            <p:nvPr/>
          </p:nvSpPr>
          <p:spPr>
            <a:xfrm>
              <a:off x="5083597" y="2953143"/>
              <a:ext cx="1595160" cy="292348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txBody>
            <a:bodyPr rot="0" spcFirstLastPara="0" vertOverflow="overflow" horzOverflow="overflow" vert="horz" wrap="square" lIns="36000" tIns="0" rIns="3600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공정</a:t>
              </a:r>
              <a:r>
                <a:rPr kumimoji="1" lang="en-US" altLang="ko-KR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/</a:t>
              </a:r>
              <a:r>
                <a:rPr kumimoji="1" lang="ko-KR" altLang="en-US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설비 기본 정보</a:t>
              </a:r>
              <a:br>
                <a:rPr kumimoji="1" lang="en-US" altLang="ko-KR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</a:br>
              <a:r>
                <a:rPr kumimoji="1" lang="en-US" altLang="ko-KR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(TDMS)</a:t>
              </a:r>
              <a:endParaRPr kumimoji="1" lang="en-US" altLang="ko-KR" sz="900" kern="0" spc="-5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endParaRPr>
            </a:p>
          </p:txBody>
        </p:sp>
      </p:grpSp>
      <p:sp>
        <p:nvSpPr>
          <p:cNvPr id="188" name="사각형: 둥근 모서리 187">
            <a:extLst>
              <a:ext uri="{FF2B5EF4-FFF2-40B4-BE49-F238E27FC236}">
                <a16:creationId xmlns:a16="http://schemas.microsoft.com/office/drawing/2014/main" id="{211FFCC4-E6FF-FD71-FBC4-945A25C6D1F0}"/>
              </a:ext>
            </a:extLst>
          </p:cNvPr>
          <p:cNvSpPr/>
          <p:nvPr/>
        </p:nvSpPr>
        <p:spPr>
          <a:xfrm>
            <a:off x="6643042" y="2802734"/>
            <a:ext cx="2923061" cy="432000"/>
          </a:xfrm>
          <a:prstGeom prst="roundRect">
            <a:avLst>
              <a:gd name="adj" fmla="val 0"/>
            </a:avLst>
          </a:prstGeom>
          <a:solidFill>
            <a:schemeClr val="tx2">
              <a:lumMod val="10000"/>
              <a:lumOff val="90000"/>
            </a:schemeClr>
          </a:solidFill>
          <a:ln w="3175">
            <a:noFill/>
          </a:ln>
        </p:spPr>
        <p:txBody>
          <a:bodyPr rot="0" spcFirstLastPara="0" vertOverflow="overflow" horzOverflow="overflow" vert="horz" wrap="square" lIns="36000" tIns="0" rIns="36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000" i="1" kern="0" spc="-5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점검 </a:t>
            </a:r>
            <a:r>
              <a:rPr kumimoji="1" lang="en-US" altLang="ko-KR" sz="1000" i="1" kern="0" spc="-5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Data </a:t>
            </a:r>
            <a:r>
              <a:rPr kumimoji="1" lang="ko-KR" altLang="en-US" sz="1000" i="1" kern="0" spc="-5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축적 을 위한 </a:t>
            </a:r>
            <a:r>
              <a:rPr kumimoji="1" lang="ko-KR" altLang="en-US" sz="1000" i="1" kern="0" spc="-5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설비</a:t>
            </a:r>
            <a:r>
              <a:rPr kumimoji="1" lang="en-US" altLang="ko-KR" sz="1000" i="1" kern="0" spc="-5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-</a:t>
            </a:r>
            <a:r>
              <a:rPr kumimoji="1" lang="ko-KR" altLang="en-US" sz="1000" i="1" kern="0" spc="-5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점검</a:t>
            </a:r>
            <a:r>
              <a:rPr kumimoji="1" lang="en-US" altLang="ko-KR" sz="1000" i="1" kern="0" spc="-5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-</a:t>
            </a:r>
            <a:r>
              <a:rPr kumimoji="1" lang="ko-KR" altLang="en-US" sz="1000" i="1" kern="0" spc="-5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담당자 </a:t>
            </a:r>
            <a:br>
              <a:rPr kumimoji="1" lang="en-US" altLang="ko-KR" sz="1000" i="1" kern="0" spc="-5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</a:br>
            <a:r>
              <a:rPr kumimoji="1" lang="en-US" altLang="ko-KR" sz="1000" i="1" kern="0" spc="-5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Data </a:t>
            </a:r>
            <a:r>
              <a:rPr kumimoji="1" lang="ko-KR" altLang="en-US" sz="1000" i="1" kern="0" spc="-5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최신화 필요</a:t>
            </a:r>
            <a:endParaRPr kumimoji="1" lang="en-US" altLang="ko-KR" sz="1000" i="1" kern="0" spc="-5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grpSp>
        <p:nvGrpSpPr>
          <p:cNvPr id="193" name="그룹 192">
            <a:extLst>
              <a:ext uri="{FF2B5EF4-FFF2-40B4-BE49-F238E27FC236}">
                <a16:creationId xmlns:a16="http://schemas.microsoft.com/office/drawing/2014/main" id="{18139E63-185F-3381-1EB3-11030BA4B400}"/>
              </a:ext>
            </a:extLst>
          </p:cNvPr>
          <p:cNvGrpSpPr/>
          <p:nvPr/>
        </p:nvGrpSpPr>
        <p:grpSpPr>
          <a:xfrm>
            <a:off x="1630018" y="3282972"/>
            <a:ext cx="4877021" cy="425320"/>
            <a:chOff x="1630018" y="3520160"/>
            <a:chExt cx="5060801" cy="265771"/>
          </a:xfrm>
        </p:grpSpPr>
        <p:sp>
          <p:nvSpPr>
            <p:cNvPr id="189" name="사각형: 둥근 모서리 188">
              <a:extLst>
                <a:ext uri="{FF2B5EF4-FFF2-40B4-BE49-F238E27FC236}">
                  <a16:creationId xmlns:a16="http://schemas.microsoft.com/office/drawing/2014/main" id="{E3287E24-D763-749A-E492-FD60CF6105F3}"/>
                </a:ext>
              </a:extLst>
            </p:cNvPr>
            <p:cNvSpPr/>
            <p:nvPr/>
          </p:nvSpPr>
          <p:spPr>
            <a:xfrm>
              <a:off x="1630018" y="3520160"/>
              <a:ext cx="1505073" cy="265771"/>
            </a:xfrm>
            <a:prstGeom prst="roundRect">
              <a:avLst>
                <a:gd name="adj" fmla="val 0"/>
              </a:avLst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txBody>
            <a:bodyPr rot="0" spcFirstLastPara="0" vertOverflow="overflow" horzOverflow="overflow" vert="horz" wrap="square" lIns="36000" tIns="0" rIns="3600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공정 운전 실적 </a:t>
              </a:r>
              <a:r>
                <a:rPr kumimoji="1" lang="en-US" altLang="ko-KR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Data</a:t>
              </a:r>
              <a:br>
                <a:rPr kumimoji="1" lang="en-US" altLang="ko-KR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</a:br>
              <a:r>
                <a:rPr kumimoji="1" lang="en-US" altLang="ko-KR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(RTDB)</a:t>
              </a:r>
              <a:endParaRPr kumimoji="1" lang="en-US" altLang="ko-KR" sz="900" kern="0" spc="-5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90" name="사각형: 둥근 모서리 189">
              <a:extLst>
                <a:ext uri="{FF2B5EF4-FFF2-40B4-BE49-F238E27FC236}">
                  <a16:creationId xmlns:a16="http://schemas.microsoft.com/office/drawing/2014/main" id="{CCA06D43-39EC-BEAD-FAB3-E47F9C6FAC93}"/>
                </a:ext>
              </a:extLst>
            </p:cNvPr>
            <p:cNvSpPr/>
            <p:nvPr/>
          </p:nvSpPr>
          <p:spPr>
            <a:xfrm>
              <a:off x="3179724" y="3520160"/>
              <a:ext cx="1505073" cy="265771"/>
            </a:xfrm>
            <a:prstGeom prst="roundRect">
              <a:avLst>
                <a:gd name="adj" fmla="val 0"/>
              </a:avLst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txBody>
            <a:bodyPr rot="0" spcFirstLastPara="0" vertOverflow="overflow" horzOverflow="overflow" vert="horz" wrap="square" lIns="36000" tIns="0" rIns="3600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근무일지 </a:t>
              </a:r>
              <a:r>
                <a:rPr kumimoji="1" lang="en-US" altLang="ko-KR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History </a:t>
              </a:r>
              <a:br>
                <a:rPr kumimoji="1" lang="en-US" altLang="ko-KR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</a:br>
              <a:r>
                <a:rPr kumimoji="1" lang="en-US" altLang="ko-KR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(OCEAN-H)</a:t>
              </a:r>
              <a:endParaRPr kumimoji="1" lang="en-US" altLang="ko-KR" sz="900" kern="0" spc="-5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92" name="사각형: 둥근 모서리 191">
              <a:extLst>
                <a:ext uri="{FF2B5EF4-FFF2-40B4-BE49-F238E27FC236}">
                  <a16:creationId xmlns:a16="http://schemas.microsoft.com/office/drawing/2014/main" id="{FD5753CB-57D3-0582-65A7-AD16B0702410}"/>
                </a:ext>
              </a:extLst>
            </p:cNvPr>
            <p:cNvSpPr/>
            <p:nvPr/>
          </p:nvSpPr>
          <p:spPr>
            <a:xfrm>
              <a:off x="4729430" y="3520160"/>
              <a:ext cx="1961389" cy="265771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txBody>
            <a:bodyPr rot="0" spcFirstLastPara="0" vertOverflow="overflow" horzOverflow="overflow" vert="horz" wrap="square" lIns="36000" tIns="0" rIns="3600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실시간 공정 </a:t>
              </a:r>
              <a:r>
                <a:rPr kumimoji="1" lang="en-US" altLang="ko-KR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Alarm Data</a:t>
              </a:r>
              <a:br>
                <a:rPr kumimoji="1" lang="en-US" altLang="ko-KR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</a:br>
              <a:r>
                <a:rPr kumimoji="1" lang="en-US" altLang="ko-KR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(AMS)</a:t>
              </a:r>
              <a:endParaRPr kumimoji="1" lang="en-US" altLang="ko-KR" sz="1000" kern="0" spc="-5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endParaRPr>
            </a:p>
          </p:txBody>
        </p:sp>
      </p:grpSp>
      <p:sp>
        <p:nvSpPr>
          <p:cNvPr id="194" name="사각형: 둥근 모서리 193">
            <a:extLst>
              <a:ext uri="{FF2B5EF4-FFF2-40B4-BE49-F238E27FC236}">
                <a16:creationId xmlns:a16="http://schemas.microsoft.com/office/drawing/2014/main" id="{F0E6D2C8-42D1-E0CB-10BC-C124C5698A54}"/>
              </a:ext>
            </a:extLst>
          </p:cNvPr>
          <p:cNvSpPr/>
          <p:nvPr/>
        </p:nvSpPr>
        <p:spPr>
          <a:xfrm>
            <a:off x="6643042" y="3282972"/>
            <a:ext cx="2923061" cy="432000"/>
          </a:xfrm>
          <a:prstGeom prst="roundRect">
            <a:avLst>
              <a:gd name="adj" fmla="val 0"/>
            </a:avLst>
          </a:prstGeom>
          <a:solidFill>
            <a:schemeClr val="tx2">
              <a:lumMod val="10000"/>
              <a:lumOff val="90000"/>
            </a:schemeClr>
          </a:solidFill>
          <a:ln w="3175">
            <a:noFill/>
          </a:ln>
        </p:spPr>
        <p:txBody>
          <a:bodyPr rot="0" spcFirstLastPara="0" vertOverflow="overflow" horzOverflow="overflow" vert="horz" wrap="square" lIns="36000" tIns="0" rIns="36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i="1" kern="0" spc="-5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-</a:t>
            </a:r>
          </a:p>
        </p:txBody>
      </p:sp>
      <p:sp>
        <p:nvSpPr>
          <p:cNvPr id="195" name="사각형: 둥근 모서리 194">
            <a:extLst>
              <a:ext uri="{FF2B5EF4-FFF2-40B4-BE49-F238E27FC236}">
                <a16:creationId xmlns:a16="http://schemas.microsoft.com/office/drawing/2014/main" id="{BE6F4C5E-F3A3-B2C6-A875-9C8D5DB192BF}"/>
              </a:ext>
            </a:extLst>
          </p:cNvPr>
          <p:cNvSpPr/>
          <p:nvPr/>
        </p:nvSpPr>
        <p:spPr>
          <a:xfrm>
            <a:off x="6643042" y="3763210"/>
            <a:ext cx="2923061" cy="864000"/>
          </a:xfrm>
          <a:prstGeom prst="roundRect">
            <a:avLst>
              <a:gd name="adj" fmla="val 0"/>
            </a:avLst>
          </a:prstGeom>
          <a:solidFill>
            <a:schemeClr val="tx2">
              <a:lumMod val="10000"/>
              <a:lumOff val="90000"/>
            </a:schemeClr>
          </a:solidFill>
          <a:ln w="3175">
            <a:noFill/>
          </a:ln>
        </p:spPr>
        <p:txBody>
          <a:bodyPr rot="0" spcFirstLastPara="0" vertOverflow="overflow" horzOverflow="overflow" vert="horz" wrap="square" lIns="36000" tIns="0" rIns="36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000" i="1" kern="0" spc="-5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외부 </a:t>
            </a:r>
            <a:r>
              <a:rPr kumimoji="1" lang="en-US" altLang="ko-KR" sz="1000" i="1" kern="0" spc="-5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DB</a:t>
            </a:r>
            <a:r>
              <a:rPr kumimoji="1" lang="ko-KR" altLang="en-US" sz="1000" i="1" kern="0" spc="-5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를 활용할 경우</a:t>
            </a:r>
            <a:r>
              <a:rPr kumimoji="1" lang="en-US" altLang="ko-KR" sz="1000" i="1" kern="0" spc="-5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, </a:t>
            </a:r>
            <a:r>
              <a:rPr kumimoji="1" lang="ko-KR" altLang="en-US" sz="1000" i="1" kern="0" spc="-5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연계 방식</a:t>
            </a:r>
            <a:r>
              <a:rPr kumimoji="1" lang="en-US" altLang="ko-KR" sz="1000" i="1" kern="0" spc="-5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(API, </a:t>
            </a:r>
            <a:r>
              <a:rPr kumimoji="1" lang="ko-KR" altLang="en-US" sz="1000" i="1" kern="0" spc="-5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웹 </a:t>
            </a:r>
            <a:r>
              <a:rPr kumimoji="1" lang="ko-KR" altLang="en-US" sz="1000" i="1" kern="0" spc="-50" err="1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크롤링</a:t>
            </a:r>
            <a:r>
              <a:rPr kumimoji="1" lang="ko-KR" altLang="en-US" sz="1000" i="1" kern="0" spc="-5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등</a:t>
            </a:r>
            <a:r>
              <a:rPr kumimoji="1" lang="en-US" altLang="ko-KR" sz="1000" i="1" kern="0" spc="-5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)</a:t>
            </a:r>
            <a:r>
              <a:rPr kumimoji="1" lang="ko-KR" altLang="en-US" sz="1000" i="1" kern="0" spc="-5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및 주기적인 데이터 최신화 방안 검토</a:t>
            </a:r>
            <a:endParaRPr kumimoji="1" lang="en-US" altLang="ko-KR" sz="1000" i="1" kern="0" spc="-5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96" name="사각형: 둥근 모서리 195">
            <a:extLst>
              <a:ext uri="{FF2B5EF4-FFF2-40B4-BE49-F238E27FC236}">
                <a16:creationId xmlns:a16="http://schemas.microsoft.com/office/drawing/2014/main" id="{D37FFD2D-8F5E-A5B0-F301-0BD887C220C5}"/>
              </a:ext>
            </a:extLst>
          </p:cNvPr>
          <p:cNvSpPr/>
          <p:nvPr/>
        </p:nvSpPr>
        <p:spPr>
          <a:xfrm>
            <a:off x="6643042" y="4675448"/>
            <a:ext cx="2923061" cy="864000"/>
          </a:xfrm>
          <a:prstGeom prst="roundRect">
            <a:avLst>
              <a:gd name="adj" fmla="val 0"/>
            </a:avLst>
          </a:prstGeom>
          <a:solidFill>
            <a:schemeClr val="tx2">
              <a:lumMod val="10000"/>
              <a:lumOff val="90000"/>
            </a:schemeClr>
          </a:solidFill>
          <a:ln w="3175">
            <a:noFill/>
          </a:ln>
        </p:spPr>
        <p:txBody>
          <a:bodyPr rot="0" spcFirstLastPara="0" vertOverflow="overflow" horzOverflow="overflow" vert="horz" wrap="square" lIns="36000" tIns="0" rIns="36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000" i="1" kern="0" spc="-5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상황별 운전 이력 축적 및 기존 레거시 시스템에 축적된 </a:t>
            </a:r>
            <a:r>
              <a:rPr kumimoji="1" lang="en-US" altLang="ko-KR" sz="1000" i="1" kern="0" spc="-5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Data</a:t>
            </a:r>
            <a:r>
              <a:rPr kumimoji="1" lang="ko-KR" altLang="en-US" sz="1000" i="1" kern="0" spc="-5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를 연계하여 이상 상황에 대한 </a:t>
            </a:r>
            <a:r>
              <a:rPr kumimoji="1" lang="en-US" altLang="ko-KR" sz="1000" i="1" kern="0" spc="-5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Data </a:t>
            </a:r>
            <a:r>
              <a:rPr kumimoji="1" lang="ko-KR" altLang="en-US" sz="1000" i="1" kern="0" spc="-5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자산화 필요</a:t>
            </a:r>
            <a:endParaRPr kumimoji="1" lang="en-US" altLang="ko-KR" sz="1000" i="1" kern="0" spc="-5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98" name="사각형: 둥근 모서리 197">
            <a:extLst>
              <a:ext uri="{FF2B5EF4-FFF2-40B4-BE49-F238E27FC236}">
                <a16:creationId xmlns:a16="http://schemas.microsoft.com/office/drawing/2014/main" id="{EA0A7373-6AE8-9CAB-65D4-58AF51D6EE35}"/>
              </a:ext>
            </a:extLst>
          </p:cNvPr>
          <p:cNvSpPr/>
          <p:nvPr/>
        </p:nvSpPr>
        <p:spPr>
          <a:xfrm>
            <a:off x="6643042" y="5587688"/>
            <a:ext cx="2923061" cy="864000"/>
          </a:xfrm>
          <a:prstGeom prst="roundRect">
            <a:avLst>
              <a:gd name="adj" fmla="val 0"/>
            </a:avLst>
          </a:prstGeom>
          <a:solidFill>
            <a:schemeClr val="tx2">
              <a:lumMod val="10000"/>
              <a:lumOff val="90000"/>
            </a:schemeClr>
          </a:solidFill>
          <a:ln w="3175">
            <a:noFill/>
          </a:ln>
        </p:spPr>
        <p:txBody>
          <a:bodyPr rot="0" spcFirstLastPara="0" vertOverflow="overflow" horzOverflow="overflow" vert="horz" wrap="square" lIns="36000" tIns="0" rIns="36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000" i="1" kern="0" spc="-5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旣 존재 </a:t>
            </a:r>
            <a:r>
              <a:rPr kumimoji="1" lang="en-US" altLang="ko-KR" sz="1000" i="1" kern="0" spc="-5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Engineer </a:t>
            </a:r>
            <a:r>
              <a:rPr kumimoji="1" lang="ko-KR" altLang="en-US" sz="1000" i="1" kern="0" spc="-5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공정 분석과 신규 엔지니어 </a:t>
            </a:r>
            <a:r>
              <a:rPr kumimoji="1" lang="en-US" altLang="ko-KR" sz="1000" i="1" kern="0" spc="-5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Review</a:t>
            </a:r>
            <a:r>
              <a:rPr kumimoji="1" lang="ko-KR" altLang="en-US" sz="1000" i="1" kern="0" spc="-5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에 대한 정합성 확인 및 수집 </a:t>
            </a:r>
            <a:r>
              <a:rPr kumimoji="1" lang="en-US" altLang="ko-KR" sz="1000" i="1" kern="0" spc="-5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· </a:t>
            </a:r>
            <a:r>
              <a:rPr kumimoji="1" lang="ko-KR" altLang="en-US" sz="1000" i="1" kern="0" spc="-5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분석 기반 구축 검토</a:t>
            </a:r>
            <a:endParaRPr kumimoji="1" lang="en-US" altLang="ko-KR" sz="1000" i="1" kern="0" spc="-5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grpSp>
        <p:nvGrpSpPr>
          <p:cNvPr id="209" name="그룹 208">
            <a:extLst>
              <a:ext uri="{FF2B5EF4-FFF2-40B4-BE49-F238E27FC236}">
                <a16:creationId xmlns:a16="http://schemas.microsoft.com/office/drawing/2014/main" id="{86105092-2DFB-5DAD-EE79-E6B7AE8FF972}"/>
              </a:ext>
            </a:extLst>
          </p:cNvPr>
          <p:cNvGrpSpPr/>
          <p:nvPr/>
        </p:nvGrpSpPr>
        <p:grpSpPr>
          <a:xfrm>
            <a:off x="1629355" y="4675448"/>
            <a:ext cx="4877682" cy="864000"/>
            <a:chOff x="1649233" y="4683733"/>
            <a:chExt cx="4523037" cy="864000"/>
          </a:xfrm>
        </p:grpSpPr>
        <p:sp>
          <p:nvSpPr>
            <p:cNvPr id="201" name="사각형: 둥근 모서리 200">
              <a:extLst>
                <a:ext uri="{FF2B5EF4-FFF2-40B4-BE49-F238E27FC236}">
                  <a16:creationId xmlns:a16="http://schemas.microsoft.com/office/drawing/2014/main" id="{D11B3D49-877C-9B05-4C86-E016E99D2A70}"/>
                </a:ext>
              </a:extLst>
            </p:cNvPr>
            <p:cNvSpPr/>
            <p:nvPr/>
          </p:nvSpPr>
          <p:spPr>
            <a:xfrm>
              <a:off x="1649233" y="4683733"/>
              <a:ext cx="1047453" cy="392400"/>
            </a:xfrm>
            <a:prstGeom prst="roundRect">
              <a:avLst>
                <a:gd name="adj" fmla="val 0"/>
              </a:avLst>
            </a:prstGeom>
            <a:solidFill>
              <a:srgbClr val="DCEAF7"/>
            </a:solidFill>
            <a:ln w="3175">
              <a:solidFill>
                <a:srgbClr val="217CFA"/>
              </a:solidFill>
              <a:prstDash val="dash"/>
            </a:ln>
          </p:spPr>
          <p:txBody>
            <a:bodyPr rot="0" spcFirstLastPara="0" vertOverflow="overflow" horzOverflow="overflow" vert="horz" wrap="square" lIns="36000" tIns="0" rIns="3600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상황별 운전</a:t>
              </a:r>
              <a:r>
                <a:rPr kumimoji="1" lang="en-US" altLang="ko-KR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 </a:t>
              </a:r>
              <a:r>
                <a:rPr kumimoji="1" lang="ko-KR" altLang="en-US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이력</a:t>
              </a:r>
              <a:endParaRPr kumimoji="1" lang="en-US" altLang="ko-KR" sz="1000" kern="0" spc="-50"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02" name="사각형: 둥근 모서리 201">
              <a:extLst>
                <a:ext uri="{FF2B5EF4-FFF2-40B4-BE49-F238E27FC236}">
                  <a16:creationId xmlns:a16="http://schemas.microsoft.com/office/drawing/2014/main" id="{5C7195FD-4F26-DFD4-E943-5D12FAF694E8}"/>
                </a:ext>
              </a:extLst>
            </p:cNvPr>
            <p:cNvSpPr/>
            <p:nvPr/>
          </p:nvSpPr>
          <p:spPr>
            <a:xfrm>
              <a:off x="1649233" y="5155333"/>
              <a:ext cx="1275596" cy="3924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txBody>
            <a:bodyPr rot="0" spcFirstLastPara="0" vertOverflow="overflow" horzOverflow="overflow" vert="horz" wrap="square" lIns="36000" tIns="0" rIns="3600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05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실시간 공정 운전 </a:t>
              </a:r>
              <a:r>
                <a:rPr kumimoji="1" lang="en-US" altLang="ko-KR" sz="105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Data (RTDB)</a:t>
              </a:r>
              <a:endParaRPr kumimoji="1" lang="en-US" altLang="ko-KR" sz="1000" kern="0" spc="-5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04" name="사각형: 둥근 모서리 203">
              <a:extLst>
                <a:ext uri="{FF2B5EF4-FFF2-40B4-BE49-F238E27FC236}">
                  <a16:creationId xmlns:a16="http://schemas.microsoft.com/office/drawing/2014/main" id="{3183FD18-83CB-0E5E-64ED-A292EE37AEF0}"/>
                </a:ext>
              </a:extLst>
            </p:cNvPr>
            <p:cNvSpPr/>
            <p:nvPr/>
          </p:nvSpPr>
          <p:spPr>
            <a:xfrm>
              <a:off x="2972461" y="5155333"/>
              <a:ext cx="1241854" cy="392400"/>
            </a:xfrm>
            <a:prstGeom prst="roundRect">
              <a:avLst>
                <a:gd name="adj" fmla="val 0"/>
              </a:avLst>
            </a:prstGeom>
            <a:solidFill>
              <a:srgbClr val="DCEAF7"/>
            </a:solidFill>
            <a:ln w="3175">
              <a:solidFill>
                <a:srgbClr val="217CFA"/>
              </a:solidFill>
              <a:prstDash val="dash"/>
            </a:ln>
          </p:spPr>
          <p:txBody>
            <a:bodyPr rot="0" spcFirstLastPara="0" vertOverflow="overflow" horzOverflow="overflow" vert="horz" wrap="square" lIns="36000" tIns="0" rIns="3600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Alarm-</a:t>
              </a:r>
              <a:r>
                <a:rPr kumimoji="1" lang="ko-KR" altLang="en-US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유관 공정 </a:t>
              </a:r>
              <a:br>
                <a:rPr kumimoji="1" lang="en-US" altLang="ko-KR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</a:br>
              <a:r>
                <a:rPr kumimoji="1" lang="en-US" altLang="ko-KR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Tag </a:t>
              </a:r>
              <a:r>
                <a:rPr kumimoji="1" lang="ko-KR" altLang="en-US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정보</a:t>
              </a:r>
              <a:endParaRPr kumimoji="1" lang="en-US" altLang="ko-KR" sz="1000" kern="0" spc="-50"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05" name="사각형: 둥근 모서리 204">
              <a:extLst>
                <a:ext uri="{FF2B5EF4-FFF2-40B4-BE49-F238E27FC236}">
                  <a16:creationId xmlns:a16="http://schemas.microsoft.com/office/drawing/2014/main" id="{B6EDD27A-05E1-3702-9DD1-7371ED109062}"/>
                </a:ext>
              </a:extLst>
            </p:cNvPr>
            <p:cNvSpPr/>
            <p:nvPr/>
          </p:nvSpPr>
          <p:spPr>
            <a:xfrm>
              <a:off x="4829157" y="4683733"/>
              <a:ext cx="1343113" cy="3924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txBody>
            <a:bodyPr rot="0" spcFirstLastPara="0" vertOverflow="overflow" horzOverflow="overflow" vert="horz" wrap="square" lIns="36000" tIns="0" rIns="3600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실시간 공정 </a:t>
              </a:r>
              <a:r>
                <a:rPr kumimoji="1" lang="en-US" altLang="ko-KR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Alarm Data (AMS)</a:t>
              </a:r>
              <a:endParaRPr kumimoji="1" lang="en-US" altLang="ko-KR" sz="900" kern="0" spc="-5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06" name="사각형: 둥근 모서리 205">
              <a:extLst>
                <a:ext uri="{FF2B5EF4-FFF2-40B4-BE49-F238E27FC236}">
                  <a16:creationId xmlns:a16="http://schemas.microsoft.com/office/drawing/2014/main" id="{32C632EB-3DD8-8D4D-8E99-36B9B5742B72}"/>
                </a:ext>
              </a:extLst>
            </p:cNvPr>
            <p:cNvSpPr/>
            <p:nvPr/>
          </p:nvSpPr>
          <p:spPr>
            <a:xfrm>
              <a:off x="3604656" y="4683733"/>
              <a:ext cx="1176869" cy="3924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txBody>
            <a:bodyPr rot="0" spcFirstLastPara="0" vertOverflow="overflow" horzOverflow="overflow" vert="horz" wrap="square" lIns="36000" tIns="0" rIns="3600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공정 운전 실적 </a:t>
              </a:r>
              <a:r>
                <a:rPr kumimoji="1" lang="en-US" altLang="ko-KR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Data (RTDB)</a:t>
              </a:r>
            </a:p>
          </p:txBody>
        </p:sp>
        <p:sp>
          <p:nvSpPr>
            <p:cNvPr id="207" name="사각형: 둥근 모서리 206">
              <a:extLst>
                <a:ext uri="{FF2B5EF4-FFF2-40B4-BE49-F238E27FC236}">
                  <a16:creationId xmlns:a16="http://schemas.microsoft.com/office/drawing/2014/main" id="{D5A66F65-2EF0-675B-E67C-F1DF5EE1CEC5}"/>
                </a:ext>
              </a:extLst>
            </p:cNvPr>
            <p:cNvSpPr/>
            <p:nvPr/>
          </p:nvSpPr>
          <p:spPr>
            <a:xfrm>
              <a:off x="4261946" y="5155333"/>
              <a:ext cx="808409" cy="3924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txBody>
            <a:bodyPr rot="0" spcFirstLastPara="0" vertOverflow="overflow" horzOverflow="overflow" vert="horz" wrap="square" lIns="36000" tIns="0" rIns="3600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작업 표준</a:t>
              </a:r>
              <a:endParaRPr kumimoji="1" lang="en-US" altLang="ko-KR" sz="1000" kern="0" spc="-50"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08" name="사각형: 둥근 모서리 207">
              <a:extLst>
                <a:ext uri="{FF2B5EF4-FFF2-40B4-BE49-F238E27FC236}">
                  <a16:creationId xmlns:a16="http://schemas.microsoft.com/office/drawing/2014/main" id="{0418285A-CBA1-AAA5-19CB-6F27C56B9959}"/>
                </a:ext>
              </a:extLst>
            </p:cNvPr>
            <p:cNvSpPr/>
            <p:nvPr/>
          </p:nvSpPr>
          <p:spPr>
            <a:xfrm>
              <a:off x="2744318" y="4683733"/>
              <a:ext cx="812706" cy="3924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txBody>
            <a:bodyPr rot="0" spcFirstLastPara="0" vertOverflow="overflow" horzOverflow="overflow" vert="horz" wrap="square" lIns="36000" tIns="0" rIns="3600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공정 기준 정보</a:t>
              </a:r>
              <a:r>
                <a:rPr kumimoji="1" lang="en-US" altLang="ko-KR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 (P&amp;ID)</a:t>
              </a:r>
            </a:p>
          </p:txBody>
        </p:sp>
      </p:grpSp>
      <p:grpSp>
        <p:nvGrpSpPr>
          <p:cNvPr id="218" name="그룹 217">
            <a:extLst>
              <a:ext uri="{FF2B5EF4-FFF2-40B4-BE49-F238E27FC236}">
                <a16:creationId xmlns:a16="http://schemas.microsoft.com/office/drawing/2014/main" id="{1A324B04-DA96-5272-58B8-CD29B15724A5}"/>
              </a:ext>
            </a:extLst>
          </p:cNvPr>
          <p:cNvGrpSpPr/>
          <p:nvPr/>
        </p:nvGrpSpPr>
        <p:grpSpPr>
          <a:xfrm>
            <a:off x="1621251" y="5587688"/>
            <a:ext cx="4885785" cy="857319"/>
            <a:chOff x="1621252" y="5594369"/>
            <a:chExt cx="4483964" cy="857319"/>
          </a:xfrm>
        </p:grpSpPr>
        <p:sp>
          <p:nvSpPr>
            <p:cNvPr id="211" name="사각형: 둥근 모서리 210">
              <a:extLst>
                <a:ext uri="{FF2B5EF4-FFF2-40B4-BE49-F238E27FC236}">
                  <a16:creationId xmlns:a16="http://schemas.microsoft.com/office/drawing/2014/main" id="{6B275BE6-85F1-56B1-70DC-AE04C51A452E}"/>
                </a:ext>
              </a:extLst>
            </p:cNvPr>
            <p:cNvSpPr/>
            <p:nvPr/>
          </p:nvSpPr>
          <p:spPr>
            <a:xfrm>
              <a:off x="3879683" y="6059288"/>
              <a:ext cx="1202618" cy="3924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생산 계획</a:t>
              </a:r>
              <a:r>
                <a:rPr kumimoji="1" lang="en-US" altLang="ko-KR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/</a:t>
              </a:r>
              <a:r>
                <a:rPr kumimoji="1" lang="ko-KR" altLang="en-US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실적 </a:t>
              </a:r>
              <a:r>
                <a:rPr kumimoji="1" lang="en-US" altLang="ko-KR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Data</a:t>
              </a:r>
              <a:br>
                <a:rPr kumimoji="1" lang="en-US" altLang="ko-KR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</a:br>
              <a:r>
                <a:rPr kumimoji="1" lang="en-US" altLang="ko-KR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(OASIS)</a:t>
              </a:r>
              <a:endParaRPr kumimoji="1" lang="en-US" altLang="ko-KR" sz="900" kern="0" spc="-5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12" name="사각형: 둥근 모서리 211">
              <a:extLst>
                <a:ext uri="{FF2B5EF4-FFF2-40B4-BE49-F238E27FC236}">
                  <a16:creationId xmlns:a16="http://schemas.microsoft.com/office/drawing/2014/main" id="{241F4D69-DDF6-936B-6977-3425D88B4088}"/>
                </a:ext>
              </a:extLst>
            </p:cNvPr>
            <p:cNvSpPr/>
            <p:nvPr/>
          </p:nvSpPr>
          <p:spPr>
            <a:xfrm>
              <a:off x="2930961" y="6059288"/>
              <a:ext cx="889250" cy="3924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txBody>
            <a:bodyPr rot="0" spcFirstLastPara="0" vertOverflow="overflow" horzOverflow="overflow" vert="horz" wrap="square" lIns="36000" tIns="0" rIns="3600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05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생산</a:t>
              </a:r>
              <a:r>
                <a:rPr kumimoji="1" lang="en-US" altLang="ko-KR" sz="105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/</a:t>
              </a:r>
              <a:r>
                <a:rPr kumimoji="1" lang="ko-KR" altLang="en-US" sz="105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품질 실적 </a:t>
              </a:r>
              <a:r>
                <a:rPr kumimoji="1" lang="en-US" altLang="ko-KR" sz="105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Data (OASIS)</a:t>
              </a:r>
              <a:endParaRPr kumimoji="1" lang="en-US" altLang="ko-KR" sz="1000" kern="0" spc="-5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13" name="사각형: 둥근 모서리 212">
              <a:extLst>
                <a:ext uri="{FF2B5EF4-FFF2-40B4-BE49-F238E27FC236}">
                  <a16:creationId xmlns:a16="http://schemas.microsoft.com/office/drawing/2014/main" id="{3481DE59-CCAB-1555-DABB-DA65EDFD26CD}"/>
                </a:ext>
              </a:extLst>
            </p:cNvPr>
            <p:cNvSpPr/>
            <p:nvPr/>
          </p:nvSpPr>
          <p:spPr>
            <a:xfrm>
              <a:off x="1629355" y="5594369"/>
              <a:ext cx="1128958" cy="392400"/>
            </a:xfrm>
            <a:prstGeom prst="roundRect">
              <a:avLst>
                <a:gd name="adj" fmla="val 0"/>
              </a:avLst>
            </a:prstGeom>
            <a:solidFill>
              <a:srgbClr val="DCEAF7"/>
            </a:solidFill>
            <a:ln w="3175">
              <a:solidFill>
                <a:srgbClr val="217CFA"/>
              </a:solidFill>
              <a:prstDash val="dash"/>
            </a:ln>
          </p:spPr>
          <p:txBody>
            <a:bodyPr rot="0" spcFirstLastPara="0" vertOverflow="overflow" horzOverflow="overflow" vert="horz" wrap="square" lIns="36000" tIns="0" rIns="3600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Engineer </a:t>
              </a:r>
              <a:r>
                <a:rPr kumimoji="1" lang="ko-KR" altLang="en-US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공정</a:t>
              </a:r>
              <a:br>
                <a:rPr kumimoji="1" lang="en-US" altLang="ko-KR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</a:br>
              <a:r>
                <a:rPr kumimoji="1" lang="ko-KR" altLang="en-US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분석 </a:t>
              </a:r>
              <a:r>
                <a:rPr kumimoji="1" lang="en-US" altLang="ko-KR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Data</a:t>
              </a:r>
            </a:p>
          </p:txBody>
        </p:sp>
        <p:sp>
          <p:nvSpPr>
            <p:cNvPr id="214" name="사각형: 둥근 모서리 213">
              <a:extLst>
                <a:ext uri="{FF2B5EF4-FFF2-40B4-BE49-F238E27FC236}">
                  <a16:creationId xmlns:a16="http://schemas.microsoft.com/office/drawing/2014/main" id="{77E5F363-A2D8-C07B-565D-5E95F3FB6467}"/>
                </a:ext>
              </a:extLst>
            </p:cNvPr>
            <p:cNvSpPr/>
            <p:nvPr/>
          </p:nvSpPr>
          <p:spPr>
            <a:xfrm>
              <a:off x="2817786" y="5594369"/>
              <a:ext cx="1128958" cy="392400"/>
            </a:xfrm>
            <a:prstGeom prst="roundRect">
              <a:avLst>
                <a:gd name="adj" fmla="val 0"/>
              </a:avLst>
            </a:prstGeom>
            <a:solidFill>
              <a:srgbClr val="DCEAF7"/>
            </a:solidFill>
            <a:ln w="3175">
              <a:solidFill>
                <a:srgbClr val="217CFA"/>
              </a:solidFill>
              <a:prstDash val="dash"/>
            </a:ln>
          </p:spPr>
          <p:txBody>
            <a:bodyPr rot="0" spcFirstLastPara="0" vertOverflow="overflow" horzOverflow="overflow" vert="horz" wrap="square" lIns="36000" tIns="0" rIns="3600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공정 분석 결과</a:t>
              </a:r>
              <a:br>
                <a:rPr kumimoji="1" lang="en-US" altLang="ko-KR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</a:br>
              <a:r>
                <a:rPr kumimoji="1" lang="en-US" altLang="ko-KR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(</a:t>
              </a:r>
              <a:r>
                <a:rPr kumimoji="1" lang="ko-KR" altLang="en-US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엔지니어 입력</a:t>
              </a:r>
              <a:r>
                <a:rPr kumimoji="1" lang="en-US" altLang="ko-KR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)</a:t>
              </a:r>
            </a:p>
          </p:txBody>
        </p:sp>
        <p:sp>
          <p:nvSpPr>
            <p:cNvPr id="215" name="사각형: 둥근 모서리 214">
              <a:extLst>
                <a:ext uri="{FF2B5EF4-FFF2-40B4-BE49-F238E27FC236}">
                  <a16:creationId xmlns:a16="http://schemas.microsoft.com/office/drawing/2014/main" id="{3615E118-C31E-9257-A63A-03DE2B63D857}"/>
                </a:ext>
              </a:extLst>
            </p:cNvPr>
            <p:cNvSpPr/>
            <p:nvPr/>
          </p:nvSpPr>
          <p:spPr>
            <a:xfrm>
              <a:off x="1621252" y="6059288"/>
              <a:ext cx="1250236" cy="392400"/>
            </a:xfrm>
            <a:prstGeom prst="roundRect">
              <a:avLst>
                <a:gd name="adj" fmla="val 0"/>
              </a:avLst>
            </a:prstGeom>
            <a:solidFill>
              <a:srgbClr val="DCEAF7"/>
            </a:solidFill>
            <a:ln w="3175">
              <a:solidFill>
                <a:srgbClr val="217CFA"/>
              </a:solidFill>
              <a:prstDash val="dash"/>
            </a:ln>
          </p:spPr>
          <p:txBody>
            <a:bodyPr rot="0" spcFirstLastPara="0" vertOverflow="overflow" horzOverflow="overflow" vert="horz" wrap="square" lIns="36000" tIns="0" rIns="3600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생산</a:t>
              </a:r>
              <a:r>
                <a:rPr kumimoji="1" lang="en-US" altLang="ko-KR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 </a:t>
              </a:r>
              <a:r>
                <a:rPr kumimoji="1" lang="ko-KR" altLang="en-US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성과</a:t>
              </a:r>
              <a:r>
                <a:rPr kumimoji="1" lang="en-US" altLang="ko-KR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 </a:t>
              </a:r>
              <a:r>
                <a:rPr kumimoji="1" lang="ko-KR" altLang="en-US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분석 결과</a:t>
              </a:r>
              <a:br>
                <a:rPr kumimoji="1" lang="en-US" altLang="ko-KR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</a:br>
              <a:r>
                <a:rPr kumimoji="1" lang="en-US" altLang="ko-KR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(</a:t>
              </a:r>
              <a:r>
                <a:rPr kumimoji="1" lang="ko-KR" altLang="en-US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엔지니어 입력</a:t>
              </a:r>
              <a:r>
                <a:rPr kumimoji="1" lang="en-US" altLang="ko-KR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)</a:t>
              </a:r>
            </a:p>
          </p:txBody>
        </p:sp>
        <p:sp>
          <p:nvSpPr>
            <p:cNvPr id="216" name="사각형: 둥근 모서리 215">
              <a:extLst>
                <a:ext uri="{FF2B5EF4-FFF2-40B4-BE49-F238E27FC236}">
                  <a16:creationId xmlns:a16="http://schemas.microsoft.com/office/drawing/2014/main" id="{E2D9AB66-1598-A916-7453-5439DB740355}"/>
                </a:ext>
              </a:extLst>
            </p:cNvPr>
            <p:cNvSpPr/>
            <p:nvPr/>
          </p:nvSpPr>
          <p:spPr>
            <a:xfrm>
              <a:off x="5016076" y="5594369"/>
              <a:ext cx="1089140" cy="3924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txBody>
            <a:bodyPr rot="0" spcFirstLastPara="0" vertOverflow="overflow" horzOverflow="overflow" vert="horz" wrap="square" lIns="36000" tIns="0" rIns="3600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근무일지 작성 이력</a:t>
              </a:r>
              <a:br>
                <a:rPr kumimoji="1" lang="en-US" altLang="ko-KR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</a:br>
              <a:r>
                <a:rPr kumimoji="1" lang="en-US" altLang="ko-KR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(OCEAN-H)</a:t>
              </a:r>
            </a:p>
          </p:txBody>
        </p:sp>
        <p:sp>
          <p:nvSpPr>
            <p:cNvPr id="217" name="사각형: 둥근 모서리 216">
              <a:extLst>
                <a:ext uri="{FF2B5EF4-FFF2-40B4-BE49-F238E27FC236}">
                  <a16:creationId xmlns:a16="http://schemas.microsoft.com/office/drawing/2014/main" id="{16586476-D42B-4542-3E59-9291550EEA1F}"/>
                </a:ext>
              </a:extLst>
            </p:cNvPr>
            <p:cNvSpPr/>
            <p:nvPr/>
          </p:nvSpPr>
          <p:spPr>
            <a:xfrm>
              <a:off x="4006217" y="5594369"/>
              <a:ext cx="950386" cy="3924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txBody>
            <a:bodyPr rot="0" spcFirstLastPara="0" vertOverflow="overflow" horzOverflow="overflow" vert="horz" wrap="square" lIns="36000" tIns="0" rIns="3600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공정 실적 </a:t>
              </a:r>
              <a:r>
                <a:rPr kumimoji="1" lang="en-US" altLang="ko-KR" sz="1000" kern="0" spc="-5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Data (PMS)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153140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05C47-5478-A2C7-70C5-4EB71DA55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32A83D2-DB79-A10F-F3A4-CC1D1F620E4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0175" y="254884"/>
            <a:ext cx="5297441" cy="343235"/>
          </a:xfrm>
          <a:solidFill>
            <a:schemeClr val="bg1"/>
          </a:solidFill>
        </p:spPr>
        <p:txBody>
          <a:bodyPr wrap="square" anchor="ctr">
            <a:spAutoFit/>
          </a:bodyPr>
          <a:lstStyle/>
          <a:p>
            <a:r>
              <a:rPr lang="en-US" altLang="ko-KR" b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Appendix. Contents Meta </a:t>
            </a:r>
            <a:r>
              <a:rPr lang="ko-KR" altLang="en-US" b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활용 온톨로지 연계</a:t>
            </a:r>
            <a:endParaRPr lang="en-US" altLang="ko-KR" b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" name="텍스트 개체 틀 4">
            <a:extLst>
              <a:ext uri="{FF2B5EF4-FFF2-40B4-BE49-F238E27FC236}">
                <a16:creationId xmlns:a16="http://schemas.microsoft.com/office/drawing/2014/main" id="{F10FA622-7DB3-F291-7614-E0E4349A73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3063" y="765175"/>
            <a:ext cx="9193040" cy="719138"/>
          </a:xfrm>
        </p:spPr>
        <p:txBody>
          <a:bodyPr vert="horz" lIns="91440" tIns="45720" rIns="91440" bIns="45720" rtlCol="0">
            <a:normAutofit/>
          </a:bodyPr>
          <a:lstStyle/>
          <a:p>
            <a:pPr algn="ctr" latinLnBrk="0">
              <a:lnSpc>
                <a:spcPct val="120000"/>
              </a:lnSpc>
              <a:spcBef>
                <a:spcPts val="0"/>
              </a:spcBef>
            </a:pPr>
            <a:r>
              <a:rPr lang="en-US" altLang="ko-KR" sz="1600" b="0"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ngal Pro" panose="020B0502040204020203" pitchFamily="2" charset="0"/>
              </a:rPr>
              <a:t>CLX </a:t>
            </a:r>
            <a:r>
              <a:rPr lang="ko-KR" altLang="en-US" sz="1600" b="0"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ngal Pro" panose="020B0502040204020203" pitchFamily="2" charset="0"/>
              </a:rPr>
              <a:t>업무 수행 시 활용되는 문서의 </a:t>
            </a:r>
            <a:r>
              <a:rPr lang="en-US" altLang="ko-KR" sz="1600" b="0"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ngal Pro" panose="020B0502040204020203" pitchFamily="2" charset="0"/>
              </a:rPr>
              <a:t>Contents</a:t>
            </a:r>
            <a:r>
              <a:rPr lang="ko-KR" altLang="en-US" sz="1600" b="0"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ngal Pro" panose="020B0502040204020203" pitchFamily="2" charset="0"/>
              </a:rPr>
              <a:t> 대상</a:t>
            </a:r>
            <a:br>
              <a:rPr lang="en-US" altLang="ko-KR" sz="1600" b="0"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ngal Pro" panose="020B0502040204020203" pitchFamily="2" charset="0"/>
              </a:rPr>
            </a:br>
            <a:r>
              <a:rPr lang="ko-KR" altLang="en-US" sz="1600" b="0"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ngal Pro" panose="020B0502040204020203" pitchFamily="2" charset="0"/>
              </a:rPr>
              <a:t>각 분야별 업무 특성을 고려한 추출 대상 선별이 필요함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4CA5DF36-1B1F-6CA2-55EB-861CB2CB4D6A}"/>
              </a:ext>
            </a:extLst>
          </p:cNvPr>
          <p:cNvSpPr/>
          <p:nvPr/>
        </p:nvSpPr>
        <p:spPr>
          <a:xfrm>
            <a:off x="357414" y="1779225"/>
            <a:ext cx="785585" cy="402014"/>
          </a:xfrm>
          <a:prstGeom prst="roundRect">
            <a:avLst>
              <a:gd name="adj" fmla="val 0"/>
            </a:avLst>
          </a:prstGeom>
          <a:pattFill prst="ltUpDiag">
            <a:fgClr>
              <a:srgbClr val="DAE9F8"/>
            </a:fgClr>
            <a:bgClr>
              <a:schemeClr val="bg1"/>
            </a:bgClr>
          </a:pattFill>
          <a:ln w="19050">
            <a:solidFill>
              <a:srgbClr val="217CF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defTabSz="914400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ko-KR" altLang="en-US" sz="1400" kern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/>
              </a:rPr>
              <a:t>목적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8351090-C5A0-6541-78E2-EA2714D623AA}"/>
              </a:ext>
            </a:extLst>
          </p:cNvPr>
          <p:cNvSpPr/>
          <p:nvPr/>
        </p:nvSpPr>
        <p:spPr>
          <a:xfrm>
            <a:off x="1212574" y="1779225"/>
            <a:ext cx="8336012" cy="40201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36000" rtlCol="0" anchor="ctr"/>
          <a:lstStyle/>
          <a:p>
            <a:pPr marL="285750" indent="-285750"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n-US" altLang="ko-KR" sz="140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Tag</a:t>
            </a:r>
            <a:r>
              <a:rPr lang="ko-KR" altLang="en-US" sz="140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별 파생되는 생산 </a:t>
            </a:r>
            <a:r>
              <a:rPr lang="en-US" altLang="ko-KR" sz="140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· </a:t>
            </a:r>
            <a:r>
              <a:rPr lang="ko-KR" altLang="en-US" sz="140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설비 </a:t>
            </a:r>
            <a:r>
              <a:rPr lang="en-US" altLang="ko-KR" sz="140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· SHE </a:t>
            </a:r>
            <a:r>
              <a:rPr lang="ko-KR" altLang="en-US" sz="140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영역의 </a:t>
            </a:r>
            <a:r>
              <a:rPr lang="en-US" altLang="ko-KR" sz="140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Data</a:t>
            </a:r>
            <a:r>
              <a:rPr lang="ko-KR" altLang="en-US" sz="140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연계를 통하여 </a:t>
            </a:r>
            <a:r>
              <a:rPr lang="en-US" altLang="ko-KR" sz="140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CLX </a:t>
            </a:r>
            <a:r>
              <a:rPr lang="ko-KR" altLang="en-US" sz="140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온톨로지 구축 대상 확대 및 </a:t>
            </a:r>
            <a:r>
              <a:rPr lang="en-US" altLang="ko-KR" sz="140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LKM </a:t>
            </a:r>
            <a:r>
              <a:rPr lang="ko-KR" altLang="en-US" sz="140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강화</a:t>
            </a:r>
            <a:endParaRPr lang="en-US" altLang="ko-KR" sz="1400">
              <a:solidFill>
                <a:schemeClr val="tx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5DBA7967-6BEC-9673-01BE-2E84EC5C62D0}"/>
              </a:ext>
            </a:extLst>
          </p:cNvPr>
          <p:cNvSpPr/>
          <p:nvPr/>
        </p:nvSpPr>
        <p:spPr>
          <a:xfrm>
            <a:off x="357414" y="2297791"/>
            <a:ext cx="785585" cy="4155397"/>
          </a:xfrm>
          <a:prstGeom prst="roundRect">
            <a:avLst>
              <a:gd name="adj" fmla="val 0"/>
            </a:avLst>
          </a:prstGeom>
          <a:pattFill prst="ltUpDiag">
            <a:fgClr>
              <a:srgbClr val="DAE9F8"/>
            </a:fgClr>
            <a:bgClr>
              <a:schemeClr val="bg1"/>
            </a:bgClr>
          </a:pattFill>
          <a:ln w="19050">
            <a:solidFill>
              <a:srgbClr val="217CF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defTabSz="914400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ko-KR" altLang="en-US" sz="1400" kern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/>
              </a:rPr>
              <a:t>온톨로지</a:t>
            </a:r>
            <a:br>
              <a:rPr lang="en-US" altLang="ko-KR" sz="1400" kern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/>
              </a:rPr>
            </a:br>
            <a:r>
              <a:rPr lang="ko-KR" altLang="en-US" sz="1400" kern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/>
              </a:rPr>
              <a:t>확대 방안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72A83AB-F044-6208-3163-F26E86E2EDDD}"/>
              </a:ext>
            </a:extLst>
          </p:cNvPr>
          <p:cNvSpPr/>
          <p:nvPr/>
        </p:nvSpPr>
        <p:spPr>
          <a:xfrm>
            <a:off x="1212573" y="2297790"/>
            <a:ext cx="4048825" cy="4155397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36000" rtlCol="0" anchor="t"/>
          <a:lstStyle/>
          <a:p>
            <a:pPr algn="ctr">
              <a:spcAft>
                <a:spcPts val="300"/>
              </a:spcAft>
            </a:pPr>
            <a:r>
              <a:rPr lang="ko-KR" altLang="en-US" sz="1400" i="1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공장 별 </a:t>
            </a:r>
            <a:r>
              <a:rPr lang="en-US" altLang="ko-KR" sz="1400" i="1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DCS/PMS</a:t>
            </a:r>
            <a:r>
              <a:rPr lang="ko-KR" altLang="en-US" sz="1400" i="1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기반 공정</a:t>
            </a:r>
            <a:r>
              <a:rPr lang="en-US" altLang="ko-KR" sz="1400" i="1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Tag </a:t>
            </a:r>
            <a:r>
              <a:rPr lang="ko-KR" altLang="en-US" sz="1400" i="1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별</a:t>
            </a:r>
            <a:r>
              <a:rPr lang="en-US" altLang="ko-KR" sz="1400" i="1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Meta</a:t>
            </a:r>
            <a:r>
              <a:rPr lang="ko-KR" altLang="en-US" sz="1400" i="1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정보</a:t>
            </a:r>
            <a:br>
              <a:rPr lang="en-US" altLang="ko-KR" sz="1400" i="1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ko-KR" altLang="en-US" sz="1400" i="1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구성을 통해 </a:t>
            </a:r>
            <a:r>
              <a:rPr lang="en-US" altLang="ko-KR" sz="1400" i="1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CLX </a:t>
            </a:r>
            <a:r>
              <a:rPr lang="ko-KR" altLang="en-US" sz="1400" i="1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온톨로지 연계 발판 마련</a:t>
            </a:r>
            <a:endParaRPr lang="en-US" altLang="ko-KR" sz="1400" i="1">
              <a:solidFill>
                <a:schemeClr val="tx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E161640-E6C4-3A6F-74CC-F75819511FF9}"/>
              </a:ext>
            </a:extLst>
          </p:cNvPr>
          <p:cNvSpPr/>
          <p:nvPr/>
        </p:nvSpPr>
        <p:spPr>
          <a:xfrm>
            <a:off x="5436704" y="2297790"/>
            <a:ext cx="4118400" cy="4155397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36000" rtlCol="0" anchor="t"/>
          <a:lstStyle/>
          <a:p>
            <a:pPr algn="ctr">
              <a:spcAft>
                <a:spcPts val="300"/>
              </a:spcAft>
            </a:pPr>
            <a:r>
              <a:rPr lang="ko-KR" altLang="en-US" sz="140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축적된 문서</a:t>
            </a:r>
            <a:r>
              <a:rPr lang="en-US" altLang="ko-KR" sz="140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140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內 정보를 추출하여 정의된</a:t>
            </a:r>
            <a:br>
              <a:rPr lang="en-US" altLang="ko-KR" sz="140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en-US" altLang="ko-KR" sz="140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Contents Meta </a:t>
            </a:r>
            <a:r>
              <a:rPr lang="ko-KR" altLang="en-US" sz="140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구조에 대응하여</a:t>
            </a:r>
            <a:r>
              <a:rPr lang="en-US" altLang="ko-KR" sz="140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140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지식 연계 및 확장</a:t>
            </a:r>
            <a:endParaRPr lang="en-US" altLang="ko-KR" sz="1400">
              <a:solidFill>
                <a:schemeClr val="tx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5EA7E51-BD88-8383-ECF5-7116D72895C5}"/>
              </a:ext>
            </a:extLst>
          </p:cNvPr>
          <p:cNvSpPr/>
          <p:nvPr/>
        </p:nvSpPr>
        <p:spPr>
          <a:xfrm>
            <a:off x="5612010" y="2842592"/>
            <a:ext cx="3710894" cy="3502136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36000" rtlCol="0" anchor="t"/>
          <a:lstStyle/>
          <a:p>
            <a:pPr algn="ctr">
              <a:spcAft>
                <a:spcPts val="300"/>
              </a:spcAft>
            </a:pPr>
            <a:r>
              <a:rPr lang="en-US" altLang="ko-KR" sz="1400" u="sng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Contents Meta Frame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2191A5F-239E-F2DC-C1A1-EAD8E6AFF9B4}"/>
              </a:ext>
            </a:extLst>
          </p:cNvPr>
          <p:cNvSpPr/>
          <p:nvPr/>
        </p:nvSpPr>
        <p:spPr>
          <a:xfrm>
            <a:off x="5696482" y="3397727"/>
            <a:ext cx="3578098" cy="1128230"/>
          </a:xfrm>
          <a:prstGeom prst="rect">
            <a:avLst/>
          </a:prstGeom>
          <a:noFill/>
          <a:ln>
            <a:solidFill>
              <a:srgbClr val="217CFA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C492EB7C-33BF-8855-306B-75A31CCE1E38}"/>
              </a:ext>
            </a:extLst>
          </p:cNvPr>
          <p:cNvGrpSpPr/>
          <p:nvPr/>
        </p:nvGrpSpPr>
        <p:grpSpPr>
          <a:xfrm>
            <a:off x="5960850" y="3728839"/>
            <a:ext cx="771426" cy="638727"/>
            <a:chOff x="5784576" y="3202727"/>
            <a:chExt cx="1242391" cy="638727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F844D580-EAC6-2373-75CF-EFD9C43FC038}"/>
                </a:ext>
              </a:extLst>
            </p:cNvPr>
            <p:cNvSpPr/>
            <p:nvPr/>
          </p:nvSpPr>
          <p:spPr>
            <a:xfrm>
              <a:off x="5784576" y="3202727"/>
              <a:ext cx="1242391" cy="638727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rot="0" spcFirstLastPara="0" vertOverflow="overflow" horzOverflow="overflow" vert="horz" wrap="square" lIns="36000" tIns="0" rIns="3600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000" kern="0" spc="-5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E89F797-5E0A-5754-0D66-13A101976E6D}"/>
                </a:ext>
              </a:extLst>
            </p:cNvPr>
            <p:cNvSpPr txBox="1"/>
            <p:nvPr/>
          </p:nvSpPr>
          <p:spPr>
            <a:xfrm>
              <a:off x="5795738" y="3386762"/>
              <a:ext cx="1226687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ko-KR" altLang="en-US" sz="1200" err="1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공정명</a:t>
              </a:r>
              <a:r>
                <a:rPr lang="ko-KR" altLang="en-US" sz="120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</a:t>
              </a:r>
            </a:p>
          </p:txBody>
        </p:sp>
      </p:grp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94E951A-CD89-17E9-9A73-BCBA91E183D7}"/>
              </a:ext>
            </a:extLst>
          </p:cNvPr>
          <p:cNvSpPr/>
          <p:nvPr/>
        </p:nvSpPr>
        <p:spPr>
          <a:xfrm>
            <a:off x="1381538" y="2842592"/>
            <a:ext cx="3710894" cy="1310945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36000" rtlCol="0" anchor="t"/>
          <a:lstStyle/>
          <a:p>
            <a:pPr algn="ctr">
              <a:spcAft>
                <a:spcPts val="300"/>
              </a:spcAft>
            </a:pPr>
            <a:r>
              <a:rPr lang="ko-KR" altLang="en-US" sz="1400" u="sng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공장 기준 </a:t>
            </a:r>
            <a:r>
              <a:rPr lang="en-US" altLang="ko-KR" sz="1400" u="sng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Meta</a:t>
            </a:r>
            <a:r>
              <a:rPr lang="ko-KR" altLang="en-US" sz="1400" u="sng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정보 수립</a:t>
            </a:r>
            <a:endParaRPr lang="en-US" altLang="ko-KR" sz="1400" u="sng">
              <a:solidFill>
                <a:schemeClr val="tx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42F61EF-BD01-8735-1836-84F1D132BA4D}"/>
              </a:ext>
            </a:extLst>
          </p:cNvPr>
          <p:cNvSpPr/>
          <p:nvPr/>
        </p:nvSpPr>
        <p:spPr>
          <a:xfrm>
            <a:off x="1381538" y="4248001"/>
            <a:ext cx="3710894" cy="1368557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36000" rtlCol="0" anchor="t"/>
          <a:lstStyle/>
          <a:p>
            <a:pPr algn="ctr">
              <a:spcAft>
                <a:spcPts val="300"/>
              </a:spcAft>
            </a:pPr>
            <a:r>
              <a:rPr lang="ko-KR" altLang="en-US" sz="1400" u="sng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설비</a:t>
            </a:r>
            <a:r>
              <a:rPr lang="en-US" altLang="ko-KR" sz="1400" u="sng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(Tag) Meta </a:t>
            </a:r>
            <a:r>
              <a:rPr lang="ko-KR" altLang="en-US" sz="1400" u="sng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정보 수립</a:t>
            </a:r>
            <a:endParaRPr lang="en-US" altLang="ko-KR" sz="1400" u="sng">
              <a:solidFill>
                <a:schemeClr val="tx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A627FF04-6BFC-4716-7F7B-928EE311D8D9}"/>
              </a:ext>
            </a:extLst>
          </p:cNvPr>
          <p:cNvSpPr/>
          <p:nvPr/>
        </p:nvSpPr>
        <p:spPr>
          <a:xfrm>
            <a:off x="1536389" y="3102483"/>
            <a:ext cx="3404895" cy="210335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txBody>
          <a:bodyPr rot="0" spcFirstLastPara="0" vertOverflow="overflow" horzOverflow="overflow" vert="horz" wrap="square" lIns="36000" tIns="0" rIns="36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200" kern="0" spc="-50"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공정의 구조를 명확하게 이해</a:t>
            </a:r>
            <a:r>
              <a:rPr kumimoji="1" lang="en-US" altLang="ko-KR" sz="1200" kern="0" spc="-50"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/</a:t>
            </a:r>
            <a:r>
              <a:rPr kumimoji="1" lang="ko-KR" altLang="en-US" sz="1200" kern="0" spc="-50"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관리를 위한 필요 정보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18321416-16F3-0F1D-073F-E703A80E17D5}"/>
              </a:ext>
            </a:extLst>
          </p:cNvPr>
          <p:cNvSpPr/>
          <p:nvPr/>
        </p:nvSpPr>
        <p:spPr>
          <a:xfrm>
            <a:off x="1536389" y="4553030"/>
            <a:ext cx="3404895" cy="210335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txBody>
          <a:bodyPr rot="0" spcFirstLastPara="0" vertOverflow="overflow" horzOverflow="overflow" vert="horz" wrap="square" lIns="36000" tIns="0" rIns="36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200" kern="0" spc="-50"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설비 別 위치</a:t>
            </a:r>
            <a:r>
              <a:rPr kumimoji="1" lang="en-US" altLang="ko-KR" sz="1200" kern="0" spc="-50"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/</a:t>
            </a:r>
            <a:r>
              <a:rPr kumimoji="1" lang="ko-KR" altLang="en-US" sz="1200" kern="0" spc="-50"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역할</a:t>
            </a:r>
            <a:r>
              <a:rPr kumimoji="1" lang="en-US" altLang="ko-KR" sz="1200" kern="0" spc="-50"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/</a:t>
            </a:r>
            <a:r>
              <a:rPr kumimoji="1" lang="ko-KR" altLang="en-US" sz="1200" kern="0" spc="-50"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실시간 상태 관리를 위한 필요 정보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1FD87055-58F8-E79D-5C94-B0E0896B73A8}"/>
              </a:ext>
            </a:extLst>
          </p:cNvPr>
          <p:cNvSpPr/>
          <p:nvPr/>
        </p:nvSpPr>
        <p:spPr>
          <a:xfrm>
            <a:off x="1381538" y="5695736"/>
            <a:ext cx="3710894" cy="648992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36000" rtlCol="0" anchor="t"/>
          <a:lstStyle/>
          <a:p>
            <a:pPr algn="ctr">
              <a:spcAft>
                <a:spcPts val="300"/>
              </a:spcAft>
            </a:pPr>
            <a:r>
              <a:rPr lang="ko-KR" altLang="en-US" sz="1400" u="sng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설비</a:t>
            </a:r>
            <a:r>
              <a:rPr lang="en-US" altLang="ko-KR" sz="1400" u="sng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(Tag) </a:t>
            </a:r>
            <a:r>
              <a:rPr lang="ko-KR" altLang="en-US" sz="1400" u="sng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간 연결 정보 수립</a:t>
            </a:r>
            <a:endParaRPr lang="en-US" altLang="ko-KR" sz="1400" u="sng">
              <a:solidFill>
                <a:schemeClr val="tx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2215E1BE-5DD0-A17A-BA0C-875382CC0861}"/>
              </a:ext>
            </a:extLst>
          </p:cNvPr>
          <p:cNvSpPr/>
          <p:nvPr/>
        </p:nvSpPr>
        <p:spPr>
          <a:xfrm>
            <a:off x="1455951" y="5988816"/>
            <a:ext cx="551754" cy="30388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rot="0" spcFirstLastPara="0" vertOverflow="overflow" horzOverflow="overflow" vert="horz" wrap="square" lIns="36000" tIns="0" rIns="36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200" kern="0" spc="-50">
                <a:solidFill>
                  <a:srgbClr val="1C6AAC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공정</a:t>
            </a:r>
            <a:endParaRPr kumimoji="1" lang="ko-KR" altLang="en-US" sz="1200" kern="0" spc="-50">
              <a:solidFill>
                <a:schemeClr val="tx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9F3C88F1-C080-85BC-4F4A-521B6E18DE39}"/>
              </a:ext>
            </a:extLst>
          </p:cNvPr>
          <p:cNvSpPr/>
          <p:nvPr/>
        </p:nvSpPr>
        <p:spPr>
          <a:xfrm>
            <a:off x="2062728" y="5988816"/>
            <a:ext cx="1026769" cy="30388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rot="0" spcFirstLastPara="0" vertOverflow="overflow" horzOverflow="overflow" vert="horz" wrap="square" lIns="36000" tIns="0" rIns="36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200" kern="0" spc="-50">
                <a:solidFill>
                  <a:srgbClr val="1C6AAC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공정 단계 별</a:t>
            </a:r>
            <a:endParaRPr kumimoji="1" lang="ko-KR" altLang="en-US" sz="1200" kern="0" spc="-50">
              <a:solidFill>
                <a:schemeClr val="tx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C8EEA310-8FFE-59F8-303A-90F39603B62C}"/>
              </a:ext>
            </a:extLst>
          </p:cNvPr>
          <p:cNvSpPr/>
          <p:nvPr/>
        </p:nvSpPr>
        <p:spPr>
          <a:xfrm>
            <a:off x="3144520" y="5988816"/>
            <a:ext cx="1026769" cy="30388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rot="0" spcFirstLastPara="0" vertOverflow="overflow" horzOverflow="overflow" vert="horz" wrap="square" lIns="36000" tIns="0" rIns="36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200" kern="0" spc="-50">
                <a:solidFill>
                  <a:srgbClr val="1C6AAC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입출력 스트림</a:t>
            </a:r>
            <a:endParaRPr kumimoji="1" lang="ko-KR" altLang="en-US" sz="1200" kern="0" spc="-50">
              <a:solidFill>
                <a:schemeClr val="tx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7DE1145E-8A44-DE51-45B1-3593BDFFFA4E}"/>
              </a:ext>
            </a:extLst>
          </p:cNvPr>
          <p:cNvSpPr/>
          <p:nvPr/>
        </p:nvSpPr>
        <p:spPr>
          <a:xfrm>
            <a:off x="4226313" y="5988816"/>
            <a:ext cx="809927" cy="30388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rot="0" spcFirstLastPara="0" vertOverflow="overflow" horzOverflow="overflow" vert="horz" wrap="square" lIns="36000" tIns="0" rIns="36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200" kern="0" spc="-50">
                <a:solidFill>
                  <a:srgbClr val="1C6AAC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물질 </a:t>
            </a:r>
            <a:r>
              <a:rPr kumimoji="1" lang="en-US" altLang="ko-KR" sz="1200" kern="0" spc="-50">
                <a:solidFill>
                  <a:srgbClr val="1C6AAC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Flow</a:t>
            </a:r>
            <a:endParaRPr kumimoji="1" lang="ko-KR" altLang="en-US" sz="1200" kern="0" spc="-50">
              <a:solidFill>
                <a:schemeClr val="tx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Arial" panose="020B0604020202020204" pitchFamily="34" charset="0"/>
            </a:endParaRPr>
          </a:p>
        </p:txBody>
      </p:sp>
      <p:cxnSp>
        <p:nvCxnSpPr>
          <p:cNvPr id="44" name="연결선: 꺾임 43">
            <a:extLst>
              <a:ext uri="{FF2B5EF4-FFF2-40B4-BE49-F238E27FC236}">
                <a16:creationId xmlns:a16="http://schemas.microsoft.com/office/drawing/2014/main" id="{8C5ADE00-FC68-2167-F4E9-59DB3A7AA45C}"/>
              </a:ext>
            </a:extLst>
          </p:cNvPr>
          <p:cNvCxnSpPr>
            <a:cxnSpLocks/>
            <a:stCxn id="16" idx="3"/>
            <a:endCxn id="24" idx="1"/>
          </p:cNvCxnSpPr>
          <p:nvPr/>
        </p:nvCxnSpPr>
        <p:spPr>
          <a:xfrm>
            <a:off x="5092432" y="3498065"/>
            <a:ext cx="604050" cy="463777"/>
          </a:xfrm>
          <a:prstGeom prst="bentConnector3">
            <a:avLst>
              <a:gd name="adj1" fmla="val 50000"/>
            </a:avLst>
          </a:prstGeom>
          <a:ln>
            <a:solidFill>
              <a:srgbClr val="217CFA"/>
            </a:solidFill>
            <a:prstDash val="dash"/>
            <a:headEnd type="none" w="med" len="me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연결선: 꺾임 44">
            <a:extLst>
              <a:ext uri="{FF2B5EF4-FFF2-40B4-BE49-F238E27FC236}">
                <a16:creationId xmlns:a16="http://schemas.microsoft.com/office/drawing/2014/main" id="{89457177-8080-E68C-A227-40B02BF0C839}"/>
              </a:ext>
            </a:extLst>
          </p:cNvPr>
          <p:cNvCxnSpPr>
            <a:cxnSpLocks/>
            <a:stCxn id="17" idx="3"/>
            <a:endCxn id="24" idx="1"/>
          </p:cNvCxnSpPr>
          <p:nvPr/>
        </p:nvCxnSpPr>
        <p:spPr>
          <a:xfrm flipV="1">
            <a:off x="5092432" y="3961842"/>
            <a:ext cx="604050" cy="970438"/>
          </a:xfrm>
          <a:prstGeom prst="bentConnector3">
            <a:avLst>
              <a:gd name="adj1" fmla="val 50000"/>
            </a:avLst>
          </a:prstGeom>
          <a:ln>
            <a:solidFill>
              <a:srgbClr val="217CFA"/>
            </a:solidFill>
            <a:prstDash val="dash"/>
            <a:headEnd type="none" w="med" len="me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AACED639-D51B-3DCC-D3CD-8B66902523F9}"/>
              </a:ext>
            </a:extLst>
          </p:cNvPr>
          <p:cNvSpPr/>
          <p:nvPr/>
        </p:nvSpPr>
        <p:spPr>
          <a:xfrm>
            <a:off x="5610313" y="3148256"/>
            <a:ext cx="1393978" cy="2934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i="1">
                <a:solidFill>
                  <a:srgbClr val="217CFA"/>
                </a:solidFill>
              </a:rPr>
              <a:t>온톨로지</a:t>
            </a:r>
            <a:r>
              <a:rPr lang="en-US" altLang="ko-KR" sz="1100" i="1">
                <a:solidFill>
                  <a:srgbClr val="217CFA"/>
                </a:solidFill>
              </a:rPr>
              <a:t> </a:t>
            </a:r>
            <a:r>
              <a:rPr lang="ko-KR" altLang="en-US" sz="1100" i="1">
                <a:solidFill>
                  <a:srgbClr val="217CFA"/>
                </a:solidFill>
              </a:rPr>
              <a:t>연계 정보</a:t>
            </a: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E634B2C5-2A75-ADFA-DE84-28B3F926884D}"/>
              </a:ext>
            </a:extLst>
          </p:cNvPr>
          <p:cNvGrpSpPr/>
          <p:nvPr/>
        </p:nvGrpSpPr>
        <p:grpSpPr>
          <a:xfrm>
            <a:off x="8089398" y="3728839"/>
            <a:ext cx="1013790" cy="638727"/>
            <a:chOff x="5666935" y="3202727"/>
            <a:chExt cx="1484291" cy="638727"/>
          </a:xfrm>
        </p:grpSpPr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BA905A39-BD6E-3853-0D2A-ACE51D0B10DB}"/>
                </a:ext>
              </a:extLst>
            </p:cNvPr>
            <p:cNvSpPr/>
            <p:nvPr/>
          </p:nvSpPr>
          <p:spPr>
            <a:xfrm>
              <a:off x="5784576" y="3202727"/>
              <a:ext cx="1242391" cy="638727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rot="0" spcFirstLastPara="0" vertOverflow="overflow" horzOverflow="overflow" vert="horz" wrap="square" lIns="36000" tIns="0" rIns="3600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000" kern="0" spc="-5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AAFC70AB-CCEC-B7B9-B6C4-01A33B129369}"/>
                </a:ext>
              </a:extLst>
            </p:cNvPr>
            <p:cNvSpPr txBox="1"/>
            <p:nvPr/>
          </p:nvSpPr>
          <p:spPr>
            <a:xfrm>
              <a:off x="5666935" y="3294429"/>
              <a:ext cx="1484291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ko-KR" altLang="en-US" sz="120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설비</a:t>
              </a:r>
              <a:r>
                <a:rPr lang="en-US" altLang="ko-KR" sz="120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(Tag)</a:t>
              </a:r>
              <a:r>
                <a:rPr lang="ko-KR" altLang="en-US" sz="120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명</a:t>
              </a:r>
            </a:p>
          </p:txBody>
        </p: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D6140308-340F-1F19-E2BC-3653A84D9B4C}"/>
              </a:ext>
            </a:extLst>
          </p:cNvPr>
          <p:cNvGrpSpPr/>
          <p:nvPr/>
        </p:nvGrpSpPr>
        <p:grpSpPr>
          <a:xfrm>
            <a:off x="7065299" y="3728839"/>
            <a:ext cx="771426" cy="638727"/>
            <a:chOff x="5784576" y="3202727"/>
            <a:chExt cx="1242391" cy="638727"/>
          </a:xfrm>
        </p:grpSpPr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6B8AF2AA-5218-5818-9467-842CE0D72C4D}"/>
                </a:ext>
              </a:extLst>
            </p:cNvPr>
            <p:cNvSpPr/>
            <p:nvPr/>
          </p:nvSpPr>
          <p:spPr>
            <a:xfrm>
              <a:off x="5784576" y="3202727"/>
              <a:ext cx="1242391" cy="638727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rot="0" spcFirstLastPara="0" vertOverflow="overflow" horzOverflow="overflow" vert="horz" wrap="square" lIns="36000" tIns="0" rIns="3600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000" kern="0" spc="-5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C77A0DBB-7081-8BA9-1AAA-A08F4423BFCF}"/>
                </a:ext>
              </a:extLst>
            </p:cNvPr>
            <p:cNvSpPr txBox="1"/>
            <p:nvPr/>
          </p:nvSpPr>
          <p:spPr>
            <a:xfrm>
              <a:off x="5795738" y="3294429"/>
              <a:ext cx="1226687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ko-KR" altLang="en-US" sz="120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공정 단계 </a:t>
              </a:r>
            </a:p>
          </p:txBody>
        </p:sp>
      </p:grp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A3FE4804-8AD3-E992-EF12-A535A5A8AEE4}"/>
              </a:ext>
            </a:extLst>
          </p:cNvPr>
          <p:cNvSpPr/>
          <p:nvPr/>
        </p:nvSpPr>
        <p:spPr>
          <a:xfrm>
            <a:off x="5696482" y="3481655"/>
            <a:ext cx="3578099" cy="183074"/>
          </a:xfrm>
          <a:prstGeom prst="rect">
            <a:avLst/>
          </a:prstGeom>
          <a:noFill/>
          <a:ln w="3175">
            <a:noFill/>
          </a:ln>
        </p:spPr>
        <p:txBody>
          <a:bodyPr rot="0" spcFirstLastPara="0" vertOverflow="overflow" horzOverflow="overflow" vert="horz" wrap="square" lIns="36000" tIns="0" rIns="36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71450" indent="-171450" algn="ctr" defTabSz="9144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1" lang="ko-KR" altLang="en-US" sz="1200" i="1" kern="0" spc="-50"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문서 내 정보 탐색 및 정보 </a:t>
            </a:r>
            <a:r>
              <a:rPr kumimoji="1" lang="ko-KR" altLang="en-US" sz="1200" i="1" kern="0" spc="-50" err="1"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부재시</a:t>
            </a:r>
            <a:r>
              <a:rPr kumimoji="1" lang="ko-KR" altLang="en-US" sz="1200" i="1" kern="0" spc="-50"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 속성 </a:t>
            </a:r>
            <a:r>
              <a:rPr kumimoji="1" lang="en-US" altLang="ko-KR" sz="1200" i="1" kern="0" spc="-50"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Meta</a:t>
            </a:r>
            <a:r>
              <a:rPr kumimoji="1" lang="ko-KR" altLang="en-US" sz="1200" i="1" kern="0" spc="-50"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 기반 매핑</a:t>
            </a: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63702ABF-6D3B-0516-A304-5113A468BC69}"/>
              </a:ext>
            </a:extLst>
          </p:cNvPr>
          <p:cNvSpPr/>
          <p:nvPr/>
        </p:nvSpPr>
        <p:spPr>
          <a:xfrm>
            <a:off x="5696482" y="4829882"/>
            <a:ext cx="3578098" cy="1472757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E0A2E171-068D-F5CB-E489-BEF4767FA4C3}"/>
              </a:ext>
            </a:extLst>
          </p:cNvPr>
          <p:cNvSpPr/>
          <p:nvPr/>
        </p:nvSpPr>
        <p:spPr>
          <a:xfrm>
            <a:off x="5610313" y="4551601"/>
            <a:ext cx="1393978" cy="2934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i="1">
                <a:solidFill>
                  <a:srgbClr val="7F7F7F"/>
                </a:solidFill>
              </a:rPr>
              <a:t>영역별 지식 정보</a:t>
            </a: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2FED3FF0-51B7-04A5-7155-09D3D4711C9F}"/>
              </a:ext>
            </a:extLst>
          </p:cNvPr>
          <p:cNvSpPr/>
          <p:nvPr/>
        </p:nvSpPr>
        <p:spPr>
          <a:xfrm>
            <a:off x="5696482" y="4912609"/>
            <a:ext cx="3578099" cy="183074"/>
          </a:xfrm>
          <a:prstGeom prst="rect">
            <a:avLst/>
          </a:prstGeom>
          <a:noFill/>
          <a:ln w="3175">
            <a:noFill/>
          </a:ln>
        </p:spPr>
        <p:txBody>
          <a:bodyPr rot="0" spcFirstLastPara="0" vertOverflow="overflow" horzOverflow="overflow" vert="horz" wrap="square" lIns="36000" tIns="0" rIns="36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71450" indent="-171450" algn="ctr" defTabSz="9144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1" lang="ko-KR" altLang="en-US" sz="1200" i="1" kern="0" spc="-50"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각 영역별 축적된 문서 분류 후 문서별 정보 수집 필요</a:t>
            </a:r>
          </a:p>
        </p:txBody>
      </p: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527FBF59-037E-A3E1-F28D-5238EC9E5157}"/>
              </a:ext>
            </a:extLst>
          </p:cNvPr>
          <p:cNvGrpSpPr/>
          <p:nvPr/>
        </p:nvGrpSpPr>
        <p:grpSpPr>
          <a:xfrm>
            <a:off x="5732714" y="5170065"/>
            <a:ext cx="1068065" cy="1051824"/>
            <a:chOff x="5731091" y="3189257"/>
            <a:chExt cx="1349356" cy="712717"/>
          </a:xfrm>
        </p:grpSpPr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9B11DA76-F73C-6097-5644-69F44A93A7D6}"/>
                </a:ext>
              </a:extLst>
            </p:cNvPr>
            <p:cNvSpPr/>
            <p:nvPr/>
          </p:nvSpPr>
          <p:spPr>
            <a:xfrm>
              <a:off x="5784576" y="3202727"/>
              <a:ext cx="1242391" cy="699247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rot="0" spcFirstLastPara="0" vertOverflow="overflow" horzOverflow="overflow" vert="horz" wrap="square" lIns="36000" tIns="0" rIns="3600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000" kern="0" spc="-5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D190B07A-67E5-B2DD-6596-DA0896FA6C8B}"/>
                </a:ext>
              </a:extLst>
            </p:cNvPr>
            <p:cNvSpPr txBox="1"/>
            <p:nvPr/>
          </p:nvSpPr>
          <p:spPr>
            <a:xfrm>
              <a:off x="5731091" y="3189257"/>
              <a:ext cx="1349356" cy="18769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ko-KR" altLang="en-US" sz="120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생산</a:t>
              </a:r>
            </a:p>
          </p:txBody>
        </p:sp>
      </p:grp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CF891DB0-59EC-65E1-C352-4630C09DF508}"/>
              </a:ext>
            </a:extLst>
          </p:cNvPr>
          <p:cNvGrpSpPr/>
          <p:nvPr/>
        </p:nvGrpSpPr>
        <p:grpSpPr>
          <a:xfrm>
            <a:off x="8089398" y="5179585"/>
            <a:ext cx="1068065" cy="1042311"/>
            <a:chOff x="5784576" y="3195703"/>
            <a:chExt cx="1242391" cy="706270"/>
          </a:xfrm>
        </p:grpSpPr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3DC3FBD4-2191-F4E2-AF75-638A44802B87}"/>
                </a:ext>
              </a:extLst>
            </p:cNvPr>
            <p:cNvSpPr/>
            <p:nvPr/>
          </p:nvSpPr>
          <p:spPr>
            <a:xfrm>
              <a:off x="5784576" y="3202727"/>
              <a:ext cx="1242391" cy="69924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rot="0" spcFirstLastPara="0" vertOverflow="overflow" horzOverflow="overflow" vert="horz" wrap="square" lIns="36000" tIns="0" rIns="3600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000" kern="0" spc="-5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BB3851B5-25D3-7BD4-BB23-416336CF4F12}"/>
                </a:ext>
              </a:extLst>
            </p:cNvPr>
            <p:cNvSpPr txBox="1"/>
            <p:nvPr/>
          </p:nvSpPr>
          <p:spPr>
            <a:xfrm>
              <a:off x="5795738" y="3195703"/>
              <a:ext cx="1226688" cy="18769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20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SHE</a:t>
              </a:r>
              <a:endParaRPr lang="ko-KR" altLang="en-US" sz="120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</p:grp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65C1F106-730E-00A6-7B7C-0047F64BBB6F}"/>
              </a:ext>
            </a:extLst>
          </p:cNvPr>
          <p:cNvGrpSpPr/>
          <p:nvPr/>
        </p:nvGrpSpPr>
        <p:grpSpPr>
          <a:xfrm>
            <a:off x="6911056" y="5179577"/>
            <a:ext cx="1068065" cy="1042313"/>
            <a:chOff x="5784576" y="3195701"/>
            <a:chExt cx="1242391" cy="706272"/>
          </a:xfrm>
        </p:grpSpPr>
        <p:sp>
          <p:nvSpPr>
            <p:cNvPr id="96" name="직사각형 95">
              <a:extLst>
                <a:ext uri="{FF2B5EF4-FFF2-40B4-BE49-F238E27FC236}">
                  <a16:creationId xmlns:a16="http://schemas.microsoft.com/office/drawing/2014/main" id="{42E2F6F9-F33B-E092-373C-1EC4508CB255}"/>
                </a:ext>
              </a:extLst>
            </p:cNvPr>
            <p:cNvSpPr/>
            <p:nvPr/>
          </p:nvSpPr>
          <p:spPr>
            <a:xfrm>
              <a:off x="5784576" y="3202727"/>
              <a:ext cx="1242391" cy="69924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rot="0" spcFirstLastPara="0" vertOverflow="overflow" horzOverflow="overflow" vert="horz" wrap="square" lIns="36000" tIns="0" rIns="3600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000" kern="0" spc="-5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5B16603B-7999-0F5D-D77A-9B500D5D55B7}"/>
                </a:ext>
              </a:extLst>
            </p:cNvPr>
            <p:cNvSpPr txBox="1"/>
            <p:nvPr/>
          </p:nvSpPr>
          <p:spPr>
            <a:xfrm>
              <a:off x="5795738" y="3195701"/>
              <a:ext cx="1226688" cy="18769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ko-KR" altLang="en-US" sz="120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설비</a:t>
              </a:r>
            </a:p>
          </p:txBody>
        </p:sp>
      </p:grp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E899D28E-3698-A968-DC4D-8DDBD7AF9941}"/>
              </a:ext>
            </a:extLst>
          </p:cNvPr>
          <p:cNvGrpSpPr/>
          <p:nvPr/>
        </p:nvGrpSpPr>
        <p:grpSpPr>
          <a:xfrm>
            <a:off x="2014772" y="4819943"/>
            <a:ext cx="2444427" cy="744094"/>
            <a:chOff x="1993591" y="4819943"/>
            <a:chExt cx="2444427" cy="744094"/>
          </a:xfrm>
        </p:grpSpPr>
        <p:sp>
          <p:nvSpPr>
            <p:cNvPr id="100" name="직사각형 99">
              <a:extLst>
                <a:ext uri="{FF2B5EF4-FFF2-40B4-BE49-F238E27FC236}">
                  <a16:creationId xmlns:a16="http://schemas.microsoft.com/office/drawing/2014/main" id="{38ACA946-931E-D2BB-7BB7-468405F76A27}"/>
                </a:ext>
              </a:extLst>
            </p:cNvPr>
            <p:cNvSpPr/>
            <p:nvPr/>
          </p:nvSpPr>
          <p:spPr>
            <a:xfrm>
              <a:off x="2007705" y="5145378"/>
              <a:ext cx="2375452" cy="64020"/>
            </a:xfrm>
            <a:prstGeom prst="rect">
              <a:avLst/>
            </a:prstGeom>
            <a:solidFill>
              <a:srgbClr val="217C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217CFA"/>
                </a:solidFill>
              </a:endParaRPr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F46C61A1-4B18-1B64-CA75-57E66592CEEB}"/>
                </a:ext>
              </a:extLst>
            </p:cNvPr>
            <p:cNvSpPr/>
            <p:nvPr/>
          </p:nvSpPr>
          <p:spPr>
            <a:xfrm>
              <a:off x="1993591" y="4819943"/>
              <a:ext cx="1026769" cy="74409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1200" kern="0" spc="-50">
                  <a:solidFill>
                    <a:srgbClr val="1C6AAC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Item No.</a:t>
              </a:r>
              <a:br>
                <a:rPr kumimoji="1" lang="en-US" altLang="ko-KR" sz="1200" kern="0" spc="-50">
                  <a:solidFill>
                    <a:srgbClr val="1C6AAC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</a:br>
              <a:r>
                <a:rPr kumimoji="1" lang="ko-KR" altLang="en-US" sz="1200" kern="0" spc="-50">
                  <a:solidFill>
                    <a:srgbClr val="1C6AAC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설비 종류</a:t>
              </a:r>
              <a:endParaRPr kumimoji="1" lang="ko-KR" altLang="en-US" sz="1200" kern="0" spc="-5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FDB831EB-17E0-1615-E81D-8F48679EDB08}"/>
                </a:ext>
              </a:extLst>
            </p:cNvPr>
            <p:cNvSpPr/>
            <p:nvPr/>
          </p:nvSpPr>
          <p:spPr>
            <a:xfrm>
              <a:off x="3411249" y="4819943"/>
              <a:ext cx="1026769" cy="74409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1200" kern="0" spc="-50">
                  <a:solidFill>
                    <a:srgbClr val="1C6AAC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Tag </a:t>
              </a:r>
              <a:r>
                <a:rPr kumimoji="1" lang="ko-KR" altLang="en-US" sz="1200" kern="0" spc="-50">
                  <a:solidFill>
                    <a:srgbClr val="1C6AAC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명</a:t>
              </a:r>
              <a:br>
                <a:rPr kumimoji="1" lang="en-US" altLang="ko-KR" sz="1200" kern="0" spc="-50">
                  <a:solidFill>
                    <a:srgbClr val="1C6AAC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</a:br>
              <a:r>
                <a:rPr kumimoji="1" lang="en-US" altLang="ko-KR" sz="1200" kern="0" spc="-50">
                  <a:solidFill>
                    <a:srgbClr val="1C6AAC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Tag </a:t>
              </a:r>
              <a:r>
                <a:rPr kumimoji="1" lang="ko-KR" altLang="en-US" sz="1200" kern="0" spc="-50">
                  <a:solidFill>
                    <a:srgbClr val="1C6AAC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rPr>
                <a:t>설명</a:t>
              </a:r>
              <a:endParaRPr kumimoji="1" lang="ko-KR" altLang="en-US" sz="1200" kern="0" spc="-50"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endParaRPr>
            </a:p>
          </p:txBody>
        </p:sp>
      </p:grp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F4C4EE93-621D-780F-D393-E0FE395AFA85}"/>
              </a:ext>
            </a:extLst>
          </p:cNvPr>
          <p:cNvSpPr/>
          <p:nvPr/>
        </p:nvSpPr>
        <p:spPr>
          <a:xfrm>
            <a:off x="2007705" y="3694831"/>
            <a:ext cx="2375452" cy="64020"/>
          </a:xfrm>
          <a:prstGeom prst="rect">
            <a:avLst/>
          </a:prstGeom>
          <a:solidFill>
            <a:srgbClr val="217C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17CFA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5BEDEFA-1229-73B7-79D1-90C5A4908B8C}"/>
              </a:ext>
            </a:extLst>
          </p:cNvPr>
          <p:cNvSpPr/>
          <p:nvPr/>
        </p:nvSpPr>
        <p:spPr>
          <a:xfrm>
            <a:off x="1536389" y="3361921"/>
            <a:ext cx="1026769" cy="74409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rot="0" spcFirstLastPara="0" vertOverflow="overflow" horzOverflow="overflow" vert="horz" wrap="square" lIns="36000" tIns="0" rIns="36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200" kern="0" spc="-50">
                <a:solidFill>
                  <a:srgbClr val="1C6AAC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공정 정보</a:t>
            </a:r>
            <a:br>
              <a:rPr kumimoji="1" lang="en-US" altLang="ko-KR" sz="1200" kern="0" spc="-5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</a:br>
            <a:r>
              <a:rPr kumimoji="1" lang="en-US" altLang="ko-KR" sz="1200" kern="0" spc="-5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RHDS</a:t>
            </a:r>
            <a:br>
              <a:rPr kumimoji="1" lang="en-US" altLang="ko-KR" sz="1200" kern="0" spc="-50"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</a:br>
            <a:r>
              <a:rPr kumimoji="1" lang="en-US" altLang="ko-KR" sz="1200" kern="0" spc="-50"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HP</a:t>
            </a:r>
            <a:br>
              <a:rPr kumimoji="1" lang="en-US" altLang="ko-KR" sz="1200" kern="0" spc="-50"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</a:br>
            <a:r>
              <a:rPr kumimoji="1" lang="en-US" altLang="ko-KR" sz="1200" kern="0" spc="-50"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…</a:t>
            </a:r>
            <a:endParaRPr kumimoji="1" lang="ko-KR" altLang="en-US" sz="1200" kern="0" spc="-50">
              <a:solidFill>
                <a:schemeClr val="tx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420464E5-5D4D-D4A2-DB9F-DC90BF9F9065}"/>
              </a:ext>
            </a:extLst>
          </p:cNvPr>
          <p:cNvSpPr/>
          <p:nvPr/>
        </p:nvSpPr>
        <p:spPr>
          <a:xfrm>
            <a:off x="2725452" y="3361921"/>
            <a:ext cx="1026769" cy="74409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rot="0" spcFirstLastPara="0" vertOverflow="overflow" horzOverflow="overflow" vert="horz" wrap="square" lIns="36000" tIns="0" rIns="36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200" kern="0" spc="-50">
                <a:solidFill>
                  <a:srgbClr val="1C6AAC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공정 단계</a:t>
            </a:r>
            <a:br>
              <a:rPr kumimoji="1" lang="en-US" altLang="ko-KR" sz="1200" kern="0" spc="-50"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</a:br>
            <a:r>
              <a:rPr kumimoji="1" lang="en-US" altLang="ko-KR" sz="1200" kern="0" spc="-50"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Reactor</a:t>
            </a:r>
            <a:br>
              <a:rPr kumimoji="1" lang="en-US" altLang="ko-KR" sz="1200" kern="0" spc="-50"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</a:br>
            <a:r>
              <a:rPr kumimoji="1" lang="ko-KR" altLang="en-US" sz="1200" kern="0" spc="-50"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정제 단계</a:t>
            </a:r>
            <a:br>
              <a:rPr kumimoji="1" lang="en-US" altLang="ko-KR" sz="1200" kern="0" spc="-50"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</a:br>
            <a:r>
              <a:rPr kumimoji="1" lang="en-US" altLang="ko-KR" sz="1200" kern="0" spc="-50"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…</a:t>
            </a:r>
            <a:endParaRPr kumimoji="1" lang="ko-KR" altLang="en-US" sz="1200" kern="0" spc="-50">
              <a:latin typeface="나눔스퀘어 Bold" panose="020B0600000101010101" pitchFamily="50" charset="-127"/>
              <a:ea typeface="나눔스퀘어 Bold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8210EE49-0D27-DBF2-8DA5-BB6F93F5D025}"/>
              </a:ext>
            </a:extLst>
          </p:cNvPr>
          <p:cNvSpPr/>
          <p:nvPr/>
        </p:nvSpPr>
        <p:spPr>
          <a:xfrm>
            <a:off x="3914515" y="3361921"/>
            <a:ext cx="1026769" cy="74409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rot="0" spcFirstLastPara="0" vertOverflow="overflow" horzOverflow="overflow" vert="horz" wrap="square" lIns="36000" tIns="0" rIns="36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200" kern="0" spc="-50">
                <a:solidFill>
                  <a:srgbClr val="1C6AAC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입출력 자원</a:t>
            </a:r>
            <a:br>
              <a:rPr kumimoji="1" lang="en-US" altLang="ko-KR" sz="1200" kern="0" spc="-50">
                <a:solidFill>
                  <a:srgbClr val="1C6AAC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</a:br>
            <a:r>
              <a:rPr kumimoji="1" lang="ko-KR" altLang="en-US" sz="1200" kern="0" spc="-50"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입력 자원</a:t>
            </a:r>
            <a:br>
              <a:rPr kumimoji="1" lang="en-US" altLang="ko-KR" sz="1200" kern="0" spc="-50"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</a:br>
            <a:r>
              <a:rPr kumimoji="1" lang="ko-KR" altLang="en-US" sz="1200" kern="0" spc="-50"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출력 제품</a:t>
            </a:r>
            <a:br>
              <a:rPr kumimoji="1" lang="en-US" altLang="ko-KR" sz="1200" kern="0" spc="-50"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</a:br>
            <a:r>
              <a:rPr kumimoji="1" lang="en-US" altLang="ko-KR" sz="1200" kern="0" spc="-50"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…</a:t>
            </a:r>
            <a:endParaRPr kumimoji="1" lang="ko-KR" altLang="en-US" sz="1200" kern="0" spc="-50">
              <a:latin typeface="나눔스퀘어 Bold" panose="020B0600000101010101" pitchFamily="50" charset="-127"/>
              <a:ea typeface="나눔스퀘어 Bold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E117DD47-38F2-D0B8-1FFA-5A26C2F45144}"/>
              </a:ext>
            </a:extLst>
          </p:cNvPr>
          <p:cNvSpPr/>
          <p:nvPr/>
        </p:nvSpPr>
        <p:spPr>
          <a:xfrm>
            <a:off x="5843740" y="5432048"/>
            <a:ext cx="884936" cy="16817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운전 문서</a:t>
            </a: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4216738C-EF28-9958-89C1-DDD9AFA71F90}"/>
              </a:ext>
            </a:extLst>
          </p:cNvPr>
          <p:cNvSpPr/>
          <p:nvPr/>
        </p:nvSpPr>
        <p:spPr>
          <a:xfrm>
            <a:off x="5843740" y="5659932"/>
            <a:ext cx="884936" cy="16817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기술 문서</a:t>
            </a: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F0E4A678-D1FE-A840-4BB6-057CA80434CE}"/>
              </a:ext>
            </a:extLst>
          </p:cNvPr>
          <p:cNvSpPr/>
          <p:nvPr/>
        </p:nvSpPr>
        <p:spPr>
          <a:xfrm>
            <a:off x="5843740" y="5879343"/>
            <a:ext cx="884936" cy="16817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공정 최적화</a:t>
            </a: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93C838CE-BA23-F224-D9FA-C19390D1376A}"/>
              </a:ext>
            </a:extLst>
          </p:cNvPr>
          <p:cNvSpPr/>
          <p:nvPr/>
        </p:nvSpPr>
        <p:spPr>
          <a:xfrm>
            <a:off x="6998560" y="5432048"/>
            <a:ext cx="884936" cy="16817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설비 상세</a:t>
            </a: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4F3B1BDF-7057-99DC-6DAC-02B547BB5C51}"/>
              </a:ext>
            </a:extLst>
          </p:cNvPr>
          <p:cNvSpPr/>
          <p:nvPr/>
        </p:nvSpPr>
        <p:spPr>
          <a:xfrm>
            <a:off x="6998560" y="5659932"/>
            <a:ext cx="884936" cy="16817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정비 문서</a:t>
            </a: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16DAD915-3F48-BF1C-6C95-0661A531E24E}"/>
              </a:ext>
            </a:extLst>
          </p:cNvPr>
          <p:cNvSpPr/>
          <p:nvPr/>
        </p:nvSpPr>
        <p:spPr>
          <a:xfrm>
            <a:off x="6998560" y="5879343"/>
            <a:ext cx="884936" cy="16817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자재 정보</a:t>
            </a:r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A6B8D92D-A12B-B7B0-4D46-937349C9CADD}"/>
              </a:ext>
            </a:extLst>
          </p:cNvPr>
          <p:cNvSpPr/>
          <p:nvPr/>
        </p:nvSpPr>
        <p:spPr>
          <a:xfrm>
            <a:off x="8191458" y="5432048"/>
            <a:ext cx="884936" cy="16817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법규제</a:t>
            </a:r>
            <a:r>
              <a:rPr lang="en-US" altLang="ko-KR" sz="105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105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사규</a:t>
            </a:r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79F405BB-9BD2-E49E-248A-760E88B1FB75}"/>
              </a:ext>
            </a:extLst>
          </p:cNvPr>
          <p:cNvSpPr/>
          <p:nvPr/>
        </p:nvSpPr>
        <p:spPr>
          <a:xfrm>
            <a:off x="8191458" y="5659932"/>
            <a:ext cx="884936" cy="16817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인허가</a:t>
            </a:r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DF09D624-9945-674C-CEA7-8CFD21CA3693}"/>
              </a:ext>
            </a:extLst>
          </p:cNvPr>
          <p:cNvSpPr/>
          <p:nvPr/>
        </p:nvSpPr>
        <p:spPr>
          <a:xfrm>
            <a:off x="8191458" y="5879343"/>
            <a:ext cx="884936" cy="16817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작업</a:t>
            </a:r>
            <a:r>
              <a:rPr lang="en-US" altLang="ko-KR" sz="105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105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사고</a:t>
            </a:r>
          </a:p>
        </p:txBody>
      </p: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6DC12B39-1FC1-C5BE-0F84-C3B5EC0DC642}"/>
              </a:ext>
            </a:extLst>
          </p:cNvPr>
          <p:cNvSpPr/>
          <p:nvPr/>
        </p:nvSpPr>
        <p:spPr>
          <a:xfrm>
            <a:off x="5858626" y="6053720"/>
            <a:ext cx="884936" cy="168175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…</a:t>
            </a:r>
            <a:endParaRPr lang="ko-KR" altLang="en-US" sz="105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5352FF83-65B5-A997-150B-5657D88B2172}"/>
              </a:ext>
            </a:extLst>
          </p:cNvPr>
          <p:cNvSpPr/>
          <p:nvPr/>
        </p:nvSpPr>
        <p:spPr>
          <a:xfrm>
            <a:off x="7005466" y="6053720"/>
            <a:ext cx="884936" cy="168175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…</a:t>
            </a:r>
            <a:endParaRPr lang="ko-KR" altLang="en-US" sz="105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8AA9FE03-A697-A6BD-9B94-D4E3198C8EEA}"/>
              </a:ext>
            </a:extLst>
          </p:cNvPr>
          <p:cNvSpPr/>
          <p:nvPr/>
        </p:nvSpPr>
        <p:spPr>
          <a:xfrm>
            <a:off x="8194349" y="6053720"/>
            <a:ext cx="884936" cy="168175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…</a:t>
            </a:r>
            <a:endParaRPr lang="ko-KR" altLang="en-US" sz="105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695682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EFF24-A763-CD20-5C0D-2B74DE4AD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7C41231-3DA4-9F2C-3BA9-F7E56F56B4B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4487" y="254884"/>
            <a:ext cx="4796506" cy="343235"/>
          </a:xfrm>
          <a:solidFill>
            <a:schemeClr val="bg1"/>
          </a:solidFill>
        </p:spPr>
        <p:txBody>
          <a:bodyPr wrap="none" anchor="ctr">
            <a:spAutoFit/>
          </a:bodyPr>
          <a:lstStyle/>
          <a:p>
            <a:r>
              <a:rPr lang="en-US" altLang="ko-KR" b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Appendix. [</a:t>
            </a:r>
            <a:r>
              <a:rPr lang="ko-KR" altLang="en-US" b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생산기술</a:t>
            </a:r>
            <a:r>
              <a:rPr lang="en-US" altLang="ko-KR" b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] </a:t>
            </a:r>
            <a:r>
              <a:rPr lang="ko-KR" altLang="en-US" b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예산 수립 및 운영 최적화</a:t>
            </a:r>
            <a:endParaRPr lang="en-US" altLang="ko-KR" b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55" name="화살표: 오각형 54">
            <a:extLst>
              <a:ext uri="{FF2B5EF4-FFF2-40B4-BE49-F238E27FC236}">
                <a16:creationId xmlns:a16="http://schemas.microsoft.com/office/drawing/2014/main" id="{CAB2A36F-7A2D-9529-AA42-239EDAFF9C6B}"/>
              </a:ext>
            </a:extLst>
          </p:cNvPr>
          <p:cNvSpPr/>
          <p:nvPr/>
        </p:nvSpPr>
        <p:spPr>
          <a:xfrm>
            <a:off x="344486" y="1973010"/>
            <a:ext cx="3430580" cy="201600"/>
          </a:xfrm>
          <a:prstGeom prst="homePlate">
            <a:avLst>
              <a:gd name="adj" fmla="val 24867"/>
            </a:avLst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ko-KR" altLang="en-US" sz="1000" b="1">
                <a:latin typeface="나눔스퀘어" panose="020B0600000101010101" pitchFamily="50" charset="-127"/>
                <a:ea typeface="나눔스퀘어" panose="020B0600000101010101" pitchFamily="50" charset="-127"/>
              </a:rPr>
              <a:t>예산 수립 및 실적 분석</a:t>
            </a:r>
            <a:endParaRPr lang="en-US" altLang="ko-KR" sz="1000" b="1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0" name="화살표: 오각형 9">
            <a:extLst>
              <a:ext uri="{FF2B5EF4-FFF2-40B4-BE49-F238E27FC236}">
                <a16:creationId xmlns:a16="http://schemas.microsoft.com/office/drawing/2014/main" id="{0846C516-4AA9-920C-51F4-DA6F54D292E0}"/>
              </a:ext>
            </a:extLst>
          </p:cNvPr>
          <p:cNvSpPr/>
          <p:nvPr/>
        </p:nvSpPr>
        <p:spPr>
          <a:xfrm>
            <a:off x="3816356" y="1973010"/>
            <a:ext cx="3430580" cy="201600"/>
          </a:xfrm>
          <a:prstGeom prst="homePlate">
            <a:avLst>
              <a:gd name="adj" fmla="val 24867"/>
            </a:avLst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1000" b="1">
                <a:latin typeface="나눔스퀘어" panose="020B0600000101010101" pitchFamily="50" charset="-127"/>
                <a:ea typeface="나눔스퀘어" panose="020B0600000101010101" pitchFamily="50" charset="-127"/>
              </a:rPr>
              <a:t>Utility </a:t>
            </a:r>
            <a:r>
              <a:rPr lang="ko-KR" altLang="en-US" sz="1000" b="1">
                <a:latin typeface="나눔스퀘어" panose="020B0600000101010101" pitchFamily="50" charset="-127"/>
                <a:ea typeface="나눔스퀘어" panose="020B0600000101010101" pitchFamily="50" charset="-127"/>
              </a:rPr>
              <a:t>계통 운영 최적화</a:t>
            </a:r>
            <a:endParaRPr lang="en-US" altLang="ko-KR" sz="1000" b="1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94" name="화살표: 오각형 193">
            <a:extLst>
              <a:ext uri="{FF2B5EF4-FFF2-40B4-BE49-F238E27FC236}">
                <a16:creationId xmlns:a16="http://schemas.microsoft.com/office/drawing/2014/main" id="{91944A8B-AADF-6204-A301-27BFD2CCBB4B}"/>
              </a:ext>
            </a:extLst>
          </p:cNvPr>
          <p:cNvSpPr/>
          <p:nvPr/>
        </p:nvSpPr>
        <p:spPr>
          <a:xfrm>
            <a:off x="344486" y="2211778"/>
            <a:ext cx="1116000" cy="349200"/>
          </a:xfrm>
          <a:prstGeom prst="homePlate">
            <a:avLst>
              <a:gd name="adj" fmla="val 24867"/>
            </a:avLst>
          </a:prstGeom>
          <a:solidFill>
            <a:schemeClr val="bg1">
              <a:lumMod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수율 예산 수립 및</a:t>
            </a:r>
            <a:br>
              <a:rPr lang="en-US" altLang="ko-KR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ko-KR" altLang="en-US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실적 분석</a:t>
            </a:r>
          </a:p>
        </p:txBody>
      </p:sp>
      <p:sp>
        <p:nvSpPr>
          <p:cNvPr id="192" name="사각형: 둥근 모서리 191">
            <a:extLst>
              <a:ext uri="{FF2B5EF4-FFF2-40B4-BE49-F238E27FC236}">
                <a16:creationId xmlns:a16="http://schemas.microsoft.com/office/drawing/2014/main" id="{676FDADE-1E09-C5BA-DD62-0630F271D869}"/>
              </a:ext>
            </a:extLst>
          </p:cNvPr>
          <p:cNvSpPr/>
          <p:nvPr/>
        </p:nvSpPr>
        <p:spPr>
          <a:xfrm>
            <a:off x="344486" y="3043247"/>
            <a:ext cx="1060200" cy="334800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수율</a:t>
            </a:r>
            <a:r>
              <a:rPr kumimoji="1" lang="en-US" altLang="ko-KR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실적 집계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(</a:t>
            </a: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월</a:t>
            </a:r>
            <a:r>
              <a:rPr kumimoji="1" lang="en-US" altLang="ko-KR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/</a:t>
            </a: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분기</a:t>
            </a:r>
            <a:r>
              <a:rPr kumimoji="1" lang="en-US" altLang="ko-KR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/</a:t>
            </a: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년</a:t>
            </a:r>
            <a:r>
              <a:rPr kumimoji="1" lang="en-US" altLang="ko-KR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91" name="사각형: 둥근 모서리 190">
            <a:extLst>
              <a:ext uri="{FF2B5EF4-FFF2-40B4-BE49-F238E27FC236}">
                <a16:creationId xmlns:a16="http://schemas.microsoft.com/office/drawing/2014/main" id="{6FE27839-0838-07FB-3D2B-1EFFFEE98C5C}"/>
              </a:ext>
            </a:extLst>
          </p:cNvPr>
          <p:cNvSpPr/>
          <p:nvPr/>
        </p:nvSpPr>
        <p:spPr>
          <a:xfrm>
            <a:off x="344486" y="2612826"/>
            <a:ext cx="1060200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 spc="-5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생산계획에 따른 제품별 수율 목표 수립</a:t>
            </a:r>
            <a:endParaRPr kumimoji="1" lang="en-US" altLang="ko-KR" sz="900" kern="0" spc="-5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95" name="사각형: 둥근 모서리 194">
            <a:extLst>
              <a:ext uri="{FF2B5EF4-FFF2-40B4-BE49-F238E27FC236}">
                <a16:creationId xmlns:a16="http://schemas.microsoft.com/office/drawing/2014/main" id="{F59BFBC7-7F68-18D4-4C09-67220AC70A8C}"/>
              </a:ext>
            </a:extLst>
          </p:cNvPr>
          <p:cNvSpPr/>
          <p:nvPr/>
        </p:nvSpPr>
        <p:spPr>
          <a:xfrm>
            <a:off x="344485" y="3476581"/>
            <a:ext cx="3374779" cy="334800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계획 대비 실적 편차 원인 분석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99" name="화살표: 오각형 198">
            <a:extLst>
              <a:ext uri="{FF2B5EF4-FFF2-40B4-BE49-F238E27FC236}">
                <a16:creationId xmlns:a16="http://schemas.microsoft.com/office/drawing/2014/main" id="{19A1C573-756D-AC3F-6558-04B0233D380E}"/>
              </a:ext>
            </a:extLst>
          </p:cNvPr>
          <p:cNvSpPr/>
          <p:nvPr/>
        </p:nvSpPr>
        <p:spPr>
          <a:xfrm>
            <a:off x="1501776" y="2212630"/>
            <a:ext cx="1116000" cy="349200"/>
          </a:xfrm>
          <a:prstGeom prst="homePlate">
            <a:avLst>
              <a:gd name="adj" fmla="val 24867"/>
            </a:avLst>
          </a:prstGeom>
          <a:solidFill>
            <a:schemeClr val="bg1">
              <a:lumMod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동력비 예산 수립 및 실적 분석</a:t>
            </a:r>
          </a:p>
        </p:txBody>
      </p:sp>
      <p:sp>
        <p:nvSpPr>
          <p:cNvPr id="198" name="사각형: 둥근 모서리 197">
            <a:extLst>
              <a:ext uri="{FF2B5EF4-FFF2-40B4-BE49-F238E27FC236}">
                <a16:creationId xmlns:a16="http://schemas.microsoft.com/office/drawing/2014/main" id="{5E9045F9-56F3-0C33-8903-B4FFC3E161CE}"/>
              </a:ext>
            </a:extLst>
          </p:cNvPr>
          <p:cNvSpPr/>
          <p:nvPr/>
        </p:nvSpPr>
        <p:spPr>
          <a:xfrm>
            <a:off x="1501776" y="3043247"/>
            <a:ext cx="1060200" cy="334800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소비량 실적 집계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(</a:t>
            </a: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월</a:t>
            </a:r>
            <a:r>
              <a:rPr kumimoji="1" lang="en-US" altLang="ko-KR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/</a:t>
            </a: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분기</a:t>
            </a:r>
            <a:r>
              <a:rPr kumimoji="1" lang="en-US" altLang="ko-KR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/</a:t>
            </a: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년</a:t>
            </a:r>
            <a:r>
              <a:rPr kumimoji="1" lang="en-US" altLang="ko-KR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97" name="사각형: 둥근 모서리 196">
            <a:extLst>
              <a:ext uri="{FF2B5EF4-FFF2-40B4-BE49-F238E27FC236}">
                <a16:creationId xmlns:a16="http://schemas.microsoft.com/office/drawing/2014/main" id="{0672348C-1730-8735-9C81-4B7726217B55}"/>
              </a:ext>
            </a:extLst>
          </p:cNvPr>
          <p:cNvSpPr/>
          <p:nvPr/>
        </p:nvSpPr>
        <p:spPr>
          <a:xfrm>
            <a:off x="1501776" y="2612826"/>
            <a:ext cx="1060200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 spc="-7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생산계획에 따른 동력원별 소비 목표</a:t>
            </a:r>
            <a:r>
              <a:rPr kumimoji="1" lang="en-US" altLang="ko-KR" sz="900" kern="0" spc="-7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1" lang="ko-KR" altLang="en-US" sz="900" kern="0" spc="-7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수립</a:t>
            </a:r>
            <a:endParaRPr kumimoji="1" lang="en-US" altLang="ko-KR" sz="900" kern="0" spc="-7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04" name="화살표: 오각형 203">
            <a:extLst>
              <a:ext uri="{FF2B5EF4-FFF2-40B4-BE49-F238E27FC236}">
                <a16:creationId xmlns:a16="http://schemas.microsoft.com/office/drawing/2014/main" id="{844B8D13-FEFF-A22C-35B6-73C281DC32D3}"/>
              </a:ext>
            </a:extLst>
          </p:cNvPr>
          <p:cNvSpPr/>
          <p:nvPr/>
        </p:nvSpPr>
        <p:spPr>
          <a:xfrm>
            <a:off x="2659066" y="2213481"/>
            <a:ext cx="1116000" cy="349200"/>
          </a:xfrm>
          <a:prstGeom prst="homePlate">
            <a:avLst>
              <a:gd name="adj" fmla="val 24867"/>
            </a:avLst>
          </a:prstGeom>
          <a:solidFill>
            <a:schemeClr val="bg1">
              <a:lumMod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부재료비 예산 수립 및 실적 분석</a:t>
            </a:r>
          </a:p>
        </p:txBody>
      </p:sp>
      <p:sp>
        <p:nvSpPr>
          <p:cNvPr id="203" name="사각형: 둥근 모서리 202">
            <a:extLst>
              <a:ext uri="{FF2B5EF4-FFF2-40B4-BE49-F238E27FC236}">
                <a16:creationId xmlns:a16="http://schemas.microsoft.com/office/drawing/2014/main" id="{7CD118DB-8777-64FF-A777-52D3BA2D1867}"/>
              </a:ext>
            </a:extLst>
          </p:cNvPr>
          <p:cNvSpPr/>
          <p:nvPr/>
        </p:nvSpPr>
        <p:spPr>
          <a:xfrm>
            <a:off x="2659066" y="3043247"/>
            <a:ext cx="1060200" cy="334800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사용량</a:t>
            </a:r>
            <a:r>
              <a:rPr kumimoji="1" lang="en-US" altLang="ko-KR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실적 집계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(</a:t>
            </a: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월</a:t>
            </a:r>
            <a:r>
              <a:rPr kumimoji="1" lang="en-US" altLang="ko-KR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/</a:t>
            </a: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분기</a:t>
            </a:r>
            <a:r>
              <a:rPr kumimoji="1" lang="en-US" altLang="ko-KR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/</a:t>
            </a: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년</a:t>
            </a:r>
            <a:r>
              <a:rPr kumimoji="1" lang="en-US" altLang="ko-KR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)</a:t>
            </a:r>
          </a:p>
        </p:txBody>
      </p:sp>
      <p:sp>
        <p:nvSpPr>
          <p:cNvPr id="202" name="사각형: 둥근 모서리 201">
            <a:extLst>
              <a:ext uri="{FF2B5EF4-FFF2-40B4-BE49-F238E27FC236}">
                <a16:creationId xmlns:a16="http://schemas.microsoft.com/office/drawing/2014/main" id="{FB7D16B0-62D6-AB58-7C13-17B25E753BDB}"/>
              </a:ext>
            </a:extLst>
          </p:cNvPr>
          <p:cNvSpPr/>
          <p:nvPr/>
        </p:nvSpPr>
        <p:spPr>
          <a:xfrm>
            <a:off x="2659066" y="2612826"/>
            <a:ext cx="1060200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 spc="-5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생산계획에 따른 </a:t>
            </a:r>
            <a:r>
              <a:rPr kumimoji="1" lang="ko-KR" altLang="en-US" sz="900" kern="0" spc="-50" err="1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부재료</a:t>
            </a:r>
            <a:r>
              <a:rPr kumimoji="1" lang="ko-KR" altLang="en-US" sz="900" kern="0" spc="-5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사용 목표 수립</a:t>
            </a:r>
            <a:endParaRPr kumimoji="1" lang="en-US" altLang="ko-KR" sz="900" kern="0" spc="-5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9" name="화살표: 오각형 28">
            <a:extLst>
              <a:ext uri="{FF2B5EF4-FFF2-40B4-BE49-F238E27FC236}">
                <a16:creationId xmlns:a16="http://schemas.microsoft.com/office/drawing/2014/main" id="{01F2A5CC-D4FA-CBDD-D545-9EA739415AF0}"/>
              </a:ext>
            </a:extLst>
          </p:cNvPr>
          <p:cNvSpPr/>
          <p:nvPr/>
        </p:nvSpPr>
        <p:spPr>
          <a:xfrm>
            <a:off x="4973646" y="2210927"/>
            <a:ext cx="1116000" cy="349200"/>
          </a:xfrm>
          <a:prstGeom prst="homePlate">
            <a:avLst>
              <a:gd name="adj" fmla="val 24867"/>
            </a:avLst>
          </a:prstGeom>
          <a:solidFill>
            <a:schemeClr val="bg1">
              <a:lumMod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사내외 </a:t>
            </a:r>
            <a:r>
              <a:rPr lang="en-US" altLang="ko-KR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Utility </a:t>
            </a:r>
            <a:r>
              <a:rPr lang="ko-KR" altLang="en-US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수급 변화 대응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8459EBCD-9BCF-A085-D0C9-806012738C46}"/>
              </a:ext>
            </a:extLst>
          </p:cNvPr>
          <p:cNvSpPr/>
          <p:nvPr/>
        </p:nvSpPr>
        <p:spPr>
          <a:xfrm>
            <a:off x="4973646" y="3043247"/>
            <a:ext cx="1060200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Utility </a:t>
            </a: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공급 중단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위험요소 식별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A3E21BDA-2037-860B-1203-F176523A311E}"/>
              </a:ext>
            </a:extLst>
          </p:cNvPr>
          <p:cNvSpPr/>
          <p:nvPr/>
        </p:nvSpPr>
        <p:spPr>
          <a:xfrm>
            <a:off x="4973646" y="2612826"/>
            <a:ext cx="1060200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Utility </a:t>
            </a: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운영 현황 파악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663EE10A-BF99-B779-8923-5C4BDE99E956}"/>
              </a:ext>
            </a:extLst>
          </p:cNvPr>
          <p:cNvSpPr/>
          <p:nvPr/>
        </p:nvSpPr>
        <p:spPr>
          <a:xfrm>
            <a:off x="4973646" y="3476581"/>
            <a:ext cx="1060200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대체 공급 방안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검토 및 확보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13" name="화살표: 오각형 212">
            <a:extLst>
              <a:ext uri="{FF2B5EF4-FFF2-40B4-BE49-F238E27FC236}">
                <a16:creationId xmlns:a16="http://schemas.microsoft.com/office/drawing/2014/main" id="{26B228C7-3A7F-162F-A30F-DF91AAB0EAE9}"/>
              </a:ext>
            </a:extLst>
          </p:cNvPr>
          <p:cNvSpPr/>
          <p:nvPr/>
        </p:nvSpPr>
        <p:spPr>
          <a:xfrm>
            <a:off x="6130937" y="2216888"/>
            <a:ext cx="1115999" cy="349200"/>
          </a:xfrm>
          <a:prstGeom prst="homePlate">
            <a:avLst>
              <a:gd name="adj" fmla="val 24867"/>
            </a:avLst>
          </a:prstGeom>
          <a:solidFill>
            <a:schemeClr val="bg1">
              <a:lumMod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계통별 효율 진단 및 개선점 도출</a:t>
            </a:r>
          </a:p>
        </p:txBody>
      </p:sp>
      <p:sp>
        <p:nvSpPr>
          <p:cNvPr id="212" name="사각형: 둥근 모서리 211">
            <a:extLst>
              <a:ext uri="{FF2B5EF4-FFF2-40B4-BE49-F238E27FC236}">
                <a16:creationId xmlns:a16="http://schemas.microsoft.com/office/drawing/2014/main" id="{9547ECA0-184E-7073-E7A1-CEAC62DABDF5}"/>
              </a:ext>
            </a:extLst>
          </p:cNvPr>
          <p:cNvSpPr/>
          <p:nvPr/>
        </p:nvSpPr>
        <p:spPr>
          <a:xfrm>
            <a:off x="6130936" y="3043247"/>
            <a:ext cx="1060199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손실 및 비효율</a:t>
            </a:r>
            <a:b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</a:b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요인 도출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11" name="사각형: 둥근 모서리 210">
            <a:extLst>
              <a:ext uri="{FF2B5EF4-FFF2-40B4-BE49-F238E27FC236}">
                <a16:creationId xmlns:a16="http://schemas.microsoft.com/office/drawing/2014/main" id="{3318997D-69B4-5004-8CD3-A075A61895EB}"/>
              </a:ext>
            </a:extLst>
          </p:cNvPr>
          <p:cNvSpPr/>
          <p:nvPr/>
        </p:nvSpPr>
        <p:spPr>
          <a:xfrm>
            <a:off x="6130936" y="2612826"/>
            <a:ext cx="1060199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 err="1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계통별</a:t>
            </a: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효율 진단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대상 및</a:t>
            </a:r>
            <a: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범위 선정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2CC9FC66-BE09-5129-BA06-C7F755A753B2}"/>
              </a:ext>
            </a:extLst>
          </p:cNvPr>
          <p:cNvSpPr/>
          <p:nvPr/>
        </p:nvSpPr>
        <p:spPr>
          <a:xfrm>
            <a:off x="6130936" y="3476581"/>
            <a:ext cx="1060199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효율 개선 기회 발굴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05C3F1E7-CA41-0203-852C-AA24C045F884}"/>
              </a:ext>
            </a:extLst>
          </p:cNvPr>
          <p:cNvCxnSpPr>
            <a:cxnSpLocks/>
          </p:cNvCxnSpPr>
          <p:nvPr/>
        </p:nvCxnSpPr>
        <p:spPr>
          <a:xfrm>
            <a:off x="344488" y="1768835"/>
            <a:ext cx="9221614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7E181DC-83D1-00AE-4BB0-09DD7F6416FC}"/>
              </a:ext>
            </a:extLst>
          </p:cNvPr>
          <p:cNvSpPr/>
          <p:nvPr/>
        </p:nvSpPr>
        <p:spPr>
          <a:xfrm>
            <a:off x="344490" y="1547834"/>
            <a:ext cx="570257" cy="171734"/>
          </a:xfrm>
          <a:prstGeom prst="rect">
            <a:avLst/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1000" b="1">
                <a:latin typeface="나눔스퀘어" panose="020B0600000101010101" pitchFamily="50" charset="-127"/>
                <a:ea typeface="나눔스퀘어" panose="020B0600000101010101" pitchFamily="50" charset="-127"/>
              </a:rPr>
              <a:t>Process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AB9C732-C6DD-5EE0-5D22-8DABF78D0404}"/>
              </a:ext>
            </a:extLst>
          </p:cNvPr>
          <p:cNvSpPr/>
          <p:nvPr/>
        </p:nvSpPr>
        <p:spPr>
          <a:xfrm>
            <a:off x="955677" y="1547834"/>
            <a:ext cx="570257" cy="171734"/>
          </a:xfrm>
          <a:prstGeom prst="rect">
            <a:avLst/>
          </a:prstGeom>
          <a:solidFill>
            <a:schemeClr val="bg1">
              <a:lumMod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Activity</a:t>
            </a:r>
          </a:p>
        </p:txBody>
      </p:sp>
      <p:sp>
        <p:nvSpPr>
          <p:cNvPr id="129" name="사각형: 둥근 모서리 128">
            <a:extLst>
              <a:ext uri="{FF2B5EF4-FFF2-40B4-BE49-F238E27FC236}">
                <a16:creationId xmlns:a16="http://schemas.microsoft.com/office/drawing/2014/main" id="{D53272C5-4E3D-CEDB-B6FD-6BF1E79B3BC3}"/>
              </a:ext>
            </a:extLst>
          </p:cNvPr>
          <p:cNvSpPr/>
          <p:nvPr/>
        </p:nvSpPr>
        <p:spPr>
          <a:xfrm>
            <a:off x="4031571" y="1640841"/>
            <a:ext cx="1847448" cy="25598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rgbClr val="217C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To-Be </a:t>
            </a:r>
            <a:r>
              <a:rPr lang="ko-KR" altLang="en-US" sz="1200">
                <a:solidFill>
                  <a:schemeClr val="tx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업무 시나리오</a:t>
            </a:r>
          </a:p>
        </p:txBody>
      </p:sp>
      <p:sp>
        <p:nvSpPr>
          <p:cNvPr id="143" name="사각형: 둥근 모서리 142">
            <a:extLst>
              <a:ext uri="{FF2B5EF4-FFF2-40B4-BE49-F238E27FC236}">
                <a16:creationId xmlns:a16="http://schemas.microsoft.com/office/drawing/2014/main" id="{869A4D60-D4B4-B005-309B-19E23749064F}"/>
              </a:ext>
            </a:extLst>
          </p:cNvPr>
          <p:cNvSpPr/>
          <p:nvPr/>
        </p:nvSpPr>
        <p:spPr>
          <a:xfrm>
            <a:off x="344488" y="721134"/>
            <a:ext cx="941772" cy="763179"/>
          </a:xfrm>
          <a:prstGeom prst="roundRect">
            <a:avLst>
              <a:gd name="adj" fmla="val 0"/>
            </a:avLst>
          </a:prstGeom>
          <a:solidFill>
            <a:srgbClr val="217CFA"/>
          </a:solidFill>
          <a:ln w="6350">
            <a:solidFill>
              <a:srgbClr val="217C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Digital</a:t>
            </a:r>
            <a:r>
              <a:rPr lang="ko-KR" altLang="en-US" sz="130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화 지향점</a:t>
            </a:r>
          </a:p>
        </p:txBody>
      </p:sp>
      <p:sp>
        <p:nvSpPr>
          <p:cNvPr id="144" name="텍스트 개체 틀 4">
            <a:extLst>
              <a:ext uri="{FF2B5EF4-FFF2-40B4-BE49-F238E27FC236}">
                <a16:creationId xmlns:a16="http://schemas.microsoft.com/office/drawing/2014/main" id="{F79B0339-D401-652A-2C2D-0B64FE4CE1C0}"/>
              </a:ext>
            </a:extLst>
          </p:cNvPr>
          <p:cNvSpPr txBox="1">
            <a:spLocks/>
          </p:cNvSpPr>
          <p:nvPr/>
        </p:nvSpPr>
        <p:spPr>
          <a:xfrm>
            <a:off x="1386038" y="721134"/>
            <a:ext cx="8180064" cy="769485"/>
          </a:xfrm>
          <a:prstGeom prst="rect">
            <a:avLst/>
          </a:prstGeom>
          <a:pattFill prst="dkUp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 w="3175">
            <a:noFill/>
          </a:ln>
        </p:spPr>
        <p:txBody>
          <a:bodyPr vert="horz" lIns="108000" tIns="36000" rIns="36000" bIns="36000" rtlCol="0" anchor="ctr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2563" indent="-182563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en-US" altLang="ko-KR" sz="1200" b="0"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ngal Pro" panose="020B0502040204020203" pitchFamily="2" charset="0"/>
              </a:rPr>
              <a:t>Data </a:t>
            </a:r>
            <a:r>
              <a:rPr lang="ko-KR" altLang="en-US" sz="1200" b="0"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ngal Pro" panose="020B0502040204020203" pitchFamily="2" charset="0"/>
              </a:rPr>
              <a:t>기반 성과 분석으로 운영 정확성 향상</a:t>
            </a:r>
            <a:endParaRPr lang="en-US" altLang="ko-KR" sz="1200" b="0">
              <a:solidFill>
                <a:prstClr val="black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cs typeface="Mangal Pro" panose="020B0502040204020203" pitchFamily="2" charset="0"/>
            </a:endParaRPr>
          </a:p>
          <a:p>
            <a:pPr marL="355600" indent="-173038" latinLnBrk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Font typeface="나눔스퀘어 ExtraBold" panose="020B0600000101010101" pitchFamily="50" charset="-127"/>
              <a:buChar char="-"/>
            </a:pPr>
            <a:r>
              <a:rPr lang="ko-KR" altLang="en-US" sz="1100" b="0">
                <a:solidFill>
                  <a:prstClr val="black"/>
                </a:solidFill>
                <a:cs typeface="Mangal Pro" panose="020B0502040204020203" pitchFamily="2" charset="0"/>
              </a:rPr>
              <a:t>운전 </a:t>
            </a:r>
            <a:r>
              <a:rPr lang="en-US" altLang="ko-KR" sz="1100" b="0">
                <a:solidFill>
                  <a:prstClr val="black"/>
                </a:solidFill>
                <a:cs typeface="Mangal Pro" panose="020B0502040204020203" pitchFamily="2" charset="0"/>
              </a:rPr>
              <a:t>Data</a:t>
            </a:r>
            <a:r>
              <a:rPr lang="ko-KR" altLang="en-US" sz="1100" b="0">
                <a:solidFill>
                  <a:prstClr val="black"/>
                </a:solidFill>
                <a:cs typeface="Mangal Pro" panose="020B0502040204020203" pitchFamily="2" charset="0"/>
              </a:rPr>
              <a:t>를 바탕으로 목표 대비 실적 분석 및 근인 도출</a:t>
            </a:r>
            <a:endParaRPr lang="en-US" altLang="ko-KR" sz="1100" b="0">
              <a:solidFill>
                <a:prstClr val="black"/>
              </a:solidFill>
              <a:cs typeface="Mangal Pro" panose="020B0502040204020203" pitchFamily="2" charset="0"/>
            </a:endParaRPr>
          </a:p>
          <a:p>
            <a:pPr marL="355600" indent="-173038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나눔스퀘어 ExtraBold" panose="020B0600000101010101" pitchFamily="50" charset="-127"/>
              <a:buChar char="-"/>
            </a:pPr>
            <a:r>
              <a:rPr lang="ko-KR" altLang="en-US" sz="1100" b="0">
                <a:solidFill>
                  <a:prstClr val="black"/>
                </a:solidFill>
                <a:cs typeface="Mangal Pro" panose="020B0502040204020203" pitchFamily="2" charset="0"/>
              </a:rPr>
              <a:t>정기 운영 보고</a:t>
            </a:r>
            <a:r>
              <a:rPr lang="en-US" altLang="ko-KR" sz="1100" b="0">
                <a:solidFill>
                  <a:prstClr val="black"/>
                </a:solidFill>
                <a:cs typeface="Mangal Pro" panose="020B0502040204020203" pitchFamily="2" charset="0"/>
              </a:rPr>
              <a:t>, </a:t>
            </a:r>
            <a:r>
              <a:rPr lang="ko-KR" altLang="en-US" sz="1100" b="0">
                <a:solidFill>
                  <a:prstClr val="black"/>
                </a:solidFill>
                <a:cs typeface="Mangal Pro" panose="020B0502040204020203" pitchFamily="2" charset="0"/>
              </a:rPr>
              <a:t>비정기 이슈 대응 보고 정보 축적 및 활용도 개선</a:t>
            </a:r>
          </a:p>
        </p:txBody>
      </p:sp>
      <p:sp>
        <p:nvSpPr>
          <p:cNvPr id="209" name="화살표: 오각형 208">
            <a:extLst>
              <a:ext uri="{FF2B5EF4-FFF2-40B4-BE49-F238E27FC236}">
                <a16:creationId xmlns:a16="http://schemas.microsoft.com/office/drawing/2014/main" id="{8119B82D-E20B-A028-E410-B3C4CA2F4F56}"/>
              </a:ext>
            </a:extLst>
          </p:cNvPr>
          <p:cNvSpPr/>
          <p:nvPr/>
        </p:nvSpPr>
        <p:spPr>
          <a:xfrm>
            <a:off x="3816356" y="2214332"/>
            <a:ext cx="1116000" cy="349200"/>
          </a:xfrm>
          <a:prstGeom prst="homePlate">
            <a:avLst>
              <a:gd name="adj" fmla="val 24867"/>
            </a:avLst>
          </a:prstGeom>
          <a:solidFill>
            <a:schemeClr val="bg1">
              <a:lumMod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Utility </a:t>
            </a:r>
            <a:r>
              <a:rPr lang="ko-KR" altLang="en-US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사용량 모니터링 및 분석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5E133698-66BC-98A9-622C-6295842E3999}"/>
              </a:ext>
            </a:extLst>
          </p:cNvPr>
          <p:cNvSpPr/>
          <p:nvPr/>
        </p:nvSpPr>
        <p:spPr>
          <a:xfrm>
            <a:off x="3816356" y="3043247"/>
            <a:ext cx="1060200" cy="334800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Utility</a:t>
            </a: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별 원단위</a:t>
            </a:r>
            <a:br>
              <a:rPr kumimoji="1" lang="en-US" altLang="ko-KR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</a:b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추세 분석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282F6AEE-9E84-E570-4997-F680D8849FF8}"/>
              </a:ext>
            </a:extLst>
          </p:cNvPr>
          <p:cNvSpPr/>
          <p:nvPr/>
        </p:nvSpPr>
        <p:spPr>
          <a:xfrm>
            <a:off x="3816356" y="2612826"/>
            <a:ext cx="1060200" cy="334800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Utility </a:t>
            </a: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사용 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실적 </a:t>
            </a:r>
            <a:r>
              <a:rPr kumimoji="1" lang="en-US" altLang="ko-KR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Data </a:t>
            </a: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수집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2AF69F1B-EABD-91EA-BFCD-346DF9050569}"/>
              </a:ext>
            </a:extLst>
          </p:cNvPr>
          <p:cNvSpPr/>
          <p:nvPr/>
        </p:nvSpPr>
        <p:spPr>
          <a:xfrm>
            <a:off x="3816356" y="3476581"/>
            <a:ext cx="1060200" cy="334800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이상 소비 감지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34" name="화살표: 오각형 33">
            <a:extLst>
              <a:ext uri="{FF2B5EF4-FFF2-40B4-BE49-F238E27FC236}">
                <a16:creationId xmlns:a16="http://schemas.microsoft.com/office/drawing/2014/main" id="{B8B98EA4-970C-EC82-1A21-19DB4C63B307}"/>
              </a:ext>
            </a:extLst>
          </p:cNvPr>
          <p:cNvSpPr/>
          <p:nvPr/>
        </p:nvSpPr>
        <p:spPr>
          <a:xfrm>
            <a:off x="7288227" y="2216888"/>
            <a:ext cx="1115999" cy="349200"/>
          </a:xfrm>
          <a:prstGeom prst="homePlate">
            <a:avLst>
              <a:gd name="adj" fmla="val 24867"/>
            </a:avLst>
          </a:prstGeom>
          <a:solidFill>
            <a:schemeClr val="bg1">
              <a:lumMod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물류 시설 운영 현황 모니터링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1FB132E5-5B48-0627-D70E-F96E50E689DD}"/>
              </a:ext>
            </a:extLst>
          </p:cNvPr>
          <p:cNvSpPr/>
          <p:nvPr/>
        </p:nvSpPr>
        <p:spPr>
          <a:xfrm>
            <a:off x="7288226" y="3043247"/>
            <a:ext cx="1060199" cy="334800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물류 시설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kern="0" err="1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부하율</a:t>
            </a:r>
            <a:r>
              <a:rPr kumimoji="1" lang="en-US" altLang="ko-KR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분석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25E038AD-5157-E071-BFF8-9A3093A80B90}"/>
              </a:ext>
            </a:extLst>
          </p:cNvPr>
          <p:cNvSpPr/>
          <p:nvPr/>
        </p:nvSpPr>
        <p:spPr>
          <a:xfrm>
            <a:off x="7288226" y="2612826"/>
            <a:ext cx="1060199" cy="334800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물류 운영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Data </a:t>
            </a: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수집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88C23D32-A266-7583-18E3-1418963CFBFF}"/>
              </a:ext>
            </a:extLst>
          </p:cNvPr>
          <p:cNvSpPr/>
          <p:nvPr/>
        </p:nvSpPr>
        <p:spPr>
          <a:xfrm>
            <a:off x="7288226" y="3476581"/>
            <a:ext cx="1060199" cy="334800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병목 및 지연</a:t>
            </a:r>
            <a:br>
              <a:rPr kumimoji="1" lang="en-US" altLang="ko-KR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</a:b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발생 감지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1" name="화살표: 오각형 40">
            <a:extLst>
              <a:ext uri="{FF2B5EF4-FFF2-40B4-BE49-F238E27FC236}">
                <a16:creationId xmlns:a16="http://schemas.microsoft.com/office/drawing/2014/main" id="{C0AEFF81-E710-A617-4F09-9C5E8B6D8DCF}"/>
              </a:ext>
            </a:extLst>
          </p:cNvPr>
          <p:cNvSpPr/>
          <p:nvPr/>
        </p:nvSpPr>
        <p:spPr>
          <a:xfrm>
            <a:off x="8445517" y="2216888"/>
            <a:ext cx="1115999" cy="349200"/>
          </a:xfrm>
          <a:prstGeom prst="homePlate">
            <a:avLst>
              <a:gd name="adj" fmla="val 24867"/>
            </a:avLst>
          </a:prstGeom>
          <a:solidFill>
            <a:schemeClr val="bg1">
              <a:lumMod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물류 운영 효율화</a:t>
            </a:r>
            <a:br>
              <a:rPr lang="en-US" altLang="ko-KR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ko-KR" altLang="en-US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전략 수립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13EC1975-FD6E-2345-CEE5-2212382D4178}"/>
              </a:ext>
            </a:extLst>
          </p:cNvPr>
          <p:cNvSpPr/>
          <p:nvPr/>
        </p:nvSpPr>
        <p:spPr>
          <a:xfrm>
            <a:off x="8445516" y="3043247"/>
            <a:ext cx="1060199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물류 운영 최적화를 위한 협업 수행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7864A4F9-038D-4247-5BD4-F42263405DCC}"/>
              </a:ext>
            </a:extLst>
          </p:cNvPr>
          <p:cNvSpPr/>
          <p:nvPr/>
        </p:nvSpPr>
        <p:spPr>
          <a:xfrm>
            <a:off x="8445516" y="2612826"/>
            <a:ext cx="1060199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 spc="-5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물류 제약 해소를 위한 기술적 대안 수립</a:t>
            </a:r>
            <a:endParaRPr kumimoji="1" lang="en-US" altLang="ko-KR" sz="900" kern="0" spc="-5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7" name="화살표: 오각형 46">
            <a:extLst>
              <a:ext uri="{FF2B5EF4-FFF2-40B4-BE49-F238E27FC236}">
                <a16:creationId xmlns:a16="http://schemas.microsoft.com/office/drawing/2014/main" id="{3CC32E51-2E37-D718-73CC-B0611DE0A2B2}"/>
              </a:ext>
            </a:extLst>
          </p:cNvPr>
          <p:cNvSpPr/>
          <p:nvPr/>
        </p:nvSpPr>
        <p:spPr>
          <a:xfrm>
            <a:off x="7288226" y="1973010"/>
            <a:ext cx="2273287" cy="201600"/>
          </a:xfrm>
          <a:prstGeom prst="homePlate">
            <a:avLst>
              <a:gd name="adj" fmla="val 24867"/>
            </a:avLst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ko-KR" altLang="en-US" sz="1000" b="1">
                <a:latin typeface="나눔스퀘어" panose="020B0600000101010101" pitchFamily="50" charset="-127"/>
                <a:ea typeface="나눔스퀘어" panose="020B0600000101010101" pitchFamily="50" charset="-127"/>
              </a:rPr>
              <a:t>물류 시설 운영 최적화</a:t>
            </a:r>
            <a:endParaRPr lang="en-US" altLang="ko-KR" sz="1000" b="1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A2DC1201-D8D2-9CE6-72DD-763185152D0A}"/>
              </a:ext>
            </a:extLst>
          </p:cNvPr>
          <p:cNvSpPr/>
          <p:nvPr/>
        </p:nvSpPr>
        <p:spPr>
          <a:xfrm>
            <a:off x="8926185" y="1553252"/>
            <a:ext cx="635326" cy="160797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solidFill>
                  <a:schemeClr val="bg1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삭제 업무</a:t>
            </a:r>
            <a:endParaRPr kumimoji="1" lang="en-US" altLang="ko-KR" sz="900" kern="0">
              <a:solidFill>
                <a:schemeClr val="bg1">
                  <a:lumMod val="7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6BBEDB7E-079A-1E2F-9D6A-35B6D8089C81}"/>
              </a:ext>
            </a:extLst>
          </p:cNvPr>
          <p:cNvSpPr/>
          <p:nvPr/>
        </p:nvSpPr>
        <p:spPr>
          <a:xfrm>
            <a:off x="7552890" y="1553252"/>
            <a:ext cx="635326" cy="160797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AI/DT </a:t>
            </a: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신규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84F9A196-683F-652D-0155-C8DE507DBF51}"/>
              </a:ext>
            </a:extLst>
          </p:cNvPr>
          <p:cNvSpPr/>
          <p:nvPr/>
        </p:nvSpPr>
        <p:spPr>
          <a:xfrm>
            <a:off x="8239537" y="1553252"/>
            <a:ext cx="635326" cy="160797"/>
          </a:xfrm>
          <a:prstGeom prst="roundRect">
            <a:avLst/>
          </a:prstGeom>
          <a:pattFill prst="ltUpDiag">
            <a:fgClr>
              <a:srgbClr val="C4DCF2"/>
            </a:fgClr>
            <a:bgClr>
              <a:schemeClr val="bg1"/>
            </a:bgClr>
          </a:pattFill>
          <a:ln w="3175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Digital </a:t>
            </a: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기존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A5EB47C2-A606-F180-E307-0CD0158DB91C}"/>
              </a:ext>
            </a:extLst>
          </p:cNvPr>
          <p:cNvCxnSpPr>
            <a:cxnSpLocks/>
          </p:cNvCxnSpPr>
          <p:nvPr/>
        </p:nvCxnSpPr>
        <p:spPr>
          <a:xfrm>
            <a:off x="344488" y="4859066"/>
            <a:ext cx="9221614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5704ED13-CDC5-136F-BBCC-D9489FAA55B4}"/>
              </a:ext>
            </a:extLst>
          </p:cNvPr>
          <p:cNvSpPr/>
          <p:nvPr/>
        </p:nvSpPr>
        <p:spPr>
          <a:xfrm>
            <a:off x="4031571" y="4731072"/>
            <a:ext cx="1847448" cy="25598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rgbClr val="217C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주요</a:t>
            </a:r>
            <a:r>
              <a:rPr lang="en-US" altLang="ko-KR" sz="1200">
                <a:solidFill>
                  <a:schemeClr val="tx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ko-KR" altLang="en-US" sz="1200">
                <a:solidFill>
                  <a:schemeClr val="tx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추진 사항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3FB22A-E4A2-0C37-60AD-1FFCE983765C}"/>
              </a:ext>
            </a:extLst>
          </p:cNvPr>
          <p:cNvSpPr txBox="1"/>
          <p:nvPr/>
        </p:nvSpPr>
        <p:spPr>
          <a:xfrm>
            <a:off x="673770" y="5073302"/>
            <a:ext cx="3936732" cy="200435"/>
          </a:xfrm>
          <a:prstGeom prst="rect">
            <a:avLst/>
          </a:prstGeom>
          <a:noFill/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ko-KR" altLang="en-US" sz="1100" u="sng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변화 </a:t>
            </a:r>
            <a:r>
              <a:rPr lang="en-US" altLang="ko-KR" sz="1100" u="sng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Point</a:t>
            </a:r>
            <a:endParaRPr lang="ko-KR" altLang="en-US" sz="1100" u="sng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39FCA3A-BE5E-DD1D-D006-F783C416A064}"/>
              </a:ext>
            </a:extLst>
          </p:cNvPr>
          <p:cNvSpPr txBox="1"/>
          <p:nvPr/>
        </p:nvSpPr>
        <p:spPr>
          <a:xfrm>
            <a:off x="673770" y="5329768"/>
            <a:ext cx="3936732" cy="367200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72000" rIns="36000" rtlCol="0" anchor="ctr">
            <a:noAutofit/>
          </a:bodyPr>
          <a:lstStyle/>
          <a:p>
            <a:r>
              <a:rPr lang="ko-KR" altLang="en-US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담당자 역량 기반 </a:t>
            </a:r>
            <a:r>
              <a:rPr lang="en-US" altLang="ko-KR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Data </a:t>
            </a:r>
            <a:r>
              <a:rPr lang="ko-KR" altLang="en-US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수집</a:t>
            </a:r>
            <a:r>
              <a:rPr lang="en-US" altLang="ko-KR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</a:t>
            </a:r>
            <a:r>
              <a:rPr lang="ko-KR" altLang="en-US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가공</a:t>
            </a:r>
            <a:r>
              <a:rPr lang="en-US" altLang="ko-KR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</a:t>
            </a:r>
            <a:r>
              <a:rPr lang="ko-KR" altLang="en-US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분석 → </a:t>
            </a:r>
            <a:r>
              <a:rPr lang="en-US" altLang="ko-KR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Data </a:t>
            </a:r>
            <a:r>
              <a:rPr lang="ko-KR" altLang="en-US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자동 수집</a:t>
            </a:r>
            <a:r>
              <a:rPr lang="en-US" altLang="ko-KR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</a:t>
            </a:r>
            <a:r>
              <a:rPr lang="ko-KR" altLang="en-US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가공 및 축적 정보에서 원인 분석 초안 제공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52A2981-7AFA-671A-1F55-68765DABCEEA}"/>
              </a:ext>
            </a:extLst>
          </p:cNvPr>
          <p:cNvSpPr txBox="1"/>
          <p:nvPr/>
        </p:nvSpPr>
        <p:spPr>
          <a:xfrm>
            <a:off x="673770" y="5768516"/>
            <a:ext cx="3936732" cy="23166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72000" rIns="36000" rtlCol="0" anchor="ctr">
            <a:noAutofit/>
          </a:bodyPr>
          <a:lstStyle/>
          <a:p>
            <a:r>
              <a:rPr lang="ko-KR" altLang="en-US" sz="1000" spc="-7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과거 이력 검색</a:t>
            </a:r>
            <a:r>
              <a:rPr lang="en-US" altLang="ko-KR" sz="1000" spc="-7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spc="-7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경험 기반 분석 → 상황 분석 및 </a:t>
            </a:r>
            <a:r>
              <a:rPr lang="en-US" altLang="ko-KR" sz="1000" spc="-7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DB</a:t>
            </a:r>
            <a:r>
              <a:rPr lang="ko-KR" altLang="en-US" sz="1000" spc="-7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화된 정보에서 유사 이력 제공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9E785B9-138C-D3EE-84A4-7B74866898C6}"/>
              </a:ext>
            </a:extLst>
          </p:cNvPr>
          <p:cNvSpPr txBox="1"/>
          <p:nvPr/>
        </p:nvSpPr>
        <p:spPr>
          <a:xfrm>
            <a:off x="7489234" y="5073302"/>
            <a:ext cx="2072281" cy="200435"/>
          </a:xfrm>
          <a:prstGeom prst="rect">
            <a:avLst/>
          </a:prstGeom>
          <a:noFill/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ko-KR" altLang="en-US" sz="1100" u="sng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업무 개선 사항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DC221E8-983C-25BC-6ED4-249420B69BA0}"/>
              </a:ext>
            </a:extLst>
          </p:cNvPr>
          <p:cNvSpPr txBox="1"/>
          <p:nvPr/>
        </p:nvSpPr>
        <p:spPr>
          <a:xfrm>
            <a:off x="7489234" y="5329768"/>
            <a:ext cx="2072281" cy="367200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72000" rIns="36000" rtlCol="0" anchor="ctr">
            <a:noAutofit/>
          </a:bodyPr>
          <a:lstStyle/>
          <a:p>
            <a:r>
              <a:rPr lang="en-US" altLang="ko-KR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N/A</a:t>
            </a:r>
            <a:endParaRPr lang="ko-KR" altLang="en-US" sz="100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3428C57-1BC8-EF63-B9E7-C12F9B7FD179}"/>
              </a:ext>
            </a:extLst>
          </p:cNvPr>
          <p:cNvSpPr txBox="1"/>
          <p:nvPr/>
        </p:nvSpPr>
        <p:spPr>
          <a:xfrm>
            <a:off x="7489234" y="5768516"/>
            <a:ext cx="2072281" cy="23166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72000" rIns="36000" rtlCol="0" anchor="ctr">
            <a:noAutofit/>
          </a:bodyPr>
          <a:lstStyle/>
          <a:p>
            <a:r>
              <a:rPr lang="ko-KR" altLang="en-US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공정 분석 결과 </a:t>
            </a:r>
            <a:r>
              <a:rPr lang="en-US" altLang="ko-KR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DB</a:t>
            </a:r>
            <a:r>
              <a:rPr lang="ko-KR" altLang="en-US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화 대상 확대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02BE918-C3D3-05AE-5F88-48529B9FCF1E}"/>
              </a:ext>
            </a:extLst>
          </p:cNvPr>
          <p:cNvSpPr txBox="1"/>
          <p:nvPr/>
        </p:nvSpPr>
        <p:spPr>
          <a:xfrm>
            <a:off x="344486" y="5329768"/>
            <a:ext cx="216000" cy="216000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A76E874-D3FA-C346-732B-9A9F877E7988}"/>
              </a:ext>
            </a:extLst>
          </p:cNvPr>
          <p:cNvSpPr txBox="1"/>
          <p:nvPr/>
        </p:nvSpPr>
        <p:spPr>
          <a:xfrm>
            <a:off x="344486" y="5768516"/>
            <a:ext cx="216000" cy="216000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1763F02-C9D9-0D5E-977F-0D8D21D3221F}"/>
              </a:ext>
            </a:extLst>
          </p:cNvPr>
          <p:cNvSpPr txBox="1"/>
          <p:nvPr/>
        </p:nvSpPr>
        <p:spPr>
          <a:xfrm>
            <a:off x="4710767" y="5073302"/>
            <a:ext cx="2678203" cy="200435"/>
          </a:xfrm>
          <a:prstGeom prst="rect">
            <a:avLst/>
          </a:prstGeom>
          <a:noFill/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100" u="sng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Digital</a:t>
            </a:r>
            <a:r>
              <a:rPr lang="ko-KR" altLang="en-US" sz="1100" u="sng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화 기회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F956D5D-2503-1177-893F-0BB569E116D6}"/>
              </a:ext>
            </a:extLst>
          </p:cNvPr>
          <p:cNvSpPr txBox="1"/>
          <p:nvPr/>
        </p:nvSpPr>
        <p:spPr>
          <a:xfrm>
            <a:off x="4710767" y="5329768"/>
            <a:ext cx="2678203" cy="367200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72000" rIns="36000" rtlCol="0" anchor="ctr">
            <a:noAutofit/>
          </a:bodyPr>
          <a:lstStyle/>
          <a:p>
            <a:r>
              <a:rPr lang="ko-KR" altLang="en-US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생산 성과 분석 </a:t>
            </a:r>
            <a:r>
              <a:rPr lang="en-US" altLang="ko-KR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AI</a:t>
            </a:r>
            <a:endParaRPr lang="ko-KR" altLang="en-US" sz="100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9CA0C48-131D-D2B9-449D-EB374002E1A8}"/>
              </a:ext>
            </a:extLst>
          </p:cNvPr>
          <p:cNvSpPr txBox="1"/>
          <p:nvPr/>
        </p:nvSpPr>
        <p:spPr>
          <a:xfrm>
            <a:off x="4710767" y="5768516"/>
            <a:ext cx="2678203" cy="23166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72000" rIns="36000" rtlCol="0" anchor="ctr">
            <a:noAutofit/>
          </a:bodyPr>
          <a:lstStyle/>
          <a:p>
            <a:r>
              <a:rPr lang="en-US" altLang="ko-KR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Engineer </a:t>
            </a:r>
            <a:r>
              <a:rPr lang="ko-KR" altLang="en-US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공정 분석 </a:t>
            </a:r>
            <a:r>
              <a:rPr lang="en-US" altLang="ko-KR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AI</a:t>
            </a:r>
            <a:endParaRPr lang="ko-KR" altLang="en-US" sz="100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DAE2E93F-373F-1C23-B894-9FF5CF861954}"/>
              </a:ext>
            </a:extLst>
          </p:cNvPr>
          <p:cNvSpPr/>
          <p:nvPr/>
        </p:nvSpPr>
        <p:spPr>
          <a:xfrm>
            <a:off x="6954839" y="5429668"/>
            <a:ext cx="386006" cy="167400"/>
          </a:xfrm>
          <a:prstGeom prst="roundRect">
            <a:avLst>
              <a:gd name="adj" fmla="val 18018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noFill/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지능화</a:t>
            </a:r>
            <a:endParaRPr kumimoji="1" lang="en-US" altLang="ko-KR" sz="900" ker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30" name="사각형: 둥근 모서리 129">
            <a:extLst>
              <a:ext uri="{FF2B5EF4-FFF2-40B4-BE49-F238E27FC236}">
                <a16:creationId xmlns:a16="http://schemas.microsoft.com/office/drawing/2014/main" id="{48FDDE20-3374-0D78-8527-5F6B185AA5C9}"/>
              </a:ext>
            </a:extLst>
          </p:cNvPr>
          <p:cNvSpPr/>
          <p:nvPr/>
        </p:nvSpPr>
        <p:spPr>
          <a:xfrm>
            <a:off x="6954839" y="5800647"/>
            <a:ext cx="386006" cy="167400"/>
          </a:xfrm>
          <a:prstGeom prst="roundRect">
            <a:avLst>
              <a:gd name="adj" fmla="val 18018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noFill/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지능화</a:t>
            </a:r>
            <a:endParaRPr kumimoji="1" lang="en-US" altLang="ko-KR" sz="900" ker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Arial" panose="020B0604020202020204" pitchFamily="34" charset="0"/>
            </a:endParaRPr>
          </a:p>
        </p:txBody>
      </p:sp>
      <p:cxnSp>
        <p:nvCxnSpPr>
          <p:cNvPr id="173" name="직선 화살표 연결선 172">
            <a:extLst>
              <a:ext uri="{FF2B5EF4-FFF2-40B4-BE49-F238E27FC236}">
                <a16:creationId xmlns:a16="http://schemas.microsoft.com/office/drawing/2014/main" id="{CD4AF4E8-0C88-C18B-7B07-1A4D13ED372D}"/>
              </a:ext>
            </a:extLst>
          </p:cNvPr>
          <p:cNvCxnSpPr>
            <a:cxnSpLocks/>
            <a:stCxn id="191" idx="2"/>
            <a:endCxn id="192" idx="0"/>
          </p:cNvCxnSpPr>
          <p:nvPr/>
        </p:nvCxnSpPr>
        <p:spPr>
          <a:xfrm>
            <a:off x="874586" y="2947626"/>
            <a:ext cx="0" cy="95621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직선 화살표 연결선 178">
            <a:extLst>
              <a:ext uri="{FF2B5EF4-FFF2-40B4-BE49-F238E27FC236}">
                <a16:creationId xmlns:a16="http://schemas.microsoft.com/office/drawing/2014/main" id="{7D060EF7-F59A-FAF6-59A5-91BE6733A8FD}"/>
              </a:ext>
            </a:extLst>
          </p:cNvPr>
          <p:cNvCxnSpPr>
            <a:cxnSpLocks/>
            <a:stCxn id="197" idx="2"/>
            <a:endCxn id="198" idx="0"/>
          </p:cNvCxnSpPr>
          <p:nvPr/>
        </p:nvCxnSpPr>
        <p:spPr>
          <a:xfrm>
            <a:off x="2031876" y="2947626"/>
            <a:ext cx="0" cy="95621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직선 화살표 연결선 181">
            <a:extLst>
              <a:ext uri="{FF2B5EF4-FFF2-40B4-BE49-F238E27FC236}">
                <a16:creationId xmlns:a16="http://schemas.microsoft.com/office/drawing/2014/main" id="{2C23163E-C830-1165-D842-34DDA524C685}"/>
              </a:ext>
            </a:extLst>
          </p:cNvPr>
          <p:cNvCxnSpPr>
            <a:cxnSpLocks/>
            <a:stCxn id="198" idx="2"/>
          </p:cNvCxnSpPr>
          <p:nvPr/>
        </p:nvCxnSpPr>
        <p:spPr>
          <a:xfrm>
            <a:off x="2031876" y="3378047"/>
            <a:ext cx="0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직선 화살표 연결선 184">
            <a:extLst>
              <a:ext uri="{FF2B5EF4-FFF2-40B4-BE49-F238E27FC236}">
                <a16:creationId xmlns:a16="http://schemas.microsoft.com/office/drawing/2014/main" id="{8A933962-4912-0FCE-22B9-A52EC78EEDE9}"/>
              </a:ext>
            </a:extLst>
          </p:cNvPr>
          <p:cNvCxnSpPr>
            <a:cxnSpLocks/>
            <a:stCxn id="202" idx="2"/>
            <a:endCxn id="203" idx="0"/>
          </p:cNvCxnSpPr>
          <p:nvPr/>
        </p:nvCxnSpPr>
        <p:spPr>
          <a:xfrm>
            <a:off x="3189166" y="2947626"/>
            <a:ext cx="0" cy="95621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직선 화살표 연결선 187">
            <a:extLst>
              <a:ext uri="{FF2B5EF4-FFF2-40B4-BE49-F238E27FC236}">
                <a16:creationId xmlns:a16="http://schemas.microsoft.com/office/drawing/2014/main" id="{D35A327B-F537-3BF1-C9D7-81BBBF7E30E6}"/>
              </a:ext>
            </a:extLst>
          </p:cNvPr>
          <p:cNvCxnSpPr>
            <a:cxnSpLocks/>
            <a:stCxn id="203" idx="2"/>
          </p:cNvCxnSpPr>
          <p:nvPr/>
        </p:nvCxnSpPr>
        <p:spPr>
          <a:xfrm>
            <a:off x="3189166" y="3378047"/>
            <a:ext cx="0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직선 화살표 연결선 200">
            <a:extLst>
              <a:ext uri="{FF2B5EF4-FFF2-40B4-BE49-F238E27FC236}">
                <a16:creationId xmlns:a16="http://schemas.microsoft.com/office/drawing/2014/main" id="{7B2DCD06-F814-86E3-0D24-D8D68B57457F}"/>
              </a:ext>
            </a:extLst>
          </p:cNvPr>
          <p:cNvCxnSpPr>
            <a:cxnSpLocks/>
            <a:stCxn id="11" idx="2"/>
            <a:endCxn id="9" idx="0"/>
          </p:cNvCxnSpPr>
          <p:nvPr/>
        </p:nvCxnSpPr>
        <p:spPr>
          <a:xfrm>
            <a:off x="4346456" y="2947626"/>
            <a:ext cx="0" cy="95621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직선 화살표 연결선 206">
            <a:extLst>
              <a:ext uri="{FF2B5EF4-FFF2-40B4-BE49-F238E27FC236}">
                <a16:creationId xmlns:a16="http://schemas.microsoft.com/office/drawing/2014/main" id="{C150B465-2C70-CB71-22B9-18B2C9EB52E2}"/>
              </a:ext>
            </a:extLst>
          </p:cNvPr>
          <p:cNvCxnSpPr>
            <a:cxnSpLocks/>
            <a:stCxn id="9" idx="2"/>
            <a:endCxn id="12" idx="0"/>
          </p:cNvCxnSpPr>
          <p:nvPr/>
        </p:nvCxnSpPr>
        <p:spPr>
          <a:xfrm>
            <a:off x="4346456" y="3378047"/>
            <a:ext cx="0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직선 화살표 연결선 213">
            <a:extLst>
              <a:ext uri="{FF2B5EF4-FFF2-40B4-BE49-F238E27FC236}">
                <a16:creationId xmlns:a16="http://schemas.microsoft.com/office/drawing/2014/main" id="{5DDE75B2-F47F-1012-C1FD-892D2FBC4D4F}"/>
              </a:ext>
            </a:extLst>
          </p:cNvPr>
          <p:cNvCxnSpPr>
            <a:cxnSpLocks/>
            <a:stCxn id="27" idx="2"/>
            <a:endCxn id="28" idx="0"/>
          </p:cNvCxnSpPr>
          <p:nvPr/>
        </p:nvCxnSpPr>
        <p:spPr>
          <a:xfrm>
            <a:off x="5503746" y="2947626"/>
            <a:ext cx="0" cy="95621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직선 화살표 연결선 216">
            <a:extLst>
              <a:ext uri="{FF2B5EF4-FFF2-40B4-BE49-F238E27FC236}">
                <a16:creationId xmlns:a16="http://schemas.microsoft.com/office/drawing/2014/main" id="{F5ACC252-FF9F-4FD4-3A66-88A9E7C6B0A8}"/>
              </a:ext>
            </a:extLst>
          </p:cNvPr>
          <p:cNvCxnSpPr>
            <a:cxnSpLocks/>
            <a:stCxn id="28" idx="2"/>
            <a:endCxn id="58" idx="0"/>
          </p:cNvCxnSpPr>
          <p:nvPr/>
        </p:nvCxnSpPr>
        <p:spPr>
          <a:xfrm>
            <a:off x="5503746" y="3378047"/>
            <a:ext cx="0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직선 화살표 연결선 219">
            <a:extLst>
              <a:ext uri="{FF2B5EF4-FFF2-40B4-BE49-F238E27FC236}">
                <a16:creationId xmlns:a16="http://schemas.microsoft.com/office/drawing/2014/main" id="{01067566-A299-9320-E30D-015C24537EF2}"/>
              </a:ext>
            </a:extLst>
          </p:cNvPr>
          <p:cNvCxnSpPr>
            <a:cxnSpLocks/>
            <a:stCxn id="211" idx="2"/>
            <a:endCxn id="212" idx="0"/>
          </p:cNvCxnSpPr>
          <p:nvPr/>
        </p:nvCxnSpPr>
        <p:spPr>
          <a:xfrm>
            <a:off x="6661036" y="2947626"/>
            <a:ext cx="0" cy="95621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직선 화살표 연결선 222">
            <a:extLst>
              <a:ext uri="{FF2B5EF4-FFF2-40B4-BE49-F238E27FC236}">
                <a16:creationId xmlns:a16="http://schemas.microsoft.com/office/drawing/2014/main" id="{8E2CD455-04DF-A505-E924-F6D35F4F1AAF}"/>
              </a:ext>
            </a:extLst>
          </p:cNvPr>
          <p:cNvCxnSpPr>
            <a:cxnSpLocks/>
            <a:stCxn id="212" idx="2"/>
            <a:endCxn id="31" idx="0"/>
          </p:cNvCxnSpPr>
          <p:nvPr/>
        </p:nvCxnSpPr>
        <p:spPr>
          <a:xfrm>
            <a:off x="6661036" y="3378047"/>
            <a:ext cx="0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직선 화살표 연결선 225">
            <a:extLst>
              <a:ext uri="{FF2B5EF4-FFF2-40B4-BE49-F238E27FC236}">
                <a16:creationId xmlns:a16="http://schemas.microsoft.com/office/drawing/2014/main" id="{A501D234-7AC7-56B5-025E-A042B8379552}"/>
              </a:ext>
            </a:extLst>
          </p:cNvPr>
          <p:cNvCxnSpPr>
            <a:cxnSpLocks/>
            <a:stCxn id="36" idx="2"/>
            <a:endCxn id="35" idx="0"/>
          </p:cNvCxnSpPr>
          <p:nvPr/>
        </p:nvCxnSpPr>
        <p:spPr>
          <a:xfrm>
            <a:off x="7818326" y="2947626"/>
            <a:ext cx="0" cy="95621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직선 화살표 연결선 228">
            <a:extLst>
              <a:ext uri="{FF2B5EF4-FFF2-40B4-BE49-F238E27FC236}">
                <a16:creationId xmlns:a16="http://schemas.microsoft.com/office/drawing/2014/main" id="{E4E9D0A1-C854-60F7-EB23-454A3502BA2A}"/>
              </a:ext>
            </a:extLst>
          </p:cNvPr>
          <p:cNvCxnSpPr>
            <a:cxnSpLocks/>
            <a:stCxn id="35" idx="2"/>
            <a:endCxn id="37" idx="0"/>
          </p:cNvCxnSpPr>
          <p:nvPr/>
        </p:nvCxnSpPr>
        <p:spPr>
          <a:xfrm>
            <a:off x="7818326" y="3378047"/>
            <a:ext cx="0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직선 화살표 연결선 232">
            <a:extLst>
              <a:ext uri="{FF2B5EF4-FFF2-40B4-BE49-F238E27FC236}">
                <a16:creationId xmlns:a16="http://schemas.microsoft.com/office/drawing/2014/main" id="{F895152C-494B-FAEB-DF6F-64A11CFD963E}"/>
              </a:ext>
            </a:extLst>
          </p:cNvPr>
          <p:cNvCxnSpPr>
            <a:cxnSpLocks/>
            <a:stCxn id="43" idx="2"/>
            <a:endCxn id="42" idx="0"/>
          </p:cNvCxnSpPr>
          <p:nvPr/>
        </p:nvCxnSpPr>
        <p:spPr>
          <a:xfrm>
            <a:off x="8975616" y="2947626"/>
            <a:ext cx="0" cy="95621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8" name="TextBox 237">
            <a:extLst>
              <a:ext uri="{FF2B5EF4-FFF2-40B4-BE49-F238E27FC236}">
                <a16:creationId xmlns:a16="http://schemas.microsoft.com/office/drawing/2014/main" id="{02CD83C1-F42E-EE46-7C2B-ACAC4C9CAA13}"/>
              </a:ext>
            </a:extLst>
          </p:cNvPr>
          <p:cNvSpPr txBox="1"/>
          <p:nvPr/>
        </p:nvSpPr>
        <p:spPr>
          <a:xfrm>
            <a:off x="270722" y="3138745"/>
            <a:ext cx="147532" cy="147532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8EE03C68-864A-2B89-4990-B9F871C83B1A}"/>
              </a:ext>
            </a:extLst>
          </p:cNvPr>
          <p:cNvSpPr txBox="1"/>
          <p:nvPr/>
        </p:nvSpPr>
        <p:spPr>
          <a:xfrm>
            <a:off x="1419156" y="3138745"/>
            <a:ext cx="147532" cy="147532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68FAF05B-62AD-958B-9967-7C2B34808CB6}"/>
              </a:ext>
            </a:extLst>
          </p:cNvPr>
          <p:cNvSpPr txBox="1"/>
          <p:nvPr/>
        </p:nvSpPr>
        <p:spPr>
          <a:xfrm>
            <a:off x="2578588" y="3138745"/>
            <a:ext cx="147532" cy="147532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0226BE65-105B-24DB-A9E4-B4D61FA3C3FF}"/>
              </a:ext>
            </a:extLst>
          </p:cNvPr>
          <p:cNvSpPr txBox="1"/>
          <p:nvPr/>
        </p:nvSpPr>
        <p:spPr>
          <a:xfrm>
            <a:off x="270722" y="3570215"/>
            <a:ext cx="147532" cy="147532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4AC5D5A3-C388-8F08-82E1-1C10CA2F5A1E}"/>
              </a:ext>
            </a:extLst>
          </p:cNvPr>
          <p:cNvSpPr txBox="1"/>
          <p:nvPr/>
        </p:nvSpPr>
        <p:spPr>
          <a:xfrm>
            <a:off x="3742590" y="2708628"/>
            <a:ext cx="147532" cy="147532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A41C0FA6-A485-BCFF-97CA-D58F292CBD57}"/>
              </a:ext>
            </a:extLst>
          </p:cNvPr>
          <p:cNvSpPr txBox="1"/>
          <p:nvPr/>
        </p:nvSpPr>
        <p:spPr>
          <a:xfrm>
            <a:off x="7214459" y="2708628"/>
            <a:ext cx="147532" cy="147532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221E5CA6-BCED-E120-C15F-3CFE274923E6}"/>
              </a:ext>
            </a:extLst>
          </p:cNvPr>
          <p:cNvSpPr txBox="1"/>
          <p:nvPr/>
        </p:nvSpPr>
        <p:spPr>
          <a:xfrm>
            <a:off x="3742590" y="3138745"/>
            <a:ext cx="147532" cy="147532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B485FF91-8E24-F17F-8EF9-1C27E8974316}"/>
              </a:ext>
            </a:extLst>
          </p:cNvPr>
          <p:cNvSpPr txBox="1"/>
          <p:nvPr/>
        </p:nvSpPr>
        <p:spPr>
          <a:xfrm>
            <a:off x="3742590" y="3570215"/>
            <a:ext cx="147532" cy="147532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CD823EDE-A940-00E8-FD20-934EA466DCC4}"/>
              </a:ext>
            </a:extLst>
          </p:cNvPr>
          <p:cNvSpPr txBox="1"/>
          <p:nvPr/>
        </p:nvSpPr>
        <p:spPr>
          <a:xfrm>
            <a:off x="7214459" y="3138745"/>
            <a:ext cx="147532" cy="147532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D177E316-87FF-B26C-AD15-8238CA6E4BFC}"/>
              </a:ext>
            </a:extLst>
          </p:cNvPr>
          <p:cNvSpPr txBox="1"/>
          <p:nvPr/>
        </p:nvSpPr>
        <p:spPr>
          <a:xfrm>
            <a:off x="7214459" y="3570215"/>
            <a:ext cx="147532" cy="147532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3625DEBC-F3BC-7A74-2C57-37824E36736F}"/>
              </a:ext>
            </a:extLst>
          </p:cNvPr>
          <p:cNvSpPr/>
          <p:nvPr/>
        </p:nvSpPr>
        <p:spPr>
          <a:xfrm>
            <a:off x="344486" y="3915612"/>
            <a:ext cx="3374780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 spc="-5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개선 방안 수립</a:t>
            </a:r>
            <a:endParaRPr kumimoji="1" lang="en-US" altLang="ko-KR" sz="900" kern="0" spc="-5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C58424CB-337D-7CF7-2B59-7D7091797D64}"/>
              </a:ext>
            </a:extLst>
          </p:cNvPr>
          <p:cNvCxnSpPr>
            <a:cxnSpLocks/>
          </p:cNvCxnSpPr>
          <p:nvPr/>
        </p:nvCxnSpPr>
        <p:spPr>
          <a:xfrm>
            <a:off x="861762" y="3378047"/>
            <a:ext cx="0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5DD21849-AA70-9982-3EE0-D1B0C093EABC}"/>
              </a:ext>
            </a:extLst>
          </p:cNvPr>
          <p:cNvCxnSpPr>
            <a:cxnSpLocks/>
            <a:stCxn id="195" idx="2"/>
            <a:endCxn id="5" idx="0"/>
          </p:cNvCxnSpPr>
          <p:nvPr/>
        </p:nvCxnSpPr>
        <p:spPr>
          <a:xfrm>
            <a:off x="2031875" y="3811381"/>
            <a:ext cx="1" cy="104231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6D56ADDE-4097-EA12-3573-ACEBAD826063}"/>
              </a:ext>
            </a:extLst>
          </p:cNvPr>
          <p:cNvSpPr/>
          <p:nvPr/>
        </p:nvSpPr>
        <p:spPr>
          <a:xfrm>
            <a:off x="3816356" y="3915612"/>
            <a:ext cx="1060200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 spc="-5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개선 방안 수립</a:t>
            </a:r>
            <a:endParaRPr kumimoji="1" lang="en-US" altLang="ko-KR" sz="900" kern="0" spc="-5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BAF175D9-2B5D-7591-97B6-B6AAA2505E80}"/>
              </a:ext>
            </a:extLst>
          </p:cNvPr>
          <p:cNvCxnSpPr>
            <a:cxnSpLocks/>
            <a:stCxn id="12" idx="2"/>
            <a:endCxn id="33" idx="0"/>
          </p:cNvCxnSpPr>
          <p:nvPr/>
        </p:nvCxnSpPr>
        <p:spPr>
          <a:xfrm>
            <a:off x="4346456" y="3811381"/>
            <a:ext cx="0" cy="104231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연결선: 꺾임 55">
            <a:extLst>
              <a:ext uri="{FF2B5EF4-FFF2-40B4-BE49-F238E27FC236}">
                <a16:creationId xmlns:a16="http://schemas.microsoft.com/office/drawing/2014/main" id="{E57D35B8-8DBC-4462-98FC-C2DC6A0C265E}"/>
              </a:ext>
            </a:extLst>
          </p:cNvPr>
          <p:cNvCxnSpPr>
            <a:cxnSpLocks/>
            <a:stCxn id="37" idx="3"/>
            <a:endCxn id="43" idx="1"/>
          </p:cNvCxnSpPr>
          <p:nvPr/>
        </p:nvCxnSpPr>
        <p:spPr>
          <a:xfrm flipV="1">
            <a:off x="8348425" y="2780226"/>
            <a:ext cx="97091" cy="863755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연결선: 꺾임 130">
            <a:extLst>
              <a:ext uri="{FF2B5EF4-FFF2-40B4-BE49-F238E27FC236}">
                <a16:creationId xmlns:a16="http://schemas.microsoft.com/office/drawing/2014/main" id="{4BCDA9DF-A3D8-1220-B96E-632A91071A82}"/>
              </a:ext>
            </a:extLst>
          </p:cNvPr>
          <p:cNvCxnSpPr>
            <a:cxnSpLocks/>
            <a:stCxn id="33" idx="3"/>
            <a:endCxn id="27" idx="1"/>
          </p:cNvCxnSpPr>
          <p:nvPr/>
        </p:nvCxnSpPr>
        <p:spPr>
          <a:xfrm flipV="1">
            <a:off x="4876556" y="2780226"/>
            <a:ext cx="97090" cy="1302786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연결선: 꺾임 133">
            <a:extLst>
              <a:ext uri="{FF2B5EF4-FFF2-40B4-BE49-F238E27FC236}">
                <a16:creationId xmlns:a16="http://schemas.microsoft.com/office/drawing/2014/main" id="{C85E8D14-CD1E-0AF5-C700-A69F4BA73C1C}"/>
              </a:ext>
            </a:extLst>
          </p:cNvPr>
          <p:cNvCxnSpPr>
            <a:cxnSpLocks/>
            <a:stCxn id="58" idx="3"/>
            <a:endCxn id="211" idx="1"/>
          </p:cNvCxnSpPr>
          <p:nvPr/>
        </p:nvCxnSpPr>
        <p:spPr>
          <a:xfrm flipV="1">
            <a:off x="6033846" y="2780226"/>
            <a:ext cx="97090" cy="863755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24024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A7234-BD18-59F7-46DB-B5DBC918D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242830C-AB7C-743C-5861-5BAC5A49990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4487" y="254884"/>
            <a:ext cx="4586512" cy="343235"/>
          </a:xfrm>
          <a:solidFill>
            <a:schemeClr val="bg1"/>
          </a:solidFill>
        </p:spPr>
        <p:txBody>
          <a:bodyPr wrap="none" anchor="ctr">
            <a:spAutoFit/>
          </a:bodyPr>
          <a:lstStyle/>
          <a:p>
            <a:r>
              <a:rPr lang="en-US" altLang="ko-KR" b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Appendix. [</a:t>
            </a:r>
            <a:r>
              <a:rPr lang="ko-KR" altLang="en-US" b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생산기술</a:t>
            </a:r>
            <a:r>
              <a:rPr lang="en-US" altLang="ko-KR" b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] </a:t>
            </a:r>
            <a:r>
              <a:rPr lang="ko-KR" altLang="en-US" b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투자 사업 기획 및 관리</a:t>
            </a:r>
            <a:endParaRPr lang="en-US" altLang="ko-KR" b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092D2572-E9E1-1EBF-DB47-5B69173927B9}"/>
              </a:ext>
            </a:extLst>
          </p:cNvPr>
          <p:cNvCxnSpPr>
            <a:cxnSpLocks/>
          </p:cNvCxnSpPr>
          <p:nvPr/>
        </p:nvCxnSpPr>
        <p:spPr>
          <a:xfrm>
            <a:off x="344488" y="1768835"/>
            <a:ext cx="9221614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B602EE6-FC1B-3961-EAEE-F8E51B7F2038}"/>
              </a:ext>
            </a:extLst>
          </p:cNvPr>
          <p:cNvSpPr/>
          <p:nvPr/>
        </p:nvSpPr>
        <p:spPr>
          <a:xfrm>
            <a:off x="344490" y="1547834"/>
            <a:ext cx="570257" cy="171734"/>
          </a:xfrm>
          <a:prstGeom prst="rect">
            <a:avLst/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1000" b="1">
                <a:latin typeface="나눔스퀘어" panose="020B0600000101010101" pitchFamily="50" charset="-127"/>
                <a:ea typeface="나눔스퀘어" panose="020B0600000101010101" pitchFamily="50" charset="-127"/>
              </a:rPr>
              <a:t>Process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CF4D7C5-740F-E21C-DEB7-5A28687E7DE2}"/>
              </a:ext>
            </a:extLst>
          </p:cNvPr>
          <p:cNvSpPr/>
          <p:nvPr/>
        </p:nvSpPr>
        <p:spPr>
          <a:xfrm>
            <a:off x="955677" y="1547834"/>
            <a:ext cx="570257" cy="171734"/>
          </a:xfrm>
          <a:prstGeom prst="rect">
            <a:avLst/>
          </a:prstGeom>
          <a:solidFill>
            <a:schemeClr val="bg1">
              <a:lumMod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Activity</a:t>
            </a:r>
          </a:p>
        </p:txBody>
      </p:sp>
      <p:sp>
        <p:nvSpPr>
          <p:cNvPr id="129" name="사각형: 둥근 모서리 128">
            <a:extLst>
              <a:ext uri="{FF2B5EF4-FFF2-40B4-BE49-F238E27FC236}">
                <a16:creationId xmlns:a16="http://schemas.microsoft.com/office/drawing/2014/main" id="{D0B6F52E-2CF9-5350-D95F-5D0247D5FD45}"/>
              </a:ext>
            </a:extLst>
          </p:cNvPr>
          <p:cNvSpPr/>
          <p:nvPr/>
        </p:nvSpPr>
        <p:spPr>
          <a:xfrm>
            <a:off x="4031571" y="1640841"/>
            <a:ext cx="1847448" cy="25598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rgbClr val="217C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To-Be </a:t>
            </a:r>
            <a:r>
              <a:rPr lang="ko-KR" altLang="en-US" sz="1200">
                <a:solidFill>
                  <a:schemeClr val="tx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업무 시나리오</a:t>
            </a:r>
          </a:p>
        </p:txBody>
      </p:sp>
      <p:sp>
        <p:nvSpPr>
          <p:cNvPr id="143" name="사각형: 둥근 모서리 142">
            <a:extLst>
              <a:ext uri="{FF2B5EF4-FFF2-40B4-BE49-F238E27FC236}">
                <a16:creationId xmlns:a16="http://schemas.microsoft.com/office/drawing/2014/main" id="{E085C4CC-F101-24C2-FB55-573F5E3FDB42}"/>
              </a:ext>
            </a:extLst>
          </p:cNvPr>
          <p:cNvSpPr/>
          <p:nvPr/>
        </p:nvSpPr>
        <p:spPr>
          <a:xfrm>
            <a:off x="344488" y="721134"/>
            <a:ext cx="941772" cy="763179"/>
          </a:xfrm>
          <a:prstGeom prst="roundRect">
            <a:avLst>
              <a:gd name="adj" fmla="val 0"/>
            </a:avLst>
          </a:prstGeom>
          <a:solidFill>
            <a:srgbClr val="217CFA"/>
          </a:solidFill>
          <a:ln w="6350">
            <a:solidFill>
              <a:srgbClr val="217C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Digital</a:t>
            </a:r>
            <a:r>
              <a:rPr lang="ko-KR" altLang="en-US" sz="130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화 지향점</a:t>
            </a:r>
          </a:p>
        </p:txBody>
      </p:sp>
      <p:sp>
        <p:nvSpPr>
          <p:cNvPr id="144" name="텍스트 개체 틀 4">
            <a:extLst>
              <a:ext uri="{FF2B5EF4-FFF2-40B4-BE49-F238E27FC236}">
                <a16:creationId xmlns:a16="http://schemas.microsoft.com/office/drawing/2014/main" id="{F9F69BDB-138C-E8C8-9D13-DFD9967B8570}"/>
              </a:ext>
            </a:extLst>
          </p:cNvPr>
          <p:cNvSpPr txBox="1">
            <a:spLocks/>
          </p:cNvSpPr>
          <p:nvPr/>
        </p:nvSpPr>
        <p:spPr>
          <a:xfrm>
            <a:off x="1386038" y="721134"/>
            <a:ext cx="8180064" cy="769485"/>
          </a:xfrm>
          <a:prstGeom prst="rect">
            <a:avLst/>
          </a:prstGeom>
          <a:pattFill prst="dkUp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 w="3175">
            <a:noFill/>
          </a:ln>
        </p:spPr>
        <p:txBody>
          <a:bodyPr vert="horz" lIns="108000" tIns="36000" rIns="36000" bIns="36000" rtlCol="0" anchor="ctr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2563" indent="-182563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en-US" altLang="ko-KR" sz="1200" b="0"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ngal Pro" panose="020B0502040204020203" pitchFamily="2" charset="0"/>
              </a:rPr>
              <a:t>AI </a:t>
            </a:r>
            <a:r>
              <a:rPr lang="ko-KR" altLang="en-US" sz="1200" b="0"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ngal Pro" panose="020B0502040204020203" pitchFamily="2" charset="0"/>
              </a:rPr>
              <a:t>활용 투자 관리 체계 고도화</a:t>
            </a:r>
            <a:endParaRPr lang="en-US" altLang="ko-KR" sz="1200" b="0">
              <a:solidFill>
                <a:prstClr val="black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cs typeface="Mangal Pro" panose="020B0502040204020203" pitchFamily="2" charset="0"/>
            </a:endParaRPr>
          </a:p>
          <a:p>
            <a:pPr marL="355600" indent="-173038" latinLnBrk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Font typeface="나눔스퀘어 ExtraBold" panose="020B0600000101010101" pitchFamily="50" charset="-127"/>
              <a:buChar char="-"/>
            </a:pPr>
            <a:r>
              <a:rPr lang="ko-KR" altLang="en-US" sz="1100" b="0">
                <a:solidFill>
                  <a:prstClr val="black"/>
                </a:solidFill>
                <a:cs typeface="Mangal Pro" panose="020B0502040204020203" pitchFamily="2" charset="0"/>
              </a:rPr>
              <a:t>유사 투자사업 수행 이력 제공 기반 사업 승인 절차 지원</a:t>
            </a:r>
            <a:endParaRPr lang="en-US" altLang="ko-KR" sz="1100" b="0">
              <a:solidFill>
                <a:prstClr val="black"/>
              </a:solidFill>
              <a:cs typeface="Mangal Pro" panose="020B0502040204020203" pitchFamily="2" charset="0"/>
            </a:endParaRPr>
          </a:p>
          <a:p>
            <a:pPr marL="355600" indent="-173038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나눔스퀘어 ExtraBold" panose="020B0600000101010101" pitchFamily="50" charset="-127"/>
              <a:buChar char="-"/>
            </a:pPr>
            <a:r>
              <a:rPr lang="ko-KR" altLang="en-US" sz="1100" b="0">
                <a:solidFill>
                  <a:prstClr val="black"/>
                </a:solidFill>
                <a:cs typeface="Mangal Pro" panose="020B0502040204020203" pitchFamily="2" charset="0"/>
              </a:rPr>
              <a:t>투자사업 추진 단계 별 중요 </a:t>
            </a:r>
            <a:r>
              <a:rPr lang="en-US" altLang="ko-KR" sz="1100" b="0">
                <a:solidFill>
                  <a:prstClr val="black"/>
                </a:solidFill>
                <a:cs typeface="Mangal Pro" panose="020B0502040204020203" pitchFamily="2" charset="0"/>
              </a:rPr>
              <a:t>Point </a:t>
            </a:r>
            <a:r>
              <a:rPr lang="ko-KR" altLang="en-US" sz="1100" b="0">
                <a:solidFill>
                  <a:prstClr val="black"/>
                </a:solidFill>
                <a:cs typeface="Mangal Pro" panose="020B0502040204020203" pitchFamily="2" charset="0"/>
              </a:rPr>
              <a:t>식별 및 관리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289EACE6-C012-1052-556B-CEC11405A076}"/>
              </a:ext>
            </a:extLst>
          </p:cNvPr>
          <p:cNvSpPr/>
          <p:nvPr/>
        </p:nvSpPr>
        <p:spPr>
          <a:xfrm>
            <a:off x="8926185" y="1553252"/>
            <a:ext cx="635326" cy="160797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solidFill>
                  <a:schemeClr val="bg1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삭제 업무</a:t>
            </a:r>
            <a:endParaRPr kumimoji="1" lang="en-US" altLang="ko-KR" sz="900" kern="0">
              <a:solidFill>
                <a:schemeClr val="bg1">
                  <a:lumMod val="7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36EB89C-BD3C-BCCF-A55B-E887E0537C6C}"/>
              </a:ext>
            </a:extLst>
          </p:cNvPr>
          <p:cNvSpPr/>
          <p:nvPr/>
        </p:nvSpPr>
        <p:spPr>
          <a:xfrm>
            <a:off x="7552890" y="1553252"/>
            <a:ext cx="635326" cy="160797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AI/DT </a:t>
            </a: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신규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15F9E524-08E2-0466-45D6-D3B17E011A39}"/>
              </a:ext>
            </a:extLst>
          </p:cNvPr>
          <p:cNvSpPr/>
          <p:nvPr/>
        </p:nvSpPr>
        <p:spPr>
          <a:xfrm>
            <a:off x="8239537" y="1553252"/>
            <a:ext cx="635326" cy="160797"/>
          </a:xfrm>
          <a:prstGeom prst="roundRect">
            <a:avLst/>
          </a:prstGeom>
          <a:pattFill prst="ltUpDiag">
            <a:fgClr>
              <a:srgbClr val="C4DCF2"/>
            </a:fgClr>
            <a:bgClr>
              <a:schemeClr val="bg1"/>
            </a:bgClr>
          </a:pattFill>
          <a:ln w="3175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Digital </a:t>
            </a: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기존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2F183437-4453-4830-39F3-B2A31C10306C}"/>
              </a:ext>
            </a:extLst>
          </p:cNvPr>
          <p:cNvCxnSpPr>
            <a:cxnSpLocks/>
          </p:cNvCxnSpPr>
          <p:nvPr/>
        </p:nvCxnSpPr>
        <p:spPr>
          <a:xfrm>
            <a:off x="344488" y="4859066"/>
            <a:ext cx="9221614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881F6DB6-2207-B2A3-FC60-D53C01450190}"/>
              </a:ext>
            </a:extLst>
          </p:cNvPr>
          <p:cNvSpPr/>
          <p:nvPr/>
        </p:nvSpPr>
        <p:spPr>
          <a:xfrm>
            <a:off x="4031571" y="4731072"/>
            <a:ext cx="1847448" cy="25598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rgbClr val="217C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주요</a:t>
            </a:r>
            <a:r>
              <a:rPr lang="en-US" altLang="ko-KR" sz="1200">
                <a:solidFill>
                  <a:schemeClr val="tx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ko-KR" altLang="en-US" sz="1200">
                <a:solidFill>
                  <a:schemeClr val="tx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추진 사항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7BBB402-1D84-1498-8154-4547A5819D45}"/>
              </a:ext>
            </a:extLst>
          </p:cNvPr>
          <p:cNvSpPr txBox="1"/>
          <p:nvPr/>
        </p:nvSpPr>
        <p:spPr>
          <a:xfrm>
            <a:off x="673770" y="5073302"/>
            <a:ext cx="3936732" cy="200435"/>
          </a:xfrm>
          <a:prstGeom prst="rect">
            <a:avLst/>
          </a:prstGeom>
          <a:noFill/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ko-KR" altLang="en-US" sz="1100" u="sng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변화 </a:t>
            </a:r>
            <a:r>
              <a:rPr lang="en-US" altLang="ko-KR" sz="1100" u="sng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Point</a:t>
            </a:r>
            <a:endParaRPr lang="ko-KR" altLang="en-US" sz="1100" u="sng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FE274DE-B758-DE9C-4A22-DCAEE319E778}"/>
              </a:ext>
            </a:extLst>
          </p:cNvPr>
          <p:cNvSpPr txBox="1"/>
          <p:nvPr/>
        </p:nvSpPr>
        <p:spPr>
          <a:xfrm>
            <a:off x="7489234" y="5073302"/>
            <a:ext cx="2072281" cy="200435"/>
          </a:xfrm>
          <a:prstGeom prst="rect">
            <a:avLst/>
          </a:prstGeom>
          <a:noFill/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ko-KR" altLang="en-US" sz="1100" u="sng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업무 개선 사항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EBE74B4-CE77-9A23-585C-FC676A9470F7}"/>
              </a:ext>
            </a:extLst>
          </p:cNvPr>
          <p:cNvSpPr txBox="1"/>
          <p:nvPr/>
        </p:nvSpPr>
        <p:spPr>
          <a:xfrm>
            <a:off x="4710767" y="5073302"/>
            <a:ext cx="2678203" cy="200435"/>
          </a:xfrm>
          <a:prstGeom prst="rect">
            <a:avLst/>
          </a:prstGeom>
          <a:noFill/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100" u="sng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Digital</a:t>
            </a:r>
            <a:r>
              <a:rPr lang="ko-KR" altLang="en-US" sz="1100" u="sng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화 기회</a:t>
            </a:r>
          </a:p>
        </p:txBody>
      </p:sp>
      <p:sp>
        <p:nvSpPr>
          <p:cNvPr id="5" name="화살표: 오각형 4">
            <a:extLst>
              <a:ext uri="{FF2B5EF4-FFF2-40B4-BE49-F238E27FC236}">
                <a16:creationId xmlns:a16="http://schemas.microsoft.com/office/drawing/2014/main" id="{AA9E9A88-CAEA-61D0-C658-A8A3AF0D17AE}"/>
              </a:ext>
            </a:extLst>
          </p:cNvPr>
          <p:cNvSpPr/>
          <p:nvPr/>
        </p:nvSpPr>
        <p:spPr>
          <a:xfrm>
            <a:off x="344485" y="2211778"/>
            <a:ext cx="2195516" cy="349200"/>
          </a:xfrm>
          <a:prstGeom prst="homePlate">
            <a:avLst>
              <a:gd name="adj" fmla="val 24867"/>
            </a:avLst>
          </a:prstGeom>
          <a:solidFill>
            <a:schemeClr val="bg1">
              <a:lumMod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ko-KR" altLang="en-US" sz="900" b="1">
                <a:latin typeface="나눔스퀘어" panose="020B0600000101010101" pitchFamily="50" charset="-127"/>
                <a:ea typeface="나눔스퀘어" panose="020B0600000101010101" pitchFamily="50" charset="-127"/>
              </a:rPr>
              <a:t>투자 사업 타당성 검토</a:t>
            </a:r>
          </a:p>
        </p:txBody>
      </p:sp>
      <p:sp>
        <p:nvSpPr>
          <p:cNvPr id="6" name="화살표: 오각형 5">
            <a:extLst>
              <a:ext uri="{FF2B5EF4-FFF2-40B4-BE49-F238E27FC236}">
                <a16:creationId xmlns:a16="http://schemas.microsoft.com/office/drawing/2014/main" id="{9FD3D1FB-EDB9-6631-B0B7-5D8CFB1FF0DE}"/>
              </a:ext>
            </a:extLst>
          </p:cNvPr>
          <p:cNvSpPr/>
          <p:nvPr/>
        </p:nvSpPr>
        <p:spPr>
          <a:xfrm>
            <a:off x="2667205" y="2211778"/>
            <a:ext cx="2195516" cy="349200"/>
          </a:xfrm>
          <a:prstGeom prst="homePlate">
            <a:avLst>
              <a:gd name="adj" fmla="val 24867"/>
            </a:avLst>
          </a:prstGeom>
          <a:solidFill>
            <a:schemeClr val="bg1">
              <a:lumMod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ko-KR" altLang="en-US" sz="900" b="1">
                <a:latin typeface="나눔스퀘어" panose="020B0600000101010101" pitchFamily="50" charset="-127"/>
                <a:ea typeface="나눔스퀘어" panose="020B0600000101010101" pitchFamily="50" charset="-127"/>
              </a:rPr>
              <a:t>투자 사업 제안 및 승인</a:t>
            </a:r>
          </a:p>
        </p:txBody>
      </p:sp>
      <p:sp>
        <p:nvSpPr>
          <p:cNvPr id="8" name="화살표: 오각형 7">
            <a:extLst>
              <a:ext uri="{FF2B5EF4-FFF2-40B4-BE49-F238E27FC236}">
                <a16:creationId xmlns:a16="http://schemas.microsoft.com/office/drawing/2014/main" id="{7C65BEFD-0996-8412-2A76-0C88905D4065}"/>
              </a:ext>
            </a:extLst>
          </p:cNvPr>
          <p:cNvSpPr/>
          <p:nvPr/>
        </p:nvSpPr>
        <p:spPr>
          <a:xfrm>
            <a:off x="5043796" y="2211778"/>
            <a:ext cx="2196761" cy="349200"/>
          </a:xfrm>
          <a:prstGeom prst="homePlate">
            <a:avLst>
              <a:gd name="adj" fmla="val 24867"/>
            </a:avLst>
          </a:prstGeom>
          <a:solidFill>
            <a:schemeClr val="bg1">
              <a:lumMod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ko-KR" altLang="en-US" sz="900" b="1">
                <a:latin typeface="나눔스퀘어" panose="020B0600000101010101" pitchFamily="50" charset="-127"/>
                <a:ea typeface="나눔스퀘어" panose="020B0600000101010101" pitchFamily="50" charset="-127"/>
              </a:rPr>
              <a:t>투자 사업 수행</a:t>
            </a:r>
          </a:p>
        </p:txBody>
      </p:sp>
      <p:sp>
        <p:nvSpPr>
          <p:cNvPr id="21" name="화살표: 오각형 20">
            <a:extLst>
              <a:ext uri="{FF2B5EF4-FFF2-40B4-BE49-F238E27FC236}">
                <a16:creationId xmlns:a16="http://schemas.microsoft.com/office/drawing/2014/main" id="{D88AB12F-CF75-76AC-C72A-6DB94D2EE4DB}"/>
              </a:ext>
            </a:extLst>
          </p:cNvPr>
          <p:cNvSpPr/>
          <p:nvPr/>
        </p:nvSpPr>
        <p:spPr>
          <a:xfrm>
            <a:off x="7365091" y="2211778"/>
            <a:ext cx="2196761" cy="349200"/>
          </a:xfrm>
          <a:prstGeom prst="homePlate">
            <a:avLst>
              <a:gd name="adj" fmla="val 24867"/>
            </a:avLst>
          </a:prstGeom>
          <a:solidFill>
            <a:schemeClr val="bg1">
              <a:lumMod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ko-KR" altLang="en-US" sz="900" b="1">
                <a:latin typeface="나눔스퀘어" panose="020B0600000101010101" pitchFamily="50" charset="-127"/>
                <a:ea typeface="나눔스퀘어" panose="020B0600000101010101" pitchFamily="50" charset="-127"/>
              </a:rPr>
              <a:t>투자 사업 완료 검증 및 운영 전환</a:t>
            </a:r>
          </a:p>
        </p:txBody>
      </p:sp>
      <p:sp>
        <p:nvSpPr>
          <p:cNvPr id="23" name="화살표: 오각형 22">
            <a:extLst>
              <a:ext uri="{FF2B5EF4-FFF2-40B4-BE49-F238E27FC236}">
                <a16:creationId xmlns:a16="http://schemas.microsoft.com/office/drawing/2014/main" id="{E98B7DAD-AD09-7A53-C788-AEC5B97873CD}"/>
              </a:ext>
            </a:extLst>
          </p:cNvPr>
          <p:cNvSpPr/>
          <p:nvPr/>
        </p:nvSpPr>
        <p:spPr>
          <a:xfrm>
            <a:off x="344490" y="1964217"/>
            <a:ext cx="4518232" cy="201600"/>
          </a:xfrm>
          <a:prstGeom prst="homePlate">
            <a:avLst>
              <a:gd name="adj" fmla="val 24867"/>
            </a:avLst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ko-KR" altLang="en-US" sz="1000" b="1">
                <a:latin typeface="나눔스퀘어" panose="020B0600000101010101" pitchFamily="50" charset="-127"/>
                <a:ea typeface="나눔스퀘어" panose="020B0600000101010101" pitchFamily="50" charset="-127"/>
              </a:rPr>
              <a:t>투자 사업 기획</a:t>
            </a:r>
            <a:endParaRPr lang="en-US" altLang="ko-KR" sz="1000" b="1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4" name="화살표: 오각형 23">
            <a:extLst>
              <a:ext uri="{FF2B5EF4-FFF2-40B4-BE49-F238E27FC236}">
                <a16:creationId xmlns:a16="http://schemas.microsoft.com/office/drawing/2014/main" id="{0118D158-E5CB-25F4-23B7-7BFF4120AA2A}"/>
              </a:ext>
            </a:extLst>
          </p:cNvPr>
          <p:cNvSpPr/>
          <p:nvPr/>
        </p:nvSpPr>
        <p:spPr>
          <a:xfrm>
            <a:off x="5043797" y="1964217"/>
            <a:ext cx="4518056" cy="201600"/>
          </a:xfrm>
          <a:prstGeom prst="homePlate">
            <a:avLst>
              <a:gd name="adj" fmla="val 24867"/>
            </a:avLst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ko-KR" altLang="en-US" sz="1000" b="1">
                <a:latin typeface="나눔스퀘어" panose="020B0600000101010101" pitchFamily="50" charset="-127"/>
                <a:ea typeface="나눔스퀘어" panose="020B0600000101010101" pitchFamily="50" charset="-127"/>
              </a:rPr>
              <a:t>투자 사업 관리</a:t>
            </a:r>
            <a:endParaRPr lang="en-US" altLang="ko-KR" sz="1000" b="1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619F4609-6767-A14A-C9E7-E4ADC1DB000A}"/>
              </a:ext>
            </a:extLst>
          </p:cNvPr>
          <p:cNvSpPr/>
          <p:nvPr/>
        </p:nvSpPr>
        <p:spPr>
          <a:xfrm>
            <a:off x="344486" y="3043247"/>
            <a:ext cx="2112052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예비 타당성</a:t>
            </a:r>
            <a: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검토 수행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7CBE5D4F-9ACC-C2FA-DF61-297E3F0348F8}"/>
              </a:ext>
            </a:extLst>
          </p:cNvPr>
          <p:cNvSpPr/>
          <p:nvPr/>
        </p:nvSpPr>
        <p:spPr>
          <a:xfrm>
            <a:off x="2667204" y="3476581"/>
            <a:ext cx="2112052" cy="334800"/>
          </a:xfrm>
          <a:prstGeom prst="roundRect">
            <a:avLst/>
          </a:prstGeom>
          <a:pattFill prst="ltUpDiag">
            <a:fgClr>
              <a:srgbClr val="C4DCF2"/>
            </a:fgClr>
            <a:bgClr>
              <a:schemeClr val="bg1"/>
            </a:bgClr>
          </a:pattFill>
          <a:ln w="3175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투자위원회 심의 절차 수행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(</a:t>
            </a: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투자관리시스템</a:t>
            </a:r>
            <a: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)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DA968ED1-EB3C-0CBD-2971-719DAACE1399}"/>
              </a:ext>
            </a:extLst>
          </p:cNvPr>
          <p:cNvSpPr/>
          <p:nvPr/>
        </p:nvSpPr>
        <p:spPr>
          <a:xfrm>
            <a:off x="2667204" y="3043247"/>
            <a:ext cx="2112052" cy="334800"/>
          </a:xfrm>
          <a:prstGeom prst="roundRect">
            <a:avLst/>
          </a:prstGeom>
          <a:pattFill prst="ltUpDiag">
            <a:fgClr>
              <a:srgbClr val="C4DCF2"/>
            </a:fgClr>
            <a:bgClr>
              <a:schemeClr val="bg1"/>
            </a:bgClr>
          </a:pattFill>
          <a:ln w="3175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투자 사업 승인 절차 수행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(</a:t>
            </a: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투자관리시스템</a:t>
            </a:r>
            <a: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)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B9786A27-61E5-046E-8373-7DBEB4716DF9}"/>
              </a:ext>
            </a:extLst>
          </p:cNvPr>
          <p:cNvSpPr/>
          <p:nvPr/>
        </p:nvSpPr>
        <p:spPr>
          <a:xfrm>
            <a:off x="5043796" y="3476581"/>
            <a:ext cx="2112052" cy="334800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투자 사업 집행 지원</a:t>
            </a:r>
            <a:br>
              <a:rPr kumimoji="1" lang="en-US" altLang="ko-KR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</a:br>
            <a:r>
              <a:rPr kumimoji="1" lang="en-US" altLang="ko-KR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(</a:t>
            </a: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변경 관리</a:t>
            </a:r>
            <a:r>
              <a:rPr kumimoji="1" lang="en-US" altLang="ko-KR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, </a:t>
            </a: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인허가 등</a:t>
            </a:r>
            <a:r>
              <a:rPr kumimoji="1" lang="en-US" altLang="ko-KR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)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91CE18B6-0A4E-F25F-56E0-4108E3C39412}"/>
              </a:ext>
            </a:extLst>
          </p:cNvPr>
          <p:cNvSpPr/>
          <p:nvPr/>
        </p:nvSpPr>
        <p:spPr>
          <a:xfrm>
            <a:off x="5043796" y="3043247"/>
            <a:ext cx="2112052" cy="334800"/>
          </a:xfrm>
          <a:prstGeom prst="roundRect">
            <a:avLst/>
          </a:prstGeom>
          <a:pattFill prst="ltUpDiag">
            <a:fgClr>
              <a:srgbClr val="C4DCF2"/>
            </a:fgClr>
            <a:bgClr>
              <a:schemeClr val="bg1"/>
            </a:bgClr>
          </a:pattFill>
          <a:ln w="3175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투자 사업 집행 위탁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(</a:t>
            </a: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투자관리시스템</a:t>
            </a:r>
            <a: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)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930F0CBC-1C8A-AF55-3739-4C860C845CEC}"/>
              </a:ext>
            </a:extLst>
          </p:cNvPr>
          <p:cNvSpPr/>
          <p:nvPr/>
        </p:nvSpPr>
        <p:spPr>
          <a:xfrm>
            <a:off x="344486" y="2604121"/>
            <a:ext cx="2113135" cy="334800"/>
          </a:xfrm>
          <a:prstGeom prst="roundRect">
            <a:avLst/>
          </a:prstGeom>
          <a:pattFill prst="ltUpDiag">
            <a:fgClr>
              <a:srgbClr val="C4DCF2"/>
            </a:fgClr>
            <a:bgClr>
              <a:schemeClr val="bg1"/>
            </a:bgClr>
          </a:pattFill>
          <a:ln w="3175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투자 사업 </a:t>
            </a:r>
            <a: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List-up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(</a:t>
            </a: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투자관리시스템</a:t>
            </a:r>
            <a: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)</a:t>
            </a: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C3C9A33D-E513-E4DD-69EA-E57ABA378AAA}"/>
              </a:ext>
            </a:extLst>
          </p:cNvPr>
          <p:cNvSpPr/>
          <p:nvPr/>
        </p:nvSpPr>
        <p:spPr>
          <a:xfrm>
            <a:off x="2667204" y="2604121"/>
            <a:ext cx="2113135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사업계획서 작성</a:t>
            </a:r>
            <a:b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</a:br>
            <a: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(</a:t>
            </a: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사업 일정 및 예산</a:t>
            </a:r>
            <a: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, </a:t>
            </a: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경제성 등</a:t>
            </a:r>
            <a: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)</a:t>
            </a: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8E906BC5-B8EC-44E9-2E73-F7797D084140}"/>
              </a:ext>
            </a:extLst>
          </p:cNvPr>
          <p:cNvSpPr/>
          <p:nvPr/>
        </p:nvSpPr>
        <p:spPr>
          <a:xfrm>
            <a:off x="5043796" y="2604121"/>
            <a:ext cx="2113135" cy="334800"/>
          </a:xfrm>
          <a:prstGeom prst="roundRect">
            <a:avLst/>
          </a:prstGeom>
          <a:pattFill prst="ltUpDiag">
            <a:fgClr>
              <a:srgbClr val="C4DCF2"/>
            </a:fgClr>
            <a:bgClr>
              <a:schemeClr val="bg1"/>
            </a:bgClr>
          </a:pattFill>
          <a:ln w="3175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투자 예산 승인 취득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(</a:t>
            </a: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투자관리시스템</a:t>
            </a:r>
            <a: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)</a:t>
            </a: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9F3C5693-A6F4-2B85-1E28-8A886A6CE54E}"/>
              </a:ext>
            </a:extLst>
          </p:cNvPr>
          <p:cNvSpPr/>
          <p:nvPr/>
        </p:nvSpPr>
        <p:spPr>
          <a:xfrm>
            <a:off x="7366514" y="3043247"/>
            <a:ext cx="2113135" cy="334800"/>
          </a:xfrm>
          <a:prstGeom prst="roundRect">
            <a:avLst/>
          </a:prstGeom>
          <a:pattFill prst="ltUpDiag">
            <a:fgClr>
              <a:srgbClr val="C4DCF2"/>
            </a:fgClr>
            <a:bgClr>
              <a:schemeClr val="bg1"/>
            </a:bgClr>
          </a:pattFill>
          <a:ln w="3175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투자 사업 마감 보고 작성 및 승인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(</a:t>
            </a: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투자관리시스템</a:t>
            </a:r>
            <a: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)</a:t>
            </a:r>
          </a:p>
        </p:txBody>
      </p:sp>
      <p:cxnSp>
        <p:nvCxnSpPr>
          <p:cNvPr id="128" name="직선 화살표 연결선 127">
            <a:extLst>
              <a:ext uri="{FF2B5EF4-FFF2-40B4-BE49-F238E27FC236}">
                <a16:creationId xmlns:a16="http://schemas.microsoft.com/office/drawing/2014/main" id="{C07EC290-04BE-7DA6-BC92-8206BF090EF8}"/>
              </a:ext>
            </a:extLst>
          </p:cNvPr>
          <p:cNvCxnSpPr>
            <a:cxnSpLocks/>
            <a:stCxn id="40" idx="2"/>
            <a:endCxn id="25" idx="0"/>
          </p:cNvCxnSpPr>
          <p:nvPr/>
        </p:nvCxnSpPr>
        <p:spPr>
          <a:xfrm flipH="1">
            <a:off x="1400512" y="2938921"/>
            <a:ext cx="542" cy="104326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직선 화살표 연결선 132">
            <a:extLst>
              <a:ext uri="{FF2B5EF4-FFF2-40B4-BE49-F238E27FC236}">
                <a16:creationId xmlns:a16="http://schemas.microsoft.com/office/drawing/2014/main" id="{DB74C29A-5198-1923-4BD4-5A851CE0C311}"/>
              </a:ext>
            </a:extLst>
          </p:cNvPr>
          <p:cNvCxnSpPr>
            <a:cxnSpLocks/>
            <a:stCxn id="45" idx="2"/>
            <a:endCxn id="32" idx="0"/>
          </p:cNvCxnSpPr>
          <p:nvPr/>
        </p:nvCxnSpPr>
        <p:spPr>
          <a:xfrm flipH="1">
            <a:off x="3723230" y="2938921"/>
            <a:ext cx="542" cy="104326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직선 화살표 연결선 133">
            <a:extLst>
              <a:ext uri="{FF2B5EF4-FFF2-40B4-BE49-F238E27FC236}">
                <a16:creationId xmlns:a16="http://schemas.microsoft.com/office/drawing/2014/main" id="{A39A6889-08D0-B060-DFB8-A8A84911AFFA}"/>
              </a:ext>
            </a:extLst>
          </p:cNvPr>
          <p:cNvCxnSpPr>
            <a:cxnSpLocks/>
            <a:stCxn id="56" idx="2"/>
            <a:endCxn id="38" idx="0"/>
          </p:cNvCxnSpPr>
          <p:nvPr/>
        </p:nvCxnSpPr>
        <p:spPr>
          <a:xfrm flipH="1">
            <a:off x="6099822" y="2938921"/>
            <a:ext cx="542" cy="104326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직선 화살표 연결선 134">
            <a:extLst>
              <a:ext uri="{FF2B5EF4-FFF2-40B4-BE49-F238E27FC236}">
                <a16:creationId xmlns:a16="http://schemas.microsoft.com/office/drawing/2014/main" id="{BBC48E15-7461-7C3F-1B89-675D6681208E}"/>
              </a:ext>
            </a:extLst>
          </p:cNvPr>
          <p:cNvCxnSpPr>
            <a:cxnSpLocks/>
            <a:stCxn id="38" idx="2"/>
            <a:endCxn id="33" idx="0"/>
          </p:cNvCxnSpPr>
          <p:nvPr/>
        </p:nvCxnSpPr>
        <p:spPr>
          <a:xfrm>
            <a:off x="6099822" y="3378047"/>
            <a:ext cx="0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연결선: 꺾임 137">
            <a:extLst>
              <a:ext uri="{FF2B5EF4-FFF2-40B4-BE49-F238E27FC236}">
                <a16:creationId xmlns:a16="http://schemas.microsoft.com/office/drawing/2014/main" id="{EE4F9E88-D7F4-24E8-F7E3-9DFA6012F0AC}"/>
              </a:ext>
            </a:extLst>
          </p:cNvPr>
          <p:cNvCxnSpPr>
            <a:cxnSpLocks/>
            <a:stCxn id="26" idx="3"/>
            <a:endCxn id="56" idx="1"/>
          </p:cNvCxnSpPr>
          <p:nvPr/>
        </p:nvCxnSpPr>
        <p:spPr>
          <a:xfrm flipV="1">
            <a:off x="4779256" y="2771521"/>
            <a:ext cx="264540" cy="872460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사각형: 둥근 모서리 155">
            <a:extLst>
              <a:ext uri="{FF2B5EF4-FFF2-40B4-BE49-F238E27FC236}">
                <a16:creationId xmlns:a16="http://schemas.microsoft.com/office/drawing/2014/main" id="{62292E74-CEB4-C288-B421-FA480A273625}"/>
              </a:ext>
            </a:extLst>
          </p:cNvPr>
          <p:cNvSpPr/>
          <p:nvPr/>
        </p:nvSpPr>
        <p:spPr>
          <a:xfrm>
            <a:off x="7365972" y="2604121"/>
            <a:ext cx="2113135" cy="334800"/>
          </a:xfrm>
          <a:prstGeom prst="roundRect">
            <a:avLst/>
          </a:prstGeom>
          <a:pattFill prst="ltUpDiag">
            <a:fgClr>
              <a:srgbClr val="C4DCF2"/>
            </a:fgClr>
            <a:bgClr>
              <a:schemeClr val="bg1"/>
            </a:bgClr>
          </a:pattFill>
          <a:ln w="3175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성능 검증 및 안정화 지원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(</a:t>
            </a: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투자관리시스템</a:t>
            </a:r>
            <a: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)</a:t>
            </a:r>
          </a:p>
        </p:txBody>
      </p:sp>
      <p:cxnSp>
        <p:nvCxnSpPr>
          <p:cNvPr id="157" name="직선 화살표 연결선 156">
            <a:extLst>
              <a:ext uri="{FF2B5EF4-FFF2-40B4-BE49-F238E27FC236}">
                <a16:creationId xmlns:a16="http://schemas.microsoft.com/office/drawing/2014/main" id="{780A4FD7-046F-6B7D-C9F2-952C3CC9BFE6}"/>
              </a:ext>
            </a:extLst>
          </p:cNvPr>
          <p:cNvCxnSpPr>
            <a:cxnSpLocks/>
            <a:stCxn id="156" idx="2"/>
            <a:endCxn id="61" idx="0"/>
          </p:cNvCxnSpPr>
          <p:nvPr/>
        </p:nvCxnSpPr>
        <p:spPr>
          <a:xfrm>
            <a:off x="8422540" y="2938921"/>
            <a:ext cx="542" cy="104326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TextBox 159">
            <a:extLst>
              <a:ext uri="{FF2B5EF4-FFF2-40B4-BE49-F238E27FC236}">
                <a16:creationId xmlns:a16="http://schemas.microsoft.com/office/drawing/2014/main" id="{C73BC294-5ECD-FA45-5F3A-A959385390B2}"/>
              </a:ext>
            </a:extLst>
          </p:cNvPr>
          <p:cNvSpPr txBox="1"/>
          <p:nvPr/>
        </p:nvSpPr>
        <p:spPr>
          <a:xfrm>
            <a:off x="673770" y="5329768"/>
            <a:ext cx="3936732" cy="367200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72000" rIns="36000" rtlCol="0" anchor="ctr">
            <a:noAutofit/>
          </a:bodyPr>
          <a:lstStyle/>
          <a:p>
            <a:r>
              <a:rPr lang="ko-KR" altLang="en-US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과거 투자 이력 시스템 </a:t>
            </a:r>
            <a:r>
              <a:rPr lang="en-US" altLang="ko-KR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· </a:t>
            </a:r>
            <a:r>
              <a:rPr lang="ko-KR" altLang="en-US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저장소 내 수작업 조회 → 신규 투자사업 유사 정보 자동 수집 및 제공</a:t>
            </a:r>
            <a:endParaRPr lang="en-US" altLang="ko-KR" sz="100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B18C6CDB-586C-9796-6710-0CA44DAEDA7F}"/>
              </a:ext>
            </a:extLst>
          </p:cNvPr>
          <p:cNvSpPr txBox="1"/>
          <p:nvPr/>
        </p:nvSpPr>
        <p:spPr>
          <a:xfrm>
            <a:off x="7489234" y="5329768"/>
            <a:ext cx="2072281" cy="367200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72000" rIns="36000" rtlCol="0" anchor="ctr">
            <a:noAutofit/>
          </a:bodyPr>
          <a:lstStyle/>
          <a:p>
            <a:r>
              <a:rPr lang="en-US" altLang="ko-KR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N/A</a:t>
            </a:r>
            <a:endParaRPr lang="ko-KR" altLang="en-US" sz="100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E664A51C-3CD5-6A74-A025-5279F499AF30}"/>
              </a:ext>
            </a:extLst>
          </p:cNvPr>
          <p:cNvSpPr txBox="1"/>
          <p:nvPr/>
        </p:nvSpPr>
        <p:spPr>
          <a:xfrm>
            <a:off x="344486" y="5329768"/>
            <a:ext cx="216000" cy="216000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16E421F2-32F8-088A-FFCA-A97AB3A21D65}"/>
              </a:ext>
            </a:extLst>
          </p:cNvPr>
          <p:cNvSpPr txBox="1"/>
          <p:nvPr/>
        </p:nvSpPr>
        <p:spPr>
          <a:xfrm>
            <a:off x="4710767" y="5329768"/>
            <a:ext cx="2678203" cy="367200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72000" rIns="36000" rtlCol="0" anchor="ctr">
            <a:noAutofit/>
          </a:bodyPr>
          <a:lstStyle>
            <a:defPPr>
              <a:defRPr lang="en-US"/>
            </a:defPPr>
            <a:lvl1pPr>
              <a:defRPr sz="1000"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r>
              <a:rPr lang="ko-KR" altLang="en-US"/>
              <a:t>투자 사업 정보 저장 </a:t>
            </a:r>
            <a:r>
              <a:rPr lang="en-US" altLang="ko-KR"/>
              <a:t>· </a:t>
            </a:r>
            <a:r>
              <a:rPr lang="ko-KR" altLang="en-US"/>
              <a:t>분류 자동화</a:t>
            </a:r>
          </a:p>
        </p:txBody>
      </p:sp>
      <p:sp>
        <p:nvSpPr>
          <p:cNvPr id="172" name="사각형: 둥근 모서리 171">
            <a:extLst>
              <a:ext uri="{FF2B5EF4-FFF2-40B4-BE49-F238E27FC236}">
                <a16:creationId xmlns:a16="http://schemas.microsoft.com/office/drawing/2014/main" id="{17CCA017-4ACE-12CA-152B-6C8429993791}"/>
              </a:ext>
            </a:extLst>
          </p:cNvPr>
          <p:cNvSpPr/>
          <p:nvPr/>
        </p:nvSpPr>
        <p:spPr>
          <a:xfrm>
            <a:off x="6954839" y="5429668"/>
            <a:ext cx="386006" cy="167400"/>
          </a:xfrm>
          <a:prstGeom prst="roundRect">
            <a:avLst>
              <a:gd name="adj" fmla="val 18018"/>
            </a:avLst>
          </a:prstGeom>
          <a:solidFill>
            <a:schemeClr val="bg1">
              <a:lumMod val="50000"/>
            </a:schemeClr>
          </a:solidFill>
          <a:ln w="3175">
            <a:noFill/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자동화</a:t>
            </a:r>
            <a:endParaRPr kumimoji="1" lang="en-US" altLang="ko-KR" sz="900" ker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Arial" panose="020B0604020202020204" pitchFamily="34" charset="0"/>
            </a:endParaRPr>
          </a:p>
        </p:txBody>
      </p:sp>
      <p:cxnSp>
        <p:nvCxnSpPr>
          <p:cNvPr id="184" name="직선 화살표 연결선 183">
            <a:extLst>
              <a:ext uri="{FF2B5EF4-FFF2-40B4-BE49-F238E27FC236}">
                <a16:creationId xmlns:a16="http://schemas.microsoft.com/office/drawing/2014/main" id="{BADCAF09-949B-6DEF-7B4B-9F96FA35E132}"/>
              </a:ext>
            </a:extLst>
          </p:cNvPr>
          <p:cNvCxnSpPr>
            <a:cxnSpLocks/>
            <a:stCxn id="32" idx="2"/>
            <a:endCxn id="26" idx="0"/>
          </p:cNvCxnSpPr>
          <p:nvPr/>
        </p:nvCxnSpPr>
        <p:spPr>
          <a:xfrm>
            <a:off x="3723230" y="3378047"/>
            <a:ext cx="0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연결선: 꺾임 189">
            <a:extLst>
              <a:ext uri="{FF2B5EF4-FFF2-40B4-BE49-F238E27FC236}">
                <a16:creationId xmlns:a16="http://schemas.microsoft.com/office/drawing/2014/main" id="{D47D5416-3443-D085-7B86-598D17924EFB}"/>
              </a:ext>
            </a:extLst>
          </p:cNvPr>
          <p:cNvCxnSpPr>
            <a:cxnSpLocks/>
            <a:stCxn id="33" idx="3"/>
            <a:endCxn id="156" idx="1"/>
          </p:cNvCxnSpPr>
          <p:nvPr/>
        </p:nvCxnSpPr>
        <p:spPr>
          <a:xfrm flipV="1">
            <a:off x="7155848" y="2771521"/>
            <a:ext cx="210124" cy="872460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1" name="TextBox 220">
            <a:extLst>
              <a:ext uri="{FF2B5EF4-FFF2-40B4-BE49-F238E27FC236}">
                <a16:creationId xmlns:a16="http://schemas.microsoft.com/office/drawing/2014/main" id="{13125364-61A0-41A1-817E-9E64E2CA0741}"/>
              </a:ext>
            </a:extLst>
          </p:cNvPr>
          <p:cNvSpPr txBox="1"/>
          <p:nvPr/>
        </p:nvSpPr>
        <p:spPr>
          <a:xfrm>
            <a:off x="4969759" y="3570215"/>
            <a:ext cx="147532" cy="147532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B2A58A6F-FD55-5A5A-5B3F-41038094CAFF}"/>
              </a:ext>
            </a:extLst>
          </p:cNvPr>
          <p:cNvSpPr txBox="1"/>
          <p:nvPr/>
        </p:nvSpPr>
        <p:spPr>
          <a:xfrm>
            <a:off x="673770" y="5768516"/>
            <a:ext cx="3936732" cy="367200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72000" rIns="36000" rtlCol="0" anchor="ctr">
            <a:noAutofit/>
          </a:bodyPr>
          <a:lstStyle/>
          <a:p>
            <a:r>
              <a:rPr lang="ko-KR" altLang="en-US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투자사업 간 법률 관련 사항 담당자 별 확인</a:t>
            </a:r>
            <a:r>
              <a:rPr lang="en-US" altLang="ko-KR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→ </a:t>
            </a:r>
            <a:r>
              <a:rPr lang="en-US" altLang="ko-KR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Chat-Bot</a:t>
            </a:r>
            <a:r>
              <a:rPr lang="ko-KR" altLang="en-US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에 </a:t>
            </a:r>
            <a:r>
              <a:rPr lang="en-US" altLang="ko-KR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</a:t>
            </a:r>
            <a:r>
              <a:rPr lang="ko-KR" altLang="en-US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차 확인 후 상세 질의사항만 담당자 문의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92E61D0D-B168-1F1C-4AB0-2C8A2474FEAA}"/>
              </a:ext>
            </a:extLst>
          </p:cNvPr>
          <p:cNvSpPr txBox="1"/>
          <p:nvPr/>
        </p:nvSpPr>
        <p:spPr>
          <a:xfrm>
            <a:off x="7489234" y="5768516"/>
            <a:ext cx="2072281" cy="367200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72000" rIns="36000" rtlCol="0" anchor="ctr">
            <a:noAutofit/>
          </a:bodyPr>
          <a:lstStyle/>
          <a:p>
            <a:r>
              <a:rPr lang="en-US" altLang="ko-KR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Compliance </a:t>
            </a:r>
            <a:r>
              <a:rPr lang="ko-KR" altLang="en-US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관리 항목별 </a:t>
            </a:r>
            <a:r>
              <a:rPr lang="en-US" altLang="ko-KR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Indexing</a:t>
            </a:r>
            <a:endParaRPr lang="ko-KR" altLang="en-US" sz="100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B1F337F6-CDE3-7270-B713-1961ADB8DF7F}"/>
              </a:ext>
            </a:extLst>
          </p:cNvPr>
          <p:cNvSpPr txBox="1"/>
          <p:nvPr/>
        </p:nvSpPr>
        <p:spPr>
          <a:xfrm>
            <a:off x="344486" y="5768516"/>
            <a:ext cx="216000" cy="216000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AC2EA4F9-FD14-99D8-BF23-4B50D314A5D1}"/>
              </a:ext>
            </a:extLst>
          </p:cNvPr>
          <p:cNvSpPr txBox="1"/>
          <p:nvPr/>
        </p:nvSpPr>
        <p:spPr>
          <a:xfrm>
            <a:off x="4710767" y="5768516"/>
            <a:ext cx="2678203" cy="367200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72000" rIns="36000" rtlCol="0" anchor="ctr">
            <a:noAutofit/>
          </a:bodyPr>
          <a:lstStyle/>
          <a:p>
            <a:r>
              <a:rPr lang="en-US" altLang="ko-KR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CLX </a:t>
            </a:r>
            <a:r>
              <a:rPr lang="ko-KR" altLang="en-US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법률 지식 </a:t>
            </a:r>
            <a:r>
              <a:rPr lang="en-US" altLang="ko-KR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Q&amp;A Chat-Bot(SHE)</a:t>
            </a:r>
            <a:endParaRPr lang="ko-KR" altLang="en-US" sz="100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28" name="사각형: 둥근 모서리 227">
            <a:extLst>
              <a:ext uri="{FF2B5EF4-FFF2-40B4-BE49-F238E27FC236}">
                <a16:creationId xmlns:a16="http://schemas.microsoft.com/office/drawing/2014/main" id="{D83372A6-A45C-3BFD-D4C0-C1B013E6196C}"/>
              </a:ext>
            </a:extLst>
          </p:cNvPr>
          <p:cNvSpPr/>
          <p:nvPr/>
        </p:nvSpPr>
        <p:spPr>
          <a:xfrm>
            <a:off x="6954839" y="5871573"/>
            <a:ext cx="386006" cy="167400"/>
          </a:xfrm>
          <a:prstGeom prst="roundRect">
            <a:avLst>
              <a:gd name="adj" fmla="val 18018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noFill/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지능화</a:t>
            </a:r>
            <a:endParaRPr kumimoji="1" lang="en-US" altLang="ko-KR" sz="900" ker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Arial" panose="020B0604020202020204" pitchFamily="34" charset="0"/>
            </a:endParaRPr>
          </a:p>
        </p:txBody>
      </p:sp>
      <p:cxnSp>
        <p:nvCxnSpPr>
          <p:cNvPr id="230" name="연결선: 꺾임 229">
            <a:extLst>
              <a:ext uri="{FF2B5EF4-FFF2-40B4-BE49-F238E27FC236}">
                <a16:creationId xmlns:a16="http://schemas.microsoft.com/office/drawing/2014/main" id="{093E0460-A990-64C3-9792-746820D900D7}"/>
              </a:ext>
            </a:extLst>
          </p:cNvPr>
          <p:cNvCxnSpPr>
            <a:cxnSpLocks/>
            <a:stCxn id="10" idx="3"/>
            <a:endCxn id="45" idx="1"/>
          </p:cNvCxnSpPr>
          <p:nvPr/>
        </p:nvCxnSpPr>
        <p:spPr>
          <a:xfrm flipV="1">
            <a:off x="2456538" y="2771521"/>
            <a:ext cx="210666" cy="872460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08DC8049-3BA4-D482-117A-250C6D06E910}"/>
              </a:ext>
            </a:extLst>
          </p:cNvPr>
          <p:cNvSpPr/>
          <p:nvPr/>
        </p:nvSpPr>
        <p:spPr>
          <a:xfrm>
            <a:off x="344486" y="3476581"/>
            <a:ext cx="2112052" cy="334800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유사 투자 이력 정보 검색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FF44C9-0619-5595-D5AE-4BCCA9A543A4}"/>
              </a:ext>
            </a:extLst>
          </p:cNvPr>
          <p:cNvSpPr txBox="1"/>
          <p:nvPr/>
        </p:nvSpPr>
        <p:spPr>
          <a:xfrm>
            <a:off x="270722" y="3570215"/>
            <a:ext cx="147532" cy="147532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C17CD5A4-2866-145C-99F3-9AA78C96C60C}"/>
              </a:ext>
            </a:extLst>
          </p:cNvPr>
          <p:cNvCxnSpPr>
            <a:cxnSpLocks/>
            <a:stCxn id="25" idx="2"/>
            <a:endCxn id="10" idx="0"/>
          </p:cNvCxnSpPr>
          <p:nvPr/>
        </p:nvCxnSpPr>
        <p:spPr>
          <a:xfrm>
            <a:off x="1400512" y="3378047"/>
            <a:ext cx="0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그림 1">
            <a:hlinkClick r:id="rId3" action="ppaction://hlinksldjump"/>
            <a:extLst>
              <a:ext uri="{FF2B5EF4-FFF2-40B4-BE49-F238E27FC236}">
                <a16:creationId xmlns:a16="http://schemas.microsoft.com/office/drawing/2014/main" id="{CAA54C1F-BEE8-90CD-562C-D5422A9951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9358754" y="127134"/>
            <a:ext cx="405517" cy="343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3390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4EE6C-1B9A-A2EF-E386-DC96781DF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E40CDE5-42B0-6690-5BDE-FC4E81FB40E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4487" y="254884"/>
            <a:ext cx="6085448" cy="343235"/>
          </a:xfrm>
          <a:solidFill>
            <a:schemeClr val="bg1"/>
          </a:solidFill>
        </p:spPr>
        <p:txBody>
          <a:bodyPr wrap="none" anchor="ctr">
            <a:spAutoFit/>
          </a:bodyPr>
          <a:lstStyle/>
          <a:p>
            <a:r>
              <a:rPr lang="en-US" altLang="ko-KR" b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Appendix. [</a:t>
            </a:r>
            <a:r>
              <a:rPr lang="ko-KR" altLang="en-US" b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생산기술</a:t>
            </a:r>
            <a:r>
              <a:rPr lang="en-US" altLang="ko-KR" b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] </a:t>
            </a:r>
            <a:r>
              <a:rPr lang="ko-KR" altLang="en-US" b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운전 지원 및 </a:t>
            </a:r>
            <a:r>
              <a:rPr lang="en-US" altLang="ko-KR" b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Troubleshooting</a:t>
            </a:r>
            <a:r>
              <a:rPr lang="ko-KR" altLang="en-US" b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en-US" altLang="ko-KR" b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(1/2)</a:t>
            </a:r>
          </a:p>
        </p:txBody>
      </p:sp>
      <p:sp>
        <p:nvSpPr>
          <p:cNvPr id="171" name="사각형: 둥근 모서리 170">
            <a:extLst>
              <a:ext uri="{FF2B5EF4-FFF2-40B4-BE49-F238E27FC236}">
                <a16:creationId xmlns:a16="http://schemas.microsoft.com/office/drawing/2014/main" id="{31A7CAD9-359E-938A-E204-0AC7180C0CCF}"/>
              </a:ext>
            </a:extLst>
          </p:cNvPr>
          <p:cNvSpPr/>
          <p:nvPr/>
        </p:nvSpPr>
        <p:spPr>
          <a:xfrm>
            <a:off x="344488" y="721134"/>
            <a:ext cx="941772" cy="763179"/>
          </a:xfrm>
          <a:prstGeom prst="roundRect">
            <a:avLst>
              <a:gd name="adj" fmla="val 0"/>
            </a:avLst>
          </a:prstGeom>
          <a:solidFill>
            <a:srgbClr val="217CFA"/>
          </a:solidFill>
          <a:ln w="6350">
            <a:solidFill>
              <a:srgbClr val="217C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Digital</a:t>
            </a:r>
            <a:r>
              <a:rPr lang="ko-KR" altLang="en-US" sz="130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화 지향점</a:t>
            </a:r>
          </a:p>
        </p:txBody>
      </p: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97D5A6AA-6E9D-AB81-B6CB-FD2E01811A91}"/>
              </a:ext>
            </a:extLst>
          </p:cNvPr>
          <p:cNvCxnSpPr>
            <a:cxnSpLocks/>
          </p:cNvCxnSpPr>
          <p:nvPr/>
        </p:nvCxnSpPr>
        <p:spPr>
          <a:xfrm>
            <a:off x="344488" y="4859066"/>
            <a:ext cx="9221614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" name="사각형: 둥근 모서리 173">
            <a:extLst>
              <a:ext uri="{FF2B5EF4-FFF2-40B4-BE49-F238E27FC236}">
                <a16:creationId xmlns:a16="http://schemas.microsoft.com/office/drawing/2014/main" id="{FCAEB540-6378-85F9-23FF-236BADB716A1}"/>
              </a:ext>
            </a:extLst>
          </p:cNvPr>
          <p:cNvSpPr/>
          <p:nvPr/>
        </p:nvSpPr>
        <p:spPr>
          <a:xfrm>
            <a:off x="4031571" y="4731072"/>
            <a:ext cx="1847448" cy="25598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rgbClr val="217C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주요</a:t>
            </a:r>
            <a:r>
              <a:rPr lang="en-US" altLang="ko-KR" sz="1200">
                <a:solidFill>
                  <a:schemeClr val="tx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ko-KR" altLang="en-US" sz="1200">
                <a:solidFill>
                  <a:schemeClr val="tx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추진 사항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02682614-3F6D-6036-1389-FBE9EFB8A62D}"/>
              </a:ext>
            </a:extLst>
          </p:cNvPr>
          <p:cNvSpPr txBox="1"/>
          <p:nvPr/>
        </p:nvSpPr>
        <p:spPr>
          <a:xfrm>
            <a:off x="673770" y="5073302"/>
            <a:ext cx="3936732" cy="200435"/>
          </a:xfrm>
          <a:prstGeom prst="rect">
            <a:avLst/>
          </a:prstGeom>
          <a:noFill/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ko-KR" altLang="en-US" sz="1100" u="sng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변화 </a:t>
            </a:r>
            <a:r>
              <a:rPr lang="en-US" altLang="ko-KR" sz="1100" u="sng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Point</a:t>
            </a:r>
            <a:endParaRPr lang="ko-KR" altLang="en-US" sz="1100" u="sng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CB4828EE-FA02-E6FD-1D28-BEAD620576A7}"/>
              </a:ext>
            </a:extLst>
          </p:cNvPr>
          <p:cNvSpPr txBox="1"/>
          <p:nvPr/>
        </p:nvSpPr>
        <p:spPr>
          <a:xfrm>
            <a:off x="673770" y="5329768"/>
            <a:ext cx="3936732" cy="23166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72000" rIns="36000" rtlCol="0" anchor="ctr">
            <a:noAutofit/>
          </a:bodyPr>
          <a:lstStyle/>
          <a:p>
            <a:r>
              <a:rPr lang="ko-KR" altLang="en-US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과거 이력 검색</a:t>
            </a:r>
            <a:r>
              <a:rPr lang="en-US" altLang="ko-KR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경험 기반 방안 수립 → 축적 </a:t>
            </a:r>
            <a:r>
              <a:rPr lang="en-US" altLang="ko-KR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DB</a:t>
            </a:r>
            <a:r>
              <a:rPr lang="ko-KR" altLang="en-US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기반 최적 방안</a:t>
            </a:r>
            <a:r>
              <a:rPr lang="ko-KR" altLang="en-US" sz="1000" spc="-5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추천</a:t>
            </a:r>
            <a:endParaRPr lang="ko-KR" altLang="en-US" sz="100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902B6C7C-4F7F-1FC4-F692-AE1C1309515B}"/>
              </a:ext>
            </a:extLst>
          </p:cNvPr>
          <p:cNvSpPr txBox="1"/>
          <p:nvPr/>
        </p:nvSpPr>
        <p:spPr>
          <a:xfrm>
            <a:off x="673770" y="5627020"/>
            <a:ext cx="3936732" cy="23166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72000" rIns="36000" rtlCol="0" anchor="ctr">
            <a:noAutofit/>
          </a:bodyPr>
          <a:lstStyle/>
          <a:p>
            <a:r>
              <a:rPr lang="ko-KR" altLang="en-US" sz="1000" spc="-8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담당자 역량 별 분석 방법 및 결과 상이  → </a:t>
            </a:r>
            <a:r>
              <a:rPr lang="en-US" altLang="ko-KR" sz="1000" spc="-8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DB</a:t>
            </a:r>
            <a:r>
              <a:rPr lang="ko-KR" altLang="en-US" sz="1000" spc="-8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화된 정보에서 분석 대상 및 방안 추천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4ECA0066-7083-051F-12A9-9E8066F695F8}"/>
              </a:ext>
            </a:extLst>
          </p:cNvPr>
          <p:cNvSpPr txBox="1"/>
          <p:nvPr/>
        </p:nvSpPr>
        <p:spPr>
          <a:xfrm>
            <a:off x="673770" y="5924273"/>
            <a:ext cx="3936732" cy="23166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72000" rIns="36000" rtlCol="0" anchor="ctr">
            <a:noAutofit/>
          </a:bodyPr>
          <a:lstStyle/>
          <a:p>
            <a:r>
              <a:rPr lang="ko-KR" altLang="en-US" sz="1000" spc="-5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생성 정보 시스템</a:t>
            </a:r>
            <a:r>
              <a:rPr lang="ko-KR" altLang="en-US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· </a:t>
            </a:r>
            <a:r>
              <a:rPr lang="ko-KR" altLang="en-US" sz="1000" spc="-5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저장소 내 수작업 저장 → 생성 정보 자동 분류 및 저장</a:t>
            </a:r>
            <a:endParaRPr lang="en-US" altLang="ko-KR" sz="1000" spc="-5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E7902165-D880-2EF0-0ED3-050F8AECD580}"/>
              </a:ext>
            </a:extLst>
          </p:cNvPr>
          <p:cNvSpPr txBox="1"/>
          <p:nvPr/>
        </p:nvSpPr>
        <p:spPr>
          <a:xfrm>
            <a:off x="7489234" y="5073302"/>
            <a:ext cx="2072281" cy="200435"/>
          </a:xfrm>
          <a:prstGeom prst="rect">
            <a:avLst/>
          </a:prstGeom>
          <a:noFill/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ko-KR" altLang="en-US" sz="1100" u="sng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업무 개선 사항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439908D8-3BCA-C778-7464-515C76F1ED15}"/>
              </a:ext>
            </a:extLst>
          </p:cNvPr>
          <p:cNvSpPr txBox="1"/>
          <p:nvPr/>
        </p:nvSpPr>
        <p:spPr>
          <a:xfrm>
            <a:off x="7489234" y="5329768"/>
            <a:ext cx="2072281" cy="23166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72000" rIns="36000" rtlCol="0" anchor="ctr">
            <a:noAutofit/>
          </a:bodyPr>
          <a:lstStyle/>
          <a:p>
            <a:r>
              <a:rPr lang="en-US" altLang="ko-KR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N/A</a:t>
            </a:r>
            <a:endParaRPr lang="ko-KR" altLang="en-US" sz="100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34989624-DFD9-CBF3-56C7-D0E01BF3CF1E}"/>
              </a:ext>
            </a:extLst>
          </p:cNvPr>
          <p:cNvSpPr txBox="1"/>
          <p:nvPr/>
        </p:nvSpPr>
        <p:spPr>
          <a:xfrm>
            <a:off x="7489234" y="5627020"/>
            <a:ext cx="2072281" cy="23166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72000" rIns="36000" rtlCol="0" anchor="ctr">
            <a:noAutofit/>
          </a:bodyPr>
          <a:lstStyle/>
          <a:p>
            <a:r>
              <a:rPr lang="ko-KR" altLang="en-US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공정 분석 결과 </a:t>
            </a:r>
            <a:r>
              <a:rPr lang="en-US" altLang="ko-KR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DB</a:t>
            </a:r>
            <a:r>
              <a:rPr lang="ko-KR" altLang="en-US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화 대상 확대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990238F6-CDAB-D56C-2F23-06DEF03E1699}"/>
              </a:ext>
            </a:extLst>
          </p:cNvPr>
          <p:cNvSpPr txBox="1"/>
          <p:nvPr/>
        </p:nvSpPr>
        <p:spPr>
          <a:xfrm>
            <a:off x="7489234" y="5924273"/>
            <a:ext cx="2072281" cy="23166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72000" rIns="36000" rtlCol="0" anchor="ctr">
            <a:noAutofit/>
          </a:bodyPr>
          <a:lstStyle/>
          <a:p>
            <a:r>
              <a:rPr lang="en-US" altLang="ko-KR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DB</a:t>
            </a:r>
            <a:r>
              <a:rPr lang="ko-KR" altLang="en-US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화 대상 선정 및 속성 정의</a:t>
            </a: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30E946A7-0BCB-FE6C-1B89-82109FBFD88F}"/>
              </a:ext>
            </a:extLst>
          </p:cNvPr>
          <p:cNvSpPr txBox="1"/>
          <p:nvPr/>
        </p:nvSpPr>
        <p:spPr>
          <a:xfrm>
            <a:off x="344486" y="5329768"/>
            <a:ext cx="216000" cy="216000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340ED3DC-9A84-1343-8CBA-14BCD30F8D7A}"/>
              </a:ext>
            </a:extLst>
          </p:cNvPr>
          <p:cNvSpPr txBox="1"/>
          <p:nvPr/>
        </p:nvSpPr>
        <p:spPr>
          <a:xfrm>
            <a:off x="344486" y="5627020"/>
            <a:ext cx="216000" cy="216000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DD1CECC1-AE5C-6DC6-C193-8F9AF852B775}"/>
              </a:ext>
            </a:extLst>
          </p:cNvPr>
          <p:cNvSpPr txBox="1"/>
          <p:nvPr/>
        </p:nvSpPr>
        <p:spPr>
          <a:xfrm>
            <a:off x="344486" y="5924273"/>
            <a:ext cx="216000" cy="216000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3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E4FB273F-E152-3023-3ECB-242C76FA34D8}"/>
              </a:ext>
            </a:extLst>
          </p:cNvPr>
          <p:cNvSpPr txBox="1"/>
          <p:nvPr/>
        </p:nvSpPr>
        <p:spPr>
          <a:xfrm>
            <a:off x="4710767" y="5073302"/>
            <a:ext cx="2678203" cy="200435"/>
          </a:xfrm>
          <a:prstGeom prst="rect">
            <a:avLst/>
          </a:prstGeom>
          <a:noFill/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100" u="sng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Digital</a:t>
            </a:r>
            <a:r>
              <a:rPr lang="ko-KR" altLang="en-US" sz="1100" u="sng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화 기회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CD1DA256-4FB5-76A4-40EA-A08B99F25714}"/>
              </a:ext>
            </a:extLst>
          </p:cNvPr>
          <p:cNvSpPr txBox="1"/>
          <p:nvPr/>
        </p:nvSpPr>
        <p:spPr>
          <a:xfrm>
            <a:off x="4710767" y="5329768"/>
            <a:ext cx="2678203" cy="23166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72000" rIns="36000" rtlCol="0" anchor="ctr">
            <a:noAutofit/>
          </a:bodyPr>
          <a:lstStyle>
            <a:defPPr>
              <a:defRPr lang="en-US"/>
            </a:defPPr>
            <a:lvl1pPr>
              <a:defRPr sz="1000"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r>
              <a:rPr lang="ko-KR" altLang="en-US"/>
              <a:t>최적 운전 조건 제안 </a:t>
            </a:r>
            <a:r>
              <a:rPr lang="en-US" altLang="ko-KR"/>
              <a:t>AI(</a:t>
            </a:r>
            <a:r>
              <a:rPr lang="ko-KR" altLang="en-US"/>
              <a:t>생산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2C8060FC-AB90-F139-4639-2AE8C8EBADD9}"/>
              </a:ext>
            </a:extLst>
          </p:cNvPr>
          <p:cNvSpPr txBox="1"/>
          <p:nvPr/>
        </p:nvSpPr>
        <p:spPr>
          <a:xfrm>
            <a:off x="4710767" y="5627020"/>
            <a:ext cx="2678203" cy="23166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72000" rIns="36000" rtlCol="0" anchor="ctr">
            <a:noAutofit/>
          </a:bodyPr>
          <a:lstStyle/>
          <a:p>
            <a:r>
              <a:rPr lang="en-US" altLang="ko-KR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Engineer </a:t>
            </a:r>
            <a:r>
              <a:rPr lang="ko-KR" altLang="en-US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공정 분석 </a:t>
            </a:r>
            <a:r>
              <a:rPr lang="en-US" altLang="ko-KR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AI</a:t>
            </a:r>
            <a:endParaRPr lang="ko-KR" altLang="en-US" sz="100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18585BD7-03AC-3E68-C6EA-AC84054AC339}"/>
              </a:ext>
            </a:extLst>
          </p:cNvPr>
          <p:cNvSpPr txBox="1"/>
          <p:nvPr/>
        </p:nvSpPr>
        <p:spPr>
          <a:xfrm>
            <a:off x="4710767" y="5924273"/>
            <a:ext cx="2678203" cy="23166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72000" rIns="36000" rtlCol="0" anchor="ctr">
            <a:noAutofit/>
          </a:bodyPr>
          <a:lstStyle/>
          <a:p>
            <a:r>
              <a:rPr lang="ko-KR" altLang="en-US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생산 운영 정보 저장 </a:t>
            </a:r>
            <a:r>
              <a:rPr lang="en-US" altLang="ko-KR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· </a:t>
            </a:r>
            <a:r>
              <a:rPr lang="ko-KR" altLang="en-US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분류 자동화</a:t>
            </a:r>
          </a:p>
        </p:txBody>
      </p:sp>
      <p:sp>
        <p:nvSpPr>
          <p:cNvPr id="228" name="사각형: 둥근 모서리 227">
            <a:extLst>
              <a:ext uri="{FF2B5EF4-FFF2-40B4-BE49-F238E27FC236}">
                <a16:creationId xmlns:a16="http://schemas.microsoft.com/office/drawing/2014/main" id="{866C8598-BC42-781D-831D-964F0900077D}"/>
              </a:ext>
            </a:extLst>
          </p:cNvPr>
          <p:cNvSpPr/>
          <p:nvPr/>
        </p:nvSpPr>
        <p:spPr>
          <a:xfrm>
            <a:off x="6954839" y="5361899"/>
            <a:ext cx="386006" cy="167400"/>
          </a:xfrm>
          <a:prstGeom prst="roundRect">
            <a:avLst>
              <a:gd name="adj" fmla="val 18018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noFill/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지능화</a:t>
            </a:r>
            <a:endParaRPr kumimoji="1" lang="en-US" altLang="ko-KR" sz="900" ker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29" name="사각형: 둥근 모서리 228">
            <a:extLst>
              <a:ext uri="{FF2B5EF4-FFF2-40B4-BE49-F238E27FC236}">
                <a16:creationId xmlns:a16="http://schemas.microsoft.com/office/drawing/2014/main" id="{D630A56E-28DF-13FD-FA5A-E057D55233D3}"/>
              </a:ext>
            </a:extLst>
          </p:cNvPr>
          <p:cNvSpPr/>
          <p:nvPr/>
        </p:nvSpPr>
        <p:spPr>
          <a:xfrm>
            <a:off x="6954839" y="5659151"/>
            <a:ext cx="386006" cy="167400"/>
          </a:xfrm>
          <a:prstGeom prst="roundRect">
            <a:avLst>
              <a:gd name="adj" fmla="val 18018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noFill/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지능화</a:t>
            </a:r>
            <a:endParaRPr kumimoji="1" lang="en-US" altLang="ko-KR" sz="900" ker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30" name="사각형: 둥근 모서리 229">
            <a:extLst>
              <a:ext uri="{FF2B5EF4-FFF2-40B4-BE49-F238E27FC236}">
                <a16:creationId xmlns:a16="http://schemas.microsoft.com/office/drawing/2014/main" id="{9020579F-CB38-BAAB-7093-6C080589A3CA}"/>
              </a:ext>
            </a:extLst>
          </p:cNvPr>
          <p:cNvSpPr/>
          <p:nvPr/>
        </p:nvSpPr>
        <p:spPr>
          <a:xfrm>
            <a:off x="6954839" y="5956404"/>
            <a:ext cx="386006" cy="167400"/>
          </a:xfrm>
          <a:prstGeom prst="roundRect">
            <a:avLst>
              <a:gd name="adj" fmla="val 18018"/>
            </a:avLst>
          </a:prstGeom>
          <a:solidFill>
            <a:schemeClr val="bg1">
              <a:lumMod val="50000"/>
            </a:schemeClr>
          </a:solidFill>
          <a:ln w="3175">
            <a:noFill/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자동화</a:t>
            </a:r>
            <a:endParaRPr kumimoji="1" lang="en-US" altLang="ko-KR" sz="900" ker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AFDE5A2-896F-FFDF-1518-43298C65D1C3}"/>
              </a:ext>
            </a:extLst>
          </p:cNvPr>
          <p:cNvSpPr txBox="1">
            <a:spLocks/>
          </p:cNvSpPr>
          <p:nvPr/>
        </p:nvSpPr>
        <p:spPr>
          <a:xfrm>
            <a:off x="1386038" y="721134"/>
            <a:ext cx="8180064" cy="769485"/>
          </a:xfrm>
          <a:prstGeom prst="rect">
            <a:avLst/>
          </a:prstGeom>
          <a:pattFill prst="dkUp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 w="3175">
            <a:noFill/>
          </a:ln>
        </p:spPr>
        <p:txBody>
          <a:bodyPr vert="horz" lIns="108000" tIns="36000" rIns="36000" bIns="36000" rtlCol="0" anchor="ctr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2563" indent="-182563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ko-KR" altLang="en-US" sz="1200" b="0"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ngal Pro" panose="020B0502040204020203" pitchFamily="2" charset="0"/>
              </a:rPr>
              <a:t>공정 분석 </a:t>
            </a:r>
            <a:r>
              <a:rPr lang="en-US" altLang="ko-KR" sz="1200" b="0"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ngal Pro" panose="020B0502040204020203" pitchFamily="2" charset="0"/>
              </a:rPr>
              <a:t>Data</a:t>
            </a:r>
            <a:r>
              <a:rPr lang="ko-KR" altLang="en-US" sz="1200" b="0"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ngal Pro" panose="020B0502040204020203" pitchFamily="2" charset="0"/>
              </a:rPr>
              <a:t> 지식 자산화 및 문제 해결 지능화</a:t>
            </a:r>
            <a:endParaRPr lang="en-US" altLang="ko-KR" sz="1200" b="0">
              <a:solidFill>
                <a:prstClr val="black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cs typeface="Mangal Pro" panose="020B0502040204020203" pitchFamily="2" charset="0"/>
            </a:endParaRPr>
          </a:p>
          <a:p>
            <a:pPr marL="355600" indent="-173038" latinLnBrk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Font typeface="나눔스퀘어 ExtraBold" panose="020B0600000101010101" pitchFamily="50" charset="-127"/>
              <a:buChar char="-"/>
            </a:pPr>
            <a:r>
              <a:rPr lang="ko-KR" altLang="en-US" sz="1100" b="0">
                <a:solidFill>
                  <a:prstClr val="black"/>
                </a:solidFill>
                <a:cs typeface="Mangal Pro" panose="020B0502040204020203" pitchFamily="2" charset="0"/>
              </a:rPr>
              <a:t>이상 대응 이력의 체계적 축적 및 활용도 개선</a:t>
            </a:r>
            <a:endParaRPr lang="en-US" altLang="ko-KR" sz="1100" b="0">
              <a:solidFill>
                <a:prstClr val="black"/>
              </a:solidFill>
              <a:cs typeface="Mangal Pro" panose="020B0502040204020203" pitchFamily="2" charset="0"/>
            </a:endParaRPr>
          </a:p>
          <a:p>
            <a:pPr marL="355600" indent="-173038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나눔스퀘어 ExtraBold" panose="020B0600000101010101" pitchFamily="50" charset="-127"/>
              <a:buChar char="-"/>
            </a:pPr>
            <a:r>
              <a:rPr lang="ko-KR" altLang="en-US" sz="1100" b="0">
                <a:solidFill>
                  <a:prstClr val="black"/>
                </a:solidFill>
                <a:cs typeface="Mangal Pro" panose="020B0502040204020203" pitchFamily="2" charset="0"/>
              </a:rPr>
              <a:t>공정 </a:t>
            </a:r>
            <a:r>
              <a:rPr lang="en-US" altLang="ko-KR" sz="1100" b="0">
                <a:solidFill>
                  <a:prstClr val="black"/>
                </a:solidFill>
                <a:cs typeface="Mangal Pro" panose="020B0502040204020203" pitchFamily="2" charset="0"/>
              </a:rPr>
              <a:t>Data</a:t>
            </a:r>
            <a:r>
              <a:rPr lang="ko-KR" altLang="en-US" sz="1100" b="0">
                <a:solidFill>
                  <a:prstClr val="black"/>
                </a:solidFill>
                <a:cs typeface="Mangal Pro" panose="020B0502040204020203" pitchFamily="2" charset="0"/>
              </a:rPr>
              <a:t> 상관관계 분석 고도화를 통한 문제 해결 방안 수립</a:t>
            </a:r>
          </a:p>
        </p:txBody>
      </p:sp>
      <p:sp>
        <p:nvSpPr>
          <p:cNvPr id="55" name="화살표: 오각형 54">
            <a:extLst>
              <a:ext uri="{FF2B5EF4-FFF2-40B4-BE49-F238E27FC236}">
                <a16:creationId xmlns:a16="http://schemas.microsoft.com/office/drawing/2014/main" id="{B633B9E8-FB88-42D6-8C46-2A9059289906}"/>
              </a:ext>
            </a:extLst>
          </p:cNvPr>
          <p:cNvSpPr/>
          <p:nvPr/>
        </p:nvSpPr>
        <p:spPr>
          <a:xfrm>
            <a:off x="4953002" y="1964218"/>
            <a:ext cx="4608513" cy="200898"/>
          </a:xfrm>
          <a:prstGeom prst="homePlate">
            <a:avLst>
              <a:gd name="adj" fmla="val 24867"/>
            </a:avLst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ko-KR" altLang="en-US" sz="1000" b="1">
                <a:latin typeface="나눔스퀘어" panose="020B0600000101010101" pitchFamily="50" charset="-127"/>
                <a:ea typeface="나눔스퀘어" panose="020B0600000101010101" pitchFamily="50" charset="-127"/>
              </a:rPr>
              <a:t>운전 이상 상황 원인 분석 및 대책 수립</a:t>
            </a:r>
            <a:endParaRPr lang="en-US" altLang="ko-KR" sz="1000" b="1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92" name="사각형: 둥근 모서리 191">
            <a:extLst>
              <a:ext uri="{FF2B5EF4-FFF2-40B4-BE49-F238E27FC236}">
                <a16:creationId xmlns:a16="http://schemas.microsoft.com/office/drawing/2014/main" id="{498215EB-A88F-3E58-3248-9122D4469024}"/>
              </a:ext>
            </a:extLst>
          </p:cNvPr>
          <p:cNvSpPr/>
          <p:nvPr/>
        </p:nvSpPr>
        <p:spPr>
          <a:xfrm>
            <a:off x="4953001" y="3037455"/>
            <a:ext cx="1056043" cy="334800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운전 데이터 취합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95" name="사각형: 둥근 모서리 194">
            <a:extLst>
              <a:ext uri="{FF2B5EF4-FFF2-40B4-BE49-F238E27FC236}">
                <a16:creationId xmlns:a16="http://schemas.microsoft.com/office/drawing/2014/main" id="{6694D252-DB0E-7E4D-3BF3-47909D7B0BA5}"/>
              </a:ext>
            </a:extLst>
          </p:cNvPr>
          <p:cNvSpPr/>
          <p:nvPr/>
        </p:nvSpPr>
        <p:spPr>
          <a:xfrm>
            <a:off x="4953001" y="3470789"/>
            <a:ext cx="1056043" cy="334800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데이터 정리 및 구조화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98" name="사각형: 둥근 모서리 197">
            <a:extLst>
              <a:ext uri="{FF2B5EF4-FFF2-40B4-BE49-F238E27FC236}">
                <a16:creationId xmlns:a16="http://schemas.microsoft.com/office/drawing/2014/main" id="{0C098F98-BEF4-A27F-E6CB-07FDD30C27FF}"/>
              </a:ext>
            </a:extLst>
          </p:cNvPr>
          <p:cNvSpPr/>
          <p:nvPr/>
        </p:nvSpPr>
        <p:spPr>
          <a:xfrm>
            <a:off x="6114378" y="3037455"/>
            <a:ext cx="1056043" cy="334800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운전 상태 분석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00" name="사각형: 둥근 모서리 199">
            <a:extLst>
              <a:ext uri="{FF2B5EF4-FFF2-40B4-BE49-F238E27FC236}">
                <a16:creationId xmlns:a16="http://schemas.microsoft.com/office/drawing/2014/main" id="{D1B3B2DD-D113-7915-CE3C-1D4E2C58F439}"/>
              </a:ext>
            </a:extLst>
          </p:cNvPr>
          <p:cNvSpPr/>
          <p:nvPr/>
        </p:nvSpPr>
        <p:spPr>
          <a:xfrm>
            <a:off x="7275756" y="3470789"/>
            <a:ext cx="1056043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사례 분석 및 벤치마킹 포인트 식별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03" name="사각형: 둥근 모서리 202">
            <a:extLst>
              <a:ext uri="{FF2B5EF4-FFF2-40B4-BE49-F238E27FC236}">
                <a16:creationId xmlns:a16="http://schemas.microsoft.com/office/drawing/2014/main" id="{281F2770-AFB4-D7F3-FFC0-ACA3FC5CD530}"/>
              </a:ext>
            </a:extLst>
          </p:cNvPr>
          <p:cNvSpPr/>
          <p:nvPr/>
        </p:nvSpPr>
        <p:spPr>
          <a:xfrm>
            <a:off x="7275756" y="3037455"/>
            <a:ext cx="1056043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외부 사례 조사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08" name="사각형: 둥근 모서리 207">
            <a:extLst>
              <a:ext uri="{FF2B5EF4-FFF2-40B4-BE49-F238E27FC236}">
                <a16:creationId xmlns:a16="http://schemas.microsoft.com/office/drawing/2014/main" id="{C05F179F-EF55-93F9-52DF-7921BC6A9334}"/>
              </a:ext>
            </a:extLst>
          </p:cNvPr>
          <p:cNvSpPr/>
          <p:nvPr/>
        </p:nvSpPr>
        <p:spPr>
          <a:xfrm>
            <a:off x="8437133" y="3037455"/>
            <a:ext cx="1056043" cy="334800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근본 원인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제거 방안 수립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94" name="화살표: 오각형 193">
            <a:extLst>
              <a:ext uri="{FF2B5EF4-FFF2-40B4-BE49-F238E27FC236}">
                <a16:creationId xmlns:a16="http://schemas.microsoft.com/office/drawing/2014/main" id="{6787C3CA-8188-9B10-7B99-8960F37F4D59}"/>
              </a:ext>
            </a:extLst>
          </p:cNvPr>
          <p:cNvSpPr/>
          <p:nvPr/>
        </p:nvSpPr>
        <p:spPr>
          <a:xfrm>
            <a:off x="4953000" y="2194636"/>
            <a:ext cx="1124454" cy="347687"/>
          </a:xfrm>
          <a:prstGeom prst="homePlate">
            <a:avLst>
              <a:gd name="adj" fmla="val 24867"/>
            </a:avLst>
          </a:prstGeom>
          <a:solidFill>
            <a:schemeClr val="bg1">
              <a:lumMod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ko-KR" altLang="en-US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이상 상황 데이터 수집</a:t>
            </a:r>
          </a:p>
        </p:txBody>
      </p:sp>
      <p:sp>
        <p:nvSpPr>
          <p:cNvPr id="199" name="화살표: 오각형 198">
            <a:extLst>
              <a:ext uri="{FF2B5EF4-FFF2-40B4-BE49-F238E27FC236}">
                <a16:creationId xmlns:a16="http://schemas.microsoft.com/office/drawing/2014/main" id="{6E11A8D0-CCC5-985E-57E5-83592A899E45}"/>
              </a:ext>
            </a:extLst>
          </p:cNvPr>
          <p:cNvSpPr/>
          <p:nvPr/>
        </p:nvSpPr>
        <p:spPr>
          <a:xfrm>
            <a:off x="6114378" y="2195472"/>
            <a:ext cx="1124454" cy="347687"/>
          </a:xfrm>
          <a:prstGeom prst="homePlate">
            <a:avLst>
              <a:gd name="adj" fmla="val 24867"/>
            </a:avLst>
          </a:prstGeom>
          <a:solidFill>
            <a:schemeClr val="bg1">
              <a:lumMod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ko-KR" altLang="en-US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운전 변수 이탈 원인 분석</a:t>
            </a:r>
          </a:p>
        </p:txBody>
      </p:sp>
      <p:sp>
        <p:nvSpPr>
          <p:cNvPr id="204" name="화살표: 오각형 203">
            <a:extLst>
              <a:ext uri="{FF2B5EF4-FFF2-40B4-BE49-F238E27FC236}">
                <a16:creationId xmlns:a16="http://schemas.microsoft.com/office/drawing/2014/main" id="{D17F4FAE-F4AE-2E2B-0B47-E4917BE0A70B}"/>
              </a:ext>
            </a:extLst>
          </p:cNvPr>
          <p:cNvSpPr/>
          <p:nvPr/>
        </p:nvSpPr>
        <p:spPr>
          <a:xfrm>
            <a:off x="7275756" y="2196308"/>
            <a:ext cx="1125092" cy="347687"/>
          </a:xfrm>
          <a:prstGeom prst="homePlate">
            <a:avLst>
              <a:gd name="adj" fmla="val 24867"/>
            </a:avLst>
          </a:prstGeom>
          <a:solidFill>
            <a:schemeClr val="bg1">
              <a:lumMod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ko-KR" altLang="en-US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과거 운전</a:t>
            </a:r>
            <a:r>
              <a:rPr lang="en-US" altLang="ko-KR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유사 공정 사례 조사</a:t>
            </a:r>
          </a:p>
        </p:txBody>
      </p:sp>
      <p:sp>
        <p:nvSpPr>
          <p:cNvPr id="209" name="화살표: 오각형 208">
            <a:extLst>
              <a:ext uri="{FF2B5EF4-FFF2-40B4-BE49-F238E27FC236}">
                <a16:creationId xmlns:a16="http://schemas.microsoft.com/office/drawing/2014/main" id="{832AF997-80FD-FD93-A987-701F78F43252}"/>
              </a:ext>
            </a:extLst>
          </p:cNvPr>
          <p:cNvSpPr/>
          <p:nvPr/>
        </p:nvSpPr>
        <p:spPr>
          <a:xfrm>
            <a:off x="8436421" y="2197144"/>
            <a:ext cx="1125092" cy="347687"/>
          </a:xfrm>
          <a:prstGeom prst="homePlate">
            <a:avLst>
              <a:gd name="adj" fmla="val 24867"/>
            </a:avLst>
          </a:prstGeom>
          <a:solidFill>
            <a:schemeClr val="bg1">
              <a:lumMod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ko-KR" altLang="en-US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재발 방지 대책 및 실행 계획 수립</a:t>
            </a:r>
          </a:p>
        </p:txBody>
      </p:sp>
      <p:sp>
        <p:nvSpPr>
          <p:cNvPr id="191" name="사각형: 둥근 모서리 190">
            <a:extLst>
              <a:ext uri="{FF2B5EF4-FFF2-40B4-BE49-F238E27FC236}">
                <a16:creationId xmlns:a16="http://schemas.microsoft.com/office/drawing/2014/main" id="{975C0979-A191-65A2-0930-3272938B28AD}"/>
              </a:ext>
            </a:extLst>
          </p:cNvPr>
          <p:cNvSpPr/>
          <p:nvPr/>
        </p:nvSpPr>
        <p:spPr>
          <a:xfrm>
            <a:off x="4953001" y="2604121"/>
            <a:ext cx="1056584" cy="334800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이상 상황 파악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97" name="사각형: 둥근 모서리 196">
            <a:extLst>
              <a:ext uri="{FF2B5EF4-FFF2-40B4-BE49-F238E27FC236}">
                <a16:creationId xmlns:a16="http://schemas.microsoft.com/office/drawing/2014/main" id="{D00F7883-C79B-2591-9C7A-0E2842368AE6}"/>
              </a:ext>
            </a:extLst>
          </p:cNvPr>
          <p:cNvSpPr/>
          <p:nvPr/>
        </p:nvSpPr>
        <p:spPr>
          <a:xfrm>
            <a:off x="6114378" y="2604121"/>
            <a:ext cx="1056584" cy="334800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이상 징후 식별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02" name="사각형: 둥근 모서리 201">
            <a:extLst>
              <a:ext uri="{FF2B5EF4-FFF2-40B4-BE49-F238E27FC236}">
                <a16:creationId xmlns:a16="http://schemas.microsoft.com/office/drawing/2014/main" id="{9480EBE0-67FF-344F-96C5-6B3A0CB96D95}"/>
              </a:ext>
            </a:extLst>
          </p:cNvPr>
          <p:cNvSpPr/>
          <p:nvPr/>
        </p:nvSpPr>
        <p:spPr>
          <a:xfrm>
            <a:off x="7275756" y="2604121"/>
            <a:ext cx="1056584" cy="334800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사내 유사 발생</a:t>
            </a:r>
            <a:br>
              <a:rPr kumimoji="1" lang="en-US" altLang="ko-KR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</a:b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이력 검토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07" name="사각형: 둥근 모서리 206">
            <a:extLst>
              <a:ext uri="{FF2B5EF4-FFF2-40B4-BE49-F238E27FC236}">
                <a16:creationId xmlns:a16="http://schemas.microsoft.com/office/drawing/2014/main" id="{7AF9D34F-8C2F-1DD4-644F-E2E4D59DB05A}"/>
              </a:ext>
            </a:extLst>
          </p:cNvPr>
          <p:cNvSpPr/>
          <p:nvPr/>
        </p:nvSpPr>
        <p:spPr>
          <a:xfrm>
            <a:off x="8437133" y="2604121"/>
            <a:ext cx="1056584" cy="334800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단기 대응 방안 수립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5F8D5114-6FCE-2F9C-DB7E-C71DA45EDF44}"/>
              </a:ext>
            </a:extLst>
          </p:cNvPr>
          <p:cNvCxnSpPr>
            <a:cxnSpLocks/>
            <a:stCxn id="191" idx="2"/>
            <a:endCxn id="192" idx="0"/>
          </p:cNvCxnSpPr>
          <p:nvPr/>
        </p:nvCxnSpPr>
        <p:spPr>
          <a:xfrm flipH="1">
            <a:off x="5481023" y="2938921"/>
            <a:ext cx="271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121E7B93-97D8-FC7B-06D2-4DB45C5FEE99}"/>
              </a:ext>
            </a:extLst>
          </p:cNvPr>
          <p:cNvCxnSpPr>
            <a:cxnSpLocks/>
            <a:stCxn id="192" idx="2"/>
            <a:endCxn id="195" idx="0"/>
          </p:cNvCxnSpPr>
          <p:nvPr/>
        </p:nvCxnSpPr>
        <p:spPr>
          <a:xfrm>
            <a:off x="5481023" y="3372255"/>
            <a:ext cx="0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5D276BDD-4914-94D9-2BF5-99B64013928A}"/>
              </a:ext>
            </a:extLst>
          </p:cNvPr>
          <p:cNvCxnSpPr>
            <a:cxnSpLocks/>
            <a:stCxn id="197" idx="2"/>
            <a:endCxn id="198" idx="0"/>
          </p:cNvCxnSpPr>
          <p:nvPr/>
        </p:nvCxnSpPr>
        <p:spPr>
          <a:xfrm flipH="1">
            <a:off x="6642400" y="2938921"/>
            <a:ext cx="270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08CC97BB-5345-345B-9C5D-FD1B776005C5}"/>
              </a:ext>
            </a:extLst>
          </p:cNvPr>
          <p:cNvCxnSpPr>
            <a:cxnSpLocks/>
            <a:stCxn id="202" idx="2"/>
            <a:endCxn id="203" idx="0"/>
          </p:cNvCxnSpPr>
          <p:nvPr/>
        </p:nvCxnSpPr>
        <p:spPr>
          <a:xfrm flipH="1">
            <a:off x="7803777" y="2938921"/>
            <a:ext cx="271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BE0AA4BC-CB84-C5C7-5278-CD33159F1144}"/>
              </a:ext>
            </a:extLst>
          </p:cNvPr>
          <p:cNvCxnSpPr>
            <a:cxnSpLocks/>
            <a:stCxn id="203" idx="2"/>
            <a:endCxn id="200" idx="0"/>
          </p:cNvCxnSpPr>
          <p:nvPr/>
        </p:nvCxnSpPr>
        <p:spPr>
          <a:xfrm>
            <a:off x="7803778" y="3372255"/>
            <a:ext cx="0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직선 화살표 연결선 131">
            <a:extLst>
              <a:ext uri="{FF2B5EF4-FFF2-40B4-BE49-F238E27FC236}">
                <a16:creationId xmlns:a16="http://schemas.microsoft.com/office/drawing/2014/main" id="{D37ECB33-F1A9-8A93-5837-80E1062EE84E}"/>
              </a:ext>
            </a:extLst>
          </p:cNvPr>
          <p:cNvCxnSpPr>
            <a:cxnSpLocks/>
            <a:stCxn id="207" idx="2"/>
            <a:endCxn id="208" idx="0"/>
          </p:cNvCxnSpPr>
          <p:nvPr/>
        </p:nvCxnSpPr>
        <p:spPr>
          <a:xfrm flipH="1">
            <a:off x="8965155" y="2938921"/>
            <a:ext cx="270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3CC5B78B-7196-087F-2BB3-4C86F71D0B3C}"/>
              </a:ext>
            </a:extLst>
          </p:cNvPr>
          <p:cNvSpPr/>
          <p:nvPr/>
        </p:nvSpPr>
        <p:spPr>
          <a:xfrm>
            <a:off x="6114378" y="3470789"/>
            <a:ext cx="1056043" cy="334800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잠재 원인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도출 및 검증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1D34F680-AE71-1D39-D8DC-898DD0BA8E00}"/>
              </a:ext>
            </a:extLst>
          </p:cNvPr>
          <p:cNvCxnSpPr>
            <a:cxnSpLocks/>
            <a:stCxn id="198" idx="2"/>
            <a:endCxn id="15" idx="0"/>
          </p:cNvCxnSpPr>
          <p:nvPr/>
        </p:nvCxnSpPr>
        <p:spPr>
          <a:xfrm>
            <a:off x="6642400" y="3372255"/>
            <a:ext cx="0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DEEF3748-C891-FA38-E848-DE3038ED9D1A}"/>
              </a:ext>
            </a:extLst>
          </p:cNvPr>
          <p:cNvSpPr/>
          <p:nvPr/>
        </p:nvSpPr>
        <p:spPr>
          <a:xfrm>
            <a:off x="8437133" y="3470789"/>
            <a:ext cx="1056043" cy="334800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방안 적용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세부계획 수립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B52AC334-B696-470A-B1E5-B13CA1F31328}"/>
              </a:ext>
            </a:extLst>
          </p:cNvPr>
          <p:cNvCxnSpPr>
            <a:cxnSpLocks/>
            <a:stCxn id="208" idx="2"/>
            <a:endCxn id="19" idx="0"/>
          </p:cNvCxnSpPr>
          <p:nvPr/>
        </p:nvCxnSpPr>
        <p:spPr>
          <a:xfrm>
            <a:off x="8965155" y="3372255"/>
            <a:ext cx="0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23EDA6AB-8460-6AF8-48A1-DB2DD723BAA3}"/>
              </a:ext>
            </a:extLst>
          </p:cNvPr>
          <p:cNvCxnSpPr>
            <a:cxnSpLocks/>
          </p:cNvCxnSpPr>
          <p:nvPr/>
        </p:nvCxnSpPr>
        <p:spPr>
          <a:xfrm>
            <a:off x="344488" y="1768835"/>
            <a:ext cx="9221614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51368E1C-71DF-CBBB-D97E-6E4B037AB7A1}"/>
              </a:ext>
            </a:extLst>
          </p:cNvPr>
          <p:cNvSpPr/>
          <p:nvPr/>
        </p:nvSpPr>
        <p:spPr>
          <a:xfrm>
            <a:off x="4031571" y="1640841"/>
            <a:ext cx="1847448" cy="25598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rgbClr val="217C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To-Be </a:t>
            </a:r>
            <a:r>
              <a:rPr lang="ko-KR" altLang="en-US" sz="1200">
                <a:solidFill>
                  <a:schemeClr val="tx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업무 시나리오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33EBD7C3-FC1E-43CD-2AA0-AE79850206EF}"/>
              </a:ext>
            </a:extLst>
          </p:cNvPr>
          <p:cNvSpPr/>
          <p:nvPr/>
        </p:nvSpPr>
        <p:spPr>
          <a:xfrm>
            <a:off x="344490" y="1547834"/>
            <a:ext cx="570257" cy="171734"/>
          </a:xfrm>
          <a:prstGeom prst="rect">
            <a:avLst/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1000" b="1">
                <a:latin typeface="나눔스퀘어" panose="020B0600000101010101" pitchFamily="50" charset="-127"/>
                <a:ea typeface="나눔스퀘어" panose="020B0600000101010101" pitchFamily="50" charset="-127"/>
              </a:rPr>
              <a:t>Process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99716BF6-EEAB-EF06-A377-7627704DE547}"/>
              </a:ext>
            </a:extLst>
          </p:cNvPr>
          <p:cNvSpPr/>
          <p:nvPr/>
        </p:nvSpPr>
        <p:spPr>
          <a:xfrm>
            <a:off x="955677" y="1547834"/>
            <a:ext cx="570257" cy="171734"/>
          </a:xfrm>
          <a:prstGeom prst="rect">
            <a:avLst/>
          </a:prstGeom>
          <a:solidFill>
            <a:schemeClr val="bg1">
              <a:lumMod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Activity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B75C694A-9E0B-21D7-265D-A301D30FB2EB}"/>
              </a:ext>
            </a:extLst>
          </p:cNvPr>
          <p:cNvSpPr/>
          <p:nvPr/>
        </p:nvSpPr>
        <p:spPr>
          <a:xfrm>
            <a:off x="345637" y="3476581"/>
            <a:ext cx="3354744" cy="334800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적용 결과 확인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38FA99B6-3755-5DEC-B206-A9EF1C5D05DE}"/>
              </a:ext>
            </a:extLst>
          </p:cNvPr>
          <p:cNvSpPr/>
          <p:nvPr/>
        </p:nvSpPr>
        <p:spPr>
          <a:xfrm>
            <a:off x="3805716" y="3476581"/>
            <a:ext cx="1058400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정기보수 작업 지원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CCB9FEC2-E630-7EBE-48EC-07AB6FE83DAE}"/>
              </a:ext>
            </a:extLst>
          </p:cNvPr>
          <p:cNvSpPr/>
          <p:nvPr/>
        </p:nvSpPr>
        <p:spPr>
          <a:xfrm>
            <a:off x="3805716" y="3043247"/>
            <a:ext cx="1058400" cy="334800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Shut-down </a:t>
            </a: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일정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수립 및 지원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0" name="화살표: 오각형 59">
            <a:extLst>
              <a:ext uri="{FF2B5EF4-FFF2-40B4-BE49-F238E27FC236}">
                <a16:creationId xmlns:a16="http://schemas.microsoft.com/office/drawing/2014/main" id="{B7BAC3AD-AB57-5F8B-99D4-55FE9DCF11C3}"/>
              </a:ext>
            </a:extLst>
          </p:cNvPr>
          <p:cNvSpPr/>
          <p:nvPr/>
        </p:nvSpPr>
        <p:spPr>
          <a:xfrm>
            <a:off x="3798752" y="2205446"/>
            <a:ext cx="1123200" cy="347687"/>
          </a:xfrm>
          <a:prstGeom prst="homePlate">
            <a:avLst>
              <a:gd name="adj" fmla="val 24867"/>
            </a:avLst>
          </a:prstGeom>
          <a:solidFill>
            <a:schemeClr val="bg1">
              <a:lumMod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ko-KR" altLang="en-US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정기보수 지원</a:t>
            </a:r>
          </a:p>
        </p:txBody>
      </p:sp>
      <p:sp>
        <p:nvSpPr>
          <p:cNvPr id="62" name="화살표: 오각형 61">
            <a:extLst>
              <a:ext uri="{FF2B5EF4-FFF2-40B4-BE49-F238E27FC236}">
                <a16:creationId xmlns:a16="http://schemas.microsoft.com/office/drawing/2014/main" id="{6293B4DB-BD08-75C1-1CCD-0C06AA2B330E}"/>
              </a:ext>
            </a:extLst>
          </p:cNvPr>
          <p:cNvSpPr/>
          <p:nvPr/>
        </p:nvSpPr>
        <p:spPr>
          <a:xfrm>
            <a:off x="345638" y="2204608"/>
            <a:ext cx="1123200" cy="347687"/>
          </a:xfrm>
          <a:prstGeom prst="homePlate">
            <a:avLst>
              <a:gd name="adj" fmla="val 24867"/>
            </a:avLst>
          </a:prstGeom>
          <a:solidFill>
            <a:schemeClr val="bg1">
              <a:lumMod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ko-KR" altLang="en-US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원료 변경에 따른 운전 조정 검토</a:t>
            </a:r>
          </a:p>
        </p:txBody>
      </p:sp>
      <p:sp>
        <p:nvSpPr>
          <p:cNvPr id="63" name="화살표: 오각형 62">
            <a:extLst>
              <a:ext uri="{FF2B5EF4-FFF2-40B4-BE49-F238E27FC236}">
                <a16:creationId xmlns:a16="http://schemas.microsoft.com/office/drawing/2014/main" id="{C9CF4CAE-3BFD-7CC0-B8F7-A2C5FE7BDF8D}"/>
              </a:ext>
            </a:extLst>
          </p:cNvPr>
          <p:cNvSpPr/>
          <p:nvPr/>
        </p:nvSpPr>
        <p:spPr>
          <a:xfrm>
            <a:off x="1498997" y="2199592"/>
            <a:ext cx="1123200" cy="347687"/>
          </a:xfrm>
          <a:prstGeom prst="homePlate">
            <a:avLst>
              <a:gd name="adj" fmla="val 24867"/>
            </a:avLst>
          </a:prstGeom>
          <a:solidFill>
            <a:schemeClr val="bg1">
              <a:lumMod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ko-KR" altLang="en-US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제품 마진 확대를 위한 운전 조정 검토</a:t>
            </a:r>
          </a:p>
        </p:txBody>
      </p:sp>
      <p:sp>
        <p:nvSpPr>
          <p:cNvPr id="128" name="사각형: 둥근 모서리 127">
            <a:extLst>
              <a:ext uri="{FF2B5EF4-FFF2-40B4-BE49-F238E27FC236}">
                <a16:creationId xmlns:a16="http://schemas.microsoft.com/office/drawing/2014/main" id="{A4C0504A-CFCC-0509-8087-BAD5D4BDB756}"/>
              </a:ext>
            </a:extLst>
          </p:cNvPr>
          <p:cNvSpPr/>
          <p:nvPr/>
        </p:nvSpPr>
        <p:spPr>
          <a:xfrm>
            <a:off x="1498996" y="2609913"/>
            <a:ext cx="1058400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제품 생산 변경</a:t>
            </a:r>
            <a:b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</a:b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내용 접수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30" name="사각형: 둥근 모서리 129">
            <a:extLst>
              <a:ext uri="{FF2B5EF4-FFF2-40B4-BE49-F238E27FC236}">
                <a16:creationId xmlns:a16="http://schemas.microsoft.com/office/drawing/2014/main" id="{13237FED-CD3B-7F04-8BCC-40B255AF4D4F}"/>
              </a:ext>
            </a:extLst>
          </p:cNvPr>
          <p:cNvSpPr/>
          <p:nvPr/>
        </p:nvSpPr>
        <p:spPr>
          <a:xfrm>
            <a:off x="2652354" y="2609913"/>
            <a:ext cx="1058400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공정 제약 변경</a:t>
            </a:r>
            <a:b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</a:b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내용 접수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31" name="사각형: 둥근 모서리 130">
            <a:extLst>
              <a:ext uri="{FF2B5EF4-FFF2-40B4-BE49-F238E27FC236}">
                <a16:creationId xmlns:a16="http://schemas.microsoft.com/office/drawing/2014/main" id="{01EE1080-46A0-855A-2DEC-82F764D295A6}"/>
              </a:ext>
            </a:extLst>
          </p:cNvPr>
          <p:cNvSpPr/>
          <p:nvPr/>
        </p:nvSpPr>
        <p:spPr>
          <a:xfrm>
            <a:off x="3805716" y="2609913"/>
            <a:ext cx="1058400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계획 보고</a:t>
            </a:r>
            <a:endParaRPr kumimoji="1" lang="en-US" altLang="ko-KR" sz="900" kern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33" name="사각형: 둥근 모서리 132">
            <a:extLst>
              <a:ext uri="{FF2B5EF4-FFF2-40B4-BE49-F238E27FC236}">
                <a16:creationId xmlns:a16="http://schemas.microsoft.com/office/drawing/2014/main" id="{1C29FF3B-92AC-9516-098B-FED948171D4A}"/>
              </a:ext>
            </a:extLst>
          </p:cNvPr>
          <p:cNvSpPr/>
          <p:nvPr/>
        </p:nvSpPr>
        <p:spPr>
          <a:xfrm>
            <a:off x="345637" y="2609913"/>
            <a:ext cx="1058400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원료 변경 내용</a:t>
            </a:r>
            <a:b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</a:b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접수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34" name="사각형: 둥근 모서리 133">
            <a:extLst>
              <a:ext uri="{FF2B5EF4-FFF2-40B4-BE49-F238E27FC236}">
                <a16:creationId xmlns:a16="http://schemas.microsoft.com/office/drawing/2014/main" id="{7CCD5289-A948-43BA-EC57-0F071397D6F5}"/>
              </a:ext>
            </a:extLst>
          </p:cNvPr>
          <p:cNvSpPr/>
          <p:nvPr/>
        </p:nvSpPr>
        <p:spPr>
          <a:xfrm>
            <a:off x="345637" y="3043247"/>
            <a:ext cx="3365116" cy="334800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운전 조정 방안</a:t>
            </a:r>
            <a:r>
              <a:rPr kumimoji="1" lang="en-US" altLang="ko-KR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수립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36" name="화살표: 오각형 135">
            <a:extLst>
              <a:ext uri="{FF2B5EF4-FFF2-40B4-BE49-F238E27FC236}">
                <a16:creationId xmlns:a16="http://schemas.microsoft.com/office/drawing/2014/main" id="{6B3F169F-1AA1-6C30-0015-EFDAE6085A64}"/>
              </a:ext>
            </a:extLst>
          </p:cNvPr>
          <p:cNvSpPr/>
          <p:nvPr/>
        </p:nvSpPr>
        <p:spPr>
          <a:xfrm>
            <a:off x="345637" y="1970010"/>
            <a:ext cx="4560525" cy="200898"/>
          </a:xfrm>
          <a:prstGeom prst="homePlate">
            <a:avLst>
              <a:gd name="adj" fmla="val 24867"/>
            </a:avLst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ko-KR" altLang="en-US" sz="1000" b="1">
                <a:latin typeface="나눔스퀘어" panose="020B0600000101010101" pitchFamily="50" charset="-127"/>
                <a:ea typeface="나눔스퀘어" panose="020B0600000101010101" pitchFamily="50" charset="-127"/>
              </a:rPr>
              <a:t>공정 운전 지원</a:t>
            </a:r>
            <a:endParaRPr lang="en-US" altLang="ko-KR" sz="1000" b="1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139" name="직선 화살표 연결선 138">
            <a:extLst>
              <a:ext uri="{FF2B5EF4-FFF2-40B4-BE49-F238E27FC236}">
                <a16:creationId xmlns:a16="http://schemas.microsoft.com/office/drawing/2014/main" id="{97EE4ADE-7B21-E23A-D78E-5632F05558DA}"/>
              </a:ext>
            </a:extLst>
          </p:cNvPr>
          <p:cNvCxnSpPr>
            <a:cxnSpLocks/>
            <a:stCxn id="133" idx="2"/>
          </p:cNvCxnSpPr>
          <p:nvPr/>
        </p:nvCxnSpPr>
        <p:spPr>
          <a:xfrm>
            <a:off x="874837" y="2944713"/>
            <a:ext cx="0" cy="92742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직선 화살표 연결선 139">
            <a:extLst>
              <a:ext uri="{FF2B5EF4-FFF2-40B4-BE49-F238E27FC236}">
                <a16:creationId xmlns:a16="http://schemas.microsoft.com/office/drawing/2014/main" id="{EF377D10-7750-7E61-0FD7-3E4B67AE17DD}"/>
              </a:ext>
            </a:extLst>
          </p:cNvPr>
          <p:cNvCxnSpPr>
            <a:cxnSpLocks/>
            <a:stCxn id="134" idx="2"/>
            <a:endCxn id="41" idx="0"/>
          </p:cNvCxnSpPr>
          <p:nvPr/>
        </p:nvCxnSpPr>
        <p:spPr>
          <a:xfrm flipH="1">
            <a:off x="2023009" y="3378047"/>
            <a:ext cx="5186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직선 화살표 연결선 141">
            <a:extLst>
              <a:ext uri="{FF2B5EF4-FFF2-40B4-BE49-F238E27FC236}">
                <a16:creationId xmlns:a16="http://schemas.microsoft.com/office/drawing/2014/main" id="{1B0570AE-5826-664E-4069-201E3709D80A}"/>
              </a:ext>
            </a:extLst>
          </p:cNvPr>
          <p:cNvCxnSpPr>
            <a:cxnSpLocks/>
          </p:cNvCxnSpPr>
          <p:nvPr/>
        </p:nvCxnSpPr>
        <p:spPr>
          <a:xfrm>
            <a:off x="874837" y="3805589"/>
            <a:ext cx="0" cy="101779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직선 화살표 연결선 142">
            <a:extLst>
              <a:ext uri="{FF2B5EF4-FFF2-40B4-BE49-F238E27FC236}">
                <a16:creationId xmlns:a16="http://schemas.microsoft.com/office/drawing/2014/main" id="{B2DDB498-E406-06BF-F76A-D116632E1C90}"/>
              </a:ext>
            </a:extLst>
          </p:cNvPr>
          <p:cNvCxnSpPr>
            <a:cxnSpLocks/>
            <a:stCxn id="128" idx="2"/>
          </p:cNvCxnSpPr>
          <p:nvPr/>
        </p:nvCxnSpPr>
        <p:spPr>
          <a:xfrm>
            <a:off x="2028196" y="2944713"/>
            <a:ext cx="0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직선 화살표 연결선 145">
            <a:extLst>
              <a:ext uri="{FF2B5EF4-FFF2-40B4-BE49-F238E27FC236}">
                <a16:creationId xmlns:a16="http://schemas.microsoft.com/office/drawing/2014/main" id="{D207E9EB-BD19-ED43-B477-AEB3190886E2}"/>
              </a:ext>
            </a:extLst>
          </p:cNvPr>
          <p:cNvCxnSpPr>
            <a:cxnSpLocks/>
            <a:stCxn id="41" idx="2"/>
            <a:endCxn id="57" idx="0"/>
          </p:cNvCxnSpPr>
          <p:nvPr/>
        </p:nvCxnSpPr>
        <p:spPr>
          <a:xfrm>
            <a:off x="2023009" y="3811381"/>
            <a:ext cx="5186" cy="95987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직선 화살표 연결선 148">
            <a:extLst>
              <a:ext uri="{FF2B5EF4-FFF2-40B4-BE49-F238E27FC236}">
                <a16:creationId xmlns:a16="http://schemas.microsoft.com/office/drawing/2014/main" id="{C6495687-5F08-A862-7FC4-1B4F00DE3356}"/>
              </a:ext>
            </a:extLst>
          </p:cNvPr>
          <p:cNvCxnSpPr>
            <a:cxnSpLocks/>
            <a:stCxn id="130" idx="2"/>
          </p:cNvCxnSpPr>
          <p:nvPr/>
        </p:nvCxnSpPr>
        <p:spPr>
          <a:xfrm>
            <a:off x="3181554" y="2944713"/>
            <a:ext cx="0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직선 화살표 연결선 150">
            <a:extLst>
              <a:ext uri="{FF2B5EF4-FFF2-40B4-BE49-F238E27FC236}">
                <a16:creationId xmlns:a16="http://schemas.microsoft.com/office/drawing/2014/main" id="{32024BB8-537C-6CCE-163F-A95ED829E604}"/>
              </a:ext>
            </a:extLst>
          </p:cNvPr>
          <p:cNvCxnSpPr>
            <a:cxnSpLocks/>
            <a:stCxn id="131" idx="2"/>
            <a:endCxn id="59" idx="0"/>
          </p:cNvCxnSpPr>
          <p:nvPr/>
        </p:nvCxnSpPr>
        <p:spPr>
          <a:xfrm>
            <a:off x="4334916" y="2944713"/>
            <a:ext cx="0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직선 화살표 연결선 151">
            <a:extLst>
              <a:ext uri="{FF2B5EF4-FFF2-40B4-BE49-F238E27FC236}">
                <a16:creationId xmlns:a16="http://schemas.microsoft.com/office/drawing/2014/main" id="{C6FE17A7-6618-3DCB-408B-916D8797A703}"/>
              </a:ext>
            </a:extLst>
          </p:cNvPr>
          <p:cNvCxnSpPr>
            <a:cxnSpLocks/>
            <a:stCxn id="59" idx="2"/>
            <a:endCxn id="56" idx="0"/>
          </p:cNvCxnSpPr>
          <p:nvPr/>
        </p:nvCxnSpPr>
        <p:spPr>
          <a:xfrm>
            <a:off x="4334916" y="3378047"/>
            <a:ext cx="0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TextBox 158">
            <a:extLst>
              <a:ext uri="{FF2B5EF4-FFF2-40B4-BE49-F238E27FC236}">
                <a16:creationId xmlns:a16="http://schemas.microsoft.com/office/drawing/2014/main" id="{7D4E0C1A-1F3F-C379-955D-9B212535FDC9}"/>
              </a:ext>
            </a:extLst>
          </p:cNvPr>
          <p:cNvSpPr txBox="1"/>
          <p:nvPr/>
        </p:nvSpPr>
        <p:spPr>
          <a:xfrm>
            <a:off x="673770" y="6221525"/>
            <a:ext cx="3936732" cy="23166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72000" rIns="36000" rtlCol="0" anchor="ctr">
            <a:noAutofit/>
          </a:bodyPr>
          <a:lstStyle/>
          <a:p>
            <a:r>
              <a:rPr lang="en-US" altLang="ko-KR" sz="1000" spc="-3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S/U, S/D </a:t>
            </a:r>
            <a:r>
              <a:rPr lang="ko-KR" altLang="en-US" sz="1000" spc="-3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운전 정보 확보 難 → 운전 이력 기반 단계별 상세 일정 초안</a:t>
            </a:r>
            <a:r>
              <a:rPr lang="en-US" altLang="ko-KR" sz="1000" spc="-3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1000" spc="-3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제공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8FDB4F6A-1CFE-1648-2CE3-2AD0A70B799D}"/>
              </a:ext>
            </a:extLst>
          </p:cNvPr>
          <p:cNvSpPr txBox="1"/>
          <p:nvPr/>
        </p:nvSpPr>
        <p:spPr>
          <a:xfrm>
            <a:off x="7489234" y="6221525"/>
            <a:ext cx="2072281" cy="23166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72000" rIns="36000" rtlCol="0" anchor="ctr">
            <a:noAutofit/>
          </a:bodyPr>
          <a:lstStyle/>
          <a:p>
            <a:r>
              <a:rPr lang="en-US" altLang="ko-KR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S/U, S/D </a:t>
            </a:r>
            <a:r>
              <a:rPr lang="ko-KR" altLang="en-US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단계별 특이사항 등록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6AEEA8DC-1E7D-D3F3-26F3-5BBDC0E35FDC}"/>
              </a:ext>
            </a:extLst>
          </p:cNvPr>
          <p:cNvSpPr txBox="1"/>
          <p:nvPr/>
        </p:nvSpPr>
        <p:spPr>
          <a:xfrm>
            <a:off x="344486" y="6221525"/>
            <a:ext cx="216000" cy="216000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4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F07AEFBD-9831-1821-D0F1-045A81E4ACE0}"/>
              </a:ext>
            </a:extLst>
          </p:cNvPr>
          <p:cNvSpPr txBox="1"/>
          <p:nvPr/>
        </p:nvSpPr>
        <p:spPr>
          <a:xfrm>
            <a:off x="4710767" y="6221525"/>
            <a:ext cx="2678203" cy="23166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72000" rIns="36000" rtlCol="0" anchor="ctr">
            <a:noAutofit/>
          </a:bodyPr>
          <a:lstStyle/>
          <a:p>
            <a:r>
              <a:rPr lang="en-US" altLang="ko-KR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S/U &amp; S/D </a:t>
            </a:r>
            <a:r>
              <a:rPr lang="ko-KR" altLang="en-US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운전 지원 </a:t>
            </a:r>
            <a:r>
              <a:rPr lang="en-US" altLang="ko-KR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AI(</a:t>
            </a:r>
            <a:r>
              <a:rPr lang="ko-KR" altLang="en-US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생산</a:t>
            </a:r>
            <a:r>
              <a:rPr lang="en-US" altLang="ko-KR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endParaRPr lang="ko-KR" altLang="en-US" sz="100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65" name="사각형: 둥근 모서리 164">
            <a:extLst>
              <a:ext uri="{FF2B5EF4-FFF2-40B4-BE49-F238E27FC236}">
                <a16:creationId xmlns:a16="http://schemas.microsoft.com/office/drawing/2014/main" id="{64125D12-85C1-474D-B0FC-D6AD22C50CC6}"/>
              </a:ext>
            </a:extLst>
          </p:cNvPr>
          <p:cNvSpPr/>
          <p:nvPr/>
        </p:nvSpPr>
        <p:spPr>
          <a:xfrm>
            <a:off x="6954839" y="6253656"/>
            <a:ext cx="386006" cy="167400"/>
          </a:xfrm>
          <a:prstGeom prst="roundRect">
            <a:avLst>
              <a:gd name="adj" fmla="val 18018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noFill/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지능화</a:t>
            </a:r>
            <a:endParaRPr kumimoji="1" lang="en-US" altLang="ko-KR" sz="900" ker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90698E43-2106-0212-B418-0034D4CA4544}"/>
              </a:ext>
            </a:extLst>
          </p:cNvPr>
          <p:cNvSpPr/>
          <p:nvPr/>
        </p:nvSpPr>
        <p:spPr>
          <a:xfrm>
            <a:off x="8926185" y="1553252"/>
            <a:ext cx="635326" cy="160797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solidFill>
                  <a:schemeClr val="bg1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삭제 업무</a:t>
            </a:r>
            <a:endParaRPr kumimoji="1" lang="en-US" altLang="ko-KR" sz="900" kern="0">
              <a:solidFill>
                <a:schemeClr val="bg1">
                  <a:lumMod val="7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F973359-209D-9DF6-0A26-487DB476CB6A}"/>
              </a:ext>
            </a:extLst>
          </p:cNvPr>
          <p:cNvSpPr/>
          <p:nvPr/>
        </p:nvSpPr>
        <p:spPr>
          <a:xfrm>
            <a:off x="7552890" y="1553252"/>
            <a:ext cx="635326" cy="160797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AI/DT </a:t>
            </a: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신규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EAD798CA-C5F5-FF43-7E2D-C19FDCC21264}"/>
              </a:ext>
            </a:extLst>
          </p:cNvPr>
          <p:cNvSpPr/>
          <p:nvPr/>
        </p:nvSpPr>
        <p:spPr>
          <a:xfrm>
            <a:off x="8239537" y="1553252"/>
            <a:ext cx="635326" cy="160797"/>
          </a:xfrm>
          <a:prstGeom prst="roundRect">
            <a:avLst/>
          </a:prstGeom>
          <a:pattFill prst="ltUpDiag">
            <a:fgClr>
              <a:srgbClr val="C4DCF2"/>
            </a:fgClr>
            <a:bgClr>
              <a:schemeClr val="bg1"/>
            </a:bgClr>
          </a:pattFill>
          <a:ln w="3175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Digital </a:t>
            </a: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기존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화살표: 오각형 1">
            <a:extLst>
              <a:ext uri="{FF2B5EF4-FFF2-40B4-BE49-F238E27FC236}">
                <a16:creationId xmlns:a16="http://schemas.microsoft.com/office/drawing/2014/main" id="{7C538BFD-5921-F62E-9EF3-22349589105F}"/>
              </a:ext>
            </a:extLst>
          </p:cNvPr>
          <p:cNvSpPr/>
          <p:nvPr/>
        </p:nvSpPr>
        <p:spPr>
          <a:xfrm>
            <a:off x="2652354" y="2199592"/>
            <a:ext cx="1123200" cy="347687"/>
          </a:xfrm>
          <a:prstGeom prst="homePlate">
            <a:avLst>
              <a:gd name="adj" fmla="val 24867"/>
            </a:avLst>
          </a:prstGeom>
          <a:solidFill>
            <a:schemeClr val="bg1">
              <a:lumMod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ko-KR" altLang="en-US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공정 조건에 따른 운전 조정 검토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04001A14-A6E6-0BFB-6CCA-BEEAB5E75E7B}"/>
              </a:ext>
            </a:extLst>
          </p:cNvPr>
          <p:cNvSpPr/>
          <p:nvPr/>
        </p:nvSpPr>
        <p:spPr>
          <a:xfrm>
            <a:off x="3805716" y="3907368"/>
            <a:ext cx="1058400" cy="334800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Start-up </a:t>
            </a: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일정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수립 및 지원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1B9E8A07-2F3D-F15B-47D0-2CA8F6146999}"/>
              </a:ext>
            </a:extLst>
          </p:cNvPr>
          <p:cNvSpPr/>
          <p:nvPr/>
        </p:nvSpPr>
        <p:spPr>
          <a:xfrm>
            <a:off x="3805716" y="4340702"/>
            <a:ext cx="1058400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결과 정리 및 보고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2E76089C-436B-AE4A-C50A-C58027CEF3E5}"/>
              </a:ext>
            </a:extLst>
          </p:cNvPr>
          <p:cNvCxnSpPr>
            <a:cxnSpLocks/>
            <a:stCxn id="56" idx="2"/>
            <a:endCxn id="7" idx="0"/>
          </p:cNvCxnSpPr>
          <p:nvPr/>
        </p:nvCxnSpPr>
        <p:spPr>
          <a:xfrm>
            <a:off x="4334916" y="3811381"/>
            <a:ext cx="0" cy="95987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8025911A-2457-E402-7000-D95075F286AD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4334916" y="4242168"/>
            <a:ext cx="0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FB7BD9A1-178A-9D7F-6F11-F3D4C14AD2C2}"/>
              </a:ext>
            </a:extLst>
          </p:cNvPr>
          <p:cNvCxnSpPr>
            <a:cxnSpLocks/>
          </p:cNvCxnSpPr>
          <p:nvPr/>
        </p:nvCxnSpPr>
        <p:spPr>
          <a:xfrm>
            <a:off x="3181554" y="3378047"/>
            <a:ext cx="0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877263AD-5BF2-1385-204D-31BADC0C106F}"/>
              </a:ext>
            </a:extLst>
          </p:cNvPr>
          <p:cNvSpPr/>
          <p:nvPr/>
        </p:nvSpPr>
        <p:spPr>
          <a:xfrm>
            <a:off x="6112021" y="3904123"/>
            <a:ext cx="1058400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영향 평가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10991097-BD0F-D0D0-5AFD-06CFEB2FE42E}"/>
              </a:ext>
            </a:extLst>
          </p:cNvPr>
          <p:cNvCxnSpPr>
            <a:cxnSpLocks/>
            <a:stCxn id="15" idx="2"/>
            <a:endCxn id="38" idx="0"/>
          </p:cNvCxnSpPr>
          <p:nvPr/>
        </p:nvCxnSpPr>
        <p:spPr>
          <a:xfrm flipH="1">
            <a:off x="6641221" y="3805589"/>
            <a:ext cx="1179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75C3617C-108F-112F-C0AC-40E75B7789F9}"/>
              </a:ext>
            </a:extLst>
          </p:cNvPr>
          <p:cNvSpPr txBox="1"/>
          <p:nvPr/>
        </p:nvSpPr>
        <p:spPr>
          <a:xfrm>
            <a:off x="270722" y="3138745"/>
            <a:ext cx="147532" cy="147532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6F354328-7027-F149-47B5-5A2A34431A3C}"/>
              </a:ext>
            </a:extLst>
          </p:cNvPr>
          <p:cNvSpPr/>
          <p:nvPr/>
        </p:nvSpPr>
        <p:spPr>
          <a:xfrm>
            <a:off x="8437133" y="3904123"/>
            <a:ext cx="1056043" cy="334800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결과 정리 및 보고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cxnSp>
        <p:nvCxnSpPr>
          <p:cNvPr id="135" name="직선 화살표 연결선 134">
            <a:extLst>
              <a:ext uri="{FF2B5EF4-FFF2-40B4-BE49-F238E27FC236}">
                <a16:creationId xmlns:a16="http://schemas.microsoft.com/office/drawing/2014/main" id="{8D98BC79-F520-CCD9-BFD8-A5518D699126}"/>
              </a:ext>
            </a:extLst>
          </p:cNvPr>
          <p:cNvCxnSpPr>
            <a:cxnSpLocks/>
            <a:stCxn id="19" idx="2"/>
            <a:endCxn id="61" idx="0"/>
          </p:cNvCxnSpPr>
          <p:nvPr/>
        </p:nvCxnSpPr>
        <p:spPr>
          <a:xfrm>
            <a:off x="8965155" y="3805589"/>
            <a:ext cx="0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TextBox 153">
            <a:extLst>
              <a:ext uri="{FF2B5EF4-FFF2-40B4-BE49-F238E27FC236}">
                <a16:creationId xmlns:a16="http://schemas.microsoft.com/office/drawing/2014/main" id="{747791B6-E467-15FB-F4F1-4CBE77D7E6AB}"/>
              </a:ext>
            </a:extLst>
          </p:cNvPr>
          <p:cNvSpPr txBox="1"/>
          <p:nvPr/>
        </p:nvSpPr>
        <p:spPr>
          <a:xfrm>
            <a:off x="6040612" y="3138745"/>
            <a:ext cx="147532" cy="147532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0B93D95F-C133-2347-46E3-C55F453CF9F5}"/>
              </a:ext>
            </a:extLst>
          </p:cNvPr>
          <p:cNvSpPr txBox="1"/>
          <p:nvPr/>
        </p:nvSpPr>
        <p:spPr>
          <a:xfrm>
            <a:off x="6040612" y="3564423"/>
            <a:ext cx="147532" cy="147532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05CAD570-3D33-E47C-414D-A9CD132CE6BA}"/>
              </a:ext>
            </a:extLst>
          </p:cNvPr>
          <p:cNvSpPr txBox="1"/>
          <p:nvPr/>
        </p:nvSpPr>
        <p:spPr>
          <a:xfrm>
            <a:off x="270722" y="3570215"/>
            <a:ext cx="147532" cy="147532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24D33AD0-A04E-A6DF-AF8D-F5C5AE0AEB19}"/>
              </a:ext>
            </a:extLst>
          </p:cNvPr>
          <p:cNvSpPr txBox="1"/>
          <p:nvPr/>
        </p:nvSpPr>
        <p:spPr>
          <a:xfrm>
            <a:off x="4879234" y="3138745"/>
            <a:ext cx="147532" cy="147532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8870BF10-58A2-16B5-D1EF-4A4B5CBB8577}"/>
              </a:ext>
            </a:extLst>
          </p:cNvPr>
          <p:cNvSpPr txBox="1"/>
          <p:nvPr/>
        </p:nvSpPr>
        <p:spPr>
          <a:xfrm>
            <a:off x="4879234" y="3564423"/>
            <a:ext cx="147532" cy="147532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4BCEBA73-DB2E-DD47-C862-D75D07D7CC72}"/>
              </a:ext>
            </a:extLst>
          </p:cNvPr>
          <p:cNvSpPr txBox="1"/>
          <p:nvPr/>
        </p:nvSpPr>
        <p:spPr>
          <a:xfrm>
            <a:off x="7201989" y="2697755"/>
            <a:ext cx="147532" cy="147532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5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36F529F4-FBCE-6AD4-2352-9EA55582A825}"/>
              </a:ext>
            </a:extLst>
          </p:cNvPr>
          <p:cNvSpPr txBox="1"/>
          <p:nvPr/>
        </p:nvSpPr>
        <p:spPr>
          <a:xfrm>
            <a:off x="3731496" y="3138745"/>
            <a:ext cx="147532" cy="147532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4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6E1BFE09-C181-7040-A158-8C36389E75AF}"/>
              </a:ext>
            </a:extLst>
          </p:cNvPr>
          <p:cNvSpPr/>
          <p:nvPr/>
        </p:nvSpPr>
        <p:spPr>
          <a:xfrm>
            <a:off x="345636" y="3907368"/>
            <a:ext cx="3365117" cy="334800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운전 데이터베이스 구축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BC522797-7D4F-2E0E-2852-DC20F9C05B60}"/>
              </a:ext>
            </a:extLst>
          </p:cNvPr>
          <p:cNvSpPr txBox="1"/>
          <p:nvPr/>
        </p:nvSpPr>
        <p:spPr>
          <a:xfrm>
            <a:off x="270722" y="3999983"/>
            <a:ext cx="147532" cy="147532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3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6B7A62C3-3982-4C84-0EB3-D15FA047805A}"/>
              </a:ext>
            </a:extLst>
          </p:cNvPr>
          <p:cNvSpPr txBox="1"/>
          <p:nvPr/>
        </p:nvSpPr>
        <p:spPr>
          <a:xfrm>
            <a:off x="8358984" y="2697755"/>
            <a:ext cx="147532" cy="147532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5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94DF42BA-90DA-39B2-11F6-D77913175F66}"/>
              </a:ext>
            </a:extLst>
          </p:cNvPr>
          <p:cNvSpPr txBox="1"/>
          <p:nvPr/>
        </p:nvSpPr>
        <p:spPr>
          <a:xfrm>
            <a:off x="8358984" y="3138745"/>
            <a:ext cx="147532" cy="147532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5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0CE12606-F7B0-2FCF-08D3-CA92939629D0}"/>
              </a:ext>
            </a:extLst>
          </p:cNvPr>
          <p:cNvSpPr txBox="1"/>
          <p:nvPr/>
        </p:nvSpPr>
        <p:spPr>
          <a:xfrm>
            <a:off x="8358984" y="3564423"/>
            <a:ext cx="147532" cy="147532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5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15DC6D1D-2BCE-B8CA-8417-10D04C95F77A}"/>
              </a:ext>
            </a:extLst>
          </p:cNvPr>
          <p:cNvSpPr txBox="1"/>
          <p:nvPr/>
        </p:nvSpPr>
        <p:spPr>
          <a:xfrm>
            <a:off x="8358984" y="4001003"/>
            <a:ext cx="147532" cy="147532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3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33D8AEFB-72ED-A781-63EF-AA632423A928}"/>
              </a:ext>
            </a:extLst>
          </p:cNvPr>
          <p:cNvSpPr txBox="1"/>
          <p:nvPr/>
        </p:nvSpPr>
        <p:spPr>
          <a:xfrm>
            <a:off x="673770" y="6514779"/>
            <a:ext cx="3936732" cy="23166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72000" rIns="36000" rtlCol="0" anchor="ctr">
            <a:noAutofit/>
          </a:bodyPr>
          <a:lstStyle/>
          <a:p>
            <a:r>
              <a:rPr lang="ko-KR" altLang="en-US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과거 이력 검색</a:t>
            </a:r>
            <a:r>
              <a:rPr lang="en-US" altLang="ko-KR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경험 기반 방안 수립 → </a:t>
            </a:r>
            <a:r>
              <a:rPr lang="en-US" altLang="ko-KR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DB</a:t>
            </a:r>
            <a:r>
              <a:rPr lang="ko-KR" altLang="en-US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화된 정보에서 </a:t>
            </a:r>
            <a:r>
              <a:rPr lang="ko-KR" altLang="en-US" sz="1000" spc="-5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대책안 추천</a:t>
            </a:r>
            <a:endParaRPr lang="ko-KR" altLang="en-US" sz="100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1AA38B9D-D83A-46E3-A820-03B0B6A9C4EC}"/>
              </a:ext>
            </a:extLst>
          </p:cNvPr>
          <p:cNvSpPr txBox="1"/>
          <p:nvPr/>
        </p:nvSpPr>
        <p:spPr>
          <a:xfrm>
            <a:off x="7489234" y="6514779"/>
            <a:ext cx="2072281" cy="23166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72000" rIns="36000" rtlCol="0" anchor="ctr">
            <a:noAutofit/>
          </a:bodyPr>
          <a:lstStyle/>
          <a:p>
            <a:r>
              <a:rPr lang="ko-KR" altLang="en-US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이상 대응 이력 </a:t>
            </a:r>
            <a:r>
              <a:rPr lang="en-US" altLang="ko-KR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DB</a:t>
            </a:r>
            <a:r>
              <a:rPr lang="ko-KR" altLang="en-US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화 대상 확대</a:t>
            </a: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34F80D95-2E9F-1F48-E2D9-977E7831EB31}"/>
              </a:ext>
            </a:extLst>
          </p:cNvPr>
          <p:cNvSpPr txBox="1"/>
          <p:nvPr/>
        </p:nvSpPr>
        <p:spPr>
          <a:xfrm>
            <a:off x="344486" y="6510356"/>
            <a:ext cx="216000" cy="216000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5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DC2777C4-D7AF-D91D-622A-06CD6AFDE68C}"/>
              </a:ext>
            </a:extLst>
          </p:cNvPr>
          <p:cNvSpPr txBox="1"/>
          <p:nvPr/>
        </p:nvSpPr>
        <p:spPr>
          <a:xfrm>
            <a:off x="4710767" y="6520571"/>
            <a:ext cx="2678203" cy="23166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72000" rIns="36000" rtlCol="0" anchor="ctr">
            <a:noAutofit/>
          </a:bodyPr>
          <a:lstStyle>
            <a:defPPr>
              <a:defRPr lang="en-US"/>
            </a:defPPr>
            <a:lvl1pPr>
              <a:defRPr sz="1000"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r>
              <a:rPr lang="ko-KR" altLang="en-US"/>
              <a:t>공정 </a:t>
            </a:r>
            <a:r>
              <a:rPr lang="en-US" altLang="ko-KR"/>
              <a:t>Trouble </a:t>
            </a:r>
            <a:r>
              <a:rPr lang="ko-KR" altLang="en-US"/>
              <a:t>대응 </a:t>
            </a:r>
            <a:r>
              <a:rPr lang="en-US" altLang="ko-KR"/>
              <a:t>AI(</a:t>
            </a:r>
            <a:r>
              <a:rPr lang="ko-KR" altLang="en-US"/>
              <a:t>생산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215" name="사각형: 둥근 모서리 214">
            <a:extLst>
              <a:ext uri="{FF2B5EF4-FFF2-40B4-BE49-F238E27FC236}">
                <a16:creationId xmlns:a16="http://schemas.microsoft.com/office/drawing/2014/main" id="{E2AD3EDF-3364-87B4-4AD8-A7D5A2607989}"/>
              </a:ext>
            </a:extLst>
          </p:cNvPr>
          <p:cNvSpPr/>
          <p:nvPr/>
        </p:nvSpPr>
        <p:spPr>
          <a:xfrm>
            <a:off x="6954839" y="6552702"/>
            <a:ext cx="386006" cy="167400"/>
          </a:xfrm>
          <a:prstGeom prst="roundRect">
            <a:avLst>
              <a:gd name="adj" fmla="val 18018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noFill/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지능화</a:t>
            </a:r>
            <a:endParaRPr kumimoji="1" lang="en-US" altLang="ko-KR" sz="900" ker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7E0B0C-62AF-9E40-1EC3-2797531DAC3A}"/>
              </a:ext>
            </a:extLst>
          </p:cNvPr>
          <p:cNvSpPr txBox="1"/>
          <p:nvPr/>
        </p:nvSpPr>
        <p:spPr>
          <a:xfrm>
            <a:off x="6040612" y="2697755"/>
            <a:ext cx="147532" cy="147532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4E5FEFC-5E28-3224-8FC0-1173E4C1AC6F}"/>
              </a:ext>
            </a:extLst>
          </p:cNvPr>
          <p:cNvSpPr txBox="1"/>
          <p:nvPr/>
        </p:nvSpPr>
        <p:spPr>
          <a:xfrm>
            <a:off x="4879234" y="2697755"/>
            <a:ext cx="147532" cy="147532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7C6D8BD3-2059-4CFF-D5A2-D44E985CEB20}"/>
              </a:ext>
            </a:extLst>
          </p:cNvPr>
          <p:cNvCxnSpPr>
            <a:cxnSpLocks/>
          </p:cNvCxnSpPr>
          <p:nvPr/>
        </p:nvCxnSpPr>
        <p:spPr>
          <a:xfrm>
            <a:off x="3181554" y="3811381"/>
            <a:ext cx="0" cy="95987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0" name="TextBox 189">
            <a:extLst>
              <a:ext uri="{FF2B5EF4-FFF2-40B4-BE49-F238E27FC236}">
                <a16:creationId xmlns:a16="http://schemas.microsoft.com/office/drawing/2014/main" id="{9495B103-A0B0-D409-4F27-98959DC301C3}"/>
              </a:ext>
            </a:extLst>
          </p:cNvPr>
          <p:cNvSpPr txBox="1"/>
          <p:nvPr/>
        </p:nvSpPr>
        <p:spPr>
          <a:xfrm>
            <a:off x="3736618" y="4001003"/>
            <a:ext cx="147532" cy="147532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4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216" name="직선 화살표 연결선 215">
            <a:extLst>
              <a:ext uri="{FF2B5EF4-FFF2-40B4-BE49-F238E27FC236}">
                <a16:creationId xmlns:a16="http://schemas.microsoft.com/office/drawing/2014/main" id="{8AD172E5-3F34-38B1-5DFD-C533A0356D69}"/>
              </a:ext>
            </a:extLst>
          </p:cNvPr>
          <p:cNvCxnSpPr>
            <a:cxnSpLocks/>
          </p:cNvCxnSpPr>
          <p:nvPr/>
        </p:nvCxnSpPr>
        <p:spPr>
          <a:xfrm>
            <a:off x="874837" y="3372255"/>
            <a:ext cx="0" cy="107699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76234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01D68-06D1-10A1-43EC-764372163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17C55D1-BC3C-8506-16E3-CA72BBF302F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4487" y="254884"/>
            <a:ext cx="6085448" cy="343235"/>
          </a:xfrm>
          <a:solidFill>
            <a:schemeClr val="bg1"/>
          </a:solidFill>
        </p:spPr>
        <p:txBody>
          <a:bodyPr wrap="none" anchor="ctr">
            <a:spAutoFit/>
          </a:bodyPr>
          <a:lstStyle/>
          <a:p>
            <a:r>
              <a:rPr lang="en-US" altLang="ko-KR" b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Appendix. [</a:t>
            </a:r>
            <a:r>
              <a:rPr lang="ko-KR" altLang="en-US" b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생산기술</a:t>
            </a:r>
            <a:r>
              <a:rPr lang="en-US" altLang="ko-KR" b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] </a:t>
            </a:r>
            <a:r>
              <a:rPr lang="ko-KR" altLang="en-US" b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운전 지원 및 </a:t>
            </a:r>
            <a:r>
              <a:rPr lang="en-US" altLang="ko-KR" b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Troubleshooting</a:t>
            </a:r>
            <a:r>
              <a:rPr lang="ko-KR" altLang="en-US" b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en-US" altLang="ko-KR" b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(2/2)</a:t>
            </a:r>
          </a:p>
        </p:txBody>
      </p:sp>
      <p:sp>
        <p:nvSpPr>
          <p:cNvPr id="171" name="사각형: 둥근 모서리 170">
            <a:extLst>
              <a:ext uri="{FF2B5EF4-FFF2-40B4-BE49-F238E27FC236}">
                <a16:creationId xmlns:a16="http://schemas.microsoft.com/office/drawing/2014/main" id="{A5E80B7F-0643-74BF-F985-D9FF9184949C}"/>
              </a:ext>
            </a:extLst>
          </p:cNvPr>
          <p:cNvSpPr/>
          <p:nvPr/>
        </p:nvSpPr>
        <p:spPr>
          <a:xfrm>
            <a:off x="344488" y="721134"/>
            <a:ext cx="941772" cy="763179"/>
          </a:xfrm>
          <a:prstGeom prst="roundRect">
            <a:avLst>
              <a:gd name="adj" fmla="val 0"/>
            </a:avLst>
          </a:prstGeom>
          <a:solidFill>
            <a:srgbClr val="217CFA"/>
          </a:solidFill>
          <a:ln w="6350">
            <a:solidFill>
              <a:srgbClr val="217C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Digital</a:t>
            </a:r>
            <a:r>
              <a:rPr lang="ko-KR" altLang="en-US" sz="130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화 지향점</a:t>
            </a:r>
          </a:p>
        </p:txBody>
      </p: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64FF7DB3-061B-F9E8-FE48-1B7AC449E12A}"/>
              </a:ext>
            </a:extLst>
          </p:cNvPr>
          <p:cNvCxnSpPr>
            <a:cxnSpLocks/>
          </p:cNvCxnSpPr>
          <p:nvPr/>
        </p:nvCxnSpPr>
        <p:spPr>
          <a:xfrm>
            <a:off x="344488" y="4859066"/>
            <a:ext cx="9221614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" name="사각형: 둥근 모서리 173">
            <a:extLst>
              <a:ext uri="{FF2B5EF4-FFF2-40B4-BE49-F238E27FC236}">
                <a16:creationId xmlns:a16="http://schemas.microsoft.com/office/drawing/2014/main" id="{02D2034A-56C6-4B1B-FEFD-613AD5034A00}"/>
              </a:ext>
            </a:extLst>
          </p:cNvPr>
          <p:cNvSpPr/>
          <p:nvPr/>
        </p:nvSpPr>
        <p:spPr>
          <a:xfrm>
            <a:off x="4031571" y="4731072"/>
            <a:ext cx="1847448" cy="25598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rgbClr val="217C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주요</a:t>
            </a:r>
            <a:r>
              <a:rPr lang="en-US" altLang="ko-KR" sz="1200">
                <a:solidFill>
                  <a:schemeClr val="tx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ko-KR" altLang="en-US" sz="1200">
                <a:solidFill>
                  <a:schemeClr val="tx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추진 사항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F00B1A15-4BC8-C98E-DA45-34B1025458E1}"/>
              </a:ext>
            </a:extLst>
          </p:cNvPr>
          <p:cNvSpPr txBox="1"/>
          <p:nvPr/>
        </p:nvSpPr>
        <p:spPr>
          <a:xfrm>
            <a:off x="673770" y="5073302"/>
            <a:ext cx="3936732" cy="200435"/>
          </a:xfrm>
          <a:prstGeom prst="rect">
            <a:avLst/>
          </a:prstGeom>
          <a:noFill/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ko-KR" altLang="en-US" sz="1100" u="sng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변화 </a:t>
            </a:r>
            <a:r>
              <a:rPr lang="en-US" altLang="ko-KR" sz="1100" u="sng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Point</a:t>
            </a:r>
            <a:endParaRPr lang="ko-KR" altLang="en-US" sz="1100" u="sng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1E4C03D5-9C6C-9C94-750F-C551CDC7786A}"/>
              </a:ext>
            </a:extLst>
          </p:cNvPr>
          <p:cNvSpPr txBox="1"/>
          <p:nvPr/>
        </p:nvSpPr>
        <p:spPr>
          <a:xfrm>
            <a:off x="7489234" y="5073302"/>
            <a:ext cx="2072281" cy="200435"/>
          </a:xfrm>
          <a:prstGeom prst="rect">
            <a:avLst/>
          </a:prstGeom>
          <a:noFill/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ko-KR" altLang="en-US" sz="1100" u="sng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업무 개선 사항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0E96BC4C-A508-1557-6F93-9BBA240D0A5F}"/>
              </a:ext>
            </a:extLst>
          </p:cNvPr>
          <p:cNvSpPr txBox="1"/>
          <p:nvPr/>
        </p:nvSpPr>
        <p:spPr>
          <a:xfrm>
            <a:off x="4710767" y="5073302"/>
            <a:ext cx="2678203" cy="200435"/>
          </a:xfrm>
          <a:prstGeom prst="rect">
            <a:avLst/>
          </a:prstGeom>
          <a:noFill/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100" u="sng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Digital</a:t>
            </a:r>
            <a:r>
              <a:rPr lang="ko-KR" altLang="en-US" sz="1100" u="sng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화 기회</a:t>
            </a:r>
          </a:p>
        </p:txBody>
      </p:sp>
      <p:sp>
        <p:nvSpPr>
          <p:cNvPr id="55" name="화살표: 오각형 54">
            <a:extLst>
              <a:ext uri="{FF2B5EF4-FFF2-40B4-BE49-F238E27FC236}">
                <a16:creationId xmlns:a16="http://schemas.microsoft.com/office/drawing/2014/main" id="{93E4623E-10A0-0798-437E-F82E0842E3CE}"/>
              </a:ext>
            </a:extLst>
          </p:cNvPr>
          <p:cNvSpPr/>
          <p:nvPr/>
        </p:nvSpPr>
        <p:spPr>
          <a:xfrm>
            <a:off x="4953002" y="1964218"/>
            <a:ext cx="4608513" cy="200898"/>
          </a:xfrm>
          <a:prstGeom prst="homePlate">
            <a:avLst>
              <a:gd name="adj" fmla="val 24867"/>
            </a:avLst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ko-KR" altLang="en-US" sz="1000" b="1">
                <a:latin typeface="나눔스퀘어" panose="020B0600000101010101" pitchFamily="50" charset="-127"/>
                <a:ea typeface="나눔스퀘어" panose="020B0600000101010101" pitchFamily="50" charset="-127"/>
              </a:rPr>
              <a:t>제품 품질 문제 해결 및 개선 방안 도출</a:t>
            </a:r>
            <a:endParaRPr lang="en-US" altLang="ko-KR" sz="1000" b="1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B58287F2-CC97-F747-BC1F-01AD45468B3D}"/>
              </a:ext>
            </a:extLst>
          </p:cNvPr>
          <p:cNvCxnSpPr>
            <a:cxnSpLocks/>
          </p:cNvCxnSpPr>
          <p:nvPr/>
        </p:nvCxnSpPr>
        <p:spPr>
          <a:xfrm>
            <a:off x="344488" y="1768835"/>
            <a:ext cx="9221614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730E7F11-EBAA-87D4-1461-8BD1EEDAB1B6}"/>
              </a:ext>
            </a:extLst>
          </p:cNvPr>
          <p:cNvSpPr/>
          <p:nvPr/>
        </p:nvSpPr>
        <p:spPr>
          <a:xfrm>
            <a:off x="4031571" y="1640841"/>
            <a:ext cx="1847448" cy="25598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rgbClr val="217C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To-Be </a:t>
            </a:r>
            <a:r>
              <a:rPr lang="ko-KR" altLang="en-US" sz="1200">
                <a:solidFill>
                  <a:schemeClr val="tx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업무 시나리오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963C404B-CC79-1F1C-4D7C-2A62B740D52C}"/>
              </a:ext>
            </a:extLst>
          </p:cNvPr>
          <p:cNvSpPr/>
          <p:nvPr/>
        </p:nvSpPr>
        <p:spPr>
          <a:xfrm>
            <a:off x="344490" y="1547834"/>
            <a:ext cx="570257" cy="171734"/>
          </a:xfrm>
          <a:prstGeom prst="rect">
            <a:avLst/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1000" b="1">
                <a:latin typeface="나눔스퀘어" panose="020B0600000101010101" pitchFamily="50" charset="-127"/>
                <a:ea typeface="나눔스퀘어" panose="020B0600000101010101" pitchFamily="50" charset="-127"/>
              </a:rPr>
              <a:t>Process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65ECF73F-39E4-EFB5-89CC-8E0ECE086580}"/>
              </a:ext>
            </a:extLst>
          </p:cNvPr>
          <p:cNvSpPr/>
          <p:nvPr/>
        </p:nvSpPr>
        <p:spPr>
          <a:xfrm>
            <a:off x="955677" y="1547834"/>
            <a:ext cx="570257" cy="171734"/>
          </a:xfrm>
          <a:prstGeom prst="rect">
            <a:avLst/>
          </a:prstGeom>
          <a:solidFill>
            <a:schemeClr val="bg1">
              <a:lumMod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Activity</a:t>
            </a:r>
          </a:p>
        </p:txBody>
      </p:sp>
      <p:sp>
        <p:nvSpPr>
          <p:cNvPr id="136" name="화살표: 오각형 135">
            <a:extLst>
              <a:ext uri="{FF2B5EF4-FFF2-40B4-BE49-F238E27FC236}">
                <a16:creationId xmlns:a16="http://schemas.microsoft.com/office/drawing/2014/main" id="{81AF8A4F-27F2-6AEC-E295-A7D09BAC979A}"/>
              </a:ext>
            </a:extLst>
          </p:cNvPr>
          <p:cNvSpPr/>
          <p:nvPr/>
        </p:nvSpPr>
        <p:spPr>
          <a:xfrm>
            <a:off x="345637" y="1970010"/>
            <a:ext cx="4560525" cy="200898"/>
          </a:xfrm>
          <a:prstGeom prst="homePlate">
            <a:avLst>
              <a:gd name="adj" fmla="val 24867"/>
            </a:avLst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ko-KR" altLang="en-US" sz="1000" b="1">
                <a:latin typeface="나눔스퀘어" panose="020B0600000101010101" pitchFamily="50" charset="-127"/>
                <a:ea typeface="나눔스퀘어" panose="020B0600000101010101" pitchFamily="50" charset="-127"/>
              </a:rPr>
              <a:t>설비 고장</a:t>
            </a:r>
            <a:r>
              <a:rPr lang="en-US" altLang="ko-KR" sz="1000" b="1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000" b="1">
                <a:latin typeface="나눔스퀘어" panose="020B0600000101010101" pitchFamily="50" charset="-127"/>
                <a:ea typeface="나눔스퀘어" panose="020B0600000101010101" pitchFamily="50" charset="-127"/>
              </a:rPr>
              <a:t>성능 저하 원인 분석 및 대책 수립</a:t>
            </a:r>
            <a:endParaRPr lang="en-US" altLang="ko-KR" sz="1000" b="1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6EDE5844-F377-C52D-9FAD-DFCF74E019EE}"/>
              </a:ext>
            </a:extLst>
          </p:cNvPr>
          <p:cNvSpPr/>
          <p:nvPr/>
        </p:nvSpPr>
        <p:spPr>
          <a:xfrm>
            <a:off x="8926185" y="1553252"/>
            <a:ext cx="635326" cy="160797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solidFill>
                  <a:schemeClr val="bg1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삭제 업무</a:t>
            </a:r>
            <a:endParaRPr kumimoji="1" lang="en-US" altLang="ko-KR" sz="900" kern="0">
              <a:solidFill>
                <a:schemeClr val="bg1">
                  <a:lumMod val="7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E2E961E7-1BC3-9E0D-1DD6-A4544108DDAC}"/>
              </a:ext>
            </a:extLst>
          </p:cNvPr>
          <p:cNvSpPr/>
          <p:nvPr/>
        </p:nvSpPr>
        <p:spPr>
          <a:xfrm>
            <a:off x="7552890" y="1553252"/>
            <a:ext cx="635326" cy="160797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AI/DT </a:t>
            </a: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신규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8F0EF02C-14B4-46DE-DF4D-673B5A9E5953}"/>
              </a:ext>
            </a:extLst>
          </p:cNvPr>
          <p:cNvSpPr/>
          <p:nvPr/>
        </p:nvSpPr>
        <p:spPr>
          <a:xfrm>
            <a:off x="8239537" y="1553252"/>
            <a:ext cx="635326" cy="160797"/>
          </a:xfrm>
          <a:prstGeom prst="roundRect">
            <a:avLst/>
          </a:prstGeom>
          <a:pattFill prst="ltUpDiag">
            <a:fgClr>
              <a:srgbClr val="C4DCF2"/>
            </a:fgClr>
            <a:bgClr>
              <a:schemeClr val="bg1"/>
            </a:bgClr>
          </a:pattFill>
          <a:ln w="3175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Digital </a:t>
            </a: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기존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93" name="사각형: 둥근 모서리 192">
            <a:extLst>
              <a:ext uri="{FF2B5EF4-FFF2-40B4-BE49-F238E27FC236}">
                <a16:creationId xmlns:a16="http://schemas.microsoft.com/office/drawing/2014/main" id="{5486C86C-AFF4-1704-B974-75150AEC5AD2}"/>
              </a:ext>
            </a:extLst>
          </p:cNvPr>
          <p:cNvSpPr/>
          <p:nvPr/>
        </p:nvSpPr>
        <p:spPr>
          <a:xfrm>
            <a:off x="4953001" y="3037455"/>
            <a:ext cx="1056043" cy="334800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연관 공정 운전 데이터 수집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96" name="사각형: 둥근 모서리 195">
            <a:extLst>
              <a:ext uri="{FF2B5EF4-FFF2-40B4-BE49-F238E27FC236}">
                <a16:creationId xmlns:a16="http://schemas.microsoft.com/office/drawing/2014/main" id="{D6F67CF0-5F66-9D1F-7B37-AF670EE09543}"/>
              </a:ext>
            </a:extLst>
          </p:cNvPr>
          <p:cNvSpPr/>
          <p:nvPr/>
        </p:nvSpPr>
        <p:spPr>
          <a:xfrm>
            <a:off x="4953001" y="3470789"/>
            <a:ext cx="1056043" cy="334800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데이터 정리 및 통계 유의성 확인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01" name="사각형: 둥근 모서리 200">
            <a:extLst>
              <a:ext uri="{FF2B5EF4-FFF2-40B4-BE49-F238E27FC236}">
                <a16:creationId xmlns:a16="http://schemas.microsoft.com/office/drawing/2014/main" id="{99F85DF6-9CA9-3991-96A2-2B0D92919D9A}"/>
              </a:ext>
            </a:extLst>
          </p:cNvPr>
          <p:cNvSpPr/>
          <p:nvPr/>
        </p:nvSpPr>
        <p:spPr>
          <a:xfrm>
            <a:off x="6114378" y="3037455"/>
            <a:ext cx="1056043" cy="334800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변수와 품질 간 관계 모델링 및 검증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05" name="사각형: 둥근 모서리 204">
            <a:extLst>
              <a:ext uri="{FF2B5EF4-FFF2-40B4-BE49-F238E27FC236}">
                <a16:creationId xmlns:a16="http://schemas.microsoft.com/office/drawing/2014/main" id="{A140FE29-3F4B-E115-1721-BC490281A853}"/>
              </a:ext>
            </a:extLst>
          </p:cNvPr>
          <p:cNvSpPr/>
          <p:nvPr/>
        </p:nvSpPr>
        <p:spPr>
          <a:xfrm>
            <a:off x="7275756" y="3470789"/>
            <a:ext cx="1056043" cy="334800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단계별 실행 계획 수립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06" name="사각형: 둥근 모서리 205">
            <a:extLst>
              <a:ext uri="{FF2B5EF4-FFF2-40B4-BE49-F238E27FC236}">
                <a16:creationId xmlns:a16="http://schemas.microsoft.com/office/drawing/2014/main" id="{90D90DB3-ADFD-C981-1CDD-DC4EB5673ABD}"/>
              </a:ext>
            </a:extLst>
          </p:cNvPr>
          <p:cNvSpPr/>
          <p:nvPr/>
        </p:nvSpPr>
        <p:spPr>
          <a:xfrm>
            <a:off x="7275756" y="3037455"/>
            <a:ext cx="1056043" cy="334800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실행 방안 타당성 평가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10" name="사각형: 둥근 모서리 209">
            <a:extLst>
              <a:ext uri="{FF2B5EF4-FFF2-40B4-BE49-F238E27FC236}">
                <a16:creationId xmlns:a16="http://schemas.microsoft.com/office/drawing/2014/main" id="{C8750F20-1433-AD0A-5043-D02103387E25}"/>
              </a:ext>
            </a:extLst>
          </p:cNvPr>
          <p:cNvSpPr/>
          <p:nvPr/>
        </p:nvSpPr>
        <p:spPr>
          <a:xfrm>
            <a:off x="8437133" y="3037455"/>
            <a:ext cx="1056043" cy="334800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품질 이슈 사례 데이터베이스 구축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11" name="화살표: 오각형 210">
            <a:extLst>
              <a:ext uri="{FF2B5EF4-FFF2-40B4-BE49-F238E27FC236}">
                <a16:creationId xmlns:a16="http://schemas.microsoft.com/office/drawing/2014/main" id="{9B93B59B-46C8-082E-C3F9-AF022083859E}"/>
              </a:ext>
            </a:extLst>
          </p:cNvPr>
          <p:cNvSpPr/>
          <p:nvPr/>
        </p:nvSpPr>
        <p:spPr>
          <a:xfrm>
            <a:off x="4953000" y="2194636"/>
            <a:ext cx="1124454" cy="347687"/>
          </a:xfrm>
          <a:prstGeom prst="homePlate">
            <a:avLst>
              <a:gd name="adj" fmla="val 24867"/>
            </a:avLst>
          </a:prstGeom>
          <a:solidFill>
            <a:schemeClr val="bg1">
              <a:lumMod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ko-KR" altLang="en-US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품질 이슈 데이터 수집 및 통계 분석</a:t>
            </a:r>
          </a:p>
        </p:txBody>
      </p:sp>
      <p:sp>
        <p:nvSpPr>
          <p:cNvPr id="212" name="화살표: 오각형 211">
            <a:extLst>
              <a:ext uri="{FF2B5EF4-FFF2-40B4-BE49-F238E27FC236}">
                <a16:creationId xmlns:a16="http://schemas.microsoft.com/office/drawing/2014/main" id="{F326730F-4230-1CCE-9141-827CC39A4D0F}"/>
              </a:ext>
            </a:extLst>
          </p:cNvPr>
          <p:cNvSpPr/>
          <p:nvPr/>
        </p:nvSpPr>
        <p:spPr>
          <a:xfrm>
            <a:off x="6114378" y="2195472"/>
            <a:ext cx="1124454" cy="347687"/>
          </a:xfrm>
          <a:prstGeom prst="homePlate">
            <a:avLst>
              <a:gd name="adj" fmla="val 24867"/>
            </a:avLst>
          </a:prstGeom>
          <a:solidFill>
            <a:schemeClr val="bg1">
              <a:lumMod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ko-KR" altLang="en-US" sz="900" spc="-5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공정 조건과 제품 품질 간 상관관계 분석</a:t>
            </a:r>
          </a:p>
        </p:txBody>
      </p:sp>
      <p:sp>
        <p:nvSpPr>
          <p:cNvPr id="213" name="화살표: 오각형 212">
            <a:extLst>
              <a:ext uri="{FF2B5EF4-FFF2-40B4-BE49-F238E27FC236}">
                <a16:creationId xmlns:a16="http://schemas.microsoft.com/office/drawing/2014/main" id="{C574D83A-D303-4B01-F4E9-4617FE97AD4B}"/>
              </a:ext>
            </a:extLst>
          </p:cNvPr>
          <p:cNvSpPr/>
          <p:nvPr/>
        </p:nvSpPr>
        <p:spPr>
          <a:xfrm>
            <a:off x="7275756" y="2196308"/>
            <a:ext cx="1125092" cy="347687"/>
          </a:xfrm>
          <a:prstGeom prst="homePlate">
            <a:avLst>
              <a:gd name="adj" fmla="val 24867"/>
            </a:avLst>
          </a:prstGeom>
          <a:solidFill>
            <a:schemeClr val="bg1">
              <a:lumMod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ko-KR" altLang="en-US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품질 개선을 위한 공정 개선점 도출</a:t>
            </a:r>
          </a:p>
        </p:txBody>
      </p:sp>
      <p:sp>
        <p:nvSpPr>
          <p:cNvPr id="214" name="화살표: 오각형 213">
            <a:extLst>
              <a:ext uri="{FF2B5EF4-FFF2-40B4-BE49-F238E27FC236}">
                <a16:creationId xmlns:a16="http://schemas.microsoft.com/office/drawing/2014/main" id="{B2FC23B1-6319-18D3-FED1-1929660FC2C6}"/>
              </a:ext>
            </a:extLst>
          </p:cNvPr>
          <p:cNvSpPr/>
          <p:nvPr/>
        </p:nvSpPr>
        <p:spPr>
          <a:xfrm>
            <a:off x="8436421" y="2197144"/>
            <a:ext cx="1125092" cy="347687"/>
          </a:xfrm>
          <a:prstGeom prst="homePlate">
            <a:avLst>
              <a:gd name="adj" fmla="val 24867"/>
            </a:avLst>
          </a:prstGeom>
          <a:solidFill>
            <a:schemeClr val="bg1">
              <a:lumMod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ko-KR" altLang="en-US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품질 이슈 문서화 및 이력 관리</a:t>
            </a:r>
          </a:p>
        </p:txBody>
      </p:sp>
      <p:sp>
        <p:nvSpPr>
          <p:cNvPr id="215" name="사각형: 둥근 모서리 214">
            <a:extLst>
              <a:ext uri="{FF2B5EF4-FFF2-40B4-BE49-F238E27FC236}">
                <a16:creationId xmlns:a16="http://schemas.microsoft.com/office/drawing/2014/main" id="{080800E4-8BF9-2F2D-B4A7-7DB5BA3D1CF6}"/>
              </a:ext>
            </a:extLst>
          </p:cNvPr>
          <p:cNvSpPr/>
          <p:nvPr/>
        </p:nvSpPr>
        <p:spPr>
          <a:xfrm>
            <a:off x="4953001" y="2604121"/>
            <a:ext cx="1056584" cy="334800"/>
          </a:xfrm>
          <a:prstGeom prst="roundRect">
            <a:avLst/>
          </a:prstGeom>
          <a:pattFill prst="ltUpDiag">
            <a:fgClr>
              <a:srgbClr val="C4DCF2"/>
            </a:fgClr>
            <a:bgClr>
              <a:schemeClr val="bg1"/>
            </a:bgClr>
          </a:pattFill>
          <a:ln w="3175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품질 규격 이탈 항목 및 수준 파악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16" name="사각형: 둥근 모서리 215">
            <a:extLst>
              <a:ext uri="{FF2B5EF4-FFF2-40B4-BE49-F238E27FC236}">
                <a16:creationId xmlns:a16="http://schemas.microsoft.com/office/drawing/2014/main" id="{04213EFD-D8E8-C86D-892E-C9ABAF97D8E9}"/>
              </a:ext>
            </a:extLst>
          </p:cNvPr>
          <p:cNvSpPr/>
          <p:nvPr/>
        </p:nvSpPr>
        <p:spPr>
          <a:xfrm>
            <a:off x="6114378" y="2604121"/>
            <a:ext cx="1056584" cy="334800"/>
          </a:xfrm>
          <a:prstGeom prst="roundRect">
            <a:avLst/>
          </a:prstGeom>
          <a:pattFill prst="ltUpDiag">
            <a:fgClr>
              <a:srgbClr val="C4DCF2"/>
            </a:fgClr>
            <a:bgClr>
              <a:schemeClr val="bg1"/>
            </a:bgClr>
          </a:pattFill>
          <a:ln w="3175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핵심 변수 식별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17" name="사각형: 둥근 모서리 216">
            <a:extLst>
              <a:ext uri="{FF2B5EF4-FFF2-40B4-BE49-F238E27FC236}">
                <a16:creationId xmlns:a16="http://schemas.microsoft.com/office/drawing/2014/main" id="{C835D597-6A3B-02CF-7E3B-88A2EDEEFD8E}"/>
              </a:ext>
            </a:extLst>
          </p:cNvPr>
          <p:cNvSpPr/>
          <p:nvPr/>
        </p:nvSpPr>
        <p:spPr>
          <a:xfrm>
            <a:off x="7275756" y="2604121"/>
            <a:ext cx="1056584" cy="334800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품질 확보 방안</a:t>
            </a:r>
            <a:br>
              <a:rPr kumimoji="1" lang="en-US" altLang="ko-KR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</a:b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도출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18" name="사각형: 둥근 모서리 217">
            <a:extLst>
              <a:ext uri="{FF2B5EF4-FFF2-40B4-BE49-F238E27FC236}">
                <a16:creationId xmlns:a16="http://schemas.microsoft.com/office/drawing/2014/main" id="{A6446B80-51B8-9B14-8624-A798F3FE5CB0}"/>
              </a:ext>
            </a:extLst>
          </p:cNvPr>
          <p:cNvSpPr/>
          <p:nvPr/>
        </p:nvSpPr>
        <p:spPr>
          <a:xfrm>
            <a:off x="8437133" y="2604121"/>
            <a:ext cx="1056584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품질 이슈 분석 보고서 작성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cxnSp>
        <p:nvCxnSpPr>
          <p:cNvPr id="219" name="직선 화살표 연결선 218">
            <a:extLst>
              <a:ext uri="{FF2B5EF4-FFF2-40B4-BE49-F238E27FC236}">
                <a16:creationId xmlns:a16="http://schemas.microsoft.com/office/drawing/2014/main" id="{73D3EB11-667C-7264-7608-F6B4B5A2ED50}"/>
              </a:ext>
            </a:extLst>
          </p:cNvPr>
          <p:cNvCxnSpPr>
            <a:cxnSpLocks/>
            <a:stCxn id="215" idx="2"/>
            <a:endCxn id="193" idx="0"/>
          </p:cNvCxnSpPr>
          <p:nvPr/>
        </p:nvCxnSpPr>
        <p:spPr>
          <a:xfrm flipH="1">
            <a:off x="5481023" y="2938921"/>
            <a:ext cx="271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직선 화살표 연결선 219">
            <a:extLst>
              <a:ext uri="{FF2B5EF4-FFF2-40B4-BE49-F238E27FC236}">
                <a16:creationId xmlns:a16="http://schemas.microsoft.com/office/drawing/2014/main" id="{C4414D76-41CB-E0D6-4045-64AEC2211DF5}"/>
              </a:ext>
            </a:extLst>
          </p:cNvPr>
          <p:cNvCxnSpPr>
            <a:cxnSpLocks/>
            <a:stCxn id="193" idx="2"/>
            <a:endCxn id="196" idx="0"/>
          </p:cNvCxnSpPr>
          <p:nvPr/>
        </p:nvCxnSpPr>
        <p:spPr>
          <a:xfrm>
            <a:off x="5481023" y="3372255"/>
            <a:ext cx="0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직선 화살표 연결선 220">
            <a:extLst>
              <a:ext uri="{FF2B5EF4-FFF2-40B4-BE49-F238E27FC236}">
                <a16:creationId xmlns:a16="http://schemas.microsoft.com/office/drawing/2014/main" id="{C2A58EA1-25F9-8F25-912A-4F7EA779F76F}"/>
              </a:ext>
            </a:extLst>
          </p:cNvPr>
          <p:cNvCxnSpPr>
            <a:cxnSpLocks/>
            <a:stCxn id="216" idx="2"/>
            <a:endCxn id="201" idx="0"/>
          </p:cNvCxnSpPr>
          <p:nvPr/>
        </p:nvCxnSpPr>
        <p:spPr>
          <a:xfrm flipH="1">
            <a:off x="6642400" y="2938921"/>
            <a:ext cx="270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직선 화살표 연결선 221">
            <a:extLst>
              <a:ext uri="{FF2B5EF4-FFF2-40B4-BE49-F238E27FC236}">
                <a16:creationId xmlns:a16="http://schemas.microsoft.com/office/drawing/2014/main" id="{96269A74-5145-AA2D-C38C-725EF9407958}"/>
              </a:ext>
            </a:extLst>
          </p:cNvPr>
          <p:cNvCxnSpPr>
            <a:cxnSpLocks/>
            <a:stCxn id="217" idx="2"/>
            <a:endCxn id="206" idx="0"/>
          </p:cNvCxnSpPr>
          <p:nvPr/>
        </p:nvCxnSpPr>
        <p:spPr>
          <a:xfrm flipH="1">
            <a:off x="7803777" y="2938921"/>
            <a:ext cx="271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직선 화살표 연결선 226">
            <a:extLst>
              <a:ext uri="{FF2B5EF4-FFF2-40B4-BE49-F238E27FC236}">
                <a16:creationId xmlns:a16="http://schemas.microsoft.com/office/drawing/2014/main" id="{12865143-980E-4D12-1786-B786CD806094}"/>
              </a:ext>
            </a:extLst>
          </p:cNvPr>
          <p:cNvCxnSpPr>
            <a:cxnSpLocks/>
            <a:stCxn id="206" idx="2"/>
            <a:endCxn id="205" idx="0"/>
          </p:cNvCxnSpPr>
          <p:nvPr/>
        </p:nvCxnSpPr>
        <p:spPr>
          <a:xfrm>
            <a:off x="7803778" y="3372255"/>
            <a:ext cx="0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직선 화살표 연결선 230">
            <a:extLst>
              <a:ext uri="{FF2B5EF4-FFF2-40B4-BE49-F238E27FC236}">
                <a16:creationId xmlns:a16="http://schemas.microsoft.com/office/drawing/2014/main" id="{22A0FF9E-C624-D477-4E11-D9170A5D8A73}"/>
              </a:ext>
            </a:extLst>
          </p:cNvPr>
          <p:cNvCxnSpPr>
            <a:cxnSpLocks/>
            <a:stCxn id="218" idx="2"/>
            <a:endCxn id="210" idx="0"/>
          </p:cNvCxnSpPr>
          <p:nvPr/>
        </p:nvCxnSpPr>
        <p:spPr>
          <a:xfrm flipH="1">
            <a:off x="8965155" y="2938921"/>
            <a:ext cx="270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2" name="사각형: 둥근 모서리 231">
            <a:extLst>
              <a:ext uri="{FF2B5EF4-FFF2-40B4-BE49-F238E27FC236}">
                <a16:creationId xmlns:a16="http://schemas.microsoft.com/office/drawing/2014/main" id="{9C3ED90F-5623-CB33-43FE-48B92E1A767B}"/>
              </a:ext>
            </a:extLst>
          </p:cNvPr>
          <p:cNvSpPr/>
          <p:nvPr/>
        </p:nvSpPr>
        <p:spPr>
          <a:xfrm>
            <a:off x="6114378" y="3470789"/>
            <a:ext cx="1056043" cy="334800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주요 영향 인자 도출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cxnSp>
        <p:nvCxnSpPr>
          <p:cNvPr id="233" name="직선 화살표 연결선 232">
            <a:extLst>
              <a:ext uri="{FF2B5EF4-FFF2-40B4-BE49-F238E27FC236}">
                <a16:creationId xmlns:a16="http://schemas.microsoft.com/office/drawing/2014/main" id="{73045EB6-FA51-03B9-9E53-92F738119BE9}"/>
              </a:ext>
            </a:extLst>
          </p:cNvPr>
          <p:cNvCxnSpPr>
            <a:cxnSpLocks/>
            <a:stCxn id="201" idx="2"/>
            <a:endCxn id="232" idx="0"/>
          </p:cNvCxnSpPr>
          <p:nvPr/>
        </p:nvCxnSpPr>
        <p:spPr>
          <a:xfrm>
            <a:off x="6642400" y="3372255"/>
            <a:ext cx="0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6" name="사각형: 둥근 모서리 235">
            <a:extLst>
              <a:ext uri="{FF2B5EF4-FFF2-40B4-BE49-F238E27FC236}">
                <a16:creationId xmlns:a16="http://schemas.microsoft.com/office/drawing/2014/main" id="{19D2F65A-87DD-28BE-A4B3-742E82B9A6DE}"/>
              </a:ext>
            </a:extLst>
          </p:cNvPr>
          <p:cNvSpPr/>
          <p:nvPr/>
        </p:nvSpPr>
        <p:spPr>
          <a:xfrm>
            <a:off x="345637" y="3476581"/>
            <a:ext cx="1058400" cy="334800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운전 조건별 고장 및 정비 경향 파악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37" name="사각형: 둥근 모서리 236">
            <a:extLst>
              <a:ext uri="{FF2B5EF4-FFF2-40B4-BE49-F238E27FC236}">
                <a16:creationId xmlns:a16="http://schemas.microsoft.com/office/drawing/2014/main" id="{518B3FB3-955A-FD0E-9B19-B120D65034F0}"/>
              </a:ext>
            </a:extLst>
          </p:cNvPr>
          <p:cNvSpPr/>
          <p:nvPr/>
        </p:nvSpPr>
        <p:spPr>
          <a:xfrm>
            <a:off x="1498996" y="3043247"/>
            <a:ext cx="1058400" cy="334800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진단 범위 설정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38" name="사각형: 둥근 모서리 237">
            <a:extLst>
              <a:ext uri="{FF2B5EF4-FFF2-40B4-BE49-F238E27FC236}">
                <a16:creationId xmlns:a16="http://schemas.microsoft.com/office/drawing/2014/main" id="{444FAC2A-DDA4-6361-278C-53010AD45BC9}"/>
              </a:ext>
            </a:extLst>
          </p:cNvPr>
          <p:cNvSpPr/>
          <p:nvPr/>
        </p:nvSpPr>
        <p:spPr>
          <a:xfrm>
            <a:off x="1498996" y="3476581"/>
            <a:ext cx="1058400" cy="334800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테스트 일정 및</a:t>
            </a:r>
            <a:br>
              <a:rPr kumimoji="1" lang="en-US" altLang="ko-KR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</a:b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방법 선정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39" name="사각형: 둥근 모서리 238">
            <a:extLst>
              <a:ext uri="{FF2B5EF4-FFF2-40B4-BE49-F238E27FC236}">
                <a16:creationId xmlns:a16="http://schemas.microsoft.com/office/drawing/2014/main" id="{B79669A6-0F05-576D-4A22-4C83781F4D94}"/>
              </a:ext>
            </a:extLst>
          </p:cNvPr>
          <p:cNvSpPr/>
          <p:nvPr/>
        </p:nvSpPr>
        <p:spPr>
          <a:xfrm>
            <a:off x="2652354" y="3043247"/>
            <a:ext cx="1058400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현황 및 분석 정보 공유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40" name="사각형: 둥근 모서리 239">
            <a:extLst>
              <a:ext uri="{FF2B5EF4-FFF2-40B4-BE49-F238E27FC236}">
                <a16:creationId xmlns:a16="http://schemas.microsoft.com/office/drawing/2014/main" id="{3A293406-70F4-C6D2-BF1E-2EDEE7AB782C}"/>
              </a:ext>
            </a:extLst>
          </p:cNvPr>
          <p:cNvSpPr/>
          <p:nvPr/>
        </p:nvSpPr>
        <p:spPr>
          <a:xfrm>
            <a:off x="3805716" y="3476581"/>
            <a:ext cx="1058400" cy="334800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가이드라인 문서화</a:t>
            </a:r>
            <a:br>
              <a:rPr kumimoji="1" lang="en-US" altLang="ko-KR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</a:b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및 배포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42" name="사각형: 둥근 모서리 241">
            <a:extLst>
              <a:ext uri="{FF2B5EF4-FFF2-40B4-BE49-F238E27FC236}">
                <a16:creationId xmlns:a16="http://schemas.microsoft.com/office/drawing/2014/main" id="{993CC218-9798-40E8-E693-0BE050A864DB}"/>
              </a:ext>
            </a:extLst>
          </p:cNvPr>
          <p:cNvSpPr/>
          <p:nvPr/>
        </p:nvSpPr>
        <p:spPr>
          <a:xfrm>
            <a:off x="3805716" y="3043247"/>
            <a:ext cx="1058400" cy="334800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상황별 운전 지침 개발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43" name="화살표: 오각형 242">
            <a:extLst>
              <a:ext uri="{FF2B5EF4-FFF2-40B4-BE49-F238E27FC236}">
                <a16:creationId xmlns:a16="http://schemas.microsoft.com/office/drawing/2014/main" id="{2296028F-CC65-B300-322E-A065FC392438}"/>
              </a:ext>
            </a:extLst>
          </p:cNvPr>
          <p:cNvSpPr/>
          <p:nvPr/>
        </p:nvSpPr>
        <p:spPr>
          <a:xfrm>
            <a:off x="3798752" y="2205446"/>
            <a:ext cx="1123200" cy="347687"/>
          </a:xfrm>
          <a:prstGeom prst="homePlate">
            <a:avLst>
              <a:gd name="adj" fmla="val 24867"/>
            </a:avLst>
          </a:prstGeom>
          <a:solidFill>
            <a:schemeClr val="bg1">
              <a:lumMod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ko-KR" altLang="en-US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운전 가이드 라인 재설정</a:t>
            </a:r>
          </a:p>
        </p:txBody>
      </p:sp>
      <p:sp>
        <p:nvSpPr>
          <p:cNvPr id="244" name="화살표: 오각형 243">
            <a:extLst>
              <a:ext uri="{FF2B5EF4-FFF2-40B4-BE49-F238E27FC236}">
                <a16:creationId xmlns:a16="http://schemas.microsoft.com/office/drawing/2014/main" id="{89AF0CFD-4F36-A76E-99C2-946A7B32FA32}"/>
              </a:ext>
            </a:extLst>
          </p:cNvPr>
          <p:cNvSpPr/>
          <p:nvPr/>
        </p:nvSpPr>
        <p:spPr>
          <a:xfrm>
            <a:off x="345638" y="2204608"/>
            <a:ext cx="1123200" cy="347687"/>
          </a:xfrm>
          <a:prstGeom prst="homePlate">
            <a:avLst>
              <a:gd name="adj" fmla="val 24867"/>
            </a:avLst>
          </a:prstGeom>
          <a:solidFill>
            <a:schemeClr val="bg1">
              <a:lumMod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ko-KR" altLang="en-US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설비 고장 패턴 파악 및 이력 분석</a:t>
            </a:r>
          </a:p>
        </p:txBody>
      </p:sp>
      <p:sp>
        <p:nvSpPr>
          <p:cNvPr id="245" name="화살표: 오각형 244">
            <a:extLst>
              <a:ext uri="{FF2B5EF4-FFF2-40B4-BE49-F238E27FC236}">
                <a16:creationId xmlns:a16="http://schemas.microsoft.com/office/drawing/2014/main" id="{B0D192EA-1F92-F179-6FE1-55A3264F962A}"/>
              </a:ext>
            </a:extLst>
          </p:cNvPr>
          <p:cNvSpPr/>
          <p:nvPr/>
        </p:nvSpPr>
        <p:spPr>
          <a:xfrm>
            <a:off x="1498997" y="2199592"/>
            <a:ext cx="1123200" cy="347687"/>
          </a:xfrm>
          <a:prstGeom prst="homePlate">
            <a:avLst>
              <a:gd name="adj" fmla="val 24867"/>
            </a:avLst>
          </a:prstGeom>
          <a:solidFill>
            <a:schemeClr val="bg1">
              <a:lumMod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ko-KR" altLang="en-US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설비 성능 테스트 계획 수립</a:t>
            </a:r>
          </a:p>
        </p:txBody>
      </p:sp>
      <p:sp>
        <p:nvSpPr>
          <p:cNvPr id="246" name="사각형: 둥근 모서리 245">
            <a:extLst>
              <a:ext uri="{FF2B5EF4-FFF2-40B4-BE49-F238E27FC236}">
                <a16:creationId xmlns:a16="http://schemas.microsoft.com/office/drawing/2014/main" id="{B014A8F8-2F07-1D03-3B62-42859EBE6CA0}"/>
              </a:ext>
            </a:extLst>
          </p:cNvPr>
          <p:cNvSpPr/>
          <p:nvPr/>
        </p:nvSpPr>
        <p:spPr>
          <a:xfrm>
            <a:off x="1498996" y="2609913"/>
            <a:ext cx="1058400" cy="334800"/>
          </a:xfrm>
          <a:prstGeom prst="roundRect">
            <a:avLst/>
          </a:prstGeom>
          <a:pattFill prst="ltUpDiag">
            <a:fgClr>
              <a:srgbClr val="C4DCF2"/>
            </a:fgClr>
            <a:bgClr>
              <a:schemeClr val="bg1"/>
            </a:bgClr>
          </a:pattFill>
          <a:ln w="3175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성능 저하 설비 식별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47" name="사각형: 둥근 모서리 246">
            <a:extLst>
              <a:ext uri="{FF2B5EF4-FFF2-40B4-BE49-F238E27FC236}">
                <a16:creationId xmlns:a16="http://schemas.microsoft.com/office/drawing/2014/main" id="{8893A52D-DC6F-CBCF-EA14-8C18971AAD53}"/>
              </a:ext>
            </a:extLst>
          </p:cNvPr>
          <p:cNvSpPr/>
          <p:nvPr/>
        </p:nvSpPr>
        <p:spPr>
          <a:xfrm>
            <a:off x="2652354" y="2609913"/>
            <a:ext cx="1058400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협업 체계 구축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48" name="사각형: 둥근 모서리 247">
            <a:extLst>
              <a:ext uri="{FF2B5EF4-FFF2-40B4-BE49-F238E27FC236}">
                <a16:creationId xmlns:a16="http://schemas.microsoft.com/office/drawing/2014/main" id="{C79602AA-2FC8-7E08-F4A8-C898DE8ACAA7}"/>
              </a:ext>
            </a:extLst>
          </p:cNvPr>
          <p:cNvSpPr/>
          <p:nvPr/>
        </p:nvSpPr>
        <p:spPr>
          <a:xfrm>
            <a:off x="3805716" y="2609913"/>
            <a:ext cx="1058400" cy="334800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설비 상태를 고려한 운전 범위 설정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49" name="사각형: 둥근 모서리 248">
            <a:extLst>
              <a:ext uri="{FF2B5EF4-FFF2-40B4-BE49-F238E27FC236}">
                <a16:creationId xmlns:a16="http://schemas.microsoft.com/office/drawing/2014/main" id="{10024E9E-17B0-45F3-17AA-499D6B09497A}"/>
              </a:ext>
            </a:extLst>
          </p:cNvPr>
          <p:cNvSpPr/>
          <p:nvPr/>
        </p:nvSpPr>
        <p:spPr>
          <a:xfrm>
            <a:off x="345637" y="2609913"/>
            <a:ext cx="1058400" cy="334800"/>
          </a:xfrm>
          <a:prstGeom prst="roundRect">
            <a:avLst/>
          </a:prstGeom>
          <a:pattFill prst="ltUpDiag">
            <a:fgClr>
              <a:srgbClr val="C4DCF2"/>
            </a:fgClr>
            <a:bgClr>
              <a:schemeClr val="bg1"/>
            </a:bgClr>
          </a:pattFill>
          <a:ln w="3175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고장 데이터 수집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50" name="사각형: 둥근 모서리 249">
            <a:extLst>
              <a:ext uri="{FF2B5EF4-FFF2-40B4-BE49-F238E27FC236}">
                <a16:creationId xmlns:a16="http://schemas.microsoft.com/office/drawing/2014/main" id="{1D932C36-E697-EDE7-E3E1-269A4DE02F3C}"/>
              </a:ext>
            </a:extLst>
          </p:cNvPr>
          <p:cNvSpPr/>
          <p:nvPr/>
        </p:nvSpPr>
        <p:spPr>
          <a:xfrm>
            <a:off x="345637" y="3043247"/>
            <a:ext cx="1058400" cy="334800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고장 메커니즘 분석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cxnSp>
        <p:nvCxnSpPr>
          <p:cNvPr id="252" name="직선 화살표 연결선 251">
            <a:extLst>
              <a:ext uri="{FF2B5EF4-FFF2-40B4-BE49-F238E27FC236}">
                <a16:creationId xmlns:a16="http://schemas.microsoft.com/office/drawing/2014/main" id="{B77BF86F-2B0F-2EA9-BC19-BF87A195AC2F}"/>
              </a:ext>
            </a:extLst>
          </p:cNvPr>
          <p:cNvCxnSpPr>
            <a:cxnSpLocks/>
            <a:stCxn id="249" idx="2"/>
            <a:endCxn id="250" idx="0"/>
          </p:cNvCxnSpPr>
          <p:nvPr/>
        </p:nvCxnSpPr>
        <p:spPr>
          <a:xfrm>
            <a:off x="874837" y="2944713"/>
            <a:ext cx="0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직선 화살표 연결선 252">
            <a:extLst>
              <a:ext uri="{FF2B5EF4-FFF2-40B4-BE49-F238E27FC236}">
                <a16:creationId xmlns:a16="http://schemas.microsoft.com/office/drawing/2014/main" id="{85223594-DAFD-698D-3003-0F75A7D1F802}"/>
              </a:ext>
            </a:extLst>
          </p:cNvPr>
          <p:cNvCxnSpPr>
            <a:cxnSpLocks/>
            <a:stCxn id="250" idx="2"/>
            <a:endCxn id="236" idx="0"/>
          </p:cNvCxnSpPr>
          <p:nvPr/>
        </p:nvCxnSpPr>
        <p:spPr>
          <a:xfrm>
            <a:off x="874837" y="3378047"/>
            <a:ext cx="0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직선 화살표 연결선 254">
            <a:extLst>
              <a:ext uri="{FF2B5EF4-FFF2-40B4-BE49-F238E27FC236}">
                <a16:creationId xmlns:a16="http://schemas.microsoft.com/office/drawing/2014/main" id="{F0AA9AE6-BFD3-81E9-7392-4563430BBF12}"/>
              </a:ext>
            </a:extLst>
          </p:cNvPr>
          <p:cNvCxnSpPr>
            <a:cxnSpLocks/>
            <a:stCxn id="246" idx="2"/>
            <a:endCxn id="237" idx="0"/>
          </p:cNvCxnSpPr>
          <p:nvPr/>
        </p:nvCxnSpPr>
        <p:spPr>
          <a:xfrm>
            <a:off x="2028196" y="2944713"/>
            <a:ext cx="0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직선 화살표 연결선 255">
            <a:extLst>
              <a:ext uri="{FF2B5EF4-FFF2-40B4-BE49-F238E27FC236}">
                <a16:creationId xmlns:a16="http://schemas.microsoft.com/office/drawing/2014/main" id="{472BE70A-FE96-5C55-4227-A3D0B5C35AB2}"/>
              </a:ext>
            </a:extLst>
          </p:cNvPr>
          <p:cNvCxnSpPr>
            <a:cxnSpLocks/>
            <a:stCxn id="237" idx="2"/>
            <a:endCxn id="238" idx="0"/>
          </p:cNvCxnSpPr>
          <p:nvPr/>
        </p:nvCxnSpPr>
        <p:spPr>
          <a:xfrm>
            <a:off x="2028196" y="3378047"/>
            <a:ext cx="0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직선 화살표 연결선 257">
            <a:extLst>
              <a:ext uri="{FF2B5EF4-FFF2-40B4-BE49-F238E27FC236}">
                <a16:creationId xmlns:a16="http://schemas.microsoft.com/office/drawing/2014/main" id="{BC49D5F6-4AD2-6C6F-715B-36642DA170D6}"/>
              </a:ext>
            </a:extLst>
          </p:cNvPr>
          <p:cNvCxnSpPr>
            <a:cxnSpLocks/>
            <a:stCxn id="247" idx="2"/>
            <a:endCxn id="239" idx="0"/>
          </p:cNvCxnSpPr>
          <p:nvPr/>
        </p:nvCxnSpPr>
        <p:spPr>
          <a:xfrm>
            <a:off x="3181554" y="2944713"/>
            <a:ext cx="0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직선 화살표 연결선 258">
            <a:extLst>
              <a:ext uri="{FF2B5EF4-FFF2-40B4-BE49-F238E27FC236}">
                <a16:creationId xmlns:a16="http://schemas.microsoft.com/office/drawing/2014/main" id="{F020ACE2-24C7-DF4C-233E-6AEC8700F52B}"/>
              </a:ext>
            </a:extLst>
          </p:cNvPr>
          <p:cNvCxnSpPr>
            <a:cxnSpLocks/>
            <a:stCxn id="248" idx="2"/>
            <a:endCxn id="242" idx="0"/>
          </p:cNvCxnSpPr>
          <p:nvPr/>
        </p:nvCxnSpPr>
        <p:spPr>
          <a:xfrm>
            <a:off x="4334916" y="2944713"/>
            <a:ext cx="0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직선 화살표 연결선 259">
            <a:extLst>
              <a:ext uri="{FF2B5EF4-FFF2-40B4-BE49-F238E27FC236}">
                <a16:creationId xmlns:a16="http://schemas.microsoft.com/office/drawing/2014/main" id="{E6C5DCD9-2699-B7D4-DE16-F9EDB7B7F4D4}"/>
              </a:ext>
            </a:extLst>
          </p:cNvPr>
          <p:cNvCxnSpPr>
            <a:cxnSpLocks/>
            <a:stCxn id="242" idx="2"/>
            <a:endCxn id="240" idx="0"/>
          </p:cNvCxnSpPr>
          <p:nvPr/>
        </p:nvCxnSpPr>
        <p:spPr>
          <a:xfrm>
            <a:off x="4334916" y="3378047"/>
            <a:ext cx="0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1" name="화살표: 오각형 260">
            <a:extLst>
              <a:ext uri="{FF2B5EF4-FFF2-40B4-BE49-F238E27FC236}">
                <a16:creationId xmlns:a16="http://schemas.microsoft.com/office/drawing/2014/main" id="{E2AE333A-CC30-31C5-AC86-6953A9AAFD46}"/>
              </a:ext>
            </a:extLst>
          </p:cNvPr>
          <p:cNvSpPr/>
          <p:nvPr/>
        </p:nvSpPr>
        <p:spPr>
          <a:xfrm>
            <a:off x="2652354" y="2199592"/>
            <a:ext cx="1123200" cy="347687"/>
          </a:xfrm>
          <a:prstGeom prst="homePlate">
            <a:avLst>
              <a:gd name="adj" fmla="val 24867"/>
            </a:avLst>
          </a:prstGeom>
          <a:solidFill>
            <a:schemeClr val="bg1">
              <a:lumMod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ko-KR" altLang="en-US" sz="900" spc="-5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유관부서</a:t>
            </a:r>
            <a:r>
              <a:rPr lang="en-US" altLang="ko-KR" sz="900" spc="-5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00" spc="-5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제작사 협업 및 개선 방안 도출</a:t>
            </a:r>
          </a:p>
        </p:txBody>
      </p:sp>
      <p:sp>
        <p:nvSpPr>
          <p:cNvPr id="264" name="사각형: 둥근 모서리 263">
            <a:extLst>
              <a:ext uri="{FF2B5EF4-FFF2-40B4-BE49-F238E27FC236}">
                <a16:creationId xmlns:a16="http://schemas.microsoft.com/office/drawing/2014/main" id="{723BE684-5752-C8AC-7E17-45FE65688995}"/>
              </a:ext>
            </a:extLst>
          </p:cNvPr>
          <p:cNvSpPr/>
          <p:nvPr/>
        </p:nvSpPr>
        <p:spPr>
          <a:xfrm>
            <a:off x="2652354" y="3479954"/>
            <a:ext cx="1058400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대안 도출 및 가능성 평가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65" name="사각형: 둥근 모서리 264">
            <a:extLst>
              <a:ext uri="{FF2B5EF4-FFF2-40B4-BE49-F238E27FC236}">
                <a16:creationId xmlns:a16="http://schemas.microsoft.com/office/drawing/2014/main" id="{016AE419-7749-771D-F1A5-DFCFB86B6615}"/>
              </a:ext>
            </a:extLst>
          </p:cNvPr>
          <p:cNvSpPr/>
          <p:nvPr/>
        </p:nvSpPr>
        <p:spPr>
          <a:xfrm>
            <a:off x="2652354" y="3913288"/>
            <a:ext cx="1058400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실행 계획 수립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cxnSp>
        <p:nvCxnSpPr>
          <p:cNvPr id="270" name="직선 화살표 연결선 269">
            <a:extLst>
              <a:ext uri="{FF2B5EF4-FFF2-40B4-BE49-F238E27FC236}">
                <a16:creationId xmlns:a16="http://schemas.microsoft.com/office/drawing/2014/main" id="{CEE3A948-A1B6-9690-D482-32085FB35183}"/>
              </a:ext>
            </a:extLst>
          </p:cNvPr>
          <p:cNvCxnSpPr>
            <a:cxnSpLocks/>
            <a:stCxn id="239" idx="2"/>
            <a:endCxn id="264" idx="0"/>
          </p:cNvCxnSpPr>
          <p:nvPr/>
        </p:nvCxnSpPr>
        <p:spPr>
          <a:xfrm>
            <a:off x="3181554" y="3378047"/>
            <a:ext cx="0" cy="101907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직선 화살표 연결선 272">
            <a:extLst>
              <a:ext uri="{FF2B5EF4-FFF2-40B4-BE49-F238E27FC236}">
                <a16:creationId xmlns:a16="http://schemas.microsoft.com/office/drawing/2014/main" id="{37CC0F34-0779-585B-B376-CBE843E01A48}"/>
              </a:ext>
            </a:extLst>
          </p:cNvPr>
          <p:cNvCxnSpPr>
            <a:cxnSpLocks/>
            <a:stCxn id="264" idx="2"/>
            <a:endCxn id="265" idx="0"/>
          </p:cNvCxnSpPr>
          <p:nvPr/>
        </p:nvCxnSpPr>
        <p:spPr>
          <a:xfrm>
            <a:off x="3181554" y="3814754"/>
            <a:ext cx="0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6" name="사각형: 둥근 모서리 275">
            <a:extLst>
              <a:ext uri="{FF2B5EF4-FFF2-40B4-BE49-F238E27FC236}">
                <a16:creationId xmlns:a16="http://schemas.microsoft.com/office/drawing/2014/main" id="{498603D9-97B2-6117-462C-708A55A01E4D}"/>
              </a:ext>
            </a:extLst>
          </p:cNvPr>
          <p:cNvSpPr/>
          <p:nvPr/>
        </p:nvSpPr>
        <p:spPr>
          <a:xfrm>
            <a:off x="3805716" y="3904123"/>
            <a:ext cx="1056043" cy="334800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설비 고장 사례</a:t>
            </a:r>
            <a:br>
              <a:rPr kumimoji="1" lang="en-US" altLang="ko-KR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</a:b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데이터베이스 구축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cxnSp>
        <p:nvCxnSpPr>
          <p:cNvPr id="277" name="직선 화살표 연결선 276">
            <a:extLst>
              <a:ext uri="{FF2B5EF4-FFF2-40B4-BE49-F238E27FC236}">
                <a16:creationId xmlns:a16="http://schemas.microsoft.com/office/drawing/2014/main" id="{5B76B0A0-8A98-DB9A-D524-042BCAC7E039}"/>
              </a:ext>
            </a:extLst>
          </p:cNvPr>
          <p:cNvCxnSpPr>
            <a:cxnSpLocks/>
            <a:stCxn id="240" idx="2"/>
            <a:endCxn id="276" idx="0"/>
          </p:cNvCxnSpPr>
          <p:nvPr/>
        </p:nvCxnSpPr>
        <p:spPr>
          <a:xfrm flipH="1">
            <a:off x="4333738" y="3811381"/>
            <a:ext cx="1178" cy="92742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0" name="TextBox 279">
            <a:extLst>
              <a:ext uri="{FF2B5EF4-FFF2-40B4-BE49-F238E27FC236}">
                <a16:creationId xmlns:a16="http://schemas.microsoft.com/office/drawing/2014/main" id="{A0DFC730-1AA1-61C5-0118-507ED51E7BB6}"/>
              </a:ext>
            </a:extLst>
          </p:cNvPr>
          <p:cNvSpPr txBox="1"/>
          <p:nvPr/>
        </p:nvSpPr>
        <p:spPr>
          <a:xfrm>
            <a:off x="673770" y="5329768"/>
            <a:ext cx="3936732" cy="23166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72000" rIns="36000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Know-How 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및 내부자료 검색 기반 분석 → 축적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 DB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 기반 분석 자동화</a:t>
            </a:r>
          </a:p>
        </p:txBody>
      </p:sp>
      <p:sp>
        <p:nvSpPr>
          <p:cNvPr id="281" name="TextBox 280">
            <a:extLst>
              <a:ext uri="{FF2B5EF4-FFF2-40B4-BE49-F238E27FC236}">
                <a16:creationId xmlns:a16="http://schemas.microsoft.com/office/drawing/2014/main" id="{87F0CA9E-2D5F-9CF3-9D7E-DD519FD0A47C}"/>
              </a:ext>
            </a:extLst>
          </p:cNvPr>
          <p:cNvSpPr txBox="1"/>
          <p:nvPr/>
        </p:nvSpPr>
        <p:spPr>
          <a:xfrm>
            <a:off x="673770" y="5627020"/>
            <a:ext cx="3936732" cy="23166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72000" rIns="36000" rtlCol="0" anchor="ctr">
            <a:noAutofit/>
          </a:bodyPr>
          <a:lstStyle/>
          <a:p>
            <a:r>
              <a:rPr lang="ko-KR" altLang="en-US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과거 이력 검색</a:t>
            </a:r>
            <a:r>
              <a:rPr lang="en-US" altLang="ko-KR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경험 기반 방안 수립 → </a:t>
            </a:r>
            <a:r>
              <a:rPr lang="en-US" altLang="ko-KR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DB</a:t>
            </a:r>
            <a:r>
              <a:rPr lang="ko-KR" altLang="en-US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화된 정보에서 </a:t>
            </a:r>
            <a:r>
              <a:rPr lang="ko-KR" altLang="en-US" sz="1000" spc="-5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대책안</a:t>
            </a:r>
            <a:r>
              <a:rPr lang="ko-KR" altLang="en-US" sz="1000" spc="-5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추천</a:t>
            </a:r>
            <a:endParaRPr lang="ko-KR" altLang="en-US" sz="100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82" name="TextBox 281">
            <a:extLst>
              <a:ext uri="{FF2B5EF4-FFF2-40B4-BE49-F238E27FC236}">
                <a16:creationId xmlns:a16="http://schemas.microsoft.com/office/drawing/2014/main" id="{6C9C937D-43A3-D95E-6FE0-84BDA4A1ED8C}"/>
              </a:ext>
            </a:extLst>
          </p:cNvPr>
          <p:cNvSpPr txBox="1"/>
          <p:nvPr/>
        </p:nvSpPr>
        <p:spPr>
          <a:xfrm>
            <a:off x="673770" y="5924273"/>
            <a:ext cx="3936732" cy="23166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72000" rIns="36000" rtlCol="0" anchor="ctr">
            <a:noAutofit/>
          </a:bodyPr>
          <a:lstStyle/>
          <a:p>
            <a:r>
              <a:rPr lang="ko-KR" altLang="en-US" sz="1000" spc="-5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생성 정보 시스템</a:t>
            </a:r>
            <a:r>
              <a:rPr lang="ko-KR" altLang="en-US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· </a:t>
            </a:r>
            <a:r>
              <a:rPr lang="ko-KR" altLang="en-US" sz="1000" spc="-5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저장소 내 수작업 저장 → 생성 정보 자동 분류 및 저장</a:t>
            </a:r>
            <a:endParaRPr lang="en-US" altLang="ko-KR" sz="1000" spc="-5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83" name="TextBox 282">
            <a:extLst>
              <a:ext uri="{FF2B5EF4-FFF2-40B4-BE49-F238E27FC236}">
                <a16:creationId xmlns:a16="http://schemas.microsoft.com/office/drawing/2014/main" id="{11670BD0-7DE0-CB18-8F3F-819BE773241D}"/>
              </a:ext>
            </a:extLst>
          </p:cNvPr>
          <p:cNvSpPr txBox="1"/>
          <p:nvPr/>
        </p:nvSpPr>
        <p:spPr>
          <a:xfrm>
            <a:off x="7489234" y="5329768"/>
            <a:ext cx="2072281" cy="23166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72000" rIns="36000" rtlCol="0" anchor="ctr">
            <a:noAutofit/>
          </a:bodyPr>
          <a:lstStyle/>
          <a:p>
            <a:r>
              <a:rPr lang="ko-KR" altLang="en-US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진단 관련 내</a:t>
            </a:r>
            <a:r>
              <a:rPr lang="en-US" altLang="ko-KR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· </a:t>
            </a:r>
            <a:r>
              <a:rPr lang="ko-KR" altLang="en-US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외부 </a:t>
            </a:r>
            <a:r>
              <a:rPr lang="en-US" altLang="ko-KR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Data DB</a:t>
            </a:r>
            <a:r>
              <a:rPr lang="ko-KR" altLang="en-US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화</a:t>
            </a:r>
            <a:endParaRPr lang="ko-KR" altLang="en-US" sz="1000" spc="-7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4FE173B3-E381-E917-1534-9D8970CB6F8C}"/>
              </a:ext>
            </a:extLst>
          </p:cNvPr>
          <p:cNvSpPr txBox="1"/>
          <p:nvPr/>
        </p:nvSpPr>
        <p:spPr>
          <a:xfrm>
            <a:off x="7489234" y="5627020"/>
            <a:ext cx="2072281" cy="23166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72000" rIns="36000" rtlCol="0" anchor="ctr">
            <a:noAutofit/>
          </a:bodyPr>
          <a:lstStyle/>
          <a:p>
            <a:r>
              <a:rPr lang="ko-KR" altLang="en-US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이상 대응 이력 </a:t>
            </a:r>
            <a:r>
              <a:rPr lang="en-US" altLang="ko-KR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DB</a:t>
            </a:r>
            <a:r>
              <a:rPr lang="ko-KR" altLang="en-US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화 대상 확대</a:t>
            </a:r>
          </a:p>
        </p:txBody>
      </p:sp>
      <p:sp>
        <p:nvSpPr>
          <p:cNvPr id="285" name="TextBox 284">
            <a:extLst>
              <a:ext uri="{FF2B5EF4-FFF2-40B4-BE49-F238E27FC236}">
                <a16:creationId xmlns:a16="http://schemas.microsoft.com/office/drawing/2014/main" id="{6E5C29E6-9BCF-990F-0881-DF28C4F77CC8}"/>
              </a:ext>
            </a:extLst>
          </p:cNvPr>
          <p:cNvSpPr txBox="1"/>
          <p:nvPr/>
        </p:nvSpPr>
        <p:spPr>
          <a:xfrm>
            <a:off x="7489234" y="5924273"/>
            <a:ext cx="2072281" cy="23166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72000" rIns="36000" rtlCol="0" anchor="ctr">
            <a:noAutofit/>
          </a:bodyPr>
          <a:lstStyle/>
          <a:p>
            <a:r>
              <a:rPr lang="en-US" altLang="ko-KR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DB</a:t>
            </a:r>
            <a:r>
              <a:rPr lang="ko-KR" altLang="en-US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화 대상 선정 및 속성 정의</a:t>
            </a:r>
          </a:p>
        </p:txBody>
      </p:sp>
      <p:sp>
        <p:nvSpPr>
          <p:cNvPr id="286" name="TextBox 285">
            <a:extLst>
              <a:ext uri="{FF2B5EF4-FFF2-40B4-BE49-F238E27FC236}">
                <a16:creationId xmlns:a16="http://schemas.microsoft.com/office/drawing/2014/main" id="{FF7ACA8A-6785-7A22-CA88-750B1B5AFE9B}"/>
              </a:ext>
            </a:extLst>
          </p:cNvPr>
          <p:cNvSpPr txBox="1"/>
          <p:nvPr/>
        </p:nvSpPr>
        <p:spPr>
          <a:xfrm>
            <a:off x="344486" y="5329768"/>
            <a:ext cx="216000" cy="216000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87" name="TextBox 286">
            <a:extLst>
              <a:ext uri="{FF2B5EF4-FFF2-40B4-BE49-F238E27FC236}">
                <a16:creationId xmlns:a16="http://schemas.microsoft.com/office/drawing/2014/main" id="{50E88517-B89E-3555-0ECE-7127EF020615}"/>
              </a:ext>
            </a:extLst>
          </p:cNvPr>
          <p:cNvSpPr txBox="1"/>
          <p:nvPr/>
        </p:nvSpPr>
        <p:spPr>
          <a:xfrm>
            <a:off x="344486" y="5627020"/>
            <a:ext cx="216000" cy="216000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88" name="TextBox 287">
            <a:extLst>
              <a:ext uri="{FF2B5EF4-FFF2-40B4-BE49-F238E27FC236}">
                <a16:creationId xmlns:a16="http://schemas.microsoft.com/office/drawing/2014/main" id="{C600704C-85E4-44D9-D16D-C2B4E2089829}"/>
              </a:ext>
            </a:extLst>
          </p:cNvPr>
          <p:cNvSpPr txBox="1"/>
          <p:nvPr/>
        </p:nvSpPr>
        <p:spPr>
          <a:xfrm>
            <a:off x="344486" y="5924273"/>
            <a:ext cx="216000" cy="216000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3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97B36B03-B5DC-1706-EA3A-AFAA60F8DFBC}"/>
              </a:ext>
            </a:extLst>
          </p:cNvPr>
          <p:cNvSpPr txBox="1"/>
          <p:nvPr/>
        </p:nvSpPr>
        <p:spPr>
          <a:xfrm>
            <a:off x="4710767" y="5329768"/>
            <a:ext cx="2678203" cy="23166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72000" rIns="36000" rtlCol="0" anchor="ctr">
            <a:noAutofit/>
          </a:bodyPr>
          <a:lstStyle>
            <a:defPPr>
              <a:defRPr lang="en-US"/>
            </a:defPPr>
            <a:lvl1pPr>
              <a:defRPr sz="1000"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r>
              <a:rPr lang="ko-KR" altLang="en-US"/>
              <a:t>이상현상</a:t>
            </a:r>
            <a:r>
              <a:rPr lang="en-US" altLang="ko-KR"/>
              <a:t>/</a:t>
            </a:r>
            <a:r>
              <a:rPr lang="ko-KR" altLang="en-US"/>
              <a:t>고장증상 분석 </a:t>
            </a:r>
            <a:r>
              <a:rPr lang="en-US" altLang="ko-KR"/>
              <a:t>AI(</a:t>
            </a:r>
            <a:r>
              <a:rPr lang="ko-KR" altLang="en-US"/>
              <a:t>설비</a:t>
            </a:r>
            <a:r>
              <a:rPr lang="en-US" altLang="ko-KR"/>
              <a:t>)</a:t>
            </a:r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990BC2A4-384B-0A0C-DDA4-2F438AB75CAD}"/>
              </a:ext>
            </a:extLst>
          </p:cNvPr>
          <p:cNvSpPr txBox="1"/>
          <p:nvPr/>
        </p:nvSpPr>
        <p:spPr>
          <a:xfrm>
            <a:off x="4710767" y="5627020"/>
            <a:ext cx="2678203" cy="23166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72000" rIns="36000" rtlCol="0" anchor="ctr">
            <a:noAutofit/>
          </a:bodyPr>
          <a:lstStyle>
            <a:defPPr>
              <a:defRPr lang="en-US"/>
            </a:defPPr>
            <a:lvl1pPr>
              <a:defRPr sz="1000"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r>
              <a:rPr lang="ko-KR" altLang="en-US"/>
              <a:t>공정 </a:t>
            </a:r>
            <a:r>
              <a:rPr lang="en-US" altLang="ko-KR"/>
              <a:t>Trouble </a:t>
            </a:r>
            <a:r>
              <a:rPr lang="ko-KR" altLang="en-US"/>
              <a:t>대응 </a:t>
            </a:r>
            <a:r>
              <a:rPr lang="en-US" altLang="ko-KR"/>
              <a:t>AI(</a:t>
            </a:r>
            <a:r>
              <a:rPr lang="ko-KR" altLang="en-US"/>
              <a:t>생산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55E2B3C7-132E-848A-8D8F-228CA5B57DF2}"/>
              </a:ext>
            </a:extLst>
          </p:cNvPr>
          <p:cNvSpPr txBox="1"/>
          <p:nvPr/>
        </p:nvSpPr>
        <p:spPr>
          <a:xfrm>
            <a:off x="4710767" y="5924273"/>
            <a:ext cx="2678203" cy="23166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72000" rIns="36000" rtlCol="0" anchor="ctr">
            <a:noAutofit/>
          </a:bodyPr>
          <a:lstStyle>
            <a:defPPr>
              <a:defRPr lang="en-US"/>
            </a:defPPr>
            <a:lvl1pPr>
              <a:defRPr sz="1000"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r>
              <a:rPr lang="ko-KR" altLang="en-US"/>
              <a:t>생산 운영 정보 저장 </a:t>
            </a:r>
            <a:r>
              <a:rPr lang="en-US" altLang="ko-KR"/>
              <a:t>· </a:t>
            </a:r>
            <a:r>
              <a:rPr lang="ko-KR" altLang="en-US"/>
              <a:t>분류 자동화</a:t>
            </a:r>
          </a:p>
        </p:txBody>
      </p:sp>
      <p:sp>
        <p:nvSpPr>
          <p:cNvPr id="292" name="사각형: 둥근 모서리 291">
            <a:extLst>
              <a:ext uri="{FF2B5EF4-FFF2-40B4-BE49-F238E27FC236}">
                <a16:creationId xmlns:a16="http://schemas.microsoft.com/office/drawing/2014/main" id="{CFEC78C5-9883-4FD6-A904-54B82A571EA5}"/>
              </a:ext>
            </a:extLst>
          </p:cNvPr>
          <p:cNvSpPr/>
          <p:nvPr/>
        </p:nvSpPr>
        <p:spPr>
          <a:xfrm>
            <a:off x="6954839" y="5361899"/>
            <a:ext cx="386006" cy="167400"/>
          </a:xfrm>
          <a:prstGeom prst="roundRect">
            <a:avLst>
              <a:gd name="adj" fmla="val 18018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noFill/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지능화</a:t>
            </a:r>
            <a:endParaRPr kumimoji="1" lang="en-US" altLang="ko-KR" sz="900" ker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93" name="사각형: 둥근 모서리 292">
            <a:extLst>
              <a:ext uri="{FF2B5EF4-FFF2-40B4-BE49-F238E27FC236}">
                <a16:creationId xmlns:a16="http://schemas.microsoft.com/office/drawing/2014/main" id="{6A206B91-1E13-EBDF-F10A-3D37D0A5A531}"/>
              </a:ext>
            </a:extLst>
          </p:cNvPr>
          <p:cNvSpPr/>
          <p:nvPr/>
        </p:nvSpPr>
        <p:spPr>
          <a:xfrm>
            <a:off x="6954839" y="5659151"/>
            <a:ext cx="386006" cy="167400"/>
          </a:xfrm>
          <a:prstGeom prst="roundRect">
            <a:avLst>
              <a:gd name="adj" fmla="val 18018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noFill/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지능화</a:t>
            </a:r>
            <a:endParaRPr kumimoji="1" lang="en-US" altLang="ko-KR" sz="900" ker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94" name="사각형: 둥근 모서리 293">
            <a:extLst>
              <a:ext uri="{FF2B5EF4-FFF2-40B4-BE49-F238E27FC236}">
                <a16:creationId xmlns:a16="http://schemas.microsoft.com/office/drawing/2014/main" id="{4A3D5068-BE8C-8477-2E8E-21A874A255D3}"/>
              </a:ext>
            </a:extLst>
          </p:cNvPr>
          <p:cNvSpPr/>
          <p:nvPr/>
        </p:nvSpPr>
        <p:spPr>
          <a:xfrm>
            <a:off x="6954839" y="5956404"/>
            <a:ext cx="386006" cy="167400"/>
          </a:xfrm>
          <a:prstGeom prst="roundRect">
            <a:avLst>
              <a:gd name="adj" fmla="val 18018"/>
            </a:avLst>
          </a:prstGeom>
          <a:solidFill>
            <a:schemeClr val="bg1">
              <a:lumMod val="50000"/>
            </a:schemeClr>
          </a:solidFill>
          <a:ln w="3175">
            <a:noFill/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자동화</a:t>
            </a:r>
            <a:endParaRPr kumimoji="1" lang="en-US" altLang="ko-KR" sz="900" ker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95" name="TextBox 294">
            <a:extLst>
              <a:ext uri="{FF2B5EF4-FFF2-40B4-BE49-F238E27FC236}">
                <a16:creationId xmlns:a16="http://schemas.microsoft.com/office/drawing/2014/main" id="{12B198B1-B953-075B-E8C9-430D7DFD8218}"/>
              </a:ext>
            </a:extLst>
          </p:cNvPr>
          <p:cNvSpPr txBox="1"/>
          <p:nvPr/>
        </p:nvSpPr>
        <p:spPr>
          <a:xfrm>
            <a:off x="673770" y="6221525"/>
            <a:ext cx="3936732" cy="367200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72000" rIns="36000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과거 이력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, Know-How 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기반 분석 및 방안 수립 → 축적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 DB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 기반 분석 자동화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, </a:t>
            </a:r>
            <a:r>
              <a:rPr kumimoji="0" lang="ko-KR" altLang="en-US" sz="10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대책안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 추천</a:t>
            </a:r>
          </a:p>
        </p:txBody>
      </p:sp>
      <p:sp>
        <p:nvSpPr>
          <p:cNvPr id="296" name="TextBox 295">
            <a:extLst>
              <a:ext uri="{FF2B5EF4-FFF2-40B4-BE49-F238E27FC236}">
                <a16:creationId xmlns:a16="http://schemas.microsoft.com/office/drawing/2014/main" id="{F365E553-BA66-DEF7-ED41-48CC992F6235}"/>
              </a:ext>
            </a:extLst>
          </p:cNvPr>
          <p:cNvSpPr txBox="1"/>
          <p:nvPr/>
        </p:nvSpPr>
        <p:spPr>
          <a:xfrm>
            <a:off x="7489234" y="6221525"/>
            <a:ext cx="2072281" cy="367200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72000" rIns="36000" rtlCol="0" anchor="ctr">
            <a:noAutofit/>
          </a:bodyPr>
          <a:lstStyle/>
          <a:p>
            <a:r>
              <a:rPr lang="ko-KR" altLang="en-US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공정 분석 결과 </a:t>
            </a:r>
            <a:r>
              <a:rPr lang="en-US" altLang="ko-KR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DB</a:t>
            </a:r>
            <a:r>
              <a:rPr lang="ko-KR" altLang="en-US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화 대상 확대</a:t>
            </a:r>
          </a:p>
        </p:txBody>
      </p:sp>
      <p:sp>
        <p:nvSpPr>
          <p:cNvPr id="297" name="TextBox 296">
            <a:extLst>
              <a:ext uri="{FF2B5EF4-FFF2-40B4-BE49-F238E27FC236}">
                <a16:creationId xmlns:a16="http://schemas.microsoft.com/office/drawing/2014/main" id="{B10656B9-58DE-E41F-5EC7-B3A4F14B479C}"/>
              </a:ext>
            </a:extLst>
          </p:cNvPr>
          <p:cNvSpPr txBox="1"/>
          <p:nvPr/>
        </p:nvSpPr>
        <p:spPr>
          <a:xfrm>
            <a:off x="344486" y="6221525"/>
            <a:ext cx="216000" cy="216000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4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98" name="TextBox 297">
            <a:extLst>
              <a:ext uri="{FF2B5EF4-FFF2-40B4-BE49-F238E27FC236}">
                <a16:creationId xmlns:a16="http://schemas.microsoft.com/office/drawing/2014/main" id="{E2136701-71C3-57CC-DE19-1492EF5EFE09}"/>
              </a:ext>
            </a:extLst>
          </p:cNvPr>
          <p:cNvSpPr txBox="1"/>
          <p:nvPr/>
        </p:nvSpPr>
        <p:spPr>
          <a:xfrm>
            <a:off x="4710767" y="6221525"/>
            <a:ext cx="2678203" cy="367200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72000" rIns="36000" rtlCol="0" anchor="ctr">
            <a:noAutofit/>
          </a:bodyPr>
          <a:lstStyle/>
          <a:p>
            <a:r>
              <a:rPr lang="en-US" altLang="ko-KR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Engineer </a:t>
            </a:r>
            <a:r>
              <a:rPr lang="ko-KR" altLang="en-US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공정 분석 </a:t>
            </a:r>
            <a:r>
              <a:rPr lang="en-US" altLang="ko-KR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AI,</a:t>
            </a:r>
            <a:endParaRPr lang="ko-KR" altLang="en-US" sz="100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공정 최적화 모델 개발</a:t>
            </a:r>
            <a:r>
              <a:rPr lang="en-US" altLang="ko-KR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품질 분석</a:t>
            </a:r>
            <a:r>
              <a:rPr lang="en-US" altLang="ko-KR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endParaRPr lang="ko-KR" altLang="en-US" sz="100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99" name="사각형: 둥근 모서리 298">
            <a:extLst>
              <a:ext uri="{FF2B5EF4-FFF2-40B4-BE49-F238E27FC236}">
                <a16:creationId xmlns:a16="http://schemas.microsoft.com/office/drawing/2014/main" id="{3792A1AB-2317-20E9-3364-092C1D0E50A5}"/>
              </a:ext>
            </a:extLst>
          </p:cNvPr>
          <p:cNvSpPr/>
          <p:nvPr/>
        </p:nvSpPr>
        <p:spPr>
          <a:xfrm>
            <a:off x="6954839" y="6321425"/>
            <a:ext cx="386006" cy="167400"/>
          </a:xfrm>
          <a:prstGeom prst="roundRect">
            <a:avLst>
              <a:gd name="adj" fmla="val 18018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noFill/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지능화</a:t>
            </a:r>
            <a:endParaRPr kumimoji="1" lang="en-US" altLang="ko-KR" sz="900" ker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310" name="TextBox 309">
            <a:extLst>
              <a:ext uri="{FF2B5EF4-FFF2-40B4-BE49-F238E27FC236}">
                <a16:creationId xmlns:a16="http://schemas.microsoft.com/office/drawing/2014/main" id="{A2FD3F41-BC0C-5009-339A-5FA0E48E0BFA}"/>
              </a:ext>
            </a:extLst>
          </p:cNvPr>
          <p:cNvSpPr txBox="1"/>
          <p:nvPr/>
        </p:nvSpPr>
        <p:spPr>
          <a:xfrm>
            <a:off x="270722" y="3138745"/>
            <a:ext cx="147532" cy="147532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11" name="TextBox 310">
            <a:extLst>
              <a:ext uri="{FF2B5EF4-FFF2-40B4-BE49-F238E27FC236}">
                <a16:creationId xmlns:a16="http://schemas.microsoft.com/office/drawing/2014/main" id="{FD93C5CF-6A18-6879-01DA-0E4C46A62D0B}"/>
              </a:ext>
            </a:extLst>
          </p:cNvPr>
          <p:cNvSpPr txBox="1"/>
          <p:nvPr/>
        </p:nvSpPr>
        <p:spPr>
          <a:xfrm>
            <a:off x="1419156" y="3138745"/>
            <a:ext cx="147532" cy="147532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12" name="TextBox 311">
            <a:extLst>
              <a:ext uri="{FF2B5EF4-FFF2-40B4-BE49-F238E27FC236}">
                <a16:creationId xmlns:a16="http://schemas.microsoft.com/office/drawing/2014/main" id="{A4DF8E9C-C82A-3B3A-7769-61B91DB5EA8C}"/>
              </a:ext>
            </a:extLst>
          </p:cNvPr>
          <p:cNvSpPr txBox="1"/>
          <p:nvPr/>
        </p:nvSpPr>
        <p:spPr>
          <a:xfrm>
            <a:off x="270722" y="3570215"/>
            <a:ext cx="147532" cy="147532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13" name="TextBox 312">
            <a:extLst>
              <a:ext uri="{FF2B5EF4-FFF2-40B4-BE49-F238E27FC236}">
                <a16:creationId xmlns:a16="http://schemas.microsoft.com/office/drawing/2014/main" id="{9867DA48-0BE4-FA75-2261-C95A8141D65D}"/>
              </a:ext>
            </a:extLst>
          </p:cNvPr>
          <p:cNvSpPr txBox="1"/>
          <p:nvPr/>
        </p:nvSpPr>
        <p:spPr>
          <a:xfrm>
            <a:off x="1426669" y="3570215"/>
            <a:ext cx="147532" cy="147532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14" name="TextBox 313">
            <a:extLst>
              <a:ext uri="{FF2B5EF4-FFF2-40B4-BE49-F238E27FC236}">
                <a16:creationId xmlns:a16="http://schemas.microsoft.com/office/drawing/2014/main" id="{AED8DB7C-7EFB-AA74-D2E7-3435DAE316B7}"/>
              </a:ext>
            </a:extLst>
          </p:cNvPr>
          <p:cNvSpPr txBox="1"/>
          <p:nvPr/>
        </p:nvSpPr>
        <p:spPr>
          <a:xfrm>
            <a:off x="3731496" y="3138745"/>
            <a:ext cx="147532" cy="147532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15" name="TextBox 314">
            <a:extLst>
              <a:ext uri="{FF2B5EF4-FFF2-40B4-BE49-F238E27FC236}">
                <a16:creationId xmlns:a16="http://schemas.microsoft.com/office/drawing/2014/main" id="{DF1D53D1-CACC-F9DC-3CC8-D7BFABE7A9BD}"/>
              </a:ext>
            </a:extLst>
          </p:cNvPr>
          <p:cNvSpPr txBox="1"/>
          <p:nvPr/>
        </p:nvSpPr>
        <p:spPr>
          <a:xfrm>
            <a:off x="3736618" y="4001003"/>
            <a:ext cx="147532" cy="147532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3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595DD9E6-21A3-49D2-F42D-6C86727268F0}"/>
              </a:ext>
            </a:extLst>
          </p:cNvPr>
          <p:cNvSpPr txBox="1"/>
          <p:nvPr/>
        </p:nvSpPr>
        <p:spPr>
          <a:xfrm>
            <a:off x="3731950" y="2708364"/>
            <a:ext cx="147532" cy="147532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17" name="TextBox 316">
            <a:extLst>
              <a:ext uri="{FF2B5EF4-FFF2-40B4-BE49-F238E27FC236}">
                <a16:creationId xmlns:a16="http://schemas.microsoft.com/office/drawing/2014/main" id="{1FBC7698-A7D0-EE1B-5D9E-A40C3140EEB9}"/>
              </a:ext>
            </a:extLst>
          </p:cNvPr>
          <p:cNvSpPr txBox="1"/>
          <p:nvPr/>
        </p:nvSpPr>
        <p:spPr>
          <a:xfrm>
            <a:off x="3731496" y="3570215"/>
            <a:ext cx="147532" cy="147532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18" name="TextBox 317">
            <a:extLst>
              <a:ext uri="{FF2B5EF4-FFF2-40B4-BE49-F238E27FC236}">
                <a16:creationId xmlns:a16="http://schemas.microsoft.com/office/drawing/2014/main" id="{0A24B038-3FA8-D4FA-D6AA-80C114353DE7}"/>
              </a:ext>
            </a:extLst>
          </p:cNvPr>
          <p:cNvSpPr txBox="1"/>
          <p:nvPr/>
        </p:nvSpPr>
        <p:spPr>
          <a:xfrm>
            <a:off x="4879234" y="3138745"/>
            <a:ext cx="147532" cy="147532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4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19" name="TextBox 318">
            <a:extLst>
              <a:ext uri="{FF2B5EF4-FFF2-40B4-BE49-F238E27FC236}">
                <a16:creationId xmlns:a16="http://schemas.microsoft.com/office/drawing/2014/main" id="{B148804F-4512-1A86-E9C4-5D755B07FE61}"/>
              </a:ext>
            </a:extLst>
          </p:cNvPr>
          <p:cNvSpPr txBox="1"/>
          <p:nvPr/>
        </p:nvSpPr>
        <p:spPr>
          <a:xfrm>
            <a:off x="4879234" y="3564423"/>
            <a:ext cx="147532" cy="147532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4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20" name="TextBox 319">
            <a:extLst>
              <a:ext uri="{FF2B5EF4-FFF2-40B4-BE49-F238E27FC236}">
                <a16:creationId xmlns:a16="http://schemas.microsoft.com/office/drawing/2014/main" id="{73019A2A-32C6-5C22-CACF-ACA0A6EA8F5B}"/>
              </a:ext>
            </a:extLst>
          </p:cNvPr>
          <p:cNvSpPr txBox="1"/>
          <p:nvPr/>
        </p:nvSpPr>
        <p:spPr>
          <a:xfrm>
            <a:off x="6040612" y="3138745"/>
            <a:ext cx="147532" cy="147532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4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21" name="TextBox 320">
            <a:extLst>
              <a:ext uri="{FF2B5EF4-FFF2-40B4-BE49-F238E27FC236}">
                <a16:creationId xmlns:a16="http://schemas.microsoft.com/office/drawing/2014/main" id="{B5EA782C-A86D-F5CE-D9E7-5202A77291F4}"/>
              </a:ext>
            </a:extLst>
          </p:cNvPr>
          <p:cNvSpPr txBox="1"/>
          <p:nvPr/>
        </p:nvSpPr>
        <p:spPr>
          <a:xfrm>
            <a:off x="6040612" y="3564423"/>
            <a:ext cx="147532" cy="147532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4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9DFAA2C-8C56-C232-DC93-B138FAC45511}"/>
              </a:ext>
            </a:extLst>
          </p:cNvPr>
          <p:cNvSpPr txBox="1"/>
          <p:nvPr/>
        </p:nvSpPr>
        <p:spPr>
          <a:xfrm>
            <a:off x="7201989" y="3138745"/>
            <a:ext cx="147532" cy="147532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4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1680E0-AEAF-60CC-2432-20F25E39258A}"/>
              </a:ext>
            </a:extLst>
          </p:cNvPr>
          <p:cNvSpPr txBox="1"/>
          <p:nvPr/>
        </p:nvSpPr>
        <p:spPr>
          <a:xfrm>
            <a:off x="7201989" y="2708364"/>
            <a:ext cx="147532" cy="147532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4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3C2D87-9ED7-5290-C0E2-0F1119C4BA84}"/>
              </a:ext>
            </a:extLst>
          </p:cNvPr>
          <p:cNvSpPr txBox="1"/>
          <p:nvPr/>
        </p:nvSpPr>
        <p:spPr>
          <a:xfrm>
            <a:off x="7201989" y="3564423"/>
            <a:ext cx="147532" cy="147532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4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0FA19D-D97D-5494-33E5-F96C2417F7A1}"/>
              </a:ext>
            </a:extLst>
          </p:cNvPr>
          <p:cNvSpPr txBox="1"/>
          <p:nvPr/>
        </p:nvSpPr>
        <p:spPr>
          <a:xfrm>
            <a:off x="8358984" y="3138745"/>
            <a:ext cx="147532" cy="147532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3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9" name="텍스트 개체 틀 4">
            <a:extLst>
              <a:ext uri="{FF2B5EF4-FFF2-40B4-BE49-F238E27FC236}">
                <a16:creationId xmlns:a16="http://schemas.microsoft.com/office/drawing/2014/main" id="{35526D94-8DF0-C235-0F46-18860A15EC90}"/>
              </a:ext>
            </a:extLst>
          </p:cNvPr>
          <p:cNvSpPr txBox="1">
            <a:spLocks/>
          </p:cNvSpPr>
          <p:nvPr/>
        </p:nvSpPr>
        <p:spPr>
          <a:xfrm>
            <a:off x="1386038" y="721134"/>
            <a:ext cx="8180064" cy="769485"/>
          </a:xfrm>
          <a:prstGeom prst="rect">
            <a:avLst/>
          </a:prstGeom>
          <a:pattFill prst="dkUp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 w="3175">
            <a:noFill/>
          </a:ln>
        </p:spPr>
        <p:txBody>
          <a:bodyPr vert="horz" lIns="108000" tIns="36000" rIns="36000" bIns="36000" rtlCol="0" anchor="ctr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2563" indent="-182563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ko-KR" altLang="en-US" sz="1200" b="0"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ngal Pro" panose="020B0502040204020203" pitchFamily="2" charset="0"/>
              </a:rPr>
              <a:t>공정 분석 </a:t>
            </a:r>
            <a:r>
              <a:rPr lang="en-US" altLang="ko-KR" sz="1200" b="0"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ngal Pro" panose="020B0502040204020203" pitchFamily="2" charset="0"/>
              </a:rPr>
              <a:t>Data</a:t>
            </a:r>
            <a:r>
              <a:rPr lang="ko-KR" altLang="en-US" sz="1200" b="0"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ngal Pro" panose="020B0502040204020203" pitchFamily="2" charset="0"/>
              </a:rPr>
              <a:t> 지식 자산화 및 문제 해결 지능화</a:t>
            </a:r>
            <a:endParaRPr lang="en-US" altLang="ko-KR" sz="1200" b="0">
              <a:solidFill>
                <a:prstClr val="black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cs typeface="Mangal Pro" panose="020B0502040204020203" pitchFamily="2" charset="0"/>
            </a:endParaRPr>
          </a:p>
          <a:p>
            <a:pPr marL="355600" indent="-173038" latinLnBrk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Font typeface="나눔스퀘어 ExtraBold" panose="020B0600000101010101" pitchFamily="50" charset="-127"/>
              <a:buChar char="-"/>
            </a:pPr>
            <a:r>
              <a:rPr lang="ko-KR" altLang="en-US" sz="1100" b="0">
                <a:solidFill>
                  <a:prstClr val="black"/>
                </a:solidFill>
                <a:cs typeface="Mangal Pro" panose="020B0502040204020203" pitchFamily="2" charset="0"/>
              </a:rPr>
              <a:t>이상 대응 이력의 체계적 축적 및 활용도 개선</a:t>
            </a:r>
            <a:endParaRPr lang="en-US" altLang="ko-KR" sz="1100" b="0">
              <a:solidFill>
                <a:prstClr val="black"/>
              </a:solidFill>
              <a:cs typeface="Mangal Pro" panose="020B0502040204020203" pitchFamily="2" charset="0"/>
            </a:endParaRPr>
          </a:p>
          <a:p>
            <a:pPr marL="355600" indent="-173038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나눔스퀘어 ExtraBold" panose="020B0600000101010101" pitchFamily="50" charset="-127"/>
              <a:buChar char="-"/>
            </a:pPr>
            <a:r>
              <a:rPr lang="ko-KR" altLang="en-US" sz="1100" b="0">
                <a:solidFill>
                  <a:prstClr val="black"/>
                </a:solidFill>
                <a:cs typeface="Mangal Pro" panose="020B0502040204020203" pitchFamily="2" charset="0"/>
              </a:rPr>
              <a:t>공정 </a:t>
            </a:r>
            <a:r>
              <a:rPr lang="en-US" altLang="ko-KR" sz="1100" b="0">
                <a:solidFill>
                  <a:prstClr val="black"/>
                </a:solidFill>
                <a:cs typeface="Mangal Pro" panose="020B0502040204020203" pitchFamily="2" charset="0"/>
              </a:rPr>
              <a:t>Data</a:t>
            </a:r>
            <a:r>
              <a:rPr lang="ko-KR" altLang="en-US" sz="1100" b="0">
                <a:solidFill>
                  <a:prstClr val="black"/>
                </a:solidFill>
                <a:cs typeface="Mangal Pro" panose="020B0502040204020203" pitchFamily="2" charset="0"/>
              </a:rPr>
              <a:t> 상관관계 분석 고도화를 통한 문제 해결 방안 수립</a:t>
            </a:r>
          </a:p>
        </p:txBody>
      </p:sp>
    </p:spTree>
    <p:extLst>
      <p:ext uri="{BB962C8B-B14F-4D97-AF65-F5344CB8AC3E}">
        <p14:creationId xmlns:p14="http://schemas.microsoft.com/office/powerpoint/2010/main" val="30298015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705D2-23C8-40B3-8853-3F09067BC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78CDDEE-FEDD-86CC-6620-CC7E3010468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4487" y="254884"/>
            <a:ext cx="4940776" cy="343235"/>
          </a:xfrm>
          <a:solidFill>
            <a:schemeClr val="bg1"/>
          </a:solidFill>
        </p:spPr>
        <p:txBody>
          <a:bodyPr wrap="none" anchor="ctr">
            <a:spAutoFit/>
          </a:bodyPr>
          <a:lstStyle/>
          <a:p>
            <a:r>
              <a:rPr lang="en-US" altLang="ko-KR" b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Appendix. [</a:t>
            </a:r>
            <a:r>
              <a:rPr lang="ko-KR" altLang="en-US" b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생산기술</a:t>
            </a:r>
            <a:r>
              <a:rPr lang="en-US" altLang="ko-KR" b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] </a:t>
            </a:r>
            <a:r>
              <a:rPr lang="ko-KR" altLang="en-US" b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공정 최적화 및 개선 </a:t>
            </a:r>
            <a:r>
              <a:rPr lang="en-US" altLang="ko-KR" b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(1/3)</a:t>
            </a:r>
          </a:p>
        </p:txBody>
      </p:sp>
      <p:sp>
        <p:nvSpPr>
          <p:cNvPr id="171" name="사각형: 둥근 모서리 170">
            <a:extLst>
              <a:ext uri="{FF2B5EF4-FFF2-40B4-BE49-F238E27FC236}">
                <a16:creationId xmlns:a16="http://schemas.microsoft.com/office/drawing/2014/main" id="{C96C660D-6E58-F253-4582-8674559649F0}"/>
              </a:ext>
            </a:extLst>
          </p:cNvPr>
          <p:cNvSpPr/>
          <p:nvPr/>
        </p:nvSpPr>
        <p:spPr>
          <a:xfrm>
            <a:off x="344488" y="721134"/>
            <a:ext cx="941772" cy="763179"/>
          </a:xfrm>
          <a:prstGeom prst="roundRect">
            <a:avLst>
              <a:gd name="adj" fmla="val 0"/>
            </a:avLst>
          </a:prstGeom>
          <a:solidFill>
            <a:srgbClr val="217CFA"/>
          </a:solidFill>
          <a:ln w="6350">
            <a:solidFill>
              <a:srgbClr val="217C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Digital</a:t>
            </a:r>
            <a:r>
              <a:rPr lang="ko-KR" altLang="en-US" sz="130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화 지향점</a:t>
            </a:r>
          </a:p>
        </p:txBody>
      </p: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6DE83566-6D96-3F88-838B-F999B3D06119}"/>
              </a:ext>
            </a:extLst>
          </p:cNvPr>
          <p:cNvCxnSpPr>
            <a:cxnSpLocks/>
          </p:cNvCxnSpPr>
          <p:nvPr/>
        </p:nvCxnSpPr>
        <p:spPr>
          <a:xfrm>
            <a:off x="344488" y="4859066"/>
            <a:ext cx="9221614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" name="사각형: 둥근 모서리 173">
            <a:extLst>
              <a:ext uri="{FF2B5EF4-FFF2-40B4-BE49-F238E27FC236}">
                <a16:creationId xmlns:a16="http://schemas.microsoft.com/office/drawing/2014/main" id="{50571634-88BC-121D-BB3A-9A8043921F59}"/>
              </a:ext>
            </a:extLst>
          </p:cNvPr>
          <p:cNvSpPr/>
          <p:nvPr/>
        </p:nvSpPr>
        <p:spPr>
          <a:xfrm>
            <a:off x="4031571" y="4731072"/>
            <a:ext cx="1847448" cy="25598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rgbClr val="217C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주요</a:t>
            </a:r>
            <a:r>
              <a:rPr lang="en-US" altLang="ko-KR" sz="1200">
                <a:solidFill>
                  <a:schemeClr val="tx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ko-KR" altLang="en-US" sz="1200">
                <a:solidFill>
                  <a:schemeClr val="tx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추진 사항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23D7D4B5-D90E-BB8D-0973-35F564251BE4}"/>
              </a:ext>
            </a:extLst>
          </p:cNvPr>
          <p:cNvSpPr txBox="1"/>
          <p:nvPr/>
        </p:nvSpPr>
        <p:spPr>
          <a:xfrm>
            <a:off x="673770" y="5073302"/>
            <a:ext cx="3936732" cy="200435"/>
          </a:xfrm>
          <a:prstGeom prst="rect">
            <a:avLst/>
          </a:prstGeom>
          <a:noFill/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ko-KR" altLang="en-US" sz="1100" u="sng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변화 </a:t>
            </a:r>
            <a:r>
              <a:rPr lang="en-US" altLang="ko-KR" sz="1100" u="sng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Point</a:t>
            </a:r>
            <a:endParaRPr lang="ko-KR" altLang="en-US" sz="1100" u="sng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67E5EFAB-2238-3F7A-133B-10A6DBAA6D6C}"/>
              </a:ext>
            </a:extLst>
          </p:cNvPr>
          <p:cNvSpPr txBox="1"/>
          <p:nvPr/>
        </p:nvSpPr>
        <p:spPr>
          <a:xfrm>
            <a:off x="7489234" y="5073302"/>
            <a:ext cx="2072281" cy="200435"/>
          </a:xfrm>
          <a:prstGeom prst="rect">
            <a:avLst/>
          </a:prstGeom>
          <a:noFill/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ko-KR" altLang="en-US" sz="1100" u="sng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업무 개선 사항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BE12A342-4A24-BE50-2EAB-370CBD64B3E6}"/>
              </a:ext>
            </a:extLst>
          </p:cNvPr>
          <p:cNvSpPr txBox="1"/>
          <p:nvPr/>
        </p:nvSpPr>
        <p:spPr>
          <a:xfrm>
            <a:off x="4710767" y="5073302"/>
            <a:ext cx="2678203" cy="200435"/>
          </a:xfrm>
          <a:prstGeom prst="rect">
            <a:avLst/>
          </a:prstGeom>
          <a:noFill/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100" u="sng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Digital</a:t>
            </a:r>
            <a:r>
              <a:rPr lang="ko-KR" altLang="en-US" sz="1100" u="sng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화 기회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C332A8F-4D27-9C43-3F57-0BB03C3D4B7E}"/>
              </a:ext>
            </a:extLst>
          </p:cNvPr>
          <p:cNvSpPr txBox="1">
            <a:spLocks/>
          </p:cNvSpPr>
          <p:nvPr/>
        </p:nvSpPr>
        <p:spPr>
          <a:xfrm>
            <a:off x="1386038" y="721134"/>
            <a:ext cx="8180064" cy="769485"/>
          </a:xfrm>
          <a:prstGeom prst="rect">
            <a:avLst/>
          </a:prstGeom>
          <a:pattFill prst="dkUp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 w="3175">
            <a:noFill/>
          </a:ln>
        </p:spPr>
        <p:txBody>
          <a:bodyPr vert="horz" lIns="108000" tIns="36000" rIns="36000" bIns="36000" rtlCol="0" anchor="ctr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2563" indent="-182563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ko-KR" altLang="en-US" sz="1200" b="0"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ngal Pro" panose="020B0502040204020203" pitchFamily="2" charset="0"/>
              </a:rPr>
              <a:t>공정 통합 모니터링 및 동적 최적화 모델 구축</a:t>
            </a:r>
            <a:endParaRPr lang="en-US" altLang="ko-KR" sz="1200" b="0">
              <a:solidFill>
                <a:prstClr val="black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cs typeface="Mangal Pro" panose="020B0502040204020203" pitchFamily="2" charset="0"/>
            </a:endParaRPr>
          </a:p>
          <a:p>
            <a:pPr marL="355600" indent="-173038" latinLnBrk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Font typeface="나눔스퀘어 ExtraBold" panose="020B0600000101010101" pitchFamily="50" charset="-127"/>
              <a:buChar char="-"/>
            </a:pPr>
            <a:r>
              <a:rPr lang="ko-KR" altLang="en-US" sz="1100" b="0">
                <a:solidFill>
                  <a:prstClr val="black"/>
                </a:solidFill>
                <a:cs typeface="Mangal Pro" panose="020B0502040204020203" pitchFamily="2" charset="0"/>
              </a:rPr>
              <a:t>목적 기반 지능형 공정 모니터링 체계 구현</a:t>
            </a:r>
            <a:endParaRPr lang="en-US" altLang="ko-KR" sz="1100" b="0">
              <a:solidFill>
                <a:prstClr val="black"/>
              </a:solidFill>
              <a:cs typeface="Mangal Pro" panose="020B0502040204020203" pitchFamily="2" charset="0"/>
            </a:endParaRPr>
          </a:p>
          <a:p>
            <a:pPr marL="355600" indent="-173038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나눔스퀘어 ExtraBold" panose="020B0600000101010101" pitchFamily="50" charset="-127"/>
              <a:buChar char="-"/>
            </a:pPr>
            <a:r>
              <a:rPr lang="ko-KR" altLang="en-US" sz="1100" b="0">
                <a:solidFill>
                  <a:prstClr val="black"/>
                </a:solidFill>
                <a:cs typeface="Mangal Pro" panose="020B0502040204020203" pitchFamily="2" charset="0"/>
              </a:rPr>
              <a:t>실시간 </a:t>
            </a:r>
            <a:r>
              <a:rPr lang="en-US" altLang="ko-KR" sz="1100" b="0">
                <a:solidFill>
                  <a:prstClr val="black"/>
                </a:solidFill>
                <a:cs typeface="Mangal Pro" panose="020B0502040204020203" pitchFamily="2" charset="0"/>
              </a:rPr>
              <a:t>Data</a:t>
            </a:r>
            <a:r>
              <a:rPr lang="ko-KR" altLang="en-US" sz="1100" b="0">
                <a:solidFill>
                  <a:prstClr val="black"/>
                </a:solidFill>
                <a:cs typeface="Mangal Pro" panose="020B0502040204020203" pitchFamily="2" charset="0"/>
              </a:rPr>
              <a:t> 연동형 공정 시뮬레이션 체계 구축</a:t>
            </a:r>
          </a:p>
        </p:txBody>
      </p:sp>
      <p:sp>
        <p:nvSpPr>
          <p:cNvPr id="55" name="화살표: 오각형 54">
            <a:extLst>
              <a:ext uri="{FF2B5EF4-FFF2-40B4-BE49-F238E27FC236}">
                <a16:creationId xmlns:a16="http://schemas.microsoft.com/office/drawing/2014/main" id="{9A639C4A-C2BA-01E3-B99A-F66432E6F588}"/>
              </a:ext>
            </a:extLst>
          </p:cNvPr>
          <p:cNvSpPr/>
          <p:nvPr/>
        </p:nvSpPr>
        <p:spPr>
          <a:xfrm>
            <a:off x="344487" y="1964218"/>
            <a:ext cx="3927140" cy="200898"/>
          </a:xfrm>
          <a:prstGeom prst="homePlate">
            <a:avLst>
              <a:gd name="adj" fmla="val 24867"/>
            </a:avLst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ko-KR" altLang="en-US" sz="1000" b="1">
                <a:latin typeface="나눔스퀘어" panose="020B0600000101010101" pitchFamily="50" charset="-127"/>
                <a:ea typeface="나눔스퀘어" panose="020B0600000101010101" pitchFamily="50" charset="-127"/>
              </a:rPr>
              <a:t>공정 운전 데이터 수집 및 분석</a:t>
            </a:r>
            <a:endParaRPr lang="en-US" altLang="ko-KR" sz="1000" b="1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3" name="화살표: 오각형 12">
            <a:extLst>
              <a:ext uri="{FF2B5EF4-FFF2-40B4-BE49-F238E27FC236}">
                <a16:creationId xmlns:a16="http://schemas.microsoft.com/office/drawing/2014/main" id="{474F0DBA-C79C-93B2-4A97-4057F8E71500}"/>
              </a:ext>
            </a:extLst>
          </p:cNvPr>
          <p:cNvSpPr/>
          <p:nvPr/>
        </p:nvSpPr>
        <p:spPr>
          <a:xfrm>
            <a:off x="4312158" y="1964218"/>
            <a:ext cx="5249356" cy="200898"/>
          </a:xfrm>
          <a:prstGeom prst="homePlate">
            <a:avLst>
              <a:gd name="adj" fmla="val 24867"/>
            </a:avLst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ko-KR" altLang="en-US" sz="1000" b="1">
                <a:latin typeface="나눔스퀘어" panose="020B0600000101010101" pitchFamily="50" charset="-127"/>
                <a:ea typeface="나눔스퀘어" panose="020B0600000101010101" pitchFamily="50" charset="-127"/>
              </a:rPr>
              <a:t>최적 운전 조건 설정 및 운전 전략 수립</a:t>
            </a:r>
            <a:endParaRPr lang="en-US" altLang="ko-KR" sz="1000" b="1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92" name="사각형: 둥근 모서리 191">
            <a:extLst>
              <a:ext uri="{FF2B5EF4-FFF2-40B4-BE49-F238E27FC236}">
                <a16:creationId xmlns:a16="http://schemas.microsoft.com/office/drawing/2014/main" id="{3285E697-0038-A207-EB51-CB09AE0BE87C}"/>
              </a:ext>
            </a:extLst>
          </p:cNvPr>
          <p:cNvSpPr/>
          <p:nvPr/>
        </p:nvSpPr>
        <p:spPr>
          <a:xfrm>
            <a:off x="344486" y="3037455"/>
            <a:ext cx="1203185" cy="334800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데이터 수집 및 통합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95" name="사각형: 둥근 모서리 194">
            <a:extLst>
              <a:ext uri="{FF2B5EF4-FFF2-40B4-BE49-F238E27FC236}">
                <a16:creationId xmlns:a16="http://schemas.microsoft.com/office/drawing/2014/main" id="{90BC5F8B-0FA7-BD06-932D-3C365797CDF7}"/>
              </a:ext>
            </a:extLst>
          </p:cNvPr>
          <p:cNvSpPr/>
          <p:nvPr/>
        </p:nvSpPr>
        <p:spPr>
          <a:xfrm>
            <a:off x="344486" y="3470789"/>
            <a:ext cx="1203185" cy="334800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실시간 운전 상태 평가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98" name="사각형: 둥근 모서리 197">
            <a:extLst>
              <a:ext uri="{FF2B5EF4-FFF2-40B4-BE49-F238E27FC236}">
                <a16:creationId xmlns:a16="http://schemas.microsoft.com/office/drawing/2014/main" id="{E5A7441D-6025-2DF5-5BA9-870D05E569EF}"/>
              </a:ext>
            </a:extLst>
          </p:cNvPr>
          <p:cNvSpPr/>
          <p:nvPr/>
        </p:nvSpPr>
        <p:spPr>
          <a:xfrm>
            <a:off x="1667683" y="3037455"/>
            <a:ext cx="1203185" cy="334800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데이터 전처리 및 정렬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03" name="사각형: 둥근 모서리 202">
            <a:extLst>
              <a:ext uri="{FF2B5EF4-FFF2-40B4-BE49-F238E27FC236}">
                <a16:creationId xmlns:a16="http://schemas.microsoft.com/office/drawing/2014/main" id="{004D69BF-C813-2028-6E30-EBE881EE78D2}"/>
              </a:ext>
            </a:extLst>
          </p:cNvPr>
          <p:cNvSpPr/>
          <p:nvPr/>
        </p:nvSpPr>
        <p:spPr>
          <a:xfrm>
            <a:off x="2990880" y="3037455"/>
            <a:ext cx="1203185" cy="334800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자동 스크리닝</a:t>
            </a:r>
            <a:br>
              <a:rPr kumimoji="1" lang="en-US" altLang="ko-KR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</a:b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체계 구축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08" name="사각형: 둥근 모서리 207">
            <a:extLst>
              <a:ext uri="{FF2B5EF4-FFF2-40B4-BE49-F238E27FC236}">
                <a16:creationId xmlns:a16="http://schemas.microsoft.com/office/drawing/2014/main" id="{70CEF9CF-7615-D390-9AD9-4BFC3479658C}"/>
              </a:ext>
            </a:extLst>
          </p:cNvPr>
          <p:cNvSpPr/>
          <p:nvPr/>
        </p:nvSpPr>
        <p:spPr>
          <a:xfrm>
            <a:off x="4314077" y="3037455"/>
            <a:ext cx="1203185" cy="334800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시나리오 설정 및 실행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16" name="사각형: 둥근 모서리 215">
            <a:extLst>
              <a:ext uri="{FF2B5EF4-FFF2-40B4-BE49-F238E27FC236}">
                <a16:creationId xmlns:a16="http://schemas.microsoft.com/office/drawing/2014/main" id="{2DDC88BD-61A1-208E-4044-C681AD2CCBA3}"/>
              </a:ext>
            </a:extLst>
          </p:cNvPr>
          <p:cNvSpPr/>
          <p:nvPr/>
        </p:nvSpPr>
        <p:spPr>
          <a:xfrm>
            <a:off x="8283666" y="3037455"/>
            <a:ext cx="1203185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민감 공정 및 설비 식별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18" name="사각형: 둥근 모서리 217">
            <a:extLst>
              <a:ext uri="{FF2B5EF4-FFF2-40B4-BE49-F238E27FC236}">
                <a16:creationId xmlns:a16="http://schemas.microsoft.com/office/drawing/2014/main" id="{3AC5C584-4545-C16C-8053-3DE7884BA675}"/>
              </a:ext>
            </a:extLst>
          </p:cNvPr>
          <p:cNvSpPr/>
          <p:nvPr/>
        </p:nvSpPr>
        <p:spPr>
          <a:xfrm>
            <a:off x="8283666" y="3470789"/>
            <a:ext cx="1203185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대응 운전 매뉴얼 개발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5543C10C-06FA-B32C-7C1B-89C18D27E6A4}"/>
              </a:ext>
            </a:extLst>
          </p:cNvPr>
          <p:cNvSpPr/>
          <p:nvPr/>
        </p:nvSpPr>
        <p:spPr>
          <a:xfrm>
            <a:off x="5637272" y="3037455"/>
            <a:ext cx="1203185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운전 조건 조정을 통한 에너지 절감 방안 도출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94" name="화살표: 오각형 193">
            <a:extLst>
              <a:ext uri="{FF2B5EF4-FFF2-40B4-BE49-F238E27FC236}">
                <a16:creationId xmlns:a16="http://schemas.microsoft.com/office/drawing/2014/main" id="{912C76E3-4042-D977-EB08-9BF904C50C67}"/>
              </a:ext>
            </a:extLst>
          </p:cNvPr>
          <p:cNvSpPr/>
          <p:nvPr/>
        </p:nvSpPr>
        <p:spPr>
          <a:xfrm>
            <a:off x="344486" y="2194636"/>
            <a:ext cx="1280368" cy="347687"/>
          </a:xfrm>
          <a:prstGeom prst="homePlate">
            <a:avLst>
              <a:gd name="adj" fmla="val 24867"/>
            </a:avLst>
          </a:prstGeom>
          <a:solidFill>
            <a:schemeClr val="bg1">
              <a:lumMod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ko-KR" altLang="en-US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실시간 운전 현황 모니터링</a:t>
            </a:r>
          </a:p>
        </p:txBody>
      </p:sp>
      <p:sp>
        <p:nvSpPr>
          <p:cNvPr id="199" name="화살표: 오각형 198">
            <a:extLst>
              <a:ext uri="{FF2B5EF4-FFF2-40B4-BE49-F238E27FC236}">
                <a16:creationId xmlns:a16="http://schemas.microsoft.com/office/drawing/2014/main" id="{60D8BB6E-410B-6F2B-0426-D3E516292B62}"/>
              </a:ext>
            </a:extLst>
          </p:cNvPr>
          <p:cNvSpPr/>
          <p:nvPr/>
        </p:nvSpPr>
        <p:spPr>
          <a:xfrm>
            <a:off x="2990498" y="2195472"/>
            <a:ext cx="1281129" cy="347687"/>
          </a:xfrm>
          <a:prstGeom prst="homePlate">
            <a:avLst>
              <a:gd name="adj" fmla="val 24867"/>
            </a:avLst>
          </a:prstGeom>
          <a:solidFill>
            <a:schemeClr val="bg1">
              <a:lumMod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ko-KR" altLang="en-US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운전 변수 이상치 점검</a:t>
            </a:r>
            <a:br>
              <a:rPr lang="en-US" altLang="ko-KR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ko-KR" altLang="en-US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및 관리</a:t>
            </a:r>
          </a:p>
        </p:txBody>
      </p:sp>
      <p:sp>
        <p:nvSpPr>
          <p:cNvPr id="204" name="화살표: 오각형 203">
            <a:extLst>
              <a:ext uri="{FF2B5EF4-FFF2-40B4-BE49-F238E27FC236}">
                <a16:creationId xmlns:a16="http://schemas.microsoft.com/office/drawing/2014/main" id="{18C1F65C-C9E9-C875-15E6-05D5886A7324}"/>
              </a:ext>
            </a:extLst>
          </p:cNvPr>
          <p:cNvSpPr/>
          <p:nvPr/>
        </p:nvSpPr>
        <p:spPr>
          <a:xfrm>
            <a:off x="4312157" y="2196308"/>
            <a:ext cx="1281855" cy="347687"/>
          </a:xfrm>
          <a:prstGeom prst="homePlate">
            <a:avLst>
              <a:gd name="adj" fmla="val 24867"/>
            </a:avLst>
          </a:prstGeom>
          <a:solidFill>
            <a:schemeClr val="bg1">
              <a:lumMod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ko-KR" altLang="en-US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공정 시뮬레이션을 통한 최적 운전 조건 도출</a:t>
            </a:r>
          </a:p>
        </p:txBody>
      </p:sp>
      <p:sp>
        <p:nvSpPr>
          <p:cNvPr id="209" name="화살표: 오각형 208">
            <a:extLst>
              <a:ext uri="{FF2B5EF4-FFF2-40B4-BE49-F238E27FC236}">
                <a16:creationId xmlns:a16="http://schemas.microsoft.com/office/drawing/2014/main" id="{7BF168DA-0597-6983-3E1E-DB46867D6415}"/>
              </a:ext>
            </a:extLst>
          </p:cNvPr>
          <p:cNvSpPr/>
          <p:nvPr/>
        </p:nvSpPr>
        <p:spPr>
          <a:xfrm>
            <a:off x="5637273" y="2197144"/>
            <a:ext cx="1280368" cy="347687"/>
          </a:xfrm>
          <a:prstGeom prst="homePlate">
            <a:avLst>
              <a:gd name="adj" fmla="val 24867"/>
            </a:avLst>
          </a:prstGeom>
          <a:solidFill>
            <a:schemeClr val="bg1">
              <a:lumMod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ko-KR" altLang="en-US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에너지 효율화를 위한 운전 조건 최적화</a:t>
            </a:r>
          </a:p>
        </p:txBody>
      </p:sp>
      <p:sp>
        <p:nvSpPr>
          <p:cNvPr id="37" name="화살표: 오각형 36">
            <a:extLst>
              <a:ext uri="{FF2B5EF4-FFF2-40B4-BE49-F238E27FC236}">
                <a16:creationId xmlns:a16="http://schemas.microsoft.com/office/drawing/2014/main" id="{9D0ECE38-2C4C-E5B0-3651-D7FB65CF1028}"/>
              </a:ext>
            </a:extLst>
          </p:cNvPr>
          <p:cNvSpPr/>
          <p:nvPr/>
        </p:nvSpPr>
        <p:spPr>
          <a:xfrm>
            <a:off x="8279658" y="2207437"/>
            <a:ext cx="1281855" cy="347687"/>
          </a:xfrm>
          <a:prstGeom prst="homePlate">
            <a:avLst>
              <a:gd name="adj" fmla="val 24867"/>
            </a:avLst>
          </a:prstGeom>
          <a:solidFill>
            <a:schemeClr val="bg1">
              <a:lumMod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ko-KR" altLang="en-US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외부 영향</a:t>
            </a:r>
            <a:r>
              <a:rPr lang="en-US" altLang="ko-KR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계절</a:t>
            </a:r>
            <a:r>
              <a:rPr lang="en-US" altLang="ko-KR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 </a:t>
            </a:r>
            <a:r>
              <a:rPr lang="ko-KR" altLang="en-US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대응 최적 운전 조건 개발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95FE4E83-0DCB-76E1-8C60-17A5D7DF0B4A}"/>
              </a:ext>
            </a:extLst>
          </p:cNvPr>
          <p:cNvSpPr/>
          <p:nvPr/>
        </p:nvSpPr>
        <p:spPr>
          <a:xfrm>
            <a:off x="5637272" y="3470789"/>
            <a:ext cx="1203185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운전 변수 조정안 수립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91" name="사각형: 둥근 모서리 190">
            <a:extLst>
              <a:ext uri="{FF2B5EF4-FFF2-40B4-BE49-F238E27FC236}">
                <a16:creationId xmlns:a16="http://schemas.microsoft.com/office/drawing/2014/main" id="{F0031BB6-5874-7DAD-2276-45EF25A36DD9}"/>
              </a:ext>
            </a:extLst>
          </p:cNvPr>
          <p:cNvSpPr/>
          <p:nvPr/>
        </p:nvSpPr>
        <p:spPr>
          <a:xfrm>
            <a:off x="344486" y="2604121"/>
            <a:ext cx="1203802" cy="334800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모니터링 체계 구축</a:t>
            </a:r>
            <a:br>
              <a:rPr kumimoji="1" lang="en-US" altLang="ko-KR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</a:br>
            <a:r>
              <a:rPr kumimoji="1" lang="en-US" altLang="ko-KR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(</a:t>
            </a: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대시보드 등</a:t>
            </a:r>
            <a:r>
              <a:rPr kumimoji="1" lang="en-US" altLang="ko-KR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97" name="사각형: 둥근 모서리 196">
            <a:extLst>
              <a:ext uri="{FF2B5EF4-FFF2-40B4-BE49-F238E27FC236}">
                <a16:creationId xmlns:a16="http://schemas.microsoft.com/office/drawing/2014/main" id="{D716EF1C-0B4F-3E55-58B5-4309ECCC1791}"/>
              </a:ext>
            </a:extLst>
          </p:cNvPr>
          <p:cNvSpPr/>
          <p:nvPr/>
        </p:nvSpPr>
        <p:spPr>
          <a:xfrm>
            <a:off x="1667683" y="2604121"/>
            <a:ext cx="1203802" cy="334800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분석 대상 및 범위 설정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02" name="사각형: 둥근 모서리 201">
            <a:extLst>
              <a:ext uri="{FF2B5EF4-FFF2-40B4-BE49-F238E27FC236}">
                <a16:creationId xmlns:a16="http://schemas.microsoft.com/office/drawing/2014/main" id="{2EC38D15-C4E8-D846-60FB-912A402E23D6}"/>
              </a:ext>
            </a:extLst>
          </p:cNvPr>
          <p:cNvSpPr/>
          <p:nvPr/>
        </p:nvSpPr>
        <p:spPr>
          <a:xfrm>
            <a:off x="2990880" y="2604121"/>
            <a:ext cx="1203802" cy="334800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이상치 감지 기준 설정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07" name="사각형: 둥근 모서리 206">
            <a:extLst>
              <a:ext uri="{FF2B5EF4-FFF2-40B4-BE49-F238E27FC236}">
                <a16:creationId xmlns:a16="http://schemas.microsoft.com/office/drawing/2014/main" id="{50EB282B-C502-AFE5-A74E-33CEB0AC714B}"/>
              </a:ext>
            </a:extLst>
          </p:cNvPr>
          <p:cNvSpPr/>
          <p:nvPr/>
        </p:nvSpPr>
        <p:spPr>
          <a:xfrm>
            <a:off x="4314077" y="2604121"/>
            <a:ext cx="1203802" cy="334800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시뮬레이션 모델 개발</a:t>
            </a:r>
            <a:br>
              <a:rPr kumimoji="1" lang="en-US" altLang="ko-KR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</a:b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및 검증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15" name="사각형: 둥근 모서리 214">
            <a:extLst>
              <a:ext uri="{FF2B5EF4-FFF2-40B4-BE49-F238E27FC236}">
                <a16:creationId xmlns:a16="http://schemas.microsoft.com/office/drawing/2014/main" id="{C72B137F-5A5D-DE8D-280E-BE1221A19281}"/>
              </a:ext>
            </a:extLst>
          </p:cNvPr>
          <p:cNvSpPr/>
          <p:nvPr/>
        </p:nvSpPr>
        <p:spPr>
          <a:xfrm>
            <a:off x="8283666" y="2604121"/>
            <a:ext cx="1203802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외부요소 종류 및</a:t>
            </a:r>
            <a:b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</a:b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변동성 파악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2953580D-53A7-7CF1-5CFC-72FA477261E3}"/>
              </a:ext>
            </a:extLst>
          </p:cNvPr>
          <p:cNvSpPr/>
          <p:nvPr/>
        </p:nvSpPr>
        <p:spPr>
          <a:xfrm>
            <a:off x="5637273" y="2604121"/>
            <a:ext cx="1203802" cy="334800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에너지 소비 현황 분석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C3E1A556-7363-577D-F36A-BED61D9DF001}"/>
              </a:ext>
            </a:extLst>
          </p:cNvPr>
          <p:cNvSpPr/>
          <p:nvPr/>
        </p:nvSpPr>
        <p:spPr>
          <a:xfrm>
            <a:off x="6960470" y="2604121"/>
            <a:ext cx="1203802" cy="334800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설비별 부하 분포 확인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51F8E515-9FF6-2543-4259-EA05AB57300F}"/>
              </a:ext>
            </a:extLst>
          </p:cNvPr>
          <p:cNvSpPr/>
          <p:nvPr/>
        </p:nvSpPr>
        <p:spPr>
          <a:xfrm>
            <a:off x="6960469" y="3037455"/>
            <a:ext cx="1203185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설비 효율을 고려한 부하 배분 방안 설계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CF5C30F8-F7C1-4475-CDDE-62229D6B2863}"/>
              </a:ext>
            </a:extLst>
          </p:cNvPr>
          <p:cNvCxnSpPr>
            <a:cxnSpLocks/>
            <a:stCxn id="197" idx="2"/>
            <a:endCxn id="198" idx="0"/>
          </p:cNvCxnSpPr>
          <p:nvPr/>
        </p:nvCxnSpPr>
        <p:spPr>
          <a:xfrm flipH="1">
            <a:off x="2269276" y="2938921"/>
            <a:ext cx="308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9A78D948-6CDF-1B7A-1033-B81306F50D4C}"/>
              </a:ext>
            </a:extLst>
          </p:cNvPr>
          <p:cNvCxnSpPr>
            <a:cxnSpLocks/>
            <a:stCxn id="202" idx="2"/>
            <a:endCxn id="203" idx="0"/>
          </p:cNvCxnSpPr>
          <p:nvPr/>
        </p:nvCxnSpPr>
        <p:spPr>
          <a:xfrm flipH="1">
            <a:off x="3592473" y="2938921"/>
            <a:ext cx="308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직선 화살표 연결선 131">
            <a:extLst>
              <a:ext uri="{FF2B5EF4-FFF2-40B4-BE49-F238E27FC236}">
                <a16:creationId xmlns:a16="http://schemas.microsoft.com/office/drawing/2014/main" id="{519D67A6-9797-93CF-3512-C21930A1E2F2}"/>
              </a:ext>
            </a:extLst>
          </p:cNvPr>
          <p:cNvCxnSpPr>
            <a:cxnSpLocks/>
            <a:stCxn id="207" idx="2"/>
            <a:endCxn id="208" idx="0"/>
          </p:cNvCxnSpPr>
          <p:nvPr/>
        </p:nvCxnSpPr>
        <p:spPr>
          <a:xfrm flipH="1">
            <a:off x="4915670" y="2938921"/>
            <a:ext cx="308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직선 화살표 연결선 134">
            <a:extLst>
              <a:ext uri="{FF2B5EF4-FFF2-40B4-BE49-F238E27FC236}">
                <a16:creationId xmlns:a16="http://schemas.microsoft.com/office/drawing/2014/main" id="{9277A446-DEAF-8C57-0CA0-677062C41770}"/>
              </a:ext>
            </a:extLst>
          </p:cNvPr>
          <p:cNvCxnSpPr>
            <a:cxnSpLocks/>
            <a:stCxn id="35" idx="2"/>
            <a:endCxn id="36" idx="0"/>
          </p:cNvCxnSpPr>
          <p:nvPr/>
        </p:nvCxnSpPr>
        <p:spPr>
          <a:xfrm flipH="1">
            <a:off x="6238865" y="2938921"/>
            <a:ext cx="309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직선 화살표 연결선 137">
            <a:extLst>
              <a:ext uri="{FF2B5EF4-FFF2-40B4-BE49-F238E27FC236}">
                <a16:creationId xmlns:a16="http://schemas.microsoft.com/office/drawing/2014/main" id="{DF3032FB-C4BF-96F8-DC59-FD049DB2C21F}"/>
              </a:ext>
            </a:extLst>
          </p:cNvPr>
          <p:cNvCxnSpPr>
            <a:cxnSpLocks/>
            <a:stCxn id="36" idx="2"/>
            <a:endCxn id="38" idx="0"/>
          </p:cNvCxnSpPr>
          <p:nvPr/>
        </p:nvCxnSpPr>
        <p:spPr>
          <a:xfrm>
            <a:off x="6238865" y="3372255"/>
            <a:ext cx="0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직선 화살표 연결선 143">
            <a:extLst>
              <a:ext uri="{FF2B5EF4-FFF2-40B4-BE49-F238E27FC236}">
                <a16:creationId xmlns:a16="http://schemas.microsoft.com/office/drawing/2014/main" id="{4CD27662-1569-4B2F-2F69-9545337C7A79}"/>
              </a:ext>
            </a:extLst>
          </p:cNvPr>
          <p:cNvCxnSpPr>
            <a:cxnSpLocks/>
            <a:stCxn id="44" idx="2"/>
            <a:endCxn id="45" idx="0"/>
          </p:cNvCxnSpPr>
          <p:nvPr/>
        </p:nvCxnSpPr>
        <p:spPr>
          <a:xfrm flipH="1">
            <a:off x="7562062" y="2938921"/>
            <a:ext cx="309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직선 화살표 연결선 152">
            <a:extLst>
              <a:ext uri="{FF2B5EF4-FFF2-40B4-BE49-F238E27FC236}">
                <a16:creationId xmlns:a16="http://schemas.microsoft.com/office/drawing/2014/main" id="{DA1DC92C-7714-3F16-6A99-A3C437BB9387}"/>
              </a:ext>
            </a:extLst>
          </p:cNvPr>
          <p:cNvCxnSpPr>
            <a:cxnSpLocks/>
            <a:stCxn id="215" idx="2"/>
            <a:endCxn id="216" idx="0"/>
          </p:cNvCxnSpPr>
          <p:nvPr/>
        </p:nvCxnSpPr>
        <p:spPr>
          <a:xfrm flipH="1">
            <a:off x="8885258" y="2938921"/>
            <a:ext cx="309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직선 화살표 연결선 155">
            <a:extLst>
              <a:ext uri="{FF2B5EF4-FFF2-40B4-BE49-F238E27FC236}">
                <a16:creationId xmlns:a16="http://schemas.microsoft.com/office/drawing/2014/main" id="{AEB18B41-7B7F-EB40-67CB-34F5C2513940}"/>
              </a:ext>
            </a:extLst>
          </p:cNvPr>
          <p:cNvCxnSpPr>
            <a:cxnSpLocks/>
            <a:stCxn id="216" idx="2"/>
            <a:endCxn id="218" idx="0"/>
          </p:cNvCxnSpPr>
          <p:nvPr/>
        </p:nvCxnSpPr>
        <p:spPr>
          <a:xfrm>
            <a:off x="8885258" y="3372255"/>
            <a:ext cx="0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1338960B-B768-A43C-F23B-A000E1D04EFE}"/>
              </a:ext>
            </a:extLst>
          </p:cNvPr>
          <p:cNvCxnSpPr>
            <a:cxnSpLocks/>
          </p:cNvCxnSpPr>
          <p:nvPr/>
        </p:nvCxnSpPr>
        <p:spPr>
          <a:xfrm>
            <a:off x="344488" y="1768835"/>
            <a:ext cx="9221614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26874DB1-4BBB-2D89-38A7-041E0ADD8729}"/>
              </a:ext>
            </a:extLst>
          </p:cNvPr>
          <p:cNvSpPr/>
          <p:nvPr/>
        </p:nvSpPr>
        <p:spPr>
          <a:xfrm>
            <a:off x="4031571" y="1640841"/>
            <a:ext cx="1847448" cy="25598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rgbClr val="217C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To-Be </a:t>
            </a:r>
            <a:r>
              <a:rPr lang="ko-KR" altLang="en-US" sz="1200">
                <a:solidFill>
                  <a:schemeClr val="tx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업무 시나리오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F96DFBC-3121-4821-F7EA-DC6559127EBF}"/>
              </a:ext>
            </a:extLst>
          </p:cNvPr>
          <p:cNvSpPr/>
          <p:nvPr/>
        </p:nvSpPr>
        <p:spPr>
          <a:xfrm>
            <a:off x="344490" y="1547834"/>
            <a:ext cx="570257" cy="171734"/>
          </a:xfrm>
          <a:prstGeom prst="rect">
            <a:avLst/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1000" b="1">
                <a:latin typeface="나눔스퀘어" panose="020B0600000101010101" pitchFamily="50" charset="-127"/>
                <a:ea typeface="나눔스퀘어" panose="020B0600000101010101" pitchFamily="50" charset="-127"/>
              </a:rPr>
              <a:t>Process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B5F15FB-EBE2-73D4-814D-768256B03966}"/>
              </a:ext>
            </a:extLst>
          </p:cNvPr>
          <p:cNvSpPr/>
          <p:nvPr/>
        </p:nvSpPr>
        <p:spPr>
          <a:xfrm>
            <a:off x="955677" y="1547834"/>
            <a:ext cx="570257" cy="171734"/>
          </a:xfrm>
          <a:prstGeom prst="rect">
            <a:avLst/>
          </a:prstGeom>
          <a:solidFill>
            <a:schemeClr val="bg1">
              <a:lumMod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Activity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565B7BD8-4658-5259-43C8-906D6017B153}"/>
              </a:ext>
            </a:extLst>
          </p:cNvPr>
          <p:cNvSpPr/>
          <p:nvPr/>
        </p:nvSpPr>
        <p:spPr>
          <a:xfrm>
            <a:off x="8926185" y="1553252"/>
            <a:ext cx="635326" cy="160797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solidFill>
                  <a:schemeClr val="bg1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삭제 업무</a:t>
            </a:r>
            <a:endParaRPr kumimoji="1" lang="en-US" altLang="ko-KR" sz="900" kern="0">
              <a:solidFill>
                <a:schemeClr val="bg1">
                  <a:lumMod val="7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280265AF-EE6F-A626-A1FB-FF259FFCB448}"/>
              </a:ext>
            </a:extLst>
          </p:cNvPr>
          <p:cNvSpPr/>
          <p:nvPr/>
        </p:nvSpPr>
        <p:spPr>
          <a:xfrm>
            <a:off x="7552890" y="1553252"/>
            <a:ext cx="635326" cy="160797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AI/DT </a:t>
            </a: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신규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C3015EAC-0E91-B1D1-423A-10202CA2CFC6}"/>
              </a:ext>
            </a:extLst>
          </p:cNvPr>
          <p:cNvSpPr/>
          <p:nvPr/>
        </p:nvSpPr>
        <p:spPr>
          <a:xfrm>
            <a:off x="8239537" y="1553252"/>
            <a:ext cx="635326" cy="160797"/>
          </a:xfrm>
          <a:prstGeom prst="roundRect">
            <a:avLst/>
          </a:prstGeom>
          <a:pattFill prst="ltUpDiag">
            <a:fgClr>
              <a:srgbClr val="C4DCF2"/>
            </a:fgClr>
            <a:bgClr>
              <a:schemeClr val="bg1"/>
            </a:bgClr>
          </a:pattFill>
          <a:ln w="3175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Digital </a:t>
            </a: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기존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2A96E784-39F4-31A9-041C-8306C2564562}"/>
              </a:ext>
            </a:extLst>
          </p:cNvPr>
          <p:cNvSpPr/>
          <p:nvPr/>
        </p:nvSpPr>
        <p:spPr>
          <a:xfrm>
            <a:off x="1667683" y="3470789"/>
            <a:ext cx="1203185" cy="334800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장단기 추세 파악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76C12E61-875F-C40E-2A44-E5AA76E8F9C6}"/>
              </a:ext>
            </a:extLst>
          </p:cNvPr>
          <p:cNvCxnSpPr>
            <a:cxnSpLocks/>
            <a:stCxn id="198" idx="2"/>
            <a:endCxn id="21" idx="0"/>
          </p:cNvCxnSpPr>
          <p:nvPr/>
        </p:nvCxnSpPr>
        <p:spPr>
          <a:xfrm>
            <a:off x="2269276" y="3372255"/>
            <a:ext cx="0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직선 화살표 연결선 135">
            <a:extLst>
              <a:ext uri="{FF2B5EF4-FFF2-40B4-BE49-F238E27FC236}">
                <a16:creationId xmlns:a16="http://schemas.microsoft.com/office/drawing/2014/main" id="{013BEB75-24D0-C134-FA1B-5E2B10719BD7}"/>
              </a:ext>
            </a:extLst>
          </p:cNvPr>
          <p:cNvCxnSpPr>
            <a:cxnSpLocks/>
            <a:stCxn id="191" idx="2"/>
            <a:endCxn id="192" idx="0"/>
          </p:cNvCxnSpPr>
          <p:nvPr/>
        </p:nvCxnSpPr>
        <p:spPr>
          <a:xfrm flipH="1">
            <a:off x="946079" y="2938921"/>
            <a:ext cx="308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직선 화살표 연결선 139">
            <a:extLst>
              <a:ext uri="{FF2B5EF4-FFF2-40B4-BE49-F238E27FC236}">
                <a16:creationId xmlns:a16="http://schemas.microsoft.com/office/drawing/2014/main" id="{E9380C98-8099-F318-CBD7-66269D08C7DA}"/>
              </a:ext>
            </a:extLst>
          </p:cNvPr>
          <p:cNvCxnSpPr>
            <a:cxnSpLocks/>
            <a:stCxn id="192" idx="2"/>
            <a:endCxn id="195" idx="0"/>
          </p:cNvCxnSpPr>
          <p:nvPr/>
        </p:nvCxnSpPr>
        <p:spPr>
          <a:xfrm>
            <a:off x="946079" y="3372255"/>
            <a:ext cx="0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화살표: 오각형 1">
            <a:extLst>
              <a:ext uri="{FF2B5EF4-FFF2-40B4-BE49-F238E27FC236}">
                <a16:creationId xmlns:a16="http://schemas.microsoft.com/office/drawing/2014/main" id="{23F48BA6-2D61-7441-4A62-E105530DCA8E}"/>
              </a:ext>
            </a:extLst>
          </p:cNvPr>
          <p:cNvSpPr/>
          <p:nvPr/>
        </p:nvSpPr>
        <p:spPr>
          <a:xfrm>
            <a:off x="1662917" y="2194636"/>
            <a:ext cx="1280368" cy="347687"/>
          </a:xfrm>
          <a:prstGeom prst="homePlate">
            <a:avLst>
              <a:gd name="adj" fmla="val 24867"/>
            </a:avLst>
          </a:prstGeom>
          <a:solidFill>
            <a:schemeClr val="bg1">
              <a:lumMod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ko-KR" altLang="en-US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운전 데이터 추세 </a:t>
            </a:r>
            <a:br>
              <a:rPr lang="en-US" altLang="ko-KR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ko-KR" altLang="en-US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분석 및 편차 확인</a:t>
            </a:r>
          </a:p>
        </p:txBody>
      </p:sp>
      <p:sp>
        <p:nvSpPr>
          <p:cNvPr id="4" name="화살표: 오각형 3">
            <a:extLst>
              <a:ext uri="{FF2B5EF4-FFF2-40B4-BE49-F238E27FC236}">
                <a16:creationId xmlns:a16="http://schemas.microsoft.com/office/drawing/2014/main" id="{20B5E245-421F-BF65-BADB-AA8EDF2A9433}"/>
              </a:ext>
            </a:extLst>
          </p:cNvPr>
          <p:cNvSpPr/>
          <p:nvPr/>
        </p:nvSpPr>
        <p:spPr>
          <a:xfrm>
            <a:off x="6959169" y="2197144"/>
            <a:ext cx="1280368" cy="347687"/>
          </a:xfrm>
          <a:prstGeom prst="homePlate">
            <a:avLst>
              <a:gd name="adj" fmla="val 24867"/>
            </a:avLst>
          </a:prstGeom>
          <a:solidFill>
            <a:schemeClr val="bg1">
              <a:lumMod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ko-KR" altLang="en-US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설비 부하 분산을 위한 운전 패턴 분석 및 개선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EB9E5F63-BF73-F12E-0C2E-F7909DB578DD}"/>
              </a:ext>
            </a:extLst>
          </p:cNvPr>
          <p:cNvSpPr/>
          <p:nvPr/>
        </p:nvSpPr>
        <p:spPr>
          <a:xfrm>
            <a:off x="1672502" y="3913288"/>
            <a:ext cx="1198366" cy="334800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편차 식별 및 평가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8FE0DFF7-5374-4558-C3B9-F0FBFEF87978}"/>
              </a:ext>
            </a:extLst>
          </p:cNvPr>
          <p:cNvCxnSpPr>
            <a:cxnSpLocks/>
            <a:stCxn id="21" idx="2"/>
            <a:endCxn id="7" idx="0"/>
          </p:cNvCxnSpPr>
          <p:nvPr/>
        </p:nvCxnSpPr>
        <p:spPr>
          <a:xfrm>
            <a:off x="2269276" y="3805589"/>
            <a:ext cx="2409" cy="107699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BC25DCDF-A8D1-26BF-C584-5BA75A2A1A20}"/>
              </a:ext>
            </a:extLst>
          </p:cNvPr>
          <p:cNvSpPr/>
          <p:nvPr/>
        </p:nvSpPr>
        <p:spPr>
          <a:xfrm>
            <a:off x="2990880" y="3470789"/>
            <a:ext cx="1203185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이상치 상세 분석</a:t>
            </a:r>
            <a:b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</a:b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및</a:t>
            </a:r>
            <a: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결과 공유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F212E4B4-195E-C818-D1C6-50E706568F89}"/>
              </a:ext>
            </a:extLst>
          </p:cNvPr>
          <p:cNvCxnSpPr>
            <a:cxnSpLocks/>
            <a:stCxn id="203" idx="2"/>
            <a:endCxn id="17" idx="0"/>
          </p:cNvCxnSpPr>
          <p:nvPr/>
        </p:nvCxnSpPr>
        <p:spPr>
          <a:xfrm>
            <a:off x="3592473" y="3372255"/>
            <a:ext cx="0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B02787D6-E23A-2437-95A5-BE2DD1177D2B}"/>
              </a:ext>
            </a:extLst>
          </p:cNvPr>
          <p:cNvSpPr/>
          <p:nvPr/>
        </p:nvSpPr>
        <p:spPr>
          <a:xfrm>
            <a:off x="4314077" y="3470789"/>
            <a:ext cx="1203185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결과 분석 및 최적 운전 범위 결정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3B2C93A9-099B-7822-2798-BC83315C8604}"/>
              </a:ext>
            </a:extLst>
          </p:cNvPr>
          <p:cNvCxnSpPr>
            <a:cxnSpLocks/>
            <a:stCxn id="208" idx="2"/>
            <a:endCxn id="33" idx="0"/>
          </p:cNvCxnSpPr>
          <p:nvPr/>
        </p:nvCxnSpPr>
        <p:spPr>
          <a:xfrm>
            <a:off x="4915670" y="3372255"/>
            <a:ext cx="0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C47A57F8-E72E-D11E-F2CC-EAD79505F7DB}"/>
              </a:ext>
            </a:extLst>
          </p:cNvPr>
          <p:cNvSpPr/>
          <p:nvPr/>
        </p:nvSpPr>
        <p:spPr>
          <a:xfrm>
            <a:off x="6960469" y="3470789"/>
            <a:ext cx="1203185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세부 운전 방안 수립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214BB046-FAB4-D511-43F4-CA68A72A384F}"/>
              </a:ext>
            </a:extLst>
          </p:cNvPr>
          <p:cNvCxnSpPr>
            <a:cxnSpLocks/>
            <a:stCxn id="45" idx="2"/>
            <a:endCxn id="41" idx="0"/>
          </p:cNvCxnSpPr>
          <p:nvPr/>
        </p:nvCxnSpPr>
        <p:spPr>
          <a:xfrm>
            <a:off x="7562062" y="3372255"/>
            <a:ext cx="0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DC961DA-7C46-601B-E39E-BFA11951DDE9}"/>
              </a:ext>
            </a:extLst>
          </p:cNvPr>
          <p:cNvSpPr txBox="1"/>
          <p:nvPr/>
        </p:nvSpPr>
        <p:spPr>
          <a:xfrm>
            <a:off x="673770" y="5329768"/>
            <a:ext cx="3936732" cy="23166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72000" rIns="36000" rtlCol="0" anchor="ctr">
            <a:noAutofit/>
          </a:bodyPr>
          <a:lstStyle/>
          <a:p>
            <a:r>
              <a:rPr lang="ko-KR" altLang="en-US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필요 </a:t>
            </a:r>
            <a:r>
              <a:rPr lang="en-US" altLang="ko-KR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Data </a:t>
            </a:r>
            <a:r>
              <a:rPr lang="ko-KR" altLang="en-US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개별 검색 </a:t>
            </a:r>
            <a:r>
              <a:rPr lang="en-US" altLang="ko-KR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· </a:t>
            </a:r>
            <a:r>
              <a:rPr lang="ko-KR" altLang="en-US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확인 → 조건 부합 </a:t>
            </a:r>
            <a:r>
              <a:rPr lang="en-US" altLang="ko-KR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Monitoring </a:t>
            </a:r>
            <a:r>
              <a:rPr lang="ko-KR" altLang="en-US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대상 선정 </a:t>
            </a:r>
            <a:r>
              <a:rPr lang="en-US" altLang="ko-KR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· </a:t>
            </a:r>
            <a:r>
              <a:rPr lang="ko-KR" altLang="en-US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제공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01A4B7-FFC7-3F96-45BF-61DA5BC08447}"/>
              </a:ext>
            </a:extLst>
          </p:cNvPr>
          <p:cNvSpPr txBox="1"/>
          <p:nvPr/>
        </p:nvSpPr>
        <p:spPr>
          <a:xfrm>
            <a:off x="673770" y="5627020"/>
            <a:ext cx="3936732" cy="23166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72000" rIns="36000" rtlCol="0" anchor="ctr">
            <a:noAutofit/>
          </a:bodyPr>
          <a:lstStyle/>
          <a:p>
            <a:r>
              <a:rPr lang="ko-KR" altLang="en-US" sz="1000" spc="-5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과거 이력 검색</a:t>
            </a:r>
            <a:r>
              <a:rPr lang="en-US" altLang="ko-KR" sz="1000" spc="-5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spc="-5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경험 기반 분석 방안 수립 → </a:t>
            </a:r>
            <a:r>
              <a:rPr lang="en-US" altLang="ko-KR" sz="1000" spc="-5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DB</a:t>
            </a:r>
            <a:r>
              <a:rPr lang="ko-KR" altLang="en-US" sz="1000" spc="-5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화된 정보에서 분석 방안 제안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397C54-4043-3206-76E2-EB36C8E8F68E}"/>
              </a:ext>
            </a:extLst>
          </p:cNvPr>
          <p:cNvSpPr txBox="1"/>
          <p:nvPr/>
        </p:nvSpPr>
        <p:spPr>
          <a:xfrm>
            <a:off x="673770" y="5924273"/>
            <a:ext cx="3936732" cy="23166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72000" rIns="36000" rtlCol="0" anchor="ctr">
            <a:noAutofit/>
          </a:bodyPr>
          <a:lstStyle/>
          <a:p>
            <a:r>
              <a:rPr lang="ko-KR" altLang="en-US" sz="1000" spc="-9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역량 기반 시뮬레이션 수행</a:t>
            </a:r>
            <a:r>
              <a:rPr lang="en-US" altLang="ko-KR" sz="1000" spc="-9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1000" spc="-9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솔루션 활용 등</a:t>
            </a:r>
            <a:r>
              <a:rPr lang="en-US" altLang="ko-KR" sz="1000" spc="-9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r>
              <a:rPr lang="ko-KR" altLang="en-US" sz="1000" spc="-9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→ 공정별 최적 모델 구축 및 실시간 연동</a:t>
            </a:r>
            <a:endParaRPr lang="en-US" altLang="ko-KR" sz="1000" spc="-9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BD86D6-FCF1-2484-E337-C241183B6264}"/>
              </a:ext>
            </a:extLst>
          </p:cNvPr>
          <p:cNvSpPr txBox="1"/>
          <p:nvPr/>
        </p:nvSpPr>
        <p:spPr>
          <a:xfrm>
            <a:off x="7489234" y="5329768"/>
            <a:ext cx="2072281" cy="23166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72000" rIns="36000" rtlCol="0" anchor="ctr">
            <a:noAutofit/>
          </a:bodyPr>
          <a:lstStyle/>
          <a:p>
            <a:r>
              <a:rPr lang="ko-KR" altLang="en-US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주요 모니터링 </a:t>
            </a:r>
            <a:r>
              <a:rPr lang="en-US" altLang="ko-KR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Tag </a:t>
            </a:r>
            <a:r>
              <a:rPr lang="ko-KR" altLang="en-US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선별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2CDCB12-FA7E-8BDB-53A3-3ADD56091408}"/>
              </a:ext>
            </a:extLst>
          </p:cNvPr>
          <p:cNvSpPr txBox="1"/>
          <p:nvPr/>
        </p:nvSpPr>
        <p:spPr>
          <a:xfrm>
            <a:off x="7489234" y="5627020"/>
            <a:ext cx="2072281" cy="23166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72000" rIns="36000" rtlCol="0" anchor="ctr">
            <a:noAutofit/>
          </a:bodyPr>
          <a:lstStyle/>
          <a:p>
            <a:r>
              <a:rPr lang="ko-KR" altLang="en-US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공정 분석 결과 </a:t>
            </a:r>
            <a:r>
              <a:rPr lang="en-US" altLang="ko-KR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DB</a:t>
            </a:r>
            <a:r>
              <a:rPr lang="ko-KR" altLang="en-US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화 대상 확대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17EEDB2-820A-71A2-D51D-1FF0D8E60E61}"/>
              </a:ext>
            </a:extLst>
          </p:cNvPr>
          <p:cNvSpPr txBox="1"/>
          <p:nvPr/>
        </p:nvSpPr>
        <p:spPr>
          <a:xfrm>
            <a:off x="7647984" y="5956404"/>
            <a:ext cx="2072281" cy="23166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72000" rIns="36000" rtlCol="0" anchor="ctr">
            <a:noAutofit/>
          </a:bodyPr>
          <a:lstStyle/>
          <a:p>
            <a:r>
              <a:rPr lang="en-US" altLang="ko-KR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N/A</a:t>
            </a:r>
            <a:endParaRPr lang="ko-KR" altLang="en-US" sz="100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6A99F59-AAD5-25BF-E17E-497FCF0047B2}"/>
              </a:ext>
            </a:extLst>
          </p:cNvPr>
          <p:cNvSpPr txBox="1"/>
          <p:nvPr/>
        </p:nvSpPr>
        <p:spPr>
          <a:xfrm>
            <a:off x="344486" y="5329768"/>
            <a:ext cx="216000" cy="216000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5699700-5830-52CF-2D75-A53B0EFF3B37}"/>
              </a:ext>
            </a:extLst>
          </p:cNvPr>
          <p:cNvSpPr txBox="1"/>
          <p:nvPr/>
        </p:nvSpPr>
        <p:spPr>
          <a:xfrm>
            <a:off x="344486" y="5627020"/>
            <a:ext cx="216000" cy="216000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7ECA661-7ED0-DA72-7934-C9E2C0225F10}"/>
              </a:ext>
            </a:extLst>
          </p:cNvPr>
          <p:cNvSpPr txBox="1"/>
          <p:nvPr/>
        </p:nvSpPr>
        <p:spPr>
          <a:xfrm>
            <a:off x="344486" y="5924273"/>
            <a:ext cx="216000" cy="216000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3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31CAF89-ECF5-E3BC-7F23-BE397C5142CE}"/>
              </a:ext>
            </a:extLst>
          </p:cNvPr>
          <p:cNvSpPr txBox="1"/>
          <p:nvPr/>
        </p:nvSpPr>
        <p:spPr>
          <a:xfrm>
            <a:off x="4710767" y="5329768"/>
            <a:ext cx="2678203" cy="23166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72000" rIns="36000" rtlCol="0" anchor="ctr">
            <a:noAutofit/>
          </a:bodyPr>
          <a:lstStyle/>
          <a:p>
            <a:r>
              <a:rPr lang="ko-KR" altLang="en-US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공정</a:t>
            </a:r>
            <a:r>
              <a:rPr lang="en-US" altLang="ko-KR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Data Smart Monitoring(</a:t>
            </a:r>
            <a:r>
              <a:rPr lang="ko-KR" altLang="en-US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생산</a:t>
            </a:r>
            <a:r>
              <a:rPr lang="en-US" altLang="ko-KR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endParaRPr lang="ko-KR" altLang="en-US" sz="100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8D7DA55-99FF-DC20-0A9D-0D9D7D6DCB8F}"/>
              </a:ext>
            </a:extLst>
          </p:cNvPr>
          <p:cNvSpPr txBox="1"/>
          <p:nvPr/>
        </p:nvSpPr>
        <p:spPr>
          <a:xfrm>
            <a:off x="4710767" y="5627020"/>
            <a:ext cx="2678203" cy="23166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72000" rIns="36000" rtlCol="0" anchor="ctr">
            <a:noAutofit/>
          </a:bodyPr>
          <a:lstStyle>
            <a:defPPr>
              <a:defRPr lang="en-US"/>
            </a:defPPr>
            <a:lvl1pPr>
              <a:defRPr sz="1000"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r>
              <a:rPr lang="en-US" altLang="ko-KR"/>
              <a:t>Engineer </a:t>
            </a:r>
            <a:r>
              <a:rPr lang="ko-KR" altLang="en-US"/>
              <a:t>공정 분석 </a:t>
            </a:r>
            <a:r>
              <a:rPr lang="en-US" altLang="ko-KR"/>
              <a:t>AI</a:t>
            </a:r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B74FBDD-A439-C041-6694-6C9BC78173A5}"/>
              </a:ext>
            </a:extLst>
          </p:cNvPr>
          <p:cNvSpPr txBox="1"/>
          <p:nvPr/>
        </p:nvSpPr>
        <p:spPr>
          <a:xfrm>
            <a:off x="4710767" y="5924273"/>
            <a:ext cx="2678203" cy="23166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72000" rIns="36000" rtlCol="0" anchor="ctr">
            <a:noAutofit/>
          </a:bodyPr>
          <a:lstStyle/>
          <a:p>
            <a:r>
              <a:rPr lang="ko-KR" altLang="en-US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공정 최적화 모델 개발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144864D6-B8B7-50F5-8AAC-16D5A639C0B6}"/>
              </a:ext>
            </a:extLst>
          </p:cNvPr>
          <p:cNvSpPr/>
          <p:nvPr/>
        </p:nvSpPr>
        <p:spPr>
          <a:xfrm>
            <a:off x="6954839" y="5361899"/>
            <a:ext cx="386006" cy="167400"/>
          </a:xfrm>
          <a:prstGeom prst="roundRect">
            <a:avLst>
              <a:gd name="adj" fmla="val 18018"/>
            </a:avLst>
          </a:prstGeom>
          <a:solidFill>
            <a:schemeClr val="bg1">
              <a:lumMod val="50000"/>
            </a:schemeClr>
          </a:solidFill>
          <a:ln w="3175">
            <a:noFill/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자동화</a:t>
            </a:r>
            <a:endParaRPr kumimoji="1" lang="en-US" altLang="ko-KR" sz="900" ker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AAEB72AB-0122-0205-CC9D-CB1E12EB1F02}"/>
              </a:ext>
            </a:extLst>
          </p:cNvPr>
          <p:cNvSpPr/>
          <p:nvPr/>
        </p:nvSpPr>
        <p:spPr>
          <a:xfrm>
            <a:off x="6954839" y="5659151"/>
            <a:ext cx="386006" cy="167400"/>
          </a:xfrm>
          <a:prstGeom prst="roundRect">
            <a:avLst>
              <a:gd name="adj" fmla="val 18018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noFill/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지능화</a:t>
            </a:r>
            <a:endParaRPr kumimoji="1" lang="en-US" altLang="ko-KR" sz="900" ker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77113FD3-74D0-1681-F8C1-69D473762F1C}"/>
              </a:ext>
            </a:extLst>
          </p:cNvPr>
          <p:cNvSpPr/>
          <p:nvPr/>
        </p:nvSpPr>
        <p:spPr>
          <a:xfrm>
            <a:off x="6954839" y="5956404"/>
            <a:ext cx="386006" cy="167400"/>
          </a:xfrm>
          <a:prstGeom prst="roundRect">
            <a:avLst>
              <a:gd name="adj" fmla="val 18018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noFill/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지능화</a:t>
            </a:r>
            <a:endParaRPr kumimoji="1" lang="en-US" altLang="ko-KR" sz="900" ker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3ECC919-2E63-5AE2-94A2-0FB0BA2C3163}"/>
              </a:ext>
            </a:extLst>
          </p:cNvPr>
          <p:cNvSpPr txBox="1"/>
          <p:nvPr/>
        </p:nvSpPr>
        <p:spPr>
          <a:xfrm>
            <a:off x="270722" y="3138745"/>
            <a:ext cx="147532" cy="147532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F33FE8F-D9B0-D5D5-A362-26368067C54B}"/>
              </a:ext>
            </a:extLst>
          </p:cNvPr>
          <p:cNvSpPr txBox="1"/>
          <p:nvPr/>
        </p:nvSpPr>
        <p:spPr>
          <a:xfrm>
            <a:off x="270722" y="3570215"/>
            <a:ext cx="147532" cy="147532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31E6B4E-E320-BE6D-600F-06C2263785B4}"/>
              </a:ext>
            </a:extLst>
          </p:cNvPr>
          <p:cNvSpPr txBox="1"/>
          <p:nvPr/>
        </p:nvSpPr>
        <p:spPr>
          <a:xfrm>
            <a:off x="270722" y="2697755"/>
            <a:ext cx="147532" cy="147532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EE906B94-FFA6-2BA3-101F-793F01799E21}"/>
              </a:ext>
            </a:extLst>
          </p:cNvPr>
          <p:cNvSpPr txBox="1"/>
          <p:nvPr/>
        </p:nvSpPr>
        <p:spPr>
          <a:xfrm>
            <a:off x="1598736" y="3138745"/>
            <a:ext cx="147532" cy="147532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6772AE98-4426-3B0B-19A1-E57A816EB507}"/>
              </a:ext>
            </a:extLst>
          </p:cNvPr>
          <p:cNvSpPr txBox="1"/>
          <p:nvPr/>
        </p:nvSpPr>
        <p:spPr>
          <a:xfrm>
            <a:off x="1598736" y="3570215"/>
            <a:ext cx="147532" cy="147532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8E5B16D0-FE49-585D-2C7E-246FECBA9C6F}"/>
              </a:ext>
            </a:extLst>
          </p:cNvPr>
          <p:cNvSpPr txBox="1"/>
          <p:nvPr/>
        </p:nvSpPr>
        <p:spPr>
          <a:xfrm>
            <a:off x="1598736" y="2697755"/>
            <a:ext cx="147532" cy="147532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07E409F2-26FB-E394-CA59-ED9275CEB2FB}"/>
              </a:ext>
            </a:extLst>
          </p:cNvPr>
          <p:cNvSpPr txBox="1"/>
          <p:nvPr/>
        </p:nvSpPr>
        <p:spPr>
          <a:xfrm>
            <a:off x="1598736" y="4006922"/>
            <a:ext cx="147532" cy="147532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22ACD128-E7F9-1D18-8D01-E750A8273B46}"/>
              </a:ext>
            </a:extLst>
          </p:cNvPr>
          <p:cNvSpPr txBox="1"/>
          <p:nvPr/>
        </p:nvSpPr>
        <p:spPr>
          <a:xfrm>
            <a:off x="2916732" y="2697755"/>
            <a:ext cx="147532" cy="147532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4D659BC3-2C70-9BAB-1E39-E8BD81424F10}"/>
              </a:ext>
            </a:extLst>
          </p:cNvPr>
          <p:cNvSpPr txBox="1"/>
          <p:nvPr/>
        </p:nvSpPr>
        <p:spPr>
          <a:xfrm>
            <a:off x="2916732" y="3138745"/>
            <a:ext cx="147532" cy="147532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51BD3267-A8F3-337C-1BC3-9967932565F8}"/>
              </a:ext>
            </a:extLst>
          </p:cNvPr>
          <p:cNvSpPr txBox="1"/>
          <p:nvPr/>
        </p:nvSpPr>
        <p:spPr>
          <a:xfrm>
            <a:off x="4238391" y="2697755"/>
            <a:ext cx="147532" cy="147532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3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8A951ECD-5ECB-0F1B-8B52-ED8D4D27804B}"/>
              </a:ext>
            </a:extLst>
          </p:cNvPr>
          <p:cNvSpPr txBox="1"/>
          <p:nvPr/>
        </p:nvSpPr>
        <p:spPr>
          <a:xfrm>
            <a:off x="4238391" y="3138745"/>
            <a:ext cx="147532" cy="147532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3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1CAE19C4-A50C-6C5C-059D-10693C884CDF}"/>
              </a:ext>
            </a:extLst>
          </p:cNvPr>
          <p:cNvSpPr txBox="1"/>
          <p:nvPr/>
        </p:nvSpPr>
        <p:spPr>
          <a:xfrm>
            <a:off x="5563506" y="2697755"/>
            <a:ext cx="147532" cy="147532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E61505E8-178D-6503-4FFA-BAF9B253495E}"/>
              </a:ext>
            </a:extLst>
          </p:cNvPr>
          <p:cNvSpPr txBox="1"/>
          <p:nvPr/>
        </p:nvSpPr>
        <p:spPr>
          <a:xfrm>
            <a:off x="6881073" y="2697755"/>
            <a:ext cx="147532" cy="147532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823942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6E5E8-E918-3C5C-40E1-A9DA973CF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FF775C3-7B24-A92B-585E-C5DDA41B8C2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4487" y="254884"/>
            <a:ext cx="4940776" cy="343235"/>
          </a:xfrm>
          <a:solidFill>
            <a:schemeClr val="bg1"/>
          </a:solidFill>
        </p:spPr>
        <p:txBody>
          <a:bodyPr wrap="none" anchor="ctr">
            <a:spAutoFit/>
          </a:bodyPr>
          <a:lstStyle/>
          <a:p>
            <a:r>
              <a:rPr lang="en-US" altLang="ko-KR" b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Appendix. [</a:t>
            </a:r>
            <a:r>
              <a:rPr lang="ko-KR" altLang="en-US" b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생산기술</a:t>
            </a:r>
            <a:r>
              <a:rPr lang="en-US" altLang="ko-KR" b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] </a:t>
            </a:r>
            <a:r>
              <a:rPr lang="ko-KR" altLang="en-US" b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공정 최적화 및 개선 </a:t>
            </a:r>
            <a:r>
              <a:rPr lang="en-US" altLang="ko-KR" b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(2/3)</a:t>
            </a:r>
          </a:p>
        </p:txBody>
      </p:sp>
      <p:sp>
        <p:nvSpPr>
          <p:cNvPr id="171" name="사각형: 둥근 모서리 170">
            <a:extLst>
              <a:ext uri="{FF2B5EF4-FFF2-40B4-BE49-F238E27FC236}">
                <a16:creationId xmlns:a16="http://schemas.microsoft.com/office/drawing/2014/main" id="{DC97946C-AC37-5E8C-49EB-BB87E1086FF1}"/>
              </a:ext>
            </a:extLst>
          </p:cNvPr>
          <p:cNvSpPr/>
          <p:nvPr/>
        </p:nvSpPr>
        <p:spPr>
          <a:xfrm>
            <a:off x="344488" y="721134"/>
            <a:ext cx="941772" cy="763179"/>
          </a:xfrm>
          <a:prstGeom prst="roundRect">
            <a:avLst>
              <a:gd name="adj" fmla="val 0"/>
            </a:avLst>
          </a:prstGeom>
          <a:solidFill>
            <a:srgbClr val="217CFA"/>
          </a:solidFill>
          <a:ln w="6350">
            <a:solidFill>
              <a:srgbClr val="217C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Digital</a:t>
            </a:r>
            <a:r>
              <a:rPr lang="ko-KR" altLang="en-US" sz="130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화 지향점</a:t>
            </a:r>
          </a:p>
        </p:txBody>
      </p: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FBEB6D2F-2F73-94FB-AD3A-FCAEEFB3FCEF}"/>
              </a:ext>
            </a:extLst>
          </p:cNvPr>
          <p:cNvCxnSpPr>
            <a:cxnSpLocks/>
          </p:cNvCxnSpPr>
          <p:nvPr/>
        </p:nvCxnSpPr>
        <p:spPr>
          <a:xfrm>
            <a:off x="344488" y="4859066"/>
            <a:ext cx="9221614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" name="사각형: 둥근 모서리 173">
            <a:extLst>
              <a:ext uri="{FF2B5EF4-FFF2-40B4-BE49-F238E27FC236}">
                <a16:creationId xmlns:a16="http://schemas.microsoft.com/office/drawing/2014/main" id="{5720BBA1-324C-B9D7-139E-A3083B4AB32F}"/>
              </a:ext>
            </a:extLst>
          </p:cNvPr>
          <p:cNvSpPr/>
          <p:nvPr/>
        </p:nvSpPr>
        <p:spPr>
          <a:xfrm>
            <a:off x="4031571" y="4731072"/>
            <a:ext cx="1847448" cy="25598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rgbClr val="217C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주요</a:t>
            </a:r>
            <a:r>
              <a:rPr lang="en-US" altLang="ko-KR" sz="1200">
                <a:solidFill>
                  <a:schemeClr val="tx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ko-KR" altLang="en-US" sz="1200">
                <a:solidFill>
                  <a:schemeClr val="tx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추진 사항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7DCFE72E-AB3E-39C1-1E86-7E49E583E127}"/>
              </a:ext>
            </a:extLst>
          </p:cNvPr>
          <p:cNvSpPr txBox="1"/>
          <p:nvPr/>
        </p:nvSpPr>
        <p:spPr>
          <a:xfrm>
            <a:off x="673770" y="5073302"/>
            <a:ext cx="3936732" cy="200435"/>
          </a:xfrm>
          <a:prstGeom prst="rect">
            <a:avLst/>
          </a:prstGeom>
          <a:noFill/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ko-KR" altLang="en-US" sz="1100" u="sng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변화 </a:t>
            </a:r>
            <a:r>
              <a:rPr lang="en-US" altLang="ko-KR" sz="1100" u="sng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Point</a:t>
            </a:r>
            <a:endParaRPr lang="ko-KR" altLang="en-US" sz="1100" u="sng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AB19F8F4-D195-3394-3297-E63DA52FE1E6}"/>
              </a:ext>
            </a:extLst>
          </p:cNvPr>
          <p:cNvSpPr txBox="1"/>
          <p:nvPr/>
        </p:nvSpPr>
        <p:spPr>
          <a:xfrm>
            <a:off x="7489234" y="5073302"/>
            <a:ext cx="2072281" cy="200435"/>
          </a:xfrm>
          <a:prstGeom prst="rect">
            <a:avLst/>
          </a:prstGeom>
          <a:noFill/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ko-KR" altLang="en-US" sz="1100" u="sng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업무 개선 사항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C119800E-AE51-E58C-3156-379BD3AB704B}"/>
              </a:ext>
            </a:extLst>
          </p:cNvPr>
          <p:cNvSpPr txBox="1"/>
          <p:nvPr/>
        </p:nvSpPr>
        <p:spPr>
          <a:xfrm>
            <a:off x="4710767" y="5073302"/>
            <a:ext cx="2678203" cy="200435"/>
          </a:xfrm>
          <a:prstGeom prst="rect">
            <a:avLst/>
          </a:prstGeom>
          <a:noFill/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100" u="sng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Digital</a:t>
            </a:r>
            <a:r>
              <a:rPr lang="ko-KR" altLang="en-US" sz="1100" u="sng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화 기회</a:t>
            </a:r>
          </a:p>
        </p:txBody>
      </p:sp>
      <p:sp>
        <p:nvSpPr>
          <p:cNvPr id="55" name="화살표: 오각형 54">
            <a:extLst>
              <a:ext uri="{FF2B5EF4-FFF2-40B4-BE49-F238E27FC236}">
                <a16:creationId xmlns:a16="http://schemas.microsoft.com/office/drawing/2014/main" id="{13688237-FA52-E523-3D17-BDBB12C64F8B}"/>
              </a:ext>
            </a:extLst>
          </p:cNvPr>
          <p:cNvSpPr/>
          <p:nvPr/>
        </p:nvSpPr>
        <p:spPr>
          <a:xfrm>
            <a:off x="4953002" y="1964218"/>
            <a:ext cx="4608513" cy="200898"/>
          </a:xfrm>
          <a:prstGeom prst="homePlate">
            <a:avLst>
              <a:gd name="adj" fmla="val 24867"/>
            </a:avLst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ko-KR" altLang="en-US" sz="1000" b="1">
                <a:latin typeface="나눔스퀘어" panose="020B0600000101010101" pitchFamily="50" charset="-127"/>
                <a:ea typeface="나눔스퀘어" panose="020B0600000101010101" pitchFamily="50" charset="-127"/>
              </a:rPr>
              <a:t>생산성 향상 기술 검토 및 도입</a:t>
            </a:r>
            <a:endParaRPr lang="en-US" altLang="ko-KR" sz="1000" b="1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84CEE469-8852-6468-DF7A-BFADEC910B61}"/>
              </a:ext>
            </a:extLst>
          </p:cNvPr>
          <p:cNvCxnSpPr>
            <a:cxnSpLocks/>
          </p:cNvCxnSpPr>
          <p:nvPr/>
        </p:nvCxnSpPr>
        <p:spPr>
          <a:xfrm>
            <a:off x="344488" y="1768835"/>
            <a:ext cx="9221614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F1B4F5F8-BC5A-FEEA-AE3E-8BAB2D457724}"/>
              </a:ext>
            </a:extLst>
          </p:cNvPr>
          <p:cNvSpPr/>
          <p:nvPr/>
        </p:nvSpPr>
        <p:spPr>
          <a:xfrm>
            <a:off x="4031571" y="1640841"/>
            <a:ext cx="1847448" cy="25598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rgbClr val="217C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To-Be </a:t>
            </a:r>
            <a:r>
              <a:rPr lang="ko-KR" altLang="en-US" sz="1200">
                <a:solidFill>
                  <a:schemeClr val="tx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업무 시나리오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29C68E3D-EAAF-7A6D-858A-D12C4C8B3813}"/>
              </a:ext>
            </a:extLst>
          </p:cNvPr>
          <p:cNvSpPr/>
          <p:nvPr/>
        </p:nvSpPr>
        <p:spPr>
          <a:xfrm>
            <a:off x="344490" y="1547834"/>
            <a:ext cx="570257" cy="171734"/>
          </a:xfrm>
          <a:prstGeom prst="rect">
            <a:avLst/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1000" b="1">
                <a:latin typeface="나눔스퀘어" panose="020B0600000101010101" pitchFamily="50" charset="-127"/>
                <a:ea typeface="나눔스퀘어" panose="020B0600000101010101" pitchFamily="50" charset="-127"/>
              </a:rPr>
              <a:t>Process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60151C79-C9EB-93F5-EE06-A306699D1B5B}"/>
              </a:ext>
            </a:extLst>
          </p:cNvPr>
          <p:cNvSpPr/>
          <p:nvPr/>
        </p:nvSpPr>
        <p:spPr>
          <a:xfrm>
            <a:off x="955677" y="1547834"/>
            <a:ext cx="570257" cy="171734"/>
          </a:xfrm>
          <a:prstGeom prst="rect">
            <a:avLst/>
          </a:prstGeom>
          <a:solidFill>
            <a:schemeClr val="bg1">
              <a:lumMod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Activity</a:t>
            </a:r>
          </a:p>
        </p:txBody>
      </p:sp>
      <p:sp>
        <p:nvSpPr>
          <p:cNvPr id="136" name="화살표: 오각형 135">
            <a:extLst>
              <a:ext uri="{FF2B5EF4-FFF2-40B4-BE49-F238E27FC236}">
                <a16:creationId xmlns:a16="http://schemas.microsoft.com/office/drawing/2014/main" id="{CDF4C9A9-FA21-36A3-4148-1318156E4FD7}"/>
              </a:ext>
            </a:extLst>
          </p:cNvPr>
          <p:cNvSpPr/>
          <p:nvPr/>
        </p:nvSpPr>
        <p:spPr>
          <a:xfrm>
            <a:off x="345637" y="1970010"/>
            <a:ext cx="4560525" cy="200898"/>
          </a:xfrm>
          <a:prstGeom prst="homePlate">
            <a:avLst>
              <a:gd name="adj" fmla="val 24867"/>
            </a:avLst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ko-KR" altLang="en-US" sz="1000" b="1">
                <a:latin typeface="나눔스퀘어" panose="020B0600000101010101" pitchFamily="50" charset="-127"/>
                <a:ea typeface="나눔스퀘어" panose="020B0600000101010101" pitchFamily="50" charset="-127"/>
              </a:rPr>
              <a:t>공정 개선 과제 도출 및 적용</a:t>
            </a:r>
            <a:endParaRPr lang="en-US" altLang="ko-KR" sz="1000" b="1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1E110786-EC8B-4881-284D-04D497F196E3}"/>
              </a:ext>
            </a:extLst>
          </p:cNvPr>
          <p:cNvSpPr/>
          <p:nvPr/>
        </p:nvSpPr>
        <p:spPr>
          <a:xfrm>
            <a:off x="8926185" y="1553252"/>
            <a:ext cx="635326" cy="160797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solidFill>
                  <a:schemeClr val="bg1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삭제 업무</a:t>
            </a:r>
            <a:endParaRPr kumimoji="1" lang="en-US" altLang="ko-KR" sz="900" kern="0">
              <a:solidFill>
                <a:schemeClr val="bg1">
                  <a:lumMod val="7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481BCB3-E1C0-4C24-FC44-DA7681BA5592}"/>
              </a:ext>
            </a:extLst>
          </p:cNvPr>
          <p:cNvSpPr/>
          <p:nvPr/>
        </p:nvSpPr>
        <p:spPr>
          <a:xfrm>
            <a:off x="7552890" y="1553252"/>
            <a:ext cx="635326" cy="160797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AI/DT </a:t>
            </a: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신규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C2ED9FCB-B2D3-D44F-A80A-E4E9A418391A}"/>
              </a:ext>
            </a:extLst>
          </p:cNvPr>
          <p:cNvSpPr/>
          <p:nvPr/>
        </p:nvSpPr>
        <p:spPr>
          <a:xfrm>
            <a:off x="8239537" y="1553252"/>
            <a:ext cx="635326" cy="160797"/>
          </a:xfrm>
          <a:prstGeom prst="roundRect">
            <a:avLst/>
          </a:prstGeom>
          <a:pattFill prst="ltUpDiag">
            <a:fgClr>
              <a:srgbClr val="C4DCF2"/>
            </a:fgClr>
            <a:bgClr>
              <a:schemeClr val="bg1"/>
            </a:bgClr>
          </a:pattFill>
          <a:ln w="3175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Digital </a:t>
            </a: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기존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93" name="사각형: 둥근 모서리 192">
            <a:extLst>
              <a:ext uri="{FF2B5EF4-FFF2-40B4-BE49-F238E27FC236}">
                <a16:creationId xmlns:a16="http://schemas.microsoft.com/office/drawing/2014/main" id="{68EE270E-DA5E-9018-BAB8-35352B75ED5F}"/>
              </a:ext>
            </a:extLst>
          </p:cNvPr>
          <p:cNvSpPr/>
          <p:nvPr/>
        </p:nvSpPr>
        <p:spPr>
          <a:xfrm>
            <a:off x="4953001" y="3037455"/>
            <a:ext cx="1056043" cy="334800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최신 기술 정보</a:t>
            </a:r>
            <a:br>
              <a:rPr kumimoji="1" lang="en-US" altLang="ko-KR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</a:b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수집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96" name="사각형: 둥근 모서리 195">
            <a:extLst>
              <a:ext uri="{FF2B5EF4-FFF2-40B4-BE49-F238E27FC236}">
                <a16:creationId xmlns:a16="http://schemas.microsoft.com/office/drawing/2014/main" id="{216870E7-A5DF-EEEA-5B51-ED4D2486544E}"/>
              </a:ext>
            </a:extLst>
          </p:cNvPr>
          <p:cNvSpPr/>
          <p:nvPr/>
        </p:nvSpPr>
        <p:spPr>
          <a:xfrm>
            <a:off x="4953001" y="3470789"/>
            <a:ext cx="1056043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기술 평가 및 후보 기술 선정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01" name="사각형: 둥근 모서리 200">
            <a:extLst>
              <a:ext uri="{FF2B5EF4-FFF2-40B4-BE49-F238E27FC236}">
                <a16:creationId xmlns:a16="http://schemas.microsoft.com/office/drawing/2014/main" id="{BD2DCC76-F61A-3F40-6ED7-244F211B674A}"/>
              </a:ext>
            </a:extLst>
          </p:cNvPr>
          <p:cNvSpPr/>
          <p:nvPr/>
        </p:nvSpPr>
        <p:spPr>
          <a:xfrm>
            <a:off x="6114378" y="3037455"/>
            <a:ext cx="1056043" cy="334800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상세 엔지니어링</a:t>
            </a:r>
            <a:br>
              <a:rPr kumimoji="1" lang="en-US" altLang="ko-KR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</a:b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검토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05" name="사각형: 둥근 모서리 204">
            <a:extLst>
              <a:ext uri="{FF2B5EF4-FFF2-40B4-BE49-F238E27FC236}">
                <a16:creationId xmlns:a16="http://schemas.microsoft.com/office/drawing/2014/main" id="{21283F94-DAEA-75D6-2A7E-8446B60A3F00}"/>
              </a:ext>
            </a:extLst>
          </p:cNvPr>
          <p:cNvSpPr/>
          <p:nvPr/>
        </p:nvSpPr>
        <p:spPr>
          <a:xfrm>
            <a:off x="7275756" y="3470789"/>
            <a:ext cx="1056043" cy="334800"/>
          </a:xfrm>
          <a:prstGeom prst="roundRect">
            <a:avLst/>
          </a:prstGeom>
          <a:pattFill prst="ltUpDiag">
            <a:fgClr>
              <a:srgbClr val="C4DCF2"/>
            </a:fgClr>
            <a:bgClr>
              <a:schemeClr val="bg1"/>
            </a:bgClr>
          </a:pattFill>
          <a:ln w="3175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종합 타당성 평가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06" name="사각형: 둥근 모서리 205">
            <a:extLst>
              <a:ext uri="{FF2B5EF4-FFF2-40B4-BE49-F238E27FC236}">
                <a16:creationId xmlns:a16="http://schemas.microsoft.com/office/drawing/2014/main" id="{99D326BA-25CC-CC27-4EEA-69087BD9660E}"/>
              </a:ext>
            </a:extLst>
          </p:cNvPr>
          <p:cNvSpPr/>
          <p:nvPr/>
        </p:nvSpPr>
        <p:spPr>
          <a:xfrm>
            <a:off x="7275756" y="3037455"/>
            <a:ext cx="1056043" cy="334800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kern="0" spc="-5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주요 경제성 지표 산출 </a:t>
            </a:r>
            <a:r>
              <a:rPr kumimoji="1" lang="en-US" altLang="ko-KR" sz="900" b="1" kern="0" spc="-5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(</a:t>
            </a:r>
            <a:r>
              <a:rPr kumimoji="1" lang="ko-KR" altLang="en-US" sz="900" b="1" kern="0" spc="-5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투자회수기간 등</a:t>
            </a:r>
            <a:r>
              <a:rPr kumimoji="1" lang="en-US" altLang="ko-KR" sz="900" b="1" kern="0" spc="-5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)</a:t>
            </a:r>
          </a:p>
        </p:txBody>
      </p:sp>
      <p:sp>
        <p:nvSpPr>
          <p:cNvPr id="210" name="사각형: 둥근 모서리 209">
            <a:extLst>
              <a:ext uri="{FF2B5EF4-FFF2-40B4-BE49-F238E27FC236}">
                <a16:creationId xmlns:a16="http://schemas.microsoft.com/office/drawing/2014/main" id="{8CDA946B-3AA0-D09F-DAB4-97AF55615624}"/>
              </a:ext>
            </a:extLst>
          </p:cNvPr>
          <p:cNvSpPr/>
          <p:nvPr/>
        </p:nvSpPr>
        <p:spPr>
          <a:xfrm>
            <a:off x="8437133" y="3037455"/>
            <a:ext cx="1056043" cy="334800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투자 제안서 작성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11" name="화살표: 오각형 210">
            <a:extLst>
              <a:ext uri="{FF2B5EF4-FFF2-40B4-BE49-F238E27FC236}">
                <a16:creationId xmlns:a16="http://schemas.microsoft.com/office/drawing/2014/main" id="{3D03F2F8-A47D-4588-6FDF-820D4765F343}"/>
              </a:ext>
            </a:extLst>
          </p:cNvPr>
          <p:cNvSpPr/>
          <p:nvPr/>
        </p:nvSpPr>
        <p:spPr>
          <a:xfrm>
            <a:off x="4953000" y="2194636"/>
            <a:ext cx="1124454" cy="347687"/>
          </a:xfrm>
          <a:prstGeom prst="homePlate">
            <a:avLst>
              <a:gd name="adj" fmla="val 24867"/>
            </a:avLst>
          </a:prstGeom>
          <a:solidFill>
            <a:schemeClr val="bg1">
              <a:lumMod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ko-KR" altLang="en-US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도입 가능 기술 정보 수집 및 분석</a:t>
            </a:r>
          </a:p>
        </p:txBody>
      </p:sp>
      <p:sp>
        <p:nvSpPr>
          <p:cNvPr id="212" name="화살표: 오각형 211">
            <a:extLst>
              <a:ext uri="{FF2B5EF4-FFF2-40B4-BE49-F238E27FC236}">
                <a16:creationId xmlns:a16="http://schemas.microsoft.com/office/drawing/2014/main" id="{55E24024-5B12-841D-AF38-9F59F0A5DC7F}"/>
              </a:ext>
            </a:extLst>
          </p:cNvPr>
          <p:cNvSpPr/>
          <p:nvPr/>
        </p:nvSpPr>
        <p:spPr>
          <a:xfrm>
            <a:off x="6114378" y="2195472"/>
            <a:ext cx="1124454" cy="347687"/>
          </a:xfrm>
          <a:prstGeom prst="homePlate">
            <a:avLst>
              <a:gd name="adj" fmla="val 24867"/>
            </a:avLst>
          </a:prstGeom>
          <a:solidFill>
            <a:schemeClr val="bg1">
              <a:lumMod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ko-KR" altLang="en-US" sz="900" spc="-5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기본 설계</a:t>
            </a:r>
            <a:r>
              <a:rPr lang="en-US" altLang="ko-KR" sz="900" spc="-5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(BDP) </a:t>
            </a:r>
            <a:r>
              <a:rPr lang="ko-KR" altLang="en-US" sz="900" spc="-5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및 엔지니어링 검토</a:t>
            </a:r>
          </a:p>
        </p:txBody>
      </p:sp>
      <p:sp>
        <p:nvSpPr>
          <p:cNvPr id="213" name="화살표: 오각형 212">
            <a:extLst>
              <a:ext uri="{FF2B5EF4-FFF2-40B4-BE49-F238E27FC236}">
                <a16:creationId xmlns:a16="http://schemas.microsoft.com/office/drawing/2014/main" id="{227A6459-A8EB-E35B-CAED-B06E09C45020}"/>
              </a:ext>
            </a:extLst>
          </p:cNvPr>
          <p:cNvSpPr/>
          <p:nvPr/>
        </p:nvSpPr>
        <p:spPr>
          <a:xfrm>
            <a:off x="7275756" y="2196308"/>
            <a:ext cx="1125092" cy="347687"/>
          </a:xfrm>
          <a:prstGeom prst="homePlate">
            <a:avLst>
              <a:gd name="adj" fmla="val 24867"/>
            </a:avLst>
          </a:prstGeom>
          <a:solidFill>
            <a:schemeClr val="bg1">
              <a:lumMod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ko-KR" altLang="en-US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경제성 분석 및 투자 타당성 검증</a:t>
            </a:r>
          </a:p>
        </p:txBody>
      </p:sp>
      <p:sp>
        <p:nvSpPr>
          <p:cNvPr id="214" name="화살표: 오각형 213">
            <a:extLst>
              <a:ext uri="{FF2B5EF4-FFF2-40B4-BE49-F238E27FC236}">
                <a16:creationId xmlns:a16="http://schemas.microsoft.com/office/drawing/2014/main" id="{E5E2A2F0-04DD-6E74-1579-482D0E63F8C0}"/>
              </a:ext>
            </a:extLst>
          </p:cNvPr>
          <p:cNvSpPr/>
          <p:nvPr/>
        </p:nvSpPr>
        <p:spPr>
          <a:xfrm>
            <a:off x="8436421" y="2197144"/>
            <a:ext cx="1125092" cy="347687"/>
          </a:xfrm>
          <a:prstGeom prst="homePlate">
            <a:avLst>
              <a:gd name="adj" fmla="val 24867"/>
            </a:avLst>
          </a:prstGeom>
          <a:solidFill>
            <a:schemeClr val="bg1">
              <a:lumMod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ko-KR" altLang="en-US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실행 계획 수립 및 승인 문서화</a:t>
            </a:r>
          </a:p>
        </p:txBody>
      </p:sp>
      <p:sp>
        <p:nvSpPr>
          <p:cNvPr id="215" name="사각형: 둥근 모서리 214">
            <a:extLst>
              <a:ext uri="{FF2B5EF4-FFF2-40B4-BE49-F238E27FC236}">
                <a16:creationId xmlns:a16="http://schemas.microsoft.com/office/drawing/2014/main" id="{D517F8E7-6110-F96D-5B37-863146E749AE}"/>
              </a:ext>
            </a:extLst>
          </p:cNvPr>
          <p:cNvSpPr/>
          <p:nvPr/>
        </p:nvSpPr>
        <p:spPr>
          <a:xfrm>
            <a:off x="4953001" y="2604121"/>
            <a:ext cx="1056584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공정 한계점 및 니즈 식별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16" name="사각형: 둥근 모서리 215">
            <a:extLst>
              <a:ext uri="{FF2B5EF4-FFF2-40B4-BE49-F238E27FC236}">
                <a16:creationId xmlns:a16="http://schemas.microsoft.com/office/drawing/2014/main" id="{A05E492F-A6B2-3063-7AE0-3271463EC15B}"/>
              </a:ext>
            </a:extLst>
          </p:cNvPr>
          <p:cNvSpPr/>
          <p:nvPr/>
        </p:nvSpPr>
        <p:spPr>
          <a:xfrm>
            <a:off x="6114378" y="2604121"/>
            <a:ext cx="1056584" cy="334800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개념 설계 및 공정 구성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17" name="사각형: 둥근 모서리 216">
            <a:extLst>
              <a:ext uri="{FF2B5EF4-FFF2-40B4-BE49-F238E27FC236}">
                <a16:creationId xmlns:a16="http://schemas.microsoft.com/office/drawing/2014/main" id="{1B580477-532C-6325-8D3F-BAD71E8DEC57}"/>
              </a:ext>
            </a:extLst>
          </p:cNvPr>
          <p:cNvSpPr/>
          <p:nvPr/>
        </p:nvSpPr>
        <p:spPr>
          <a:xfrm>
            <a:off x="7275756" y="2604121"/>
            <a:ext cx="1056584" cy="334800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투자비 산정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18" name="사각형: 둥근 모서리 217">
            <a:extLst>
              <a:ext uri="{FF2B5EF4-FFF2-40B4-BE49-F238E27FC236}">
                <a16:creationId xmlns:a16="http://schemas.microsoft.com/office/drawing/2014/main" id="{FC9CB2CD-0F20-C3B8-AD08-BAEDF8792FED}"/>
              </a:ext>
            </a:extLst>
          </p:cNvPr>
          <p:cNvSpPr/>
          <p:nvPr/>
        </p:nvSpPr>
        <p:spPr>
          <a:xfrm>
            <a:off x="8437133" y="2604121"/>
            <a:ext cx="1056584" cy="334800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kern="0" spc="-5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세부 실행 계획 수립</a:t>
            </a:r>
            <a:br>
              <a:rPr kumimoji="1" lang="en-US" altLang="ko-KR" sz="900" b="1" kern="0" spc="-5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</a:br>
            <a:r>
              <a:rPr kumimoji="1" lang="en-US" altLang="ko-KR" sz="900" b="1" kern="0" spc="-5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(</a:t>
            </a:r>
            <a:r>
              <a:rPr kumimoji="1" lang="ko-KR" altLang="en-US" sz="900" b="1" kern="0" spc="-5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추진 방식</a:t>
            </a:r>
            <a:r>
              <a:rPr kumimoji="1" lang="en-US" altLang="ko-KR" sz="900" b="1" kern="0" spc="-5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, </a:t>
            </a:r>
            <a:r>
              <a:rPr kumimoji="1" lang="ko-KR" altLang="en-US" sz="900" b="1" kern="0" spc="-5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자원 소요</a:t>
            </a:r>
            <a:r>
              <a:rPr kumimoji="1" lang="en-US" altLang="ko-KR" sz="900" b="1" kern="0" spc="-5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)</a:t>
            </a:r>
          </a:p>
        </p:txBody>
      </p:sp>
      <p:cxnSp>
        <p:nvCxnSpPr>
          <p:cNvPr id="219" name="직선 화살표 연결선 218">
            <a:extLst>
              <a:ext uri="{FF2B5EF4-FFF2-40B4-BE49-F238E27FC236}">
                <a16:creationId xmlns:a16="http://schemas.microsoft.com/office/drawing/2014/main" id="{D639DD3C-D607-5B8B-DE93-AEE37EC72C45}"/>
              </a:ext>
            </a:extLst>
          </p:cNvPr>
          <p:cNvCxnSpPr>
            <a:cxnSpLocks/>
            <a:stCxn id="215" idx="2"/>
            <a:endCxn id="193" idx="0"/>
          </p:cNvCxnSpPr>
          <p:nvPr/>
        </p:nvCxnSpPr>
        <p:spPr>
          <a:xfrm flipH="1">
            <a:off x="5481023" y="2938921"/>
            <a:ext cx="271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직선 화살표 연결선 219">
            <a:extLst>
              <a:ext uri="{FF2B5EF4-FFF2-40B4-BE49-F238E27FC236}">
                <a16:creationId xmlns:a16="http://schemas.microsoft.com/office/drawing/2014/main" id="{703C0675-283E-2FE3-AC72-448BE9D95528}"/>
              </a:ext>
            </a:extLst>
          </p:cNvPr>
          <p:cNvCxnSpPr>
            <a:cxnSpLocks/>
            <a:stCxn id="193" idx="2"/>
            <a:endCxn id="196" idx="0"/>
          </p:cNvCxnSpPr>
          <p:nvPr/>
        </p:nvCxnSpPr>
        <p:spPr>
          <a:xfrm>
            <a:off x="5481023" y="3372255"/>
            <a:ext cx="0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직선 화살표 연결선 220">
            <a:extLst>
              <a:ext uri="{FF2B5EF4-FFF2-40B4-BE49-F238E27FC236}">
                <a16:creationId xmlns:a16="http://schemas.microsoft.com/office/drawing/2014/main" id="{33BDDC3C-47EC-12F9-1384-350EC4F6CDEC}"/>
              </a:ext>
            </a:extLst>
          </p:cNvPr>
          <p:cNvCxnSpPr>
            <a:cxnSpLocks/>
            <a:stCxn id="216" idx="2"/>
            <a:endCxn id="201" idx="0"/>
          </p:cNvCxnSpPr>
          <p:nvPr/>
        </p:nvCxnSpPr>
        <p:spPr>
          <a:xfrm flipH="1">
            <a:off x="6642400" y="2938921"/>
            <a:ext cx="270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직선 화살표 연결선 221">
            <a:extLst>
              <a:ext uri="{FF2B5EF4-FFF2-40B4-BE49-F238E27FC236}">
                <a16:creationId xmlns:a16="http://schemas.microsoft.com/office/drawing/2014/main" id="{C858EA25-DBDD-A835-9959-25C978B87135}"/>
              </a:ext>
            </a:extLst>
          </p:cNvPr>
          <p:cNvCxnSpPr>
            <a:cxnSpLocks/>
            <a:stCxn id="217" idx="2"/>
            <a:endCxn id="206" idx="0"/>
          </p:cNvCxnSpPr>
          <p:nvPr/>
        </p:nvCxnSpPr>
        <p:spPr>
          <a:xfrm flipH="1">
            <a:off x="7803777" y="2938921"/>
            <a:ext cx="271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직선 화살표 연결선 226">
            <a:extLst>
              <a:ext uri="{FF2B5EF4-FFF2-40B4-BE49-F238E27FC236}">
                <a16:creationId xmlns:a16="http://schemas.microsoft.com/office/drawing/2014/main" id="{335AE6D7-F9E2-64F1-D10A-4E956BAF7688}"/>
              </a:ext>
            </a:extLst>
          </p:cNvPr>
          <p:cNvCxnSpPr>
            <a:cxnSpLocks/>
            <a:stCxn id="206" idx="2"/>
            <a:endCxn id="205" idx="0"/>
          </p:cNvCxnSpPr>
          <p:nvPr/>
        </p:nvCxnSpPr>
        <p:spPr>
          <a:xfrm>
            <a:off x="7803778" y="3372255"/>
            <a:ext cx="0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직선 화살표 연결선 230">
            <a:extLst>
              <a:ext uri="{FF2B5EF4-FFF2-40B4-BE49-F238E27FC236}">
                <a16:creationId xmlns:a16="http://schemas.microsoft.com/office/drawing/2014/main" id="{0E9CFFCF-1D7D-332A-B780-EEA7D79D275F}"/>
              </a:ext>
            </a:extLst>
          </p:cNvPr>
          <p:cNvCxnSpPr>
            <a:cxnSpLocks/>
            <a:stCxn id="218" idx="2"/>
            <a:endCxn id="210" idx="0"/>
          </p:cNvCxnSpPr>
          <p:nvPr/>
        </p:nvCxnSpPr>
        <p:spPr>
          <a:xfrm flipH="1">
            <a:off x="8965155" y="2938921"/>
            <a:ext cx="270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2" name="사각형: 둥근 모서리 231">
            <a:extLst>
              <a:ext uri="{FF2B5EF4-FFF2-40B4-BE49-F238E27FC236}">
                <a16:creationId xmlns:a16="http://schemas.microsoft.com/office/drawing/2014/main" id="{8D50F6E5-E220-6C88-CA22-E16B79B2A497}"/>
              </a:ext>
            </a:extLst>
          </p:cNvPr>
          <p:cNvSpPr/>
          <p:nvPr/>
        </p:nvSpPr>
        <p:spPr>
          <a:xfrm>
            <a:off x="6114378" y="3470789"/>
            <a:ext cx="1056043" cy="334800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기술 리스크 식별 및 해소 방안 도출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cxnSp>
        <p:nvCxnSpPr>
          <p:cNvPr id="233" name="직선 화살표 연결선 232">
            <a:extLst>
              <a:ext uri="{FF2B5EF4-FFF2-40B4-BE49-F238E27FC236}">
                <a16:creationId xmlns:a16="http://schemas.microsoft.com/office/drawing/2014/main" id="{0DC4F042-E463-8996-9A57-8047B8765A06}"/>
              </a:ext>
            </a:extLst>
          </p:cNvPr>
          <p:cNvCxnSpPr>
            <a:cxnSpLocks/>
            <a:stCxn id="201" idx="2"/>
            <a:endCxn id="232" idx="0"/>
          </p:cNvCxnSpPr>
          <p:nvPr/>
        </p:nvCxnSpPr>
        <p:spPr>
          <a:xfrm>
            <a:off x="6642400" y="3372255"/>
            <a:ext cx="0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7" name="사각형: 둥근 모서리 236">
            <a:extLst>
              <a:ext uri="{FF2B5EF4-FFF2-40B4-BE49-F238E27FC236}">
                <a16:creationId xmlns:a16="http://schemas.microsoft.com/office/drawing/2014/main" id="{4FA243D8-7EC1-447C-BCCD-CBF5B9212B26}"/>
              </a:ext>
            </a:extLst>
          </p:cNvPr>
          <p:cNvSpPr/>
          <p:nvPr/>
        </p:nvSpPr>
        <p:spPr>
          <a:xfrm>
            <a:off x="1498996" y="3043247"/>
            <a:ext cx="1058400" cy="334800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경제성 분석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38" name="사각형: 둥근 모서리 237">
            <a:extLst>
              <a:ext uri="{FF2B5EF4-FFF2-40B4-BE49-F238E27FC236}">
                <a16:creationId xmlns:a16="http://schemas.microsoft.com/office/drawing/2014/main" id="{115BB1C6-45C5-3307-D49F-70210C246AB9}"/>
              </a:ext>
            </a:extLst>
          </p:cNvPr>
          <p:cNvSpPr/>
          <p:nvPr/>
        </p:nvSpPr>
        <p:spPr>
          <a:xfrm>
            <a:off x="1498996" y="3476581"/>
            <a:ext cx="1058400" cy="334800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리스크 평가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39" name="사각형: 둥근 모서리 238">
            <a:extLst>
              <a:ext uri="{FF2B5EF4-FFF2-40B4-BE49-F238E27FC236}">
                <a16:creationId xmlns:a16="http://schemas.microsoft.com/office/drawing/2014/main" id="{2EA705A3-A43E-AFCD-AF2D-54F65784673B}"/>
              </a:ext>
            </a:extLst>
          </p:cNvPr>
          <p:cNvSpPr/>
          <p:nvPr/>
        </p:nvSpPr>
        <p:spPr>
          <a:xfrm>
            <a:off x="2652354" y="3043247"/>
            <a:ext cx="1058400" cy="334800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엔지니어링 설계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40" name="사각형: 둥근 모서리 239">
            <a:extLst>
              <a:ext uri="{FF2B5EF4-FFF2-40B4-BE49-F238E27FC236}">
                <a16:creationId xmlns:a16="http://schemas.microsoft.com/office/drawing/2014/main" id="{41E5F029-819C-8842-6C77-38DE917933C6}"/>
              </a:ext>
            </a:extLst>
          </p:cNvPr>
          <p:cNvSpPr/>
          <p:nvPr/>
        </p:nvSpPr>
        <p:spPr>
          <a:xfrm>
            <a:off x="3805716" y="3476581"/>
            <a:ext cx="1058400" cy="334800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수평 전개를 통한 지식 공유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42" name="사각형: 둥근 모서리 241">
            <a:extLst>
              <a:ext uri="{FF2B5EF4-FFF2-40B4-BE49-F238E27FC236}">
                <a16:creationId xmlns:a16="http://schemas.microsoft.com/office/drawing/2014/main" id="{3F8B7991-5931-ED15-3000-0F3AAA83253B}"/>
              </a:ext>
            </a:extLst>
          </p:cNvPr>
          <p:cNvSpPr/>
          <p:nvPr/>
        </p:nvSpPr>
        <p:spPr>
          <a:xfrm>
            <a:off x="3805716" y="3043247"/>
            <a:ext cx="1058400" cy="334800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과정 및 결과 기술 문서화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43" name="화살표: 오각형 242">
            <a:extLst>
              <a:ext uri="{FF2B5EF4-FFF2-40B4-BE49-F238E27FC236}">
                <a16:creationId xmlns:a16="http://schemas.microsoft.com/office/drawing/2014/main" id="{C11CB69B-0AEB-37F1-C7DA-9C6DDD3ED6A6}"/>
              </a:ext>
            </a:extLst>
          </p:cNvPr>
          <p:cNvSpPr/>
          <p:nvPr/>
        </p:nvSpPr>
        <p:spPr>
          <a:xfrm>
            <a:off x="3798752" y="2205446"/>
            <a:ext cx="1123200" cy="347687"/>
          </a:xfrm>
          <a:prstGeom prst="homePlate">
            <a:avLst>
              <a:gd name="adj" fmla="val 24867"/>
            </a:avLst>
          </a:prstGeom>
          <a:solidFill>
            <a:schemeClr val="bg1">
              <a:lumMod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ko-KR" altLang="en-US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효과 검증 및 </a:t>
            </a:r>
            <a:r>
              <a:rPr lang="en-US" altLang="ko-KR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Best Practice </a:t>
            </a:r>
            <a:r>
              <a:rPr lang="ko-KR" altLang="en-US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공유</a:t>
            </a:r>
          </a:p>
        </p:txBody>
      </p:sp>
      <p:sp>
        <p:nvSpPr>
          <p:cNvPr id="244" name="화살표: 오각형 243">
            <a:extLst>
              <a:ext uri="{FF2B5EF4-FFF2-40B4-BE49-F238E27FC236}">
                <a16:creationId xmlns:a16="http://schemas.microsoft.com/office/drawing/2014/main" id="{DBF140E7-1134-3079-6FA8-AB3989072B21}"/>
              </a:ext>
            </a:extLst>
          </p:cNvPr>
          <p:cNvSpPr/>
          <p:nvPr/>
        </p:nvSpPr>
        <p:spPr>
          <a:xfrm>
            <a:off x="345638" y="2204608"/>
            <a:ext cx="1123200" cy="347687"/>
          </a:xfrm>
          <a:prstGeom prst="homePlate">
            <a:avLst>
              <a:gd name="adj" fmla="val 24867"/>
            </a:avLst>
          </a:prstGeom>
          <a:solidFill>
            <a:schemeClr val="bg1">
              <a:lumMod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ko-KR" altLang="en-US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개선 아이디어 도출</a:t>
            </a:r>
          </a:p>
        </p:txBody>
      </p:sp>
      <p:sp>
        <p:nvSpPr>
          <p:cNvPr id="245" name="화살표: 오각형 244">
            <a:extLst>
              <a:ext uri="{FF2B5EF4-FFF2-40B4-BE49-F238E27FC236}">
                <a16:creationId xmlns:a16="http://schemas.microsoft.com/office/drawing/2014/main" id="{CE2727C2-C391-5053-93F1-59D5DC60C230}"/>
              </a:ext>
            </a:extLst>
          </p:cNvPr>
          <p:cNvSpPr/>
          <p:nvPr/>
        </p:nvSpPr>
        <p:spPr>
          <a:xfrm>
            <a:off x="1498997" y="2199592"/>
            <a:ext cx="1123200" cy="347687"/>
          </a:xfrm>
          <a:prstGeom prst="homePlate">
            <a:avLst>
              <a:gd name="adj" fmla="val 24867"/>
            </a:avLst>
          </a:prstGeom>
          <a:solidFill>
            <a:schemeClr val="bg1">
              <a:lumMod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ko-KR" altLang="en-US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과제 타당성 검토 및 대상 선정</a:t>
            </a:r>
          </a:p>
        </p:txBody>
      </p:sp>
      <p:sp>
        <p:nvSpPr>
          <p:cNvPr id="246" name="사각형: 둥근 모서리 245">
            <a:extLst>
              <a:ext uri="{FF2B5EF4-FFF2-40B4-BE49-F238E27FC236}">
                <a16:creationId xmlns:a16="http://schemas.microsoft.com/office/drawing/2014/main" id="{5ECCFEAD-A297-E0B0-09D9-2FF734B5F067}"/>
              </a:ext>
            </a:extLst>
          </p:cNvPr>
          <p:cNvSpPr/>
          <p:nvPr/>
        </p:nvSpPr>
        <p:spPr>
          <a:xfrm>
            <a:off x="1498996" y="2609913"/>
            <a:ext cx="1058400" cy="334800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기술 타당성 평가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47" name="사각형: 둥근 모서리 246">
            <a:extLst>
              <a:ext uri="{FF2B5EF4-FFF2-40B4-BE49-F238E27FC236}">
                <a16:creationId xmlns:a16="http://schemas.microsoft.com/office/drawing/2014/main" id="{AF39A7CB-F903-6254-FE5F-D8976C54CE03}"/>
              </a:ext>
            </a:extLst>
          </p:cNvPr>
          <p:cNvSpPr/>
          <p:nvPr/>
        </p:nvSpPr>
        <p:spPr>
          <a:xfrm>
            <a:off x="2652354" y="2609913"/>
            <a:ext cx="1058400" cy="334800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일정 및 자원 할당 계획 수립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48" name="사각형: 둥근 모서리 247">
            <a:extLst>
              <a:ext uri="{FF2B5EF4-FFF2-40B4-BE49-F238E27FC236}">
                <a16:creationId xmlns:a16="http://schemas.microsoft.com/office/drawing/2014/main" id="{417CD6A8-EBEA-7240-342D-7ACB5E93A3AA}"/>
              </a:ext>
            </a:extLst>
          </p:cNvPr>
          <p:cNvSpPr/>
          <p:nvPr/>
        </p:nvSpPr>
        <p:spPr>
          <a:xfrm>
            <a:off x="3805716" y="2609913"/>
            <a:ext cx="1058400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예상 대비 효과 분석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49" name="사각형: 둥근 모서리 248">
            <a:extLst>
              <a:ext uri="{FF2B5EF4-FFF2-40B4-BE49-F238E27FC236}">
                <a16:creationId xmlns:a16="http://schemas.microsoft.com/office/drawing/2014/main" id="{C5235CDA-9ACA-6827-C528-5265DF9901D5}"/>
              </a:ext>
            </a:extLst>
          </p:cNvPr>
          <p:cNvSpPr/>
          <p:nvPr/>
        </p:nvSpPr>
        <p:spPr>
          <a:xfrm>
            <a:off x="345637" y="2609913"/>
            <a:ext cx="1058400" cy="334800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아이디어 수집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50" name="사각형: 둥근 모서리 249">
            <a:extLst>
              <a:ext uri="{FF2B5EF4-FFF2-40B4-BE49-F238E27FC236}">
                <a16:creationId xmlns:a16="http://schemas.microsoft.com/office/drawing/2014/main" id="{D4C08507-33DD-2E3E-2B5B-978F941C1DD7}"/>
              </a:ext>
            </a:extLst>
          </p:cNvPr>
          <p:cNvSpPr/>
          <p:nvPr/>
        </p:nvSpPr>
        <p:spPr>
          <a:xfrm>
            <a:off x="345637" y="3043247"/>
            <a:ext cx="1058400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 spc="-5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아이디어 구체화 </a:t>
            </a:r>
            <a:r>
              <a:rPr kumimoji="1" lang="en-US" altLang="ko-KR" sz="900" kern="0" spc="-5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(</a:t>
            </a:r>
            <a:r>
              <a:rPr kumimoji="1" lang="ko-KR" altLang="en-US" sz="900" kern="0" spc="-5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적용방안</a:t>
            </a:r>
            <a:r>
              <a:rPr kumimoji="1" lang="en-US" altLang="ko-KR" sz="900" kern="0" spc="-5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, </a:t>
            </a:r>
            <a:r>
              <a:rPr kumimoji="1" lang="ko-KR" altLang="en-US" sz="900" kern="0" spc="-5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개선효과 등</a:t>
            </a:r>
            <a:r>
              <a:rPr kumimoji="1" lang="en-US" altLang="ko-KR" sz="900" kern="0" spc="-5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)</a:t>
            </a:r>
          </a:p>
        </p:txBody>
      </p:sp>
      <p:cxnSp>
        <p:nvCxnSpPr>
          <p:cNvPr id="252" name="직선 화살표 연결선 251">
            <a:extLst>
              <a:ext uri="{FF2B5EF4-FFF2-40B4-BE49-F238E27FC236}">
                <a16:creationId xmlns:a16="http://schemas.microsoft.com/office/drawing/2014/main" id="{3611950C-B01C-EB99-0B34-447CC18797D0}"/>
              </a:ext>
            </a:extLst>
          </p:cNvPr>
          <p:cNvCxnSpPr>
            <a:cxnSpLocks/>
            <a:stCxn id="249" idx="2"/>
            <a:endCxn id="250" idx="0"/>
          </p:cNvCxnSpPr>
          <p:nvPr/>
        </p:nvCxnSpPr>
        <p:spPr>
          <a:xfrm>
            <a:off x="874837" y="2944713"/>
            <a:ext cx="0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직선 화살표 연결선 254">
            <a:extLst>
              <a:ext uri="{FF2B5EF4-FFF2-40B4-BE49-F238E27FC236}">
                <a16:creationId xmlns:a16="http://schemas.microsoft.com/office/drawing/2014/main" id="{9B4CFD80-9649-2EC0-3F1F-434843F6C8D5}"/>
              </a:ext>
            </a:extLst>
          </p:cNvPr>
          <p:cNvCxnSpPr>
            <a:cxnSpLocks/>
            <a:stCxn id="246" idx="2"/>
            <a:endCxn id="237" idx="0"/>
          </p:cNvCxnSpPr>
          <p:nvPr/>
        </p:nvCxnSpPr>
        <p:spPr>
          <a:xfrm>
            <a:off x="2028196" y="2944713"/>
            <a:ext cx="0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직선 화살표 연결선 255">
            <a:extLst>
              <a:ext uri="{FF2B5EF4-FFF2-40B4-BE49-F238E27FC236}">
                <a16:creationId xmlns:a16="http://schemas.microsoft.com/office/drawing/2014/main" id="{1A41FA05-4812-E150-FD87-71D65C04F42C}"/>
              </a:ext>
            </a:extLst>
          </p:cNvPr>
          <p:cNvCxnSpPr>
            <a:cxnSpLocks/>
            <a:stCxn id="237" idx="2"/>
            <a:endCxn id="238" idx="0"/>
          </p:cNvCxnSpPr>
          <p:nvPr/>
        </p:nvCxnSpPr>
        <p:spPr>
          <a:xfrm>
            <a:off x="2028196" y="3378047"/>
            <a:ext cx="0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직선 화살표 연결선 257">
            <a:extLst>
              <a:ext uri="{FF2B5EF4-FFF2-40B4-BE49-F238E27FC236}">
                <a16:creationId xmlns:a16="http://schemas.microsoft.com/office/drawing/2014/main" id="{928ECBC5-3B03-F2E7-2423-2FDDFDEF9082}"/>
              </a:ext>
            </a:extLst>
          </p:cNvPr>
          <p:cNvCxnSpPr>
            <a:cxnSpLocks/>
            <a:stCxn id="247" idx="2"/>
            <a:endCxn id="239" idx="0"/>
          </p:cNvCxnSpPr>
          <p:nvPr/>
        </p:nvCxnSpPr>
        <p:spPr>
          <a:xfrm>
            <a:off x="3181554" y="2944713"/>
            <a:ext cx="0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직선 화살표 연결선 258">
            <a:extLst>
              <a:ext uri="{FF2B5EF4-FFF2-40B4-BE49-F238E27FC236}">
                <a16:creationId xmlns:a16="http://schemas.microsoft.com/office/drawing/2014/main" id="{D2DA573C-94DC-00F1-4572-465023D4E301}"/>
              </a:ext>
            </a:extLst>
          </p:cNvPr>
          <p:cNvCxnSpPr>
            <a:cxnSpLocks/>
            <a:stCxn id="248" idx="2"/>
            <a:endCxn id="242" idx="0"/>
          </p:cNvCxnSpPr>
          <p:nvPr/>
        </p:nvCxnSpPr>
        <p:spPr>
          <a:xfrm>
            <a:off x="4334916" y="2944713"/>
            <a:ext cx="0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직선 화살표 연결선 259">
            <a:extLst>
              <a:ext uri="{FF2B5EF4-FFF2-40B4-BE49-F238E27FC236}">
                <a16:creationId xmlns:a16="http://schemas.microsoft.com/office/drawing/2014/main" id="{00632AE6-8B6F-B5E3-34D8-CF20F77A34FB}"/>
              </a:ext>
            </a:extLst>
          </p:cNvPr>
          <p:cNvCxnSpPr>
            <a:cxnSpLocks/>
            <a:stCxn id="242" idx="2"/>
            <a:endCxn id="240" idx="0"/>
          </p:cNvCxnSpPr>
          <p:nvPr/>
        </p:nvCxnSpPr>
        <p:spPr>
          <a:xfrm>
            <a:off x="4334916" y="3378047"/>
            <a:ext cx="0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1" name="화살표: 오각형 260">
            <a:extLst>
              <a:ext uri="{FF2B5EF4-FFF2-40B4-BE49-F238E27FC236}">
                <a16:creationId xmlns:a16="http://schemas.microsoft.com/office/drawing/2014/main" id="{B1A6C683-7B72-7A8E-5596-315DB43BF496}"/>
              </a:ext>
            </a:extLst>
          </p:cNvPr>
          <p:cNvSpPr/>
          <p:nvPr/>
        </p:nvSpPr>
        <p:spPr>
          <a:xfrm>
            <a:off x="2652354" y="2199592"/>
            <a:ext cx="1123200" cy="347687"/>
          </a:xfrm>
          <a:prstGeom prst="homePlate">
            <a:avLst>
              <a:gd name="adj" fmla="val 24867"/>
            </a:avLst>
          </a:prstGeom>
          <a:solidFill>
            <a:schemeClr val="bg1">
              <a:lumMod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ko-KR" altLang="en-US" sz="900" spc="-5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실행 계획 수립 및</a:t>
            </a:r>
            <a:br>
              <a:rPr lang="en-US" altLang="ko-KR" sz="900" spc="-50"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ko-KR" altLang="en-US" sz="900" spc="-5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과제 수행</a:t>
            </a:r>
          </a:p>
        </p:txBody>
      </p:sp>
      <p:sp>
        <p:nvSpPr>
          <p:cNvPr id="264" name="사각형: 둥근 모서리 263">
            <a:extLst>
              <a:ext uri="{FF2B5EF4-FFF2-40B4-BE49-F238E27FC236}">
                <a16:creationId xmlns:a16="http://schemas.microsoft.com/office/drawing/2014/main" id="{2B0AD5A3-71F7-DACB-05D9-404F7BC1079C}"/>
              </a:ext>
            </a:extLst>
          </p:cNvPr>
          <p:cNvSpPr/>
          <p:nvPr/>
        </p:nvSpPr>
        <p:spPr>
          <a:xfrm>
            <a:off x="2652354" y="3479954"/>
            <a:ext cx="1058400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현장 적용 지원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65" name="사각형: 둥근 모서리 264">
            <a:extLst>
              <a:ext uri="{FF2B5EF4-FFF2-40B4-BE49-F238E27FC236}">
                <a16:creationId xmlns:a16="http://schemas.microsoft.com/office/drawing/2014/main" id="{93DC14ED-A4D6-F137-DB0D-6A4D6E55CA54}"/>
              </a:ext>
            </a:extLst>
          </p:cNvPr>
          <p:cNvSpPr/>
          <p:nvPr/>
        </p:nvSpPr>
        <p:spPr>
          <a:xfrm>
            <a:off x="2652354" y="3913288"/>
            <a:ext cx="1058400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시운전 및 안정화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cxnSp>
        <p:nvCxnSpPr>
          <p:cNvPr id="270" name="직선 화살표 연결선 269">
            <a:extLst>
              <a:ext uri="{FF2B5EF4-FFF2-40B4-BE49-F238E27FC236}">
                <a16:creationId xmlns:a16="http://schemas.microsoft.com/office/drawing/2014/main" id="{02C9211F-C870-3F04-4EDB-DC5006948723}"/>
              </a:ext>
            </a:extLst>
          </p:cNvPr>
          <p:cNvCxnSpPr>
            <a:cxnSpLocks/>
            <a:stCxn id="239" idx="2"/>
            <a:endCxn id="264" idx="0"/>
          </p:cNvCxnSpPr>
          <p:nvPr/>
        </p:nvCxnSpPr>
        <p:spPr>
          <a:xfrm>
            <a:off x="3181554" y="3378047"/>
            <a:ext cx="0" cy="101907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직선 화살표 연결선 272">
            <a:extLst>
              <a:ext uri="{FF2B5EF4-FFF2-40B4-BE49-F238E27FC236}">
                <a16:creationId xmlns:a16="http://schemas.microsoft.com/office/drawing/2014/main" id="{FB56B170-4DD5-5A95-1294-9349F1196A73}"/>
              </a:ext>
            </a:extLst>
          </p:cNvPr>
          <p:cNvCxnSpPr>
            <a:cxnSpLocks/>
            <a:stCxn id="264" idx="2"/>
            <a:endCxn id="265" idx="0"/>
          </p:cNvCxnSpPr>
          <p:nvPr/>
        </p:nvCxnSpPr>
        <p:spPr>
          <a:xfrm>
            <a:off x="3181554" y="3814754"/>
            <a:ext cx="0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20311701-7011-B840-DA77-D6B6E584A512}"/>
              </a:ext>
            </a:extLst>
          </p:cNvPr>
          <p:cNvSpPr/>
          <p:nvPr/>
        </p:nvSpPr>
        <p:spPr>
          <a:xfrm>
            <a:off x="1498996" y="3913288"/>
            <a:ext cx="1058400" cy="334800"/>
          </a:xfrm>
          <a:prstGeom prst="roundRect">
            <a:avLst/>
          </a:prstGeom>
          <a:pattFill prst="ltUpDiag">
            <a:fgClr>
              <a:srgbClr val="C4DCF2"/>
            </a:fgClr>
            <a:bgClr>
              <a:schemeClr val="bg1"/>
            </a:bgClr>
          </a:pattFill>
          <a:ln w="3175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평가 결과 종합 및 과제 선정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F65717D5-42B1-5FCF-507A-57A941293232}"/>
              </a:ext>
            </a:extLst>
          </p:cNvPr>
          <p:cNvCxnSpPr>
            <a:cxnSpLocks/>
            <a:stCxn id="238" idx="2"/>
            <a:endCxn id="10" idx="0"/>
          </p:cNvCxnSpPr>
          <p:nvPr/>
        </p:nvCxnSpPr>
        <p:spPr>
          <a:xfrm>
            <a:off x="2028196" y="3811381"/>
            <a:ext cx="0" cy="101907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D213E228-F55C-C8A2-20A2-AA12AD8CC765}"/>
              </a:ext>
            </a:extLst>
          </p:cNvPr>
          <p:cNvSpPr/>
          <p:nvPr/>
        </p:nvSpPr>
        <p:spPr>
          <a:xfrm>
            <a:off x="8437133" y="3470789"/>
            <a:ext cx="1056043" cy="334800"/>
          </a:xfrm>
          <a:prstGeom prst="roundRect">
            <a:avLst/>
          </a:prstGeom>
          <a:pattFill prst="ltUpDiag">
            <a:fgClr>
              <a:srgbClr val="C4DCF2"/>
            </a:fgClr>
            <a:bgClr>
              <a:schemeClr val="bg1"/>
            </a:bgClr>
          </a:pattFill>
          <a:ln w="3175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승인 절차 수행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9AFBEA99-AA6E-4C01-3341-92A9B5113DAD}"/>
              </a:ext>
            </a:extLst>
          </p:cNvPr>
          <p:cNvCxnSpPr>
            <a:cxnSpLocks/>
            <a:stCxn id="210" idx="2"/>
            <a:endCxn id="16" idx="0"/>
          </p:cNvCxnSpPr>
          <p:nvPr/>
        </p:nvCxnSpPr>
        <p:spPr>
          <a:xfrm>
            <a:off x="8965155" y="3372255"/>
            <a:ext cx="0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6DFE748-543D-0572-48D3-EEE04A2E69FC}"/>
              </a:ext>
            </a:extLst>
          </p:cNvPr>
          <p:cNvSpPr txBox="1"/>
          <p:nvPr/>
        </p:nvSpPr>
        <p:spPr>
          <a:xfrm>
            <a:off x="673770" y="5329768"/>
            <a:ext cx="3936732" cy="23166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72000" rIns="36000" rtlCol="0" anchor="ctr">
            <a:noAutofit/>
          </a:bodyPr>
          <a:lstStyle/>
          <a:p>
            <a:r>
              <a:rPr lang="ko-KR" altLang="en-US" sz="1000" spc="-7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개선 아이디어</a:t>
            </a:r>
            <a:r>
              <a:rPr lang="en-US" altLang="ko-KR" sz="1000" spc="-7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spc="-7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신기술 동향 수기 조사 → 외부 정보로부터 선택적 정보 수집</a:t>
            </a:r>
            <a:r>
              <a:rPr lang="en-US" altLang="ko-KR" sz="1000" spc="-7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</a:t>
            </a:r>
            <a:r>
              <a:rPr lang="ko-KR" altLang="en-US" sz="1000" spc="-7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정리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FF34CA-03E7-2BF9-D508-08FD994318DF}"/>
              </a:ext>
            </a:extLst>
          </p:cNvPr>
          <p:cNvSpPr txBox="1"/>
          <p:nvPr/>
        </p:nvSpPr>
        <p:spPr>
          <a:xfrm>
            <a:off x="673770" y="5627020"/>
            <a:ext cx="3936732" cy="23166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72000" rIns="36000" rtlCol="0" anchor="ctr">
            <a:noAutofit/>
          </a:bodyPr>
          <a:lstStyle/>
          <a:p>
            <a:r>
              <a:rPr lang="ko-KR" altLang="en-US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시스템 </a:t>
            </a:r>
            <a:r>
              <a:rPr lang="en-US" altLang="ko-KR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· </a:t>
            </a:r>
            <a:r>
              <a:rPr lang="ko-KR" altLang="en-US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저장소 내 수작업 조회 → 신규 과제 유사 정보 자동 수집 및 제공</a:t>
            </a:r>
            <a:endParaRPr lang="en-US" altLang="ko-KR" sz="100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361027-B4FB-1880-9ED9-DB7949B5EEAD}"/>
              </a:ext>
            </a:extLst>
          </p:cNvPr>
          <p:cNvSpPr txBox="1"/>
          <p:nvPr/>
        </p:nvSpPr>
        <p:spPr>
          <a:xfrm>
            <a:off x="7489234" y="5329768"/>
            <a:ext cx="2072281" cy="23166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72000" rIns="36000" rtlCol="0" anchor="ctr">
            <a:noAutofit/>
          </a:bodyPr>
          <a:lstStyle/>
          <a:p>
            <a:r>
              <a:rPr lang="ko-KR" altLang="en-US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수집 대상 정의 및 </a:t>
            </a:r>
            <a:r>
              <a:rPr lang="en-US" altLang="ko-KR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Keyword </a:t>
            </a:r>
            <a:r>
              <a:rPr lang="ko-KR" altLang="en-US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도출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487802-DCE1-D608-64BE-9D0AA757587D}"/>
              </a:ext>
            </a:extLst>
          </p:cNvPr>
          <p:cNvSpPr txBox="1"/>
          <p:nvPr/>
        </p:nvSpPr>
        <p:spPr>
          <a:xfrm>
            <a:off x="7489234" y="5627020"/>
            <a:ext cx="2072281" cy="23166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72000" rIns="36000" rtlCol="0" anchor="ctr">
            <a:noAutofit/>
          </a:bodyPr>
          <a:lstStyle/>
          <a:p>
            <a:r>
              <a:rPr lang="en-US" altLang="ko-KR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DB</a:t>
            </a:r>
            <a:r>
              <a:rPr lang="ko-KR" altLang="en-US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화 대상 선정 및 속성 정의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3D7955-2FB6-B8DA-C112-F3FD56EC83EE}"/>
              </a:ext>
            </a:extLst>
          </p:cNvPr>
          <p:cNvSpPr txBox="1"/>
          <p:nvPr/>
        </p:nvSpPr>
        <p:spPr>
          <a:xfrm>
            <a:off x="344486" y="5329768"/>
            <a:ext cx="216000" cy="216000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2E560B5-7044-0BF0-DF45-04893D15A773}"/>
              </a:ext>
            </a:extLst>
          </p:cNvPr>
          <p:cNvSpPr txBox="1"/>
          <p:nvPr/>
        </p:nvSpPr>
        <p:spPr>
          <a:xfrm>
            <a:off x="344486" y="5627020"/>
            <a:ext cx="216000" cy="216000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33D811E-F42D-028D-19F9-FB3E7D0F05AC}"/>
              </a:ext>
            </a:extLst>
          </p:cNvPr>
          <p:cNvSpPr txBox="1"/>
          <p:nvPr/>
        </p:nvSpPr>
        <p:spPr>
          <a:xfrm>
            <a:off x="4710767" y="5329768"/>
            <a:ext cx="2678203" cy="23166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72000" rIns="36000" rtlCol="0" anchor="ctr">
            <a:noAutofit/>
          </a:bodyPr>
          <a:lstStyle/>
          <a:p>
            <a:r>
              <a:rPr lang="ko-KR" altLang="en-US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기술 정보 수집 </a:t>
            </a:r>
            <a:r>
              <a:rPr lang="en-US" altLang="ko-KR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Agent</a:t>
            </a:r>
            <a:r>
              <a:rPr lang="ko-KR" altLang="en-US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9AC467E-1154-2303-0888-893CE2FA7B4D}"/>
              </a:ext>
            </a:extLst>
          </p:cNvPr>
          <p:cNvSpPr txBox="1"/>
          <p:nvPr/>
        </p:nvSpPr>
        <p:spPr>
          <a:xfrm>
            <a:off x="4710767" y="5627020"/>
            <a:ext cx="2678203" cy="23166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72000" rIns="36000" rtlCol="0" anchor="ctr">
            <a:noAutofit/>
          </a:bodyPr>
          <a:lstStyle>
            <a:defPPr>
              <a:defRPr lang="en-US"/>
            </a:defPPr>
            <a:lvl1pPr>
              <a:defRPr sz="1000"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r>
              <a:rPr lang="ko-KR" altLang="en-US"/>
              <a:t>생산 운영 정보 저장 </a:t>
            </a:r>
            <a:r>
              <a:rPr lang="en-US" altLang="ko-KR"/>
              <a:t>· </a:t>
            </a:r>
            <a:r>
              <a:rPr lang="ko-KR" altLang="en-US"/>
              <a:t>분류 자동화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F3E19A62-A83F-4F21-3854-FE96132C4EC6}"/>
              </a:ext>
            </a:extLst>
          </p:cNvPr>
          <p:cNvSpPr/>
          <p:nvPr/>
        </p:nvSpPr>
        <p:spPr>
          <a:xfrm>
            <a:off x="6954839" y="5361899"/>
            <a:ext cx="386006" cy="167400"/>
          </a:xfrm>
          <a:prstGeom prst="roundRect">
            <a:avLst>
              <a:gd name="adj" fmla="val 18018"/>
            </a:avLst>
          </a:prstGeom>
          <a:solidFill>
            <a:schemeClr val="bg1">
              <a:lumMod val="50000"/>
            </a:schemeClr>
          </a:solidFill>
          <a:ln w="3175">
            <a:noFill/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자동화</a:t>
            </a:r>
            <a:endParaRPr kumimoji="1" lang="en-US" altLang="ko-KR" sz="900" ker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25F1B125-E076-F5FB-A895-703E3F186731}"/>
              </a:ext>
            </a:extLst>
          </p:cNvPr>
          <p:cNvSpPr/>
          <p:nvPr/>
        </p:nvSpPr>
        <p:spPr>
          <a:xfrm>
            <a:off x="6954839" y="5659151"/>
            <a:ext cx="386006" cy="167400"/>
          </a:xfrm>
          <a:prstGeom prst="roundRect">
            <a:avLst>
              <a:gd name="adj" fmla="val 18018"/>
            </a:avLst>
          </a:prstGeom>
          <a:solidFill>
            <a:schemeClr val="bg1">
              <a:lumMod val="50000"/>
            </a:schemeClr>
          </a:solidFill>
          <a:ln w="3175">
            <a:noFill/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자동화</a:t>
            </a:r>
            <a:endParaRPr kumimoji="1" lang="en-US" altLang="ko-KR" sz="900" ker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3821898-E304-30DF-E6F1-6CBA7BE9B3F5}"/>
              </a:ext>
            </a:extLst>
          </p:cNvPr>
          <p:cNvSpPr txBox="1"/>
          <p:nvPr/>
        </p:nvSpPr>
        <p:spPr>
          <a:xfrm>
            <a:off x="270722" y="2697755"/>
            <a:ext cx="147532" cy="147532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CABCF7D-B82E-C2A1-EF9D-3E81F79BF423}"/>
              </a:ext>
            </a:extLst>
          </p:cNvPr>
          <p:cNvSpPr txBox="1"/>
          <p:nvPr/>
        </p:nvSpPr>
        <p:spPr>
          <a:xfrm>
            <a:off x="4879234" y="3131089"/>
            <a:ext cx="147532" cy="147532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5D4C0B2-C829-4D76-4B64-94EB17EC4B77}"/>
              </a:ext>
            </a:extLst>
          </p:cNvPr>
          <p:cNvSpPr txBox="1"/>
          <p:nvPr/>
        </p:nvSpPr>
        <p:spPr>
          <a:xfrm>
            <a:off x="1426128" y="2708120"/>
            <a:ext cx="147532" cy="147532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5E5B2CC-B689-0478-DCFA-FD5654E4F9EA}"/>
              </a:ext>
            </a:extLst>
          </p:cNvPr>
          <p:cNvSpPr txBox="1"/>
          <p:nvPr/>
        </p:nvSpPr>
        <p:spPr>
          <a:xfrm>
            <a:off x="1426128" y="3136507"/>
            <a:ext cx="147532" cy="147532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06CD18E-2C2D-7A95-903F-59E1447A3243}"/>
              </a:ext>
            </a:extLst>
          </p:cNvPr>
          <p:cNvSpPr txBox="1"/>
          <p:nvPr/>
        </p:nvSpPr>
        <p:spPr>
          <a:xfrm>
            <a:off x="1426128" y="3570215"/>
            <a:ext cx="147532" cy="147532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FE0C95D-1EB9-999C-5168-5268CEDEF98E}"/>
              </a:ext>
            </a:extLst>
          </p:cNvPr>
          <p:cNvSpPr txBox="1"/>
          <p:nvPr/>
        </p:nvSpPr>
        <p:spPr>
          <a:xfrm>
            <a:off x="6040612" y="2716440"/>
            <a:ext cx="147532" cy="147532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CF7C03A-942E-4108-2468-1D85835DF5CB}"/>
              </a:ext>
            </a:extLst>
          </p:cNvPr>
          <p:cNvSpPr txBox="1"/>
          <p:nvPr/>
        </p:nvSpPr>
        <p:spPr>
          <a:xfrm>
            <a:off x="6040612" y="3131089"/>
            <a:ext cx="147532" cy="147532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6B52C66-0143-D366-F2E0-360C5415CE65}"/>
              </a:ext>
            </a:extLst>
          </p:cNvPr>
          <p:cNvSpPr txBox="1"/>
          <p:nvPr/>
        </p:nvSpPr>
        <p:spPr>
          <a:xfrm>
            <a:off x="6040612" y="3570215"/>
            <a:ext cx="147532" cy="147532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F98EBA-5E56-106E-3302-E4C11020C946}"/>
              </a:ext>
            </a:extLst>
          </p:cNvPr>
          <p:cNvSpPr txBox="1"/>
          <p:nvPr/>
        </p:nvSpPr>
        <p:spPr>
          <a:xfrm>
            <a:off x="2578588" y="3136507"/>
            <a:ext cx="147532" cy="147532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2ECCED-945B-D226-3473-BAC2542AD685}"/>
              </a:ext>
            </a:extLst>
          </p:cNvPr>
          <p:cNvSpPr txBox="1"/>
          <p:nvPr/>
        </p:nvSpPr>
        <p:spPr>
          <a:xfrm>
            <a:off x="2578588" y="2708120"/>
            <a:ext cx="147532" cy="147532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41E3030-D956-391D-D92C-AA38138FCC1C}"/>
              </a:ext>
            </a:extLst>
          </p:cNvPr>
          <p:cNvSpPr txBox="1"/>
          <p:nvPr/>
        </p:nvSpPr>
        <p:spPr>
          <a:xfrm>
            <a:off x="3731946" y="3570215"/>
            <a:ext cx="147532" cy="147532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E9F5588-08B5-470E-35DF-817B0C89E72A}"/>
              </a:ext>
            </a:extLst>
          </p:cNvPr>
          <p:cNvSpPr txBox="1"/>
          <p:nvPr/>
        </p:nvSpPr>
        <p:spPr>
          <a:xfrm>
            <a:off x="3731946" y="3136507"/>
            <a:ext cx="147532" cy="147532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16E70D8-9010-1007-EB9B-9090C9B5ED2D}"/>
              </a:ext>
            </a:extLst>
          </p:cNvPr>
          <p:cNvSpPr txBox="1"/>
          <p:nvPr/>
        </p:nvSpPr>
        <p:spPr>
          <a:xfrm>
            <a:off x="7201719" y="2716440"/>
            <a:ext cx="147532" cy="147532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BAC1A3B-C48A-2916-4C40-E5E588D08DE8}"/>
              </a:ext>
            </a:extLst>
          </p:cNvPr>
          <p:cNvSpPr txBox="1"/>
          <p:nvPr/>
        </p:nvSpPr>
        <p:spPr>
          <a:xfrm>
            <a:off x="7201719" y="3131089"/>
            <a:ext cx="147532" cy="147532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685CB0F-CAC6-60CC-C4A3-E027FC9FC621}"/>
              </a:ext>
            </a:extLst>
          </p:cNvPr>
          <p:cNvSpPr txBox="1"/>
          <p:nvPr/>
        </p:nvSpPr>
        <p:spPr>
          <a:xfrm>
            <a:off x="8358984" y="2716440"/>
            <a:ext cx="147532" cy="147532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6D1A57B-7AE3-36B3-2837-92EBA9294386}"/>
              </a:ext>
            </a:extLst>
          </p:cNvPr>
          <p:cNvSpPr txBox="1"/>
          <p:nvPr/>
        </p:nvSpPr>
        <p:spPr>
          <a:xfrm>
            <a:off x="8358984" y="3131089"/>
            <a:ext cx="147532" cy="147532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1" name="텍스트 개체 틀 4">
            <a:extLst>
              <a:ext uri="{FF2B5EF4-FFF2-40B4-BE49-F238E27FC236}">
                <a16:creationId xmlns:a16="http://schemas.microsoft.com/office/drawing/2014/main" id="{E0A7FC99-A587-242A-B8FD-811AB981D73B}"/>
              </a:ext>
            </a:extLst>
          </p:cNvPr>
          <p:cNvSpPr txBox="1">
            <a:spLocks/>
          </p:cNvSpPr>
          <p:nvPr/>
        </p:nvSpPr>
        <p:spPr>
          <a:xfrm>
            <a:off x="1386038" y="721134"/>
            <a:ext cx="8180064" cy="769485"/>
          </a:xfrm>
          <a:prstGeom prst="rect">
            <a:avLst/>
          </a:prstGeom>
          <a:pattFill prst="dkUp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 w="3175">
            <a:noFill/>
          </a:ln>
        </p:spPr>
        <p:txBody>
          <a:bodyPr vert="horz" lIns="108000" tIns="36000" rIns="36000" bIns="36000" rtlCol="0" anchor="ctr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2563" indent="-182563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ko-KR" altLang="en-US" sz="1200" b="0"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ngal Pro" panose="020B0502040204020203" pitchFamily="2" charset="0"/>
              </a:rPr>
              <a:t>공정 통합 모니터링 및 동적 최적화 모델 구축</a:t>
            </a:r>
            <a:endParaRPr lang="en-US" altLang="ko-KR" sz="1200" b="0">
              <a:solidFill>
                <a:prstClr val="black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cs typeface="Mangal Pro" panose="020B0502040204020203" pitchFamily="2" charset="0"/>
            </a:endParaRPr>
          </a:p>
          <a:p>
            <a:pPr marL="355600" indent="-173038" latinLnBrk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Font typeface="나눔스퀘어 ExtraBold" panose="020B0600000101010101" pitchFamily="50" charset="-127"/>
              <a:buChar char="-"/>
            </a:pPr>
            <a:r>
              <a:rPr lang="ko-KR" altLang="en-US" sz="1100" b="0">
                <a:solidFill>
                  <a:prstClr val="black"/>
                </a:solidFill>
                <a:cs typeface="Mangal Pro" panose="020B0502040204020203" pitchFamily="2" charset="0"/>
              </a:rPr>
              <a:t>목적 기반 지능형 공정 모니터링 체계 구현</a:t>
            </a:r>
            <a:endParaRPr lang="en-US" altLang="ko-KR" sz="1100" b="0">
              <a:solidFill>
                <a:prstClr val="black"/>
              </a:solidFill>
              <a:cs typeface="Mangal Pro" panose="020B0502040204020203" pitchFamily="2" charset="0"/>
            </a:endParaRPr>
          </a:p>
          <a:p>
            <a:pPr marL="355600" indent="-173038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나눔스퀘어 ExtraBold" panose="020B0600000101010101" pitchFamily="50" charset="-127"/>
              <a:buChar char="-"/>
            </a:pPr>
            <a:r>
              <a:rPr lang="ko-KR" altLang="en-US" sz="1100" b="0">
                <a:solidFill>
                  <a:prstClr val="black"/>
                </a:solidFill>
                <a:cs typeface="Mangal Pro" panose="020B0502040204020203" pitchFamily="2" charset="0"/>
              </a:rPr>
              <a:t>실시간 </a:t>
            </a:r>
            <a:r>
              <a:rPr lang="en-US" altLang="ko-KR" sz="1100" b="0">
                <a:solidFill>
                  <a:prstClr val="black"/>
                </a:solidFill>
                <a:cs typeface="Mangal Pro" panose="020B0502040204020203" pitchFamily="2" charset="0"/>
              </a:rPr>
              <a:t>Data</a:t>
            </a:r>
            <a:r>
              <a:rPr lang="ko-KR" altLang="en-US" sz="1100" b="0">
                <a:solidFill>
                  <a:prstClr val="black"/>
                </a:solidFill>
                <a:cs typeface="Mangal Pro" panose="020B0502040204020203" pitchFamily="2" charset="0"/>
              </a:rPr>
              <a:t> 연동형 공정 시뮬레이션 체계 구축</a:t>
            </a:r>
          </a:p>
        </p:txBody>
      </p:sp>
    </p:spTree>
    <p:extLst>
      <p:ext uri="{BB962C8B-B14F-4D97-AF65-F5344CB8AC3E}">
        <p14:creationId xmlns:p14="http://schemas.microsoft.com/office/powerpoint/2010/main" val="3784632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7DFA9-948D-E200-34ED-ED54C409D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CE7F0EA-1007-B78A-811E-E738A4C7BEF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4487" y="254884"/>
            <a:ext cx="4940776" cy="343235"/>
          </a:xfrm>
          <a:solidFill>
            <a:schemeClr val="bg1"/>
          </a:solidFill>
        </p:spPr>
        <p:txBody>
          <a:bodyPr wrap="none" anchor="ctr">
            <a:spAutoFit/>
          </a:bodyPr>
          <a:lstStyle/>
          <a:p>
            <a:r>
              <a:rPr lang="en-US" altLang="ko-KR" b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Appendix. [</a:t>
            </a:r>
            <a:r>
              <a:rPr lang="ko-KR" altLang="en-US" b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생산기술</a:t>
            </a:r>
            <a:r>
              <a:rPr lang="en-US" altLang="ko-KR" b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] </a:t>
            </a:r>
            <a:r>
              <a:rPr lang="ko-KR" altLang="en-US" b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공정 최적화 및 개선 </a:t>
            </a:r>
            <a:r>
              <a:rPr lang="en-US" altLang="ko-KR" b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(3/3)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14EA791C-CF47-653C-2AE0-A30E154EB42C}"/>
              </a:ext>
            </a:extLst>
          </p:cNvPr>
          <p:cNvCxnSpPr>
            <a:cxnSpLocks/>
          </p:cNvCxnSpPr>
          <p:nvPr/>
        </p:nvCxnSpPr>
        <p:spPr>
          <a:xfrm>
            <a:off x="344488" y="1768835"/>
            <a:ext cx="9221614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6BCB1B2-0FD8-CB70-74AC-0A59D2027CFF}"/>
              </a:ext>
            </a:extLst>
          </p:cNvPr>
          <p:cNvSpPr/>
          <p:nvPr/>
        </p:nvSpPr>
        <p:spPr>
          <a:xfrm>
            <a:off x="344490" y="1547834"/>
            <a:ext cx="570257" cy="171734"/>
          </a:xfrm>
          <a:prstGeom prst="rect">
            <a:avLst/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1000" b="1">
                <a:latin typeface="나눔스퀘어" panose="020B0600000101010101" pitchFamily="50" charset="-127"/>
                <a:ea typeface="나눔스퀘어" panose="020B0600000101010101" pitchFamily="50" charset="-127"/>
              </a:rPr>
              <a:t>Process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55C2F5A-FE8A-7725-4800-34EC0279C7B0}"/>
              </a:ext>
            </a:extLst>
          </p:cNvPr>
          <p:cNvSpPr/>
          <p:nvPr/>
        </p:nvSpPr>
        <p:spPr>
          <a:xfrm>
            <a:off x="955677" y="1547834"/>
            <a:ext cx="570257" cy="171734"/>
          </a:xfrm>
          <a:prstGeom prst="rect">
            <a:avLst/>
          </a:prstGeom>
          <a:solidFill>
            <a:schemeClr val="bg1">
              <a:lumMod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Activity</a:t>
            </a:r>
          </a:p>
        </p:txBody>
      </p:sp>
      <p:sp>
        <p:nvSpPr>
          <p:cNvPr id="129" name="사각형: 둥근 모서리 128">
            <a:extLst>
              <a:ext uri="{FF2B5EF4-FFF2-40B4-BE49-F238E27FC236}">
                <a16:creationId xmlns:a16="http://schemas.microsoft.com/office/drawing/2014/main" id="{4AECD57C-F197-B95B-08A9-9729146F6543}"/>
              </a:ext>
            </a:extLst>
          </p:cNvPr>
          <p:cNvSpPr/>
          <p:nvPr/>
        </p:nvSpPr>
        <p:spPr>
          <a:xfrm>
            <a:off x="4031571" y="1640841"/>
            <a:ext cx="1847448" cy="25598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rgbClr val="217C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To-Be </a:t>
            </a:r>
            <a:r>
              <a:rPr lang="ko-KR" altLang="en-US" sz="1200">
                <a:solidFill>
                  <a:schemeClr val="tx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업무 시나리오</a:t>
            </a:r>
          </a:p>
        </p:txBody>
      </p:sp>
      <p:sp>
        <p:nvSpPr>
          <p:cNvPr id="143" name="사각형: 둥근 모서리 142">
            <a:extLst>
              <a:ext uri="{FF2B5EF4-FFF2-40B4-BE49-F238E27FC236}">
                <a16:creationId xmlns:a16="http://schemas.microsoft.com/office/drawing/2014/main" id="{AD44E041-A3F2-1593-B1A0-A4CDDCAFA982}"/>
              </a:ext>
            </a:extLst>
          </p:cNvPr>
          <p:cNvSpPr/>
          <p:nvPr/>
        </p:nvSpPr>
        <p:spPr>
          <a:xfrm>
            <a:off x="344488" y="721134"/>
            <a:ext cx="941772" cy="763179"/>
          </a:xfrm>
          <a:prstGeom prst="roundRect">
            <a:avLst>
              <a:gd name="adj" fmla="val 0"/>
            </a:avLst>
          </a:prstGeom>
          <a:solidFill>
            <a:srgbClr val="217CFA"/>
          </a:solidFill>
          <a:ln w="6350">
            <a:solidFill>
              <a:srgbClr val="217C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Digital</a:t>
            </a:r>
            <a:r>
              <a:rPr lang="ko-KR" altLang="en-US" sz="130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화 지향점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C4B09DAA-23CC-6915-06CC-EF4E03D46F1B}"/>
              </a:ext>
            </a:extLst>
          </p:cNvPr>
          <p:cNvSpPr/>
          <p:nvPr/>
        </p:nvSpPr>
        <p:spPr>
          <a:xfrm>
            <a:off x="8926185" y="1553252"/>
            <a:ext cx="635326" cy="160797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solidFill>
                  <a:schemeClr val="bg1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삭제 업무</a:t>
            </a:r>
            <a:endParaRPr kumimoji="1" lang="en-US" altLang="ko-KR" sz="900" kern="0">
              <a:solidFill>
                <a:schemeClr val="bg1">
                  <a:lumMod val="7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B3539591-5D5E-953F-73E6-7A1D63CA8C3A}"/>
              </a:ext>
            </a:extLst>
          </p:cNvPr>
          <p:cNvSpPr/>
          <p:nvPr/>
        </p:nvSpPr>
        <p:spPr>
          <a:xfrm>
            <a:off x="7552890" y="1553252"/>
            <a:ext cx="635326" cy="160797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AI/DT </a:t>
            </a: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신규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5AD2BCAA-FEE7-A9BE-3DA6-09F61B411065}"/>
              </a:ext>
            </a:extLst>
          </p:cNvPr>
          <p:cNvSpPr/>
          <p:nvPr/>
        </p:nvSpPr>
        <p:spPr>
          <a:xfrm>
            <a:off x="8239537" y="1553252"/>
            <a:ext cx="635326" cy="160797"/>
          </a:xfrm>
          <a:prstGeom prst="roundRect">
            <a:avLst/>
          </a:prstGeom>
          <a:pattFill prst="ltUpDiag">
            <a:fgClr>
              <a:srgbClr val="C4DCF2"/>
            </a:fgClr>
            <a:bgClr>
              <a:schemeClr val="bg1"/>
            </a:bgClr>
          </a:pattFill>
          <a:ln w="3175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Digital </a:t>
            </a: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기존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1152EF3D-E1FE-14B1-020D-95EFA0943D98}"/>
              </a:ext>
            </a:extLst>
          </p:cNvPr>
          <p:cNvCxnSpPr>
            <a:cxnSpLocks/>
          </p:cNvCxnSpPr>
          <p:nvPr/>
        </p:nvCxnSpPr>
        <p:spPr>
          <a:xfrm>
            <a:off x="344488" y="4859066"/>
            <a:ext cx="9221614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39D12BA2-B5D7-C218-C675-18381F2925CA}"/>
              </a:ext>
            </a:extLst>
          </p:cNvPr>
          <p:cNvSpPr/>
          <p:nvPr/>
        </p:nvSpPr>
        <p:spPr>
          <a:xfrm>
            <a:off x="4031571" y="4731072"/>
            <a:ext cx="1847448" cy="25598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rgbClr val="217C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주요</a:t>
            </a:r>
            <a:r>
              <a:rPr lang="en-US" altLang="ko-KR" sz="1200">
                <a:solidFill>
                  <a:schemeClr val="tx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ko-KR" altLang="en-US" sz="1200">
                <a:solidFill>
                  <a:schemeClr val="tx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추진 사항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A233651-28C2-0112-F5C1-2D5B96270646}"/>
              </a:ext>
            </a:extLst>
          </p:cNvPr>
          <p:cNvSpPr txBox="1"/>
          <p:nvPr/>
        </p:nvSpPr>
        <p:spPr>
          <a:xfrm>
            <a:off x="673770" y="5073302"/>
            <a:ext cx="3936732" cy="200435"/>
          </a:xfrm>
          <a:prstGeom prst="rect">
            <a:avLst/>
          </a:prstGeom>
          <a:noFill/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ko-KR" altLang="en-US" sz="1100" u="sng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변화 </a:t>
            </a:r>
            <a:r>
              <a:rPr lang="en-US" altLang="ko-KR" sz="1100" u="sng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Point</a:t>
            </a:r>
            <a:endParaRPr lang="ko-KR" altLang="en-US" sz="1100" u="sng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2333CEB-E2D8-3BBA-E418-91C26FF03FC2}"/>
              </a:ext>
            </a:extLst>
          </p:cNvPr>
          <p:cNvSpPr txBox="1"/>
          <p:nvPr/>
        </p:nvSpPr>
        <p:spPr>
          <a:xfrm>
            <a:off x="7489234" y="5073302"/>
            <a:ext cx="2072281" cy="200435"/>
          </a:xfrm>
          <a:prstGeom prst="rect">
            <a:avLst/>
          </a:prstGeom>
          <a:noFill/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ko-KR" altLang="en-US" sz="1100" u="sng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업무 개선 사항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0B7CA47-AD68-A283-4732-538563B9D008}"/>
              </a:ext>
            </a:extLst>
          </p:cNvPr>
          <p:cNvSpPr txBox="1"/>
          <p:nvPr/>
        </p:nvSpPr>
        <p:spPr>
          <a:xfrm>
            <a:off x="4710767" y="5073302"/>
            <a:ext cx="2678203" cy="200435"/>
          </a:xfrm>
          <a:prstGeom prst="rect">
            <a:avLst/>
          </a:prstGeom>
          <a:noFill/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100" u="sng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Digital</a:t>
            </a:r>
            <a:r>
              <a:rPr lang="ko-KR" altLang="en-US" sz="1100" u="sng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화 기회</a:t>
            </a:r>
          </a:p>
        </p:txBody>
      </p:sp>
      <p:sp>
        <p:nvSpPr>
          <p:cNvPr id="5" name="화살표: 오각형 4">
            <a:extLst>
              <a:ext uri="{FF2B5EF4-FFF2-40B4-BE49-F238E27FC236}">
                <a16:creationId xmlns:a16="http://schemas.microsoft.com/office/drawing/2014/main" id="{A3A431F8-F28D-1337-5481-5C32D592EF21}"/>
              </a:ext>
            </a:extLst>
          </p:cNvPr>
          <p:cNvSpPr/>
          <p:nvPr/>
        </p:nvSpPr>
        <p:spPr>
          <a:xfrm>
            <a:off x="344485" y="2211778"/>
            <a:ext cx="2195516" cy="349200"/>
          </a:xfrm>
          <a:prstGeom prst="homePlate">
            <a:avLst>
              <a:gd name="adj" fmla="val 24867"/>
            </a:avLst>
          </a:prstGeom>
          <a:solidFill>
            <a:schemeClr val="bg1">
              <a:lumMod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ko-KR" altLang="en-US" sz="900" b="1">
                <a:latin typeface="나눔스퀘어" panose="020B0600000101010101" pitchFamily="50" charset="-127"/>
                <a:ea typeface="나눔스퀘어" panose="020B0600000101010101" pitchFamily="50" charset="-127"/>
              </a:rPr>
              <a:t>촉매 구매 </a:t>
            </a:r>
            <a:r>
              <a:rPr lang="en-US" altLang="ko-KR" sz="900" b="1">
                <a:latin typeface="나눔스퀘어" panose="020B0600000101010101" pitchFamily="50" charset="-127"/>
                <a:ea typeface="나눔스퀘어" panose="020B0600000101010101" pitchFamily="50" charset="-127"/>
              </a:rPr>
              <a:t>ITB </a:t>
            </a:r>
            <a:r>
              <a:rPr lang="ko-KR" altLang="en-US" sz="900" b="1">
                <a:latin typeface="나눔스퀘어" panose="020B0600000101010101" pitchFamily="50" charset="-127"/>
                <a:ea typeface="나눔스퀘어" panose="020B0600000101010101" pitchFamily="50" charset="-127"/>
              </a:rPr>
              <a:t>발송 및 </a:t>
            </a:r>
            <a:r>
              <a:rPr lang="en-US" altLang="ko-KR" sz="900" b="1">
                <a:latin typeface="나눔스퀘어" panose="020B0600000101010101" pitchFamily="50" charset="-127"/>
                <a:ea typeface="나눔스퀘어" panose="020B0600000101010101" pitchFamily="50" charset="-127"/>
              </a:rPr>
              <a:t>Proposal </a:t>
            </a:r>
            <a:r>
              <a:rPr lang="ko-KR" altLang="en-US" sz="900" b="1">
                <a:latin typeface="나눔스퀘어" panose="020B0600000101010101" pitchFamily="50" charset="-127"/>
                <a:ea typeface="나눔스퀘어" panose="020B0600000101010101" pitchFamily="50" charset="-127"/>
              </a:rPr>
              <a:t>접수</a:t>
            </a:r>
          </a:p>
        </p:txBody>
      </p:sp>
      <p:sp>
        <p:nvSpPr>
          <p:cNvPr id="6" name="화살표: 오각형 5">
            <a:extLst>
              <a:ext uri="{FF2B5EF4-FFF2-40B4-BE49-F238E27FC236}">
                <a16:creationId xmlns:a16="http://schemas.microsoft.com/office/drawing/2014/main" id="{BAA957B4-FFD1-7888-04F3-8DEA0BCDED9A}"/>
              </a:ext>
            </a:extLst>
          </p:cNvPr>
          <p:cNvSpPr/>
          <p:nvPr/>
        </p:nvSpPr>
        <p:spPr>
          <a:xfrm>
            <a:off x="2667205" y="2211778"/>
            <a:ext cx="2195516" cy="349200"/>
          </a:xfrm>
          <a:prstGeom prst="homePlate">
            <a:avLst>
              <a:gd name="adj" fmla="val 24867"/>
            </a:avLst>
          </a:prstGeom>
          <a:solidFill>
            <a:schemeClr val="bg1">
              <a:lumMod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ko-KR" altLang="en-US" sz="900" b="1">
                <a:latin typeface="나눔스퀘어" panose="020B0600000101010101" pitchFamily="50" charset="-127"/>
                <a:ea typeface="나눔스퀘어" panose="020B0600000101010101" pitchFamily="50" charset="-127"/>
              </a:rPr>
              <a:t>촉매 테스트 실시</a:t>
            </a:r>
          </a:p>
        </p:txBody>
      </p:sp>
      <p:sp>
        <p:nvSpPr>
          <p:cNvPr id="8" name="화살표: 오각형 7">
            <a:extLst>
              <a:ext uri="{FF2B5EF4-FFF2-40B4-BE49-F238E27FC236}">
                <a16:creationId xmlns:a16="http://schemas.microsoft.com/office/drawing/2014/main" id="{B9388B76-8DF7-A42D-DFBF-634A61E54003}"/>
              </a:ext>
            </a:extLst>
          </p:cNvPr>
          <p:cNvSpPr/>
          <p:nvPr/>
        </p:nvSpPr>
        <p:spPr>
          <a:xfrm>
            <a:off x="5043796" y="2211778"/>
            <a:ext cx="2196761" cy="349200"/>
          </a:xfrm>
          <a:prstGeom prst="homePlate">
            <a:avLst>
              <a:gd name="adj" fmla="val 24867"/>
            </a:avLst>
          </a:prstGeom>
          <a:solidFill>
            <a:schemeClr val="bg1">
              <a:lumMod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ko-KR" altLang="en-US" sz="900" b="1">
                <a:latin typeface="나눔스퀘어" panose="020B0600000101010101" pitchFamily="50" charset="-127"/>
                <a:ea typeface="나눔스퀘어" panose="020B0600000101010101" pitchFamily="50" charset="-127"/>
              </a:rPr>
              <a:t>촉매 기술 성능 평가</a:t>
            </a:r>
          </a:p>
        </p:txBody>
      </p:sp>
      <p:sp>
        <p:nvSpPr>
          <p:cNvPr id="21" name="화살표: 오각형 20">
            <a:extLst>
              <a:ext uri="{FF2B5EF4-FFF2-40B4-BE49-F238E27FC236}">
                <a16:creationId xmlns:a16="http://schemas.microsoft.com/office/drawing/2014/main" id="{99830CB3-2593-68DB-7D29-CDF0D1644571}"/>
              </a:ext>
            </a:extLst>
          </p:cNvPr>
          <p:cNvSpPr/>
          <p:nvPr/>
        </p:nvSpPr>
        <p:spPr>
          <a:xfrm>
            <a:off x="7365091" y="2211778"/>
            <a:ext cx="2196761" cy="349200"/>
          </a:xfrm>
          <a:prstGeom prst="homePlate">
            <a:avLst>
              <a:gd name="adj" fmla="val 24867"/>
            </a:avLst>
          </a:prstGeom>
          <a:solidFill>
            <a:schemeClr val="bg1">
              <a:lumMod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ko-KR" altLang="en-US" sz="900" b="1">
                <a:latin typeface="나눔스퀘어" panose="020B0600000101010101" pitchFamily="50" charset="-127"/>
                <a:ea typeface="나눔스퀘어" panose="020B0600000101010101" pitchFamily="50" charset="-127"/>
              </a:rPr>
              <a:t>계약 조건 검토 및 협상 지원</a:t>
            </a:r>
          </a:p>
        </p:txBody>
      </p:sp>
      <p:sp>
        <p:nvSpPr>
          <p:cNvPr id="23" name="화살표: 오각형 22">
            <a:extLst>
              <a:ext uri="{FF2B5EF4-FFF2-40B4-BE49-F238E27FC236}">
                <a16:creationId xmlns:a16="http://schemas.microsoft.com/office/drawing/2014/main" id="{1BEBE2DB-7724-5D27-5C8B-5EDEE65FA9F4}"/>
              </a:ext>
            </a:extLst>
          </p:cNvPr>
          <p:cNvSpPr/>
          <p:nvPr/>
        </p:nvSpPr>
        <p:spPr>
          <a:xfrm>
            <a:off x="344489" y="1964217"/>
            <a:ext cx="9217021" cy="201600"/>
          </a:xfrm>
          <a:prstGeom prst="homePlate">
            <a:avLst>
              <a:gd name="adj" fmla="val 24867"/>
            </a:avLst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ko-KR" altLang="en-US" sz="1000" b="1">
                <a:latin typeface="나눔스퀘어" panose="020B0600000101010101" pitchFamily="50" charset="-127"/>
                <a:ea typeface="나눔스퀘어" panose="020B0600000101010101" pitchFamily="50" charset="-127"/>
              </a:rPr>
              <a:t>촉매 기술 평가</a:t>
            </a:r>
            <a:endParaRPr lang="en-US" altLang="ko-KR" sz="1000" b="1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05CF3CA8-429C-6268-7C5F-41DC456C262C}"/>
              </a:ext>
            </a:extLst>
          </p:cNvPr>
          <p:cNvSpPr/>
          <p:nvPr/>
        </p:nvSpPr>
        <p:spPr>
          <a:xfrm>
            <a:off x="344486" y="3043247"/>
            <a:ext cx="2112052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제안서 접수 및 기본 검토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A740DC0A-8CD6-4FAE-E1E2-F773191E9DF0}"/>
              </a:ext>
            </a:extLst>
          </p:cNvPr>
          <p:cNvSpPr/>
          <p:nvPr/>
        </p:nvSpPr>
        <p:spPr>
          <a:xfrm>
            <a:off x="2667204" y="3476581"/>
            <a:ext cx="2112052" cy="334800"/>
          </a:xfrm>
          <a:prstGeom prst="roundRect">
            <a:avLst/>
          </a:prstGeom>
          <a:pattFill prst="ltUpDiag">
            <a:fgClr>
              <a:srgbClr val="C4DCF2"/>
            </a:fgClr>
            <a:bgClr>
              <a:schemeClr val="bg1"/>
            </a:bgClr>
          </a:pattFill>
          <a:ln w="3175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Commercial </a:t>
            </a: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테스트 실시 및 평가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(DCS,</a:t>
            </a: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PMS)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39DF0F2A-9132-25E9-4D8E-7A6C23A4DDF5}"/>
              </a:ext>
            </a:extLst>
          </p:cNvPr>
          <p:cNvSpPr/>
          <p:nvPr/>
        </p:nvSpPr>
        <p:spPr>
          <a:xfrm>
            <a:off x="2667204" y="3043247"/>
            <a:ext cx="2112052" cy="334800"/>
          </a:xfrm>
          <a:prstGeom prst="roundRect">
            <a:avLst/>
          </a:prstGeom>
          <a:pattFill prst="ltUpDiag">
            <a:fgClr>
              <a:srgbClr val="C4DCF2"/>
            </a:fgClr>
            <a:bgClr>
              <a:schemeClr val="bg1"/>
            </a:bgClr>
          </a:pattFill>
          <a:ln w="3175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Pilot </a:t>
            </a: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테스트 실시 및 평가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(DCS, PMS)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D6C9A052-5D5E-D693-F05B-731F8D0F2932}"/>
              </a:ext>
            </a:extLst>
          </p:cNvPr>
          <p:cNvSpPr/>
          <p:nvPr/>
        </p:nvSpPr>
        <p:spPr>
          <a:xfrm>
            <a:off x="5043796" y="3476581"/>
            <a:ext cx="2112052" cy="334800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종합 평가 및 우선순위 결정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C65B19E6-ED01-1CE1-C638-25305958EFBC}"/>
              </a:ext>
            </a:extLst>
          </p:cNvPr>
          <p:cNvSpPr/>
          <p:nvPr/>
        </p:nvSpPr>
        <p:spPr>
          <a:xfrm>
            <a:off x="5043796" y="3043247"/>
            <a:ext cx="2112052" cy="334800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경제성 및 </a:t>
            </a:r>
            <a:r>
              <a:rPr kumimoji="1" lang="ko-KR" altLang="en-US" sz="900" b="1" kern="0" err="1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운영성</a:t>
            </a: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평가</a:t>
            </a:r>
            <a:br>
              <a:rPr kumimoji="1" lang="en-US" altLang="ko-KR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</a:br>
            <a:r>
              <a:rPr kumimoji="1" lang="en-US" altLang="ko-KR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(</a:t>
            </a: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교체 주기</a:t>
            </a:r>
            <a:r>
              <a:rPr kumimoji="1" lang="en-US" altLang="ko-KR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, </a:t>
            </a: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운전 비용</a:t>
            </a:r>
            <a:r>
              <a:rPr kumimoji="1" lang="en-US" altLang="ko-KR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)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660C19EC-48C1-9591-919A-262B866F2216}"/>
              </a:ext>
            </a:extLst>
          </p:cNvPr>
          <p:cNvSpPr/>
          <p:nvPr/>
        </p:nvSpPr>
        <p:spPr>
          <a:xfrm>
            <a:off x="344486" y="2604121"/>
            <a:ext cx="2113135" cy="334800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촉매 구매 </a:t>
            </a:r>
            <a:r>
              <a:rPr kumimoji="1" lang="en-US" altLang="ko-KR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ITB </a:t>
            </a: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문서 작성</a:t>
            </a:r>
            <a:br>
              <a:rPr kumimoji="1" lang="en-US" altLang="ko-KR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</a:br>
            <a:r>
              <a:rPr kumimoji="1" lang="en-US" altLang="ko-KR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(</a:t>
            </a: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사양</a:t>
            </a:r>
            <a:r>
              <a:rPr kumimoji="1" lang="en-US" altLang="ko-KR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, </a:t>
            </a: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성능 보증 조건</a:t>
            </a:r>
            <a:r>
              <a:rPr kumimoji="1" lang="en-US" altLang="ko-KR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, </a:t>
            </a: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평가 기준</a:t>
            </a:r>
            <a:r>
              <a:rPr kumimoji="1" lang="en-US" altLang="ko-KR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)</a:t>
            </a: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2B41988A-E84A-AD98-D2A7-B7B6415B1D8A}"/>
              </a:ext>
            </a:extLst>
          </p:cNvPr>
          <p:cNvSpPr/>
          <p:nvPr/>
        </p:nvSpPr>
        <p:spPr>
          <a:xfrm>
            <a:off x="2667204" y="2604121"/>
            <a:ext cx="2113135" cy="334800"/>
          </a:xfrm>
          <a:prstGeom prst="roundRect">
            <a:avLst/>
          </a:prstGeom>
          <a:pattFill prst="ltUpDiag">
            <a:fgClr>
              <a:srgbClr val="C4DCF2"/>
            </a:fgClr>
            <a:bgClr>
              <a:schemeClr val="bg1"/>
            </a:bgClr>
          </a:pattFill>
          <a:ln w="3175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Lab </a:t>
            </a: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테스트 실시 및 평가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(DCS, PMS)</a:t>
            </a: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5C08E727-D9C0-1421-34B2-1531DD20BC42}"/>
              </a:ext>
            </a:extLst>
          </p:cNvPr>
          <p:cNvSpPr/>
          <p:nvPr/>
        </p:nvSpPr>
        <p:spPr>
          <a:xfrm>
            <a:off x="5043796" y="2604121"/>
            <a:ext cx="2113135" cy="334800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기술 성능 평가</a:t>
            </a:r>
            <a:br>
              <a:rPr kumimoji="1" lang="en-US" altLang="ko-KR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</a:br>
            <a:r>
              <a:rPr kumimoji="1" lang="en-US" altLang="ko-KR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(</a:t>
            </a: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활성도</a:t>
            </a:r>
            <a:r>
              <a:rPr kumimoji="1" lang="en-US" altLang="ko-KR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, </a:t>
            </a: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내구성</a:t>
            </a:r>
            <a:r>
              <a:rPr kumimoji="1" lang="en-US" altLang="ko-KR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, </a:t>
            </a: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수율</a:t>
            </a:r>
            <a:r>
              <a:rPr kumimoji="1" lang="en-US" altLang="ko-KR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)</a:t>
            </a: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BFE0AA38-2F90-71B4-6963-D8AA659754AA}"/>
              </a:ext>
            </a:extLst>
          </p:cNvPr>
          <p:cNvSpPr/>
          <p:nvPr/>
        </p:nvSpPr>
        <p:spPr>
          <a:xfrm>
            <a:off x="7366514" y="3043247"/>
            <a:ext cx="2113135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기술 사양 관련 조항 검토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cxnSp>
        <p:nvCxnSpPr>
          <p:cNvPr id="128" name="직선 화살표 연결선 127">
            <a:extLst>
              <a:ext uri="{FF2B5EF4-FFF2-40B4-BE49-F238E27FC236}">
                <a16:creationId xmlns:a16="http://schemas.microsoft.com/office/drawing/2014/main" id="{1C86AD18-3FE9-0D70-938A-BCC3D51753B3}"/>
              </a:ext>
            </a:extLst>
          </p:cNvPr>
          <p:cNvCxnSpPr>
            <a:cxnSpLocks/>
            <a:stCxn id="40" idx="2"/>
            <a:endCxn id="25" idx="0"/>
          </p:cNvCxnSpPr>
          <p:nvPr/>
        </p:nvCxnSpPr>
        <p:spPr>
          <a:xfrm flipH="1">
            <a:off x="1400512" y="2938921"/>
            <a:ext cx="542" cy="104326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직선 화살표 연결선 132">
            <a:extLst>
              <a:ext uri="{FF2B5EF4-FFF2-40B4-BE49-F238E27FC236}">
                <a16:creationId xmlns:a16="http://schemas.microsoft.com/office/drawing/2014/main" id="{BAC8AA85-77FE-BACC-443F-BBB6BA5711F9}"/>
              </a:ext>
            </a:extLst>
          </p:cNvPr>
          <p:cNvCxnSpPr>
            <a:cxnSpLocks/>
            <a:stCxn id="45" idx="2"/>
            <a:endCxn id="32" idx="0"/>
          </p:cNvCxnSpPr>
          <p:nvPr/>
        </p:nvCxnSpPr>
        <p:spPr>
          <a:xfrm flipH="1">
            <a:off x="3723230" y="2938921"/>
            <a:ext cx="542" cy="104326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직선 화살표 연결선 133">
            <a:extLst>
              <a:ext uri="{FF2B5EF4-FFF2-40B4-BE49-F238E27FC236}">
                <a16:creationId xmlns:a16="http://schemas.microsoft.com/office/drawing/2014/main" id="{21B9E8C6-07A6-4FA0-88BB-3F3FA158BA8B}"/>
              </a:ext>
            </a:extLst>
          </p:cNvPr>
          <p:cNvCxnSpPr>
            <a:cxnSpLocks/>
            <a:stCxn id="56" idx="2"/>
            <a:endCxn id="38" idx="0"/>
          </p:cNvCxnSpPr>
          <p:nvPr/>
        </p:nvCxnSpPr>
        <p:spPr>
          <a:xfrm flipH="1">
            <a:off x="6099822" y="2938921"/>
            <a:ext cx="542" cy="104326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직선 화살표 연결선 134">
            <a:extLst>
              <a:ext uri="{FF2B5EF4-FFF2-40B4-BE49-F238E27FC236}">
                <a16:creationId xmlns:a16="http://schemas.microsoft.com/office/drawing/2014/main" id="{2D9D7F87-EAB4-1275-41B5-65F18FA3A8D1}"/>
              </a:ext>
            </a:extLst>
          </p:cNvPr>
          <p:cNvCxnSpPr>
            <a:cxnSpLocks/>
            <a:stCxn id="38" idx="2"/>
            <a:endCxn id="33" idx="0"/>
          </p:cNvCxnSpPr>
          <p:nvPr/>
        </p:nvCxnSpPr>
        <p:spPr>
          <a:xfrm>
            <a:off x="6099822" y="3378047"/>
            <a:ext cx="0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사각형: 둥근 모서리 155">
            <a:extLst>
              <a:ext uri="{FF2B5EF4-FFF2-40B4-BE49-F238E27FC236}">
                <a16:creationId xmlns:a16="http://schemas.microsoft.com/office/drawing/2014/main" id="{83CD05F7-257B-F2FC-BA5A-17AC1527452B}"/>
              </a:ext>
            </a:extLst>
          </p:cNvPr>
          <p:cNvSpPr/>
          <p:nvPr/>
        </p:nvSpPr>
        <p:spPr>
          <a:xfrm>
            <a:off x="7365972" y="2604121"/>
            <a:ext cx="2113135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기술적 조건 설정</a:t>
            </a:r>
            <a:b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</a:br>
            <a: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(</a:t>
            </a: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납기</a:t>
            </a:r>
            <a: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, </a:t>
            </a: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기술지원</a:t>
            </a:r>
            <a: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)</a:t>
            </a:r>
          </a:p>
        </p:txBody>
      </p:sp>
      <p:cxnSp>
        <p:nvCxnSpPr>
          <p:cNvPr id="157" name="직선 화살표 연결선 156">
            <a:extLst>
              <a:ext uri="{FF2B5EF4-FFF2-40B4-BE49-F238E27FC236}">
                <a16:creationId xmlns:a16="http://schemas.microsoft.com/office/drawing/2014/main" id="{374D9973-9419-A26F-D95C-87E5CBE72DB8}"/>
              </a:ext>
            </a:extLst>
          </p:cNvPr>
          <p:cNvCxnSpPr>
            <a:cxnSpLocks/>
            <a:stCxn id="156" idx="2"/>
            <a:endCxn id="61" idx="0"/>
          </p:cNvCxnSpPr>
          <p:nvPr/>
        </p:nvCxnSpPr>
        <p:spPr>
          <a:xfrm>
            <a:off x="8422540" y="2938921"/>
            <a:ext cx="542" cy="104326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직선 화살표 연결선 183">
            <a:extLst>
              <a:ext uri="{FF2B5EF4-FFF2-40B4-BE49-F238E27FC236}">
                <a16:creationId xmlns:a16="http://schemas.microsoft.com/office/drawing/2014/main" id="{317A4EEC-C41C-8734-08F0-0B66B96F1E7E}"/>
              </a:ext>
            </a:extLst>
          </p:cNvPr>
          <p:cNvCxnSpPr>
            <a:cxnSpLocks/>
            <a:stCxn id="32" idx="2"/>
            <a:endCxn id="26" idx="0"/>
          </p:cNvCxnSpPr>
          <p:nvPr/>
        </p:nvCxnSpPr>
        <p:spPr>
          <a:xfrm>
            <a:off x="3723230" y="3378047"/>
            <a:ext cx="0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연결선: 꺾임 189">
            <a:extLst>
              <a:ext uri="{FF2B5EF4-FFF2-40B4-BE49-F238E27FC236}">
                <a16:creationId xmlns:a16="http://schemas.microsoft.com/office/drawing/2014/main" id="{386395F5-3036-4AA0-CEB6-2E7280C42956}"/>
              </a:ext>
            </a:extLst>
          </p:cNvPr>
          <p:cNvCxnSpPr>
            <a:cxnSpLocks/>
            <a:stCxn id="33" idx="3"/>
            <a:endCxn id="156" idx="1"/>
          </p:cNvCxnSpPr>
          <p:nvPr/>
        </p:nvCxnSpPr>
        <p:spPr>
          <a:xfrm flipV="1">
            <a:off x="7155848" y="2771521"/>
            <a:ext cx="210124" cy="872460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연결선: 꺾임 10">
            <a:extLst>
              <a:ext uri="{FF2B5EF4-FFF2-40B4-BE49-F238E27FC236}">
                <a16:creationId xmlns:a16="http://schemas.microsoft.com/office/drawing/2014/main" id="{04E017D4-DD9D-A4DC-7C0D-8AC82140480C}"/>
              </a:ext>
            </a:extLst>
          </p:cNvPr>
          <p:cNvCxnSpPr>
            <a:cxnSpLocks/>
            <a:stCxn id="26" idx="3"/>
            <a:endCxn id="56" idx="1"/>
          </p:cNvCxnSpPr>
          <p:nvPr/>
        </p:nvCxnSpPr>
        <p:spPr>
          <a:xfrm flipV="1">
            <a:off x="4779256" y="2771521"/>
            <a:ext cx="264540" cy="872460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FFB7173-FB15-2376-7880-3CE22ED499EE}"/>
              </a:ext>
            </a:extLst>
          </p:cNvPr>
          <p:cNvSpPr txBox="1"/>
          <p:nvPr/>
        </p:nvSpPr>
        <p:spPr>
          <a:xfrm>
            <a:off x="673770" y="5329768"/>
            <a:ext cx="3936732" cy="23166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72000" rIns="36000" rtlCol="0" anchor="ctr">
            <a:noAutofit/>
          </a:bodyPr>
          <a:lstStyle/>
          <a:p>
            <a:r>
              <a:rPr lang="ko-KR" altLang="en-US" sz="1000" spc="-5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유사 보고서 검색</a:t>
            </a:r>
            <a:r>
              <a:rPr lang="en-US" altLang="ko-KR" sz="1000" spc="-5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spc="-5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경험 기반 보고서 작성 → 축적된 보고서 기반으로 초안 제공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AFE65B-AC42-512E-5599-8D59DF6D6EBC}"/>
              </a:ext>
            </a:extLst>
          </p:cNvPr>
          <p:cNvSpPr txBox="1"/>
          <p:nvPr/>
        </p:nvSpPr>
        <p:spPr>
          <a:xfrm>
            <a:off x="673770" y="5627020"/>
            <a:ext cx="3936732" cy="23166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72000" rIns="36000" rtlCol="0" anchor="ctr">
            <a:noAutofit/>
          </a:bodyPr>
          <a:lstStyle/>
          <a:p>
            <a:r>
              <a:rPr lang="ko-KR" altLang="en-US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저장소 내 경험 기반 수작업 조회 → 촉매 유관 정보 자동 수집 및 제공</a:t>
            </a:r>
            <a:endParaRPr lang="en-US" altLang="ko-KR" sz="100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5CE23EF-A761-C1E6-ABD9-2F488FB5EA08}"/>
              </a:ext>
            </a:extLst>
          </p:cNvPr>
          <p:cNvSpPr txBox="1"/>
          <p:nvPr/>
        </p:nvSpPr>
        <p:spPr>
          <a:xfrm>
            <a:off x="7489234" y="5329768"/>
            <a:ext cx="2072281" cy="23166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72000" rIns="36000" rtlCol="0" anchor="ctr">
            <a:noAutofit/>
          </a:bodyPr>
          <a:lstStyle/>
          <a:p>
            <a:r>
              <a:rPr lang="en-US" altLang="ko-KR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ITB</a:t>
            </a:r>
            <a:r>
              <a:rPr lang="ko-KR" altLang="en-US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문서 </a:t>
            </a:r>
            <a:r>
              <a:rPr lang="en-US" altLang="ko-KR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Template</a:t>
            </a:r>
            <a:r>
              <a:rPr lang="ko-KR" altLang="en-US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화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6E892BA-6813-0EF4-C348-5A64A3F83FC8}"/>
              </a:ext>
            </a:extLst>
          </p:cNvPr>
          <p:cNvSpPr txBox="1"/>
          <p:nvPr/>
        </p:nvSpPr>
        <p:spPr>
          <a:xfrm>
            <a:off x="7489234" y="5627020"/>
            <a:ext cx="2072281" cy="23166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72000" rIns="36000" rtlCol="0" anchor="ctr">
            <a:noAutofit/>
          </a:bodyPr>
          <a:lstStyle/>
          <a:p>
            <a:r>
              <a:rPr lang="en-US" altLang="ko-KR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DB</a:t>
            </a:r>
            <a:r>
              <a:rPr lang="ko-KR" altLang="en-US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화 대상 선정 및 속성 정의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FC7EC40-A439-98E7-4D12-79A88879C529}"/>
              </a:ext>
            </a:extLst>
          </p:cNvPr>
          <p:cNvSpPr txBox="1"/>
          <p:nvPr/>
        </p:nvSpPr>
        <p:spPr>
          <a:xfrm>
            <a:off x="344486" y="5329768"/>
            <a:ext cx="216000" cy="216000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80F71F2-F5DB-A229-2975-E940B4A72193}"/>
              </a:ext>
            </a:extLst>
          </p:cNvPr>
          <p:cNvSpPr txBox="1"/>
          <p:nvPr/>
        </p:nvSpPr>
        <p:spPr>
          <a:xfrm>
            <a:off x="344486" y="5627020"/>
            <a:ext cx="216000" cy="216000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6B3F4AB-6B1B-58E8-E2F1-DDA3801827A6}"/>
              </a:ext>
            </a:extLst>
          </p:cNvPr>
          <p:cNvSpPr txBox="1"/>
          <p:nvPr/>
        </p:nvSpPr>
        <p:spPr>
          <a:xfrm>
            <a:off x="4710767" y="5329768"/>
            <a:ext cx="2678203" cy="23166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72000" rIns="36000" rtlCol="0" anchor="ctr">
            <a:noAutofit/>
          </a:bodyPr>
          <a:lstStyle>
            <a:defPPr>
              <a:defRPr lang="en-US"/>
            </a:defPPr>
            <a:lvl1pPr>
              <a:defRPr sz="1000"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r>
              <a:rPr lang="ko-KR" altLang="en-US"/>
              <a:t>촉매 구매 </a:t>
            </a:r>
            <a:r>
              <a:rPr lang="en-US" altLang="ko-KR"/>
              <a:t>ITB</a:t>
            </a:r>
            <a:r>
              <a:rPr lang="ko-KR" altLang="en-US"/>
              <a:t> 작성 지원 </a:t>
            </a:r>
            <a:r>
              <a:rPr lang="en-US" altLang="ko-KR"/>
              <a:t>Agent</a:t>
            </a:r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E60311F-BA52-C0A6-8874-368E35D0BB78}"/>
              </a:ext>
            </a:extLst>
          </p:cNvPr>
          <p:cNvSpPr txBox="1"/>
          <p:nvPr/>
        </p:nvSpPr>
        <p:spPr>
          <a:xfrm>
            <a:off x="4710767" y="5627020"/>
            <a:ext cx="2678203" cy="23166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72000" rIns="36000" rtlCol="0" anchor="ctr">
            <a:noAutofit/>
          </a:bodyPr>
          <a:lstStyle>
            <a:defPPr>
              <a:defRPr lang="en-US"/>
            </a:defPPr>
            <a:lvl1pPr>
              <a:defRPr sz="1000"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r>
              <a:rPr lang="ko-KR" altLang="en-US"/>
              <a:t>생산 운영 정보 저장 </a:t>
            </a:r>
            <a:r>
              <a:rPr lang="en-US" altLang="ko-KR"/>
              <a:t>· </a:t>
            </a:r>
            <a:r>
              <a:rPr lang="ko-KR" altLang="en-US"/>
              <a:t>분류 자동화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2897C455-F04A-63F9-6F01-F4D1034F7C11}"/>
              </a:ext>
            </a:extLst>
          </p:cNvPr>
          <p:cNvSpPr/>
          <p:nvPr/>
        </p:nvSpPr>
        <p:spPr>
          <a:xfrm>
            <a:off x="6954839" y="5361899"/>
            <a:ext cx="386006" cy="167400"/>
          </a:xfrm>
          <a:prstGeom prst="roundRect">
            <a:avLst>
              <a:gd name="adj" fmla="val 18018"/>
            </a:avLst>
          </a:prstGeom>
          <a:solidFill>
            <a:schemeClr val="bg1">
              <a:lumMod val="50000"/>
            </a:schemeClr>
          </a:solidFill>
          <a:ln w="3175">
            <a:noFill/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자동화</a:t>
            </a:r>
            <a:endParaRPr kumimoji="1" lang="en-US" altLang="ko-KR" sz="900" ker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FA36A17F-C5F9-C16A-FABC-29D5023D9D6A}"/>
              </a:ext>
            </a:extLst>
          </p:cNvPr>
          <p:cNvSpPr/>
          <p:nvPr/>
        </p:nvSpPr>
        <p:spPr>
          <a:xfrm>
            <a:off x="6954839" y="5659151"/>
            <a:ext cx="386006" cy="167400"/>
          </a:xfrm>
          <a:prstGeom prst="roundRect">
            <a:avLst>
              <a:gd name="adj" fmla="val 18018"/>
            </a:avLst>
          </a:prstGeom>
          <a:solidFill>
            <a:schemeClr val="bg1">
              <a:lumMod val="50000"/>
            </a:schemeClr>
          </a:solidFill>
          <a:ln w="3175">
            <a:noFill/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자동화</a:t>
            </a:r>
            <a:endParaRPr kumimoji="1" lang="en-US" altLang="ko-KR" sz="900" ker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366B177-09E3-8531-62D0-78422A8EBE69}"/>
              </a:ext>
            </a:extLst>
          </p:cNvPr>
          <p:cNvSpPr txBox="1"/>
          <p:nvPr/>
        </p:nvSpPr>
        <p:spPr>
          <a:xfrm>
            <a:off x="270722" y="2697755"/>
            <a:ext cx="147532" cy="147532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2EE526E-ACC8-177D-1CA6-D43D88630CA9}"/>
              </a:ext>
            </a:extLst>
          </p:cNvPr>
          <p:cNvSpPr txBox="1"/>
          <p:nvPr/>
        </p:nvSpPr>
        <p:spPr>
          <a:xfrm>
            <a:off x="4970030" y="2697755"/>
            <a:ext cx="147532" cy="147532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5848867-4FAF-2840-5F55-D69D213A762F}"/>
              </a:ext>
            </a:extLst>
          </p:cNvPr>
          <p:cNvSpPr txBox="1"/>
          <p:nvPr/>
        </p:nvSpPr>
        <p:spPr>
          <a:xfrm>
            <a:off x="4970030" y="3139152"/>
            <a:ext cx="147532" cy="147532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08C93F3-B738-CA27-C338-1DDC019772E2}"/>
              </a:ext>
            </a:extLst>
          </p:cNvPr>
          <p:cNvSpPr txBox="1"/>
          <p:nvPr/>
        </p:nvSpPr>
        <p:spPr>
          <a:xfrm>
            <a:off x="4970030" y="3572245"/>
            <a:ext cx="147532" cy="147532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42" name="연결선: 꺾임 41">
            <a:extLst>
              <a:ext uri="{FF2B5EF4-FFF2-40B4-BE49-F238E27FC236}">
                <a16:creationId xmlns:a16="http://schemas.microsoft.com/office/drawing/2014/main" id="{208D750B-07C8-DD33-A479-B301F0A7F43C}"/>
              </a:ext>
            </a:extLst>
          </p:cNvPr>
          <p:cNvCxnSpPr>
            <a:cxnSpLocks/>
            <a:stCxn id="25" idx="3"/>
            <a:endCxn id="45" idx="1"/>
          </p:cNvCxnSpPr>
          <p:nvPr/>
        </p:nvCxnSpPr>
        <p:spPr>
          <a:xfrm flipV="1">
            <a:off x="2456538" y="2771521"/>
            <a:ext cx="210666" cy="439126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텍스트 개체 틀 4">
            <a:extLst>
              <a:ext uri="{FF2B5EF4-FFF2-40B4-BE49-F238E27FC236}">
                <a16:creationId xmlns:a16="http://schemas.microsoft.com/office/drawing/2014/main" id="{A727EE78-2519-F869-A569-E65955F58DEB}"/>
              </a:ext>
            </a:extLst>
          </p:cNvPr>
          <p:cNvSpPr txBox="1">
            <a:spLocks/>
          </p:cNvSpPr>
          <p:nvPr/>
        </p:nvSpPr>
        <p:spPr>
          <a:xfrm>
            <a:off x="1386038" y="721134"/>
            <a:ext cx="8180064" cy="769485"/>
          </a:xfrm>
          <a:prstGeom prst="rect">
            <a:avLst/>
          </a:prstGeom>
          <a:pattFill prst="dkUp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 w="3175">
            <a:noFill/>
          </a:ln>
        </p:spPr>
        <p:txBody>
          <a:bodyPr vert="horz" lIns="108000" tIns="36000" rIns="36000" bIns="36000" rtlCol="0" anchor="ctr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2563" indent="-182563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ko-KR" altLang="en-US" sz="1200" b="0"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ngal Pro" panose="020B0502040204020203" pitchFamily="2" charset="0"/>
              </a:rPr>
              <a:t>공정 통합 모니터링 및 동적 최적화 모델 구축</a:t>
            </a:r>
            <a:endParaRPr lang="en-US" altLang="ko-KR" sz="1200" b="0">
              <a:solidFill>
                <a:prstClr val="black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cs typeface="Mangal Pro" panose="020B0502040204020203" pitchFamily="2" charset="0"/>
            </a:endParaRPr>
          </a:p>
          <a:p>
            <a:pPr marL="355600" indent="-173038" latinLnBrk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Font typeface="나눔스퀘어 ExtraBold" panose="020B0600000101010101" pitchFamily="50" charset="-127"/>
              <a:buChar char="-"/>
            </a:pPr>
            <a:r>
              <a:rPr lang="ko-KR" altLang="en-US" sz="1100" b="0">
                <a:solidFill>
                  <a:prstClr val="black"/>
                </a:solidFill>
                <a:cs typeface="Mangal Pro" panose="020B0502040204020203" pitchFamily="2" charset="0"/>
              </a:rPr>
              <a:t>목적 기반 지능형 공정 모니터링 체계 구현</a:t>
            </a:r>
            <a:endParaRPr lang="en-US" altLang="ko-KR" sz="1100" b="0">
              <a:solidFill>
                <a:prstClr val="black"/>
              </a:solidFill>
              <a:cs typeface="Mangal Pro" panose="020B0502040204020203" pitchFamily="2" charset="0"/>
            </a:endParaRPr>
          </a:p>
          <a:p>
            <a:pPr marL="355600" indent="-173038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나눔스퀘어 ExtraBold" panose="020B0600000101010101" pitchFamily="50" charset="-127"/>
              <a:buChar char="-"/>
            </a:pPr>
            <a:r>
              <a:rPr lang="ko-KR" altLang="en-US" sz="1100" b="0">
                <a:solidFill>
                  <a:prstClr val="black"/>
                </a:solidFill>
                <a:cs typeface="Mangal Pro" panose="020B0502040204020203" pitchFamily="2" charset="0"/>
              </a:rPr>
              <a:t>실시간 </a:t>
            </a:r>
            <a:r>
              <a:rPr lang="en-US" altLang="ko-KR" sz="1100" b="0">
                <a:solidFill>
                  <a:prstClr val="black"/>
                </a:solidFill>
                <a:cs typeface="Mangal Pro" panose="020B0502040204020203" pitchFamily="2" charset="0"/>
              </a:rPr>
              <a:t>Data</a:t>
            </a:r>
            <a:r>
              <a:rPr lang="ko-KR" altLang="en-US" sz="1100" b="0">
                <a:solidFill>
                  <a:prstClr val="black"/>
                </a:solidFill>
                <a:cs typeface="Mangal Pro" panose="020B0502040204020203" pitchFamily="2" charset="0"/>
              </a:rPr>
              <a:t> 연동형 공정 시뮬레이션 체계 구축</a:t>
            </a:r>
          </a:p>
        </p:txBody>
      </p:sp>
    </p:spTree>
    <p:extLst>
      <p:ext uri="{BB962C8B-B14F-4D97-AF65-F5344CB8AC3E}">
        <p14:creationId xmlns:p14="http://schemas.microsoft.com/office/powerpoint/2010/main" val="24704779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11B27-8806-308D-8CBC-1FD512F77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BD7DCBE-6183-AB5A-EEDB-7805BE8AD1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4487" y="254884"/>
            <a:ext cx="5208477" cy="343235"/>
          </a:xfrm>
          <a:solidFill>
            <a:schemeClr val="bg1"/>
          </a:solidFill>
        </p:spPr>
        <p:txBody>
          <a:bodyPr wrap="none" anchor="ctr">
            <a:spAutoFit/>
          </a:bodyPr>
          <a:lstStyle/>
          <a:p>
            <a:r>
              <a:rPr lang="en-US" altLang="ko-KR" b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Appendix. [</a:t>
            </a:r>
            <a:r>
              <a:rPr lang="ko-KR" altLang="en-US" b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생산기술</a:t>
            </a:r>
            <a:r>
              <a:rPr lang="en-US" altLang="ko-KR" b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] </a:t>
            </a:r>
            <a:r>
              <a:rPr lang="ko-KR" altLang="en-US" b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전략 과제 기획 및 관리 </a:t>
            </a:r>
            <a:r>
              <a:rPr lang="en-US" altLang="ko-KR" b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(1/2)</a:t>
            </a:r>
          </a:p>
        </p:txBody>
      </p:sp>
      <p:sp>
        <p:nvSpPr>
          <p:cNvPr id="171" name="사각형: 둥근 모서리 170">
            <a:extLst>
              <a:ext uri="{FF2B5EF4-FFF2-40B4-BE49-F238E27FC236}">
                <a16:creationId xmlns:a16="http://schemas.microsoft.com/office/drawing/2014/main" id="{1B8C7076-DDEF-D4C7-EA4A-2ED38A02ACC3}"/>
              </a:ext>
            </a:extLst>
          </p:cNvPr>
          <p:cNvSpPr/>
          <p:nvPr/>
        </p:nvSpPr>
        <p:spPr>
          <a:xfrm>
            <a:off x="344488" y="721134"/>
            <a:ext cx="941772" cy="763179"/>
          </a:xfrm>
          <a:prstGeom prst="roundRect">
            <a:avLst>
              <a:gd name="adj" fmla="val 0"/>
            </a:avLst>
          </a:prstGeom>
          <a:solidFill>
            <a:srgbClr val="217CFA"/>
          </a:solidFill>
          <a:ln w="6350">
            <a:solidFill>
              <a:srgbClr val="217C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Digital</a:t>
            </a:r>
            <a:r>
              <a:rPr lang="ko-KR" altLang="en-US" sz="130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화 지향점</a:t>
            </a:r>
          </a:p>
        </p:txBody>
      </p: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7D3BB9DE-6C54-2E0E-CBB0-0C47C5EC3D13}"/>
              </a:ext>
            </a:extLst>
          </p:cNvPr>
          <p:cNvCxnSpPr>
            <a:cxnSpLocks/>
          </p:cNvCxnSpPr>
          <p:nvPr/>
        </p:nvCxnSpPr>
        <p:spPr>
          <a:xfrm>
            <a:off x="344488" y="4859066"/>
            <a:ext cx="9221614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" name="사각형: 둥근 모서리 173">
            <a:extLst>
              <a:ext uri="{FF2B5EF4-FFF2-40B4-BE49-F238E27FC236}">
                <a16:creationId xmlns:a16="http://schemas.microsoft.com/office/drawing/2014/main" id="{628256D7-F6E6-3331-9173-E47386A7D239}"/>
              </a:ext>
            </a:extLst>
          </p:cNvPr>
          <p:cNvSpPr/>
          <p:nvPr/>
        </p:nvSpPr>
        <p:spPr>
          <a:xfrm>
            <a:off x="4031571" y="4731072"/>
            <a:ext cx="1847448" cy="25598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rgbClr val="217C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주요</a:t>
            </a:r>
            <a:r>
              <a:rPr lang="en-US" altLang="ko-KR" sz="1200">
                <a:solidFill>
                  <a:schemeClr val="tx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ko-KR" altLang="en-US" sz="1200">
                <a:solidFill>
                  <a:schemeClr val="tx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추진 사항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003618B1-E2A6-3CBB-2791-7EB925ED43D4}"/>
              </a:ext>
            </a:extLst>
          </p:cNvPr>
          <p:cNvSpPr txBox="1"/>
          <p:nvPr/>
        </p:nvSpPr>
        <p:spPr>
          <a:xfrm>
            <a:off x="673770" y="5073302"/>
            <a:ext cx="3936732" cy="200435"/>
          </a:xfrm>
          <a:prstGeom prst="rect">
            <a:avLst/>
          </a:prstGeom>
          <a:noFill/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ko-KR" altLang="en-US" sz="1100" u="sng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변화 </a:t>
            </a:r>
            <a:r>
              <a:rPr lang="en-US" altLang="ko-KR" sz="1100" u="sng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Point</a:t>
            </a:r>
            <a:endParaRPr lang="ko-KR" altLang="en-US" sz="1100" u="sng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ADDE4C66-5DF1-672C-8108-8500DD607668}"/>
              </a:ext>
            </a:extLst>
          </p:cNvPr>
          <p:cNvSpPr txBox="1"/>
          <p:nvPr/>
        </p:nvSpPr>
        <p:spPr>
          <a:xfrm>
            <a:off x="7489234" y="5073302"/>
            <a:ext cx="2072281" cy="200435"/>
          </a:xfrm>
          <a:prstGeom prst="rect">
            <a:avLst/>
          </a:prstGeom>
          <a:noFill/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ko-KR" altLang="en-US" sz="1100" u="sng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업무 개선 사항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833BC206-E813-7519-85D6-6D143C53F509}"/>
              </a:ext>
            </a:extLst>
          </p:cNvPr>
          <p:cNvSpPr txBox="1"/>
          <p:nvPr/>
        </p:nvSpPr>
        <p:spPr>
          <a:xfrm>
            <a:off x="4710767" y="5073302"/>
            <a:ext cx="2678203" cy="200435"/>
          </a:xfrm>
          <a:prstGeom prst="rect">
            <a:avLst/>
          </a:prstGeom>
          <a:noFill/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100" u="sng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Digital</a:t>
            </a:r>
            <a:r>
              <a:rPr lang="ko-KR" altLang="en-US" sz="1100" u="sng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화 기회</a:t>
            </a:r>
          </a:p>
        </p:txBody>
      </p:sp>
      <p:sp>
        <p:nvSpPr>
          <p:cNvPr id="55" name="화살표: 오각형 54">
            <a:extLst>
              <a:ext uri="{FF2B5EF4-FFF2-40B4-BE49-F238E27FC236}">
                <a16:creationId xmlns:a16="http://schemas.microsoft.com/office/drawing/2014/main" id="{E9690276-56E4-0519-6CFC-6943E38FF1C7}"/>
              </a:ext>
            </a:extLst>
          </p:cNvPr>
          <p:cNvSpPr/>
          <p:nvPr/>
        </p:nvSpPr>
        <p:spPr>
          <a:xfrm>
            <a:off x="344487" y="1964218"/>
            <a:ext cx="2598798" cy="200898"/>
          </a:xfrm>
          <a:prstGeom prst="homePlate">
            <a:avLst>
              <a:gd name="adj" fmla="val 24867"/>
            </a:avLst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ko-KR" altLang="en-US" sz="1000" b="1">
                <a:latin typeface="나눔스퀘어" panose="020B0600000101010101" pitchFamily="50" charset="-127"/>
                <a:ea typeface="나눔스퀘어" panose="020B0600000101010101" pitchFamily="50" charset="-127"/>
              </a:rPr>
              <a:t>전략 과제 발굴</a:t>
            </a:r>
            <a:endParaRPr lang="en-US" altLang="ko-KR" sz="1000" b="1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3" name="화살표: 오각형 12">
            <a:extLst>
              <a:ext uri="{FF2B5EF4-FFF2-40B4-BE49-F238E27FC236}">
                <a16:creationId xmlns:a16="http://schemas.microsoft.com/office/drawing/2014/main" id="{B97CF6A3-970B-5828-A65C-D2036B0D6BD2}"/>
              </a:ext>
            </a:extLst>
          </p:cNvPr>
          <p:cNvSpPr/>
          <p:nvPr/>
        </p:nvSpPr>
        <p:spPr>
          <a:xfrm>
            <a:off x="5636509" y="1964218"/>
            <a:ext cx="3925004" cy="200898"/>
          </a:xfrm>
          <a:prstGeom prst="homePlate">
            <a:avLst>
              <a:gd name="adj" fmla="val 24867"/>
            </a:avLst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ko-KR" altLang="en-US" sz="1000" b="1">
                <a:latin typeface="나눔스퀘어" panose="020B0600000101010101" pitchFamily="50" charset="-127"/>
                <a:ea typeface="나눔스퀘어" panose="020B0600000101010101" pitchFamily="50" charset="-127"/>
              </a:rPr>
              <a:t>외부 기술 도입 및 라이선스 선정</a:t>
            </a:r>
            <a:endParaRPr lang="en-US" altLang="ko-KR" sz="1000" b="1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92" name="사각형: 둥근 모서리 191">
            <a:extLst>
              <a:ext uri="{FF2B5EF4-FFF2-40B4-BE49-F238E27FC236}">
                <a16:creationId xmlns:a16="http://schemas.microsoft.com/office/drawing/2014/main" id="{FA139CDB-511D-4AB1-6F58-6338B49114E3}"/>
              </a:ext>
            </a:extLst>
          </p:cNvPr>
          <p:cNvSpPr/>
          <p:nvPr/>
        </p:nvSpPr>
        <p:spPr>
          <a:xfrm>
            <a:off x="344486" y="3037455"/>
            <a:ext cx="1203185" cy="334800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기술 및 시장 동향</a:t>
            </a:r>
            <a:r>
              <a:rPr kumimoji="1" lang="en-US" altLang="ko-KR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조사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(AI Agent)</a:t>
            </a:r>
          </a:p>
        </p:txBody>
      </p:sp>
      <p:sp>
        <p:nvSpPr>
          <p:cNvPr id="195" name="사각형: 둥근 모서리 194">
            <a:extLst>
              <a:ext uri="{FF2B5EF4-FFF2-40B4-BE49-F238E27FC236}">
                <a16:creationId xmlns:a16="http://schemas.microsoft.com/office/drawing/2014/main" id="{B392BF58-6EBF-68D5-50AB-52DD110185B4}"/>
              </a:ext>
            </a:extLst>
          </p:cNvPr>
          <p:cNvSpPr/>
          <p:nvPr/>
        </p:nvSpPr>
        <p:spPr>
          <a:xfrm>
            <a:off x="344486" y="3903783"/>
            <a:ext cx="1203185" cy="334800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SHE </a:t>
            </a: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법규제</a:t>
            </a:r>
            <a:r>
              <a:rPr kumimoji="1" lang="en-US" altLang="ko-KR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분석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(AI Agent)</a:t>
            </a:r>
          </a:p>
        </p:txBody>
      </p:sp>
      <p:sp>
        <p:nvSpPr>
          <p:cNvPr id="198" name="사각형: 둥근 모서리 197">
            <a:extLst>
              <a:ext uri="{FF2B5EF4-FFF2-40B4-BE49-F238E27FC236}">
                <a16:creationId xmlns:a16="http://schemas.microsoft.com/office/drawing/2014/main" id="{079E303B-657D-E8D8-5C33-354DCDF70003}"/>
              </a:ext>
            </a:extLst>
          </p:cNvPr>
          <p:cNvSpPr/>
          <p:nvPr/>
        </p:nvSpPr>
        <p:spPr>
          <a:xfrm>
            <a:off x="1667683" y="3470789"/>
            <a:ext cx="1203185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세부 기술 검토 및</a:t>
            </a:r>
            <a:b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</a:b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개념 설계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03" name="사각형: 둥근 모서리 202">
            <a:extLst>
              <a:ext uri="{FF2B5EF4-FFF2-40B4-BE49-F238E27FC236}">
                <a16:creationId xmlns:a16="http://schemas.microsoft.com/office/drawing/2014/main" id="{AB05FA84-E32E-7BD6-B453-2338D1EDB552}"/>
              </a:ext>
            </a:extLst>
          </p:cNvPr>
          <p:cNvSpPr/>
          <p:nvPr/>
        </p:nvSpPr>
        <p:spPr>
          <a:xfrm>
            <a:off x="2990880" y="3037455"/>
            <a:ext cx="1203185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단계</a:t>
            </a:r>
            <a: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별 테스트 평가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08" name="사각형: 둥근 모서리 207">
            <a:extLst>
              <a:ext uri="{FF2B5EF4-FFF2-40B4-BE49-F238E27FC236}">
                <a16:creationId xmlns:a16="http://schemas.microsoft.com/office/drawing/2014/main" id="{C73D1260-011E-8DBE-1606-6112DE2FFBB0}"/>
              </a:ext>
            </a:extLst>
          </p:cNvPr>
          <p:cNvSpPr/>
          <p:nvPr/>
        </p:nvSpPr>
        <p:spPr>
          <a:xfrm>
            <a:off x="4314077" y="3037455"/>
            <a:ext cx="1203185" cy="334800"/>
          </a:xfrm>
          <a:prstGeom prst="roundRect">
            <a:avLst/>
          </a:prstGeom>
          <a:pattFill prst="ltUpDiag">
            <a:fgClr>
              <a:srgbClr val="C4DCF2"/>
            </a:fgClr>
            <a:bgClr>
              <a:schemeClr val="bg1"/>
            </a:bgClr>
          </a:pattFill>
          <a:ln w="3175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표준 문서 초안 작성</a:t>
            </a:r>
            <a:b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</a:br>
            <a: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(OCEAN-H)</a:t>
            </a:r>
          </a:p>
        </p:txBody>
      </p:sp>
      <p:sp>
        <p:nvSpPr>
          <p:cNvPr id="216" name="사각형: 둥근 모서리 215">
            <a:extLst>
              <a:ext uri="{FF2B5EF4-FFF2-40B4-BE49-F238E27FC236}">
                <a16:creationId xmlns:a16="http://schemas.microsoft.com/office/drawing/2014/main" id="{68CA720B-C895-2636-24C1-1C5355E3B09F}"/>
              </a:ext>
            </a:extLst>
          </p:cNvPr>
          <p:cNvSpPr/>
          <p:nvPr/>
        </p:nvSpPr>
        <p:spPr>
          <a:xfrm>
            <a:off x="8283666" y="3037455"/>
            <a:ext cx="1203185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기술 사양 관련 조항</a:t>
            </a:r>
            <a:b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</a:b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검토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584A6B4F-6126-AC7C-8F3E-177E228C6C7A}"/>
              </a:ext>
            </a:extLst>
          </p:cNvPr>
          <p:cNvSpPr/>
          <p:nvPr/>
        </p:nvSpPr>
        <p:spPr>
          <a:xfrm>
            <a:off x="5637272" y="3037455"/>
            <a:ext cx="1203185" cy="334800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최신 기술 정보 수집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(AI Agent)</a:t>
            </a:r>
          </a:p>
        </p:txBody>
      </p:sp>
      <p:sp>
        <p:nvSpPr>
          <p:cNvPr id="194" name="화살표: 오각형 193">
            <a:extLst>
              <a:ext uri="{FF2B5EF4-FFF2-40B4-BE49-F238E27FC236}">
                <a16:creationId xmlns:a16="http://schemas.microsoft.com/office/drawing/2014/main" id="{9688C1B6-4E48-0CA7-9401-8B2AA0B1AD40}"/>
              </a:ext>
            </a:extLst>
          </p:cNvPr>
          <p:cNvSpPr/>
          <p:nvPr/>
        </p:nvSpPr>
        <p:spPr>
          <a:xfrm>
            <a:off x="344486" y="2194636"/>
            <a:ext cx="1280368" cy="347687"/>
          </a:xfrm>
          <a:prstGeom prst="homePlate">
            <a:avLst>
              <a:gd name="adj" fmla="val 24867"/>
            </a:avLst>
          </a:prstGeom>
          <a:solidFill>
            <a:schemeClr val="bg1">
              <a:lumMod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900" spc="-5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Revamp Study/</a:t>
            </a:r>
            <a:br>
              <a:rPr lang="en-US" altLang="ko-KR" sz="900" spc="-50"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ko-KR" altLang="en-US" sz="900" spc="-5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신규 사업 동향 정보 수집</a:t>
            </a:r>
          </a:p>
        </p:txBody>
      </p:sp>
      <p:sp>
        <p:nvSpPr>
          <p:cNvPr id="199" name="화살표: 오각형 198">
            <a:extLst>
              <a:ext uri="{FF2B5EF4-FFF2-40B4-BE49-F238E27FC236}">
                <a16:creationId xmlns:a16="http://schemas.microsoft.com/office/drawing/2014/main" id="{68D5ACF1-0AE9-AE85-A908-F1354CECB7F4}"/>
              </a:ext>
            </a:extLst>
          </p:cNvPr>
          <p:cNvSpPr/>
          <p:nvPr/>
        </p:nvSpPr>
        <p:spPr>
          <a:xfrm>
            <a:off x="2990498" y="2195472"/>
            <a:ext cx="1281129" cy="347687"/>
          </a:xfrm>
          <a:prstGeom prst="homePlate">
            <a:avLst>
              <a:gd name="adj" fmla="val 24867"/>
            </a:avLst>
          </a:prstGeom>
          <a:solidFill>
            <a:schemeClr val="bg1">
              <a:lumMod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900" spc="-5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Revamping, </a:t>
            </a:r>
            <a:r>
              <a:rPr lang="ko-KR" altLang="en-US" sz="900" spc="-5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신규 사업 테스트 지원 및 결과 검증</a:t>
            </a:r>
          </a:p>
        </p:txBody>
      </p:sp>
      <p:sp>
        <p:nvSpPr>
          <p:cNvPr id="204" name="화살표: 오각형 203">
            <a:extLst>
              <a:ext uri="{FF2B5EF4-FFF2-40B4-BE49-F238E27FC236}">
                <a16:creationId xmlns:a16="http://schemas.microsoft.com/office/drawing/2014/main" id="{713AD5AE-F92C-62C8-879A-3358EFA77571}"/>
              </a:ext>
            </a:extLst>
          </p:cNvPr>
          <p:cNvSpPr/>
          <p:nvPr/>
        </p:nvSpPr>
        <p:spPr>
          <a:xfrm>
            <a:off x="4312157" y="2196308"/>
            <a:ext cx="1281855" cy="347687"/>
          </a:xfrm>
          <a:prstGeom prst="homePlate">
            <a:avLst>
              <a:gd name="adj" fmla="val 24867"/>
            </a:avLst>
          </a:prstGeom>
          <a:solidFill>
            <a:schemeClr val="bg1">
              <a:lumMod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900" spc="-5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Revamping, </a:t>
            </a:r>
            <a:r>
              <a:rPr lang="ko-KR" altLang="en-US" sz="900" spc="-5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신규 사업 상용화 관련 표준</a:t>
            </a:r>
            <a:r>
              <a:rPr lang="en-US" altLang="ko-KR" sz="900" spc="-5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900" spc="-5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작성</a:t>
            </a:r>
          </a:p>
        </p:txBody>
      </p:sp>
      <p:sp>
        <p:nvSpPr>
          <p:cNvPr id="209" name="화살표: 오각형 208">
            <a:extLst>
              <a:ext uri="{FF2B5EF4-FFF2-40B4-BE49-F238E27FC236}">
                <a16:creationId xmlns:a16="http://schemas.microsoft.com/office/drawing/2014/main" id="{D144E57F-05F4-5523-F561-7D8388B4FD8B}"/>
              </a:ext>
            </a:extLst>
          </p:cNvPr>
          <p:cNvSpPr/>
          <p:nvPr/>
        </p:nvSpPr>
        <p:spPr>
          <a:xfrm>
            <a:off x="5637273" y="2197144"/>
            <a:ext cx="1280368" cy="347687"/>
          </a:xfrm>
          <a:prstGeom prst="homePlate">
            <a:avLst>
              <a:gd name="adj" fmla="val 24867"/>
            </a:avLst>
          </a:prstGeom>
          <a:solidFill>
            <a:schemeClr val="bg1">
              <a:lumMod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ko-KR" altLang="en-US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후보 기술 조사</a:t>
            </a:r>
          </a:p>
        </p:txBody>
      </p:sp>
      <p:sp>
        <p:nvSpPr>
          <p:cNvPr id="37" name="화살표: 오각형 36">
            <a:extLst>
              <a:ext uri="{FF2B5EF4-FFF2-40B4-BE49-F238E27FC236}">
                <a16:creationId xmlns:a16="http://schemas.microsoft.com/office/drawing/2014/main" id="{F0E46553-5945-3E82-4564-4C9E32852B3A}"/>
              </a:ext>
            </a:extLst>
          </p:cNvPr>
          <p:cNvSpPr/>
          <p:nvPr/>
        </p:nvSpPr>
        <p:spPr>
          <a:xfrm>
            <a:off x="8279658" y="2207437"/>
            <a:ext cx="1281855" cy="347687"/>
          </a:xfrm>
          <a:prstGeom prst="homePlate">
            <a:avLst>
              <a:gd name="adj" fmla="val 24867"/>
            </a:avLst>
          </a:prstGeom>
          <a:solidFill>
            <a:schemeClr val="bg1">
              <a:lumMod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ko-KR" altLang="en-US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계약 조건 검토 및</a:t>
            </a:r>
            <a:br>
              <a:rPr lang="en-US" altLang="ko-KR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ko-KR" altLang="en-US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협상 지원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AF7A6C55-5F0C-D709-5159-BB9DC578442C}"/>
              </a:ext>
            </a:extLst>
          </p:cNvPr>
          <p:cNvSpPr/>
          <p:nvPr/>
        </p:nvSpPr>
        <p:spPr>
          <a:xfrm>
            <a:off x="5637272" y="3470789"/>
            <a:ext cx="1203185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기술 평가 및 후보 기술 선정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91" name="사각형: 둥근 모서리 190">
            <a:extLst>
              <a:ext uri="{FF2B5EF4-FFF2-40B4-BE49-F238E27FC236}">
                <a16:creationId xmlns:a16="http://schemas.microsoft.com/office/drawing/2014/main" id="{9C0DAFA6-E560-520F-E3C6-7CF5C1AE0EA1}"/>
              </a:ext>
            </a:extLst>
          </p:cNvPr>
          <p:cNvSpPr/>
          <p:nvPr/>
        </p:nvSpPr>
        <p:spPr>
          <a:xfrm>
            <a:off x="344486" y="2604121"/>
            <a:ext cx="1203802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전략 방향성 설정 및</a:t>
            </a:r>
            <a:b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</a:b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정보 수집 대상 선정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97" name="사각형: 둥근 모서리 196">
            <a:extLst>
              <a:ext uri="{FF2B5EF4-FFF2-40B4-BE49-F238E27FC236}">
                <a16:creationId xmlns:a16="http://schemas.microsoft.com/office/drawing/2014/main" id="{AE64C4A6-BBD5-2EB8-44F2-E205C48BC07D}"/>
              </a:ext>
            </a:extLst>
          </p:cNvPr>
          <p:cNvSpPr/>
          <p:nvPr/>
        </p:nvSpPr>
        <p:spPr>
          <a:xfrm>
            <a:off x="1667683" y="3037455"/>
            <a:ext cx="1203802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적용 가능성 평가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02" name="사각형: 둥근 모서리 201">
            <a:extLst>
              <a:ext uri="{FF2B5EF4-FFF2-40B4-BE49-F238E27FC236}">
                <a16:creationId xmlns:a16="http://schemas.microsoft.com/office/drawing/2014/main" id="{3F45D15A-1114-B109-B30C-2CDAEAD16F7C}"/>
              </a:ext>
            </a:extLst>
          </p:cNvPr>
          <p:cNvSpPr/>
          <p:nvPr/>
        </p:nvSpPr>
        <p:spPr>
          <a:xfrm>
            <a:off x="2990880" y="2604121"/>
            <a:ext cx="1203802" cy="334800"/>
          </a:xfrm>
          <a:prstGeom prst="roundRect">
            <a:avLst/>
          </a:prstGeom>
          <a:pattFill prst="ltUpDiag">
            <a:fgClr>
              <a:srgbClr val="C4DCF2"/>
            </a:fgClr>
            <a:bgClr>
              <a:schemeClr val="bg1"/>
            </a:bgClr>
          </a:pattFill>
          <a:ln w="3175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단계</a:t>
            </a:r>
            <a: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별 테스트 실시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(DCS, PMS, OASIS)</a:t>
            </a:r>
          </a:p>
        </p:txBody>
      </p:sp>
      <p:sp>
        <p:nvSpPr>
          <p:cNvPr id="207" name="사각형: 둥근 모서리 206">
            <a:extLst>
              <a:ext uri="{FF2B5EF4-FFF2-40B4-BE49-F238E27FC236}">
                <a16:creationId xmlns:a16="http://schemas.microsoft.com/office/drawing/2014/main" id="{23D9F956-66FA-2D77-CA4D-34755730BCE2}"/>
              </a:ext>
            </a:extLst>
          </p:cNvPr>
          <p:cNvSpPr/>
          <p:nvPr/>
        </p:nvSpPr>
        <p:spPr>
          <a:xfrm>
            <a:off x="4314077" y="2604121"/>
            <a:ext cx="1203802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표준화 대상</a:t>
            </a:r>
            <a: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(</a:t>
            </a: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운전 절차</a:t>
            </a:r>
            <a: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, </a:t>
            </a: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유지보수 방안</a:t>
            </a:r>
            <a: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) </a:t>
            </a: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선정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15" name="사각형: 둥근 모서리 214">
            <a:extLst>
              <a:ext uri="{FF2B5EF4-FFF2-40B4-BE49-F238E27FC236}">
                <a16:creationId xmlns:a16="http://schemas.microsoft.com/office/drawing/2014/main" id="{50A207B2-E4D0-1199-FB71-2D564454D491}"/>
              </a:ext>
            </a:extLst>
          </p:cNvPr>
          <p:cNvSpPr/>
          <p:nvPr/>
        </p:nvSpPr>
        <p:spPr>
          <a:xfrm>
            <a:off x="8283666" y="2604121"/>
            <a:ext cx="1203802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기술적 조건 설정</a:t>
            </a:r>
            <a:b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</a:br>
            <a: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(</a:t>
            </a: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납기</a:t>
            </a:r>
            <a: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, </a:t>
            </a: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기술지원</a:t>
            </a:r>
            <a: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)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5581742D-FB8F-AFC0-A07D-D9F5A92D61D1}"/>
              </a:ext>
            </a:extLst>
          </p:cNvPr>
          <p:cNvSpPr/>
          <p:nvPr/>
        </p:nvSpPr>
        <p:spPr>
          <a:xfrm>
            <a:off x="5637273" y="2604121"/>
            <a:ext cx="1203802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필요 기술 식별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FF5454B0-9B98-F731-2903-658F3D02B240}"/>
              </a:ext>
            </a:extLst>
          </p:cNvPr>
          <p:cNvSpPr/>
          <p:nvPr/>
        </p:nvSpPr>
        <p:spPr>
          <a:xfrm>
            <a:off x="6960470" y="2604121"/>
            <a:ext cx="1203802" cy="334800"/>
          </a:xfrm>
          <a:prstGeom prst="roundRect">
            <a:avLst/>
          </a:prstGeom>
          <a:pattFill prst="ltUpDiag">
            <a:fgClr>
              <a:srgbClr val="C4DCF2"/>
            </a:fgClr>
            <a:bgClr>
              <a:schemeClr val="bg1"/>
            </a:bgClr>
          </a:pattFill>
          <a:ln w="3175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단계</a:t>
            </a:r>
            <a: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별 테스트 실시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(DCS, PMS, OASIS)</a:t>
            </a: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301AB119-98FB-DC69-C066-DC3427F20D3E}"/>
              </a:ext>
            </a:extLst>
          </p:cNvPr>
          <p:cNvSpPr/>
          <p:nvPr/>
        </p:nvSpPr>
        <p:spPr>
          <a:xfrm>
            <a:off x="6960469" y="3037455"/>
            <a:ext cx="1203185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단계</a:t>
            </a:r>
            <a: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별 테스트 평가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41872D6A-6B8C-EF45-742D-5D8A5495712D}"/>
              </a:ext>
            </a:extLst>
          </p:cNvPr>
          <p:cNvCxnSpPr>
            <a:cxnSpLocks/>
          </p:cNvCxnSpPr>
          <p:nvPr/>
        </p:nvCxnSpPr>
        <p:spPr>
          <a:xfrm>
            <a:off x="344488" y="1768835"/>
            <a:ext cx="9221614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E23A5DE0-B57A-FAE1-6864-D22283C0B055}"/>
              </a:ext>
            </a:extLst>
          </p:cNvPr>
          <p:cNvSpPr/>
          <p:nvPr/>
        </p:nvSpPr>
        <p:spPr>
          <a:xfrm>
            <a:off x="4031571" y="1640841"/>
            <a:ext cx="1847448" cy="25598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rgbClr val="217C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To-Be </a:t>
            </a:r>
            <a:r>
              <a:rPr lang="ko-KR" altLang="en-US" sz="1200">
                <a:solidFill>
                  <a:schemeClr val="tx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업무 시나리오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11DEBC8-4435-13AD-4351-BA357412A2DF}"/>
              </a:ext>
            </a:extLst>
          </p:cNvPr>
          <p:cNvSpPr/>
          <p:nvPr/>
        </p:nvSpPr>
        <p:spPr>
          <a:xfrm>
            <a:off x="344490" y="1547834"/>
            <a:ext cx="570257" cy="171734"/>
          </a:xfrm>
          <a:prstGeom prst="rect">
            <a:avLst/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1000" b="1">
                <a:latin typeface="나눔스퀘어" panose="020B0600000101010101" pitchFamily="50" charset="-127"/>
                <a:ea typeface="나눔스퀘어" panose="020B0600000101010101" pitchFamily="50" charset="-127"/>
              </a:rPr>
              <a:t>Process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50FEA30-2021-0CC1-FA35-6FDE5C2D3639}"/>
              </a:ext>
            </a:extLst>
          </p:cNvPr>
          <p:cNvSpPr/>
          <p:nvPr/>
        </p:nvSpPr>
        <p:spPr>
          <a:xfrm>
            <a:off x="955677" y="1547834"/>
            <a:ext cx="570257" cy="171734"/>
          </a:xfrm>
          <a:prstGeom prst="rect">
            <a:avLst/>
          </a:prstGeom>
          <a:solidFill>
            <a:schemeClr val="bg1">
              <a:lumMod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Activity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D4E45DA1-999D-2F44-D6BA-4B0816573351}"/>
              </a:ext>
            </a:extLst>
          </p:cNvPr>
          <p:cNvSpPr/>
          <p:nvPr/>
        </p:nvSpPr>
        <p:spPr>
          <a:xfrm>
            <a:off x="8926185" y="1553252"/>
            <a:ext cx="635326" cy="160797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solidFill>
                  <a:schemeClr val="bg1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삭제 업무</a:t>
            </a:r>
            <a:endParaRPr kumimoji="1" lang="en-US" altLang="ko-KR" sz="900" kern="0">
              <a:solidFill>
                <a:schemeClr val="bg1">
                  <a:lumMod val="7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428CF01A-DB03-4B95-9CC6-95C1C9148ACD}"/>
              </a:ext>
            </a:extLst>
          </p:cNvPr>
          <p:cNvSpPr/>
          <p:nvPr/>
        </p:nvSpPr>
        <p:spPr>
          <a:xfrm>
            <a:off x="7552890" y="1553252"/>
            <a:ext cx="635326" cy="160797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AI/DT </a:t>
            </a: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신규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4B712427-9321-C27A-B629-ECD9E0FD519B}"/>
              </a:ext>
            </a:extLst>
          </p:cNvPr>
          <p:cNvSpPr/>
          <p:nvPr/>
        </p:nvSpPr>
        <p:spPr>
          <a:xfrm>
            <a:off x="8239537" y="1553252"/>
            <a:ext cx="635326" cy="160797"/>
          </a:xfrm>
          <a:prstGeom prst="roundRect">
            <a:avLst/>
          </a:prstGeom>
          <a:pattFill prst="ltUpDiag">
            <a:fgClr>
              <a:srgbClr val="C4DCF2"/>
            </a:fgClr>
            <a:bgClr>
              <a:schemeClr val="bg1"/>
            </a:bgClr>
          </a:pattFill>
          <a:ln w="3175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Digital </a:t>
            </a: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기존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3472C151-A7A2-3E48-74D7-6CA96887D9CD}"/>
              </a:ext>
            </a:extLst>
          </p:cNvPr>
          <p:cNvSpPr/>
          <p:nvPr/>
        </p:nvSpPr>
        <p:spPr>
          <a:xfrm>
            <a:off x="1667683" y="3904123"/>
            <a:ext cx="1203185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투자비 산출 및</a:t>
            </a:r>
            <a:b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</a:b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경제성 평가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화살표: 오각형 1">
            <a:extLst>
              <a:ext uri="{FF2B5EF4-FFF2-40B4-BE49-F238E27FC236}">
                <a16:creationId xmlns:a16="http://schemas.microsoft.com/office/drawing/2014/main" id="{9F9D3192-6BD8-2E2B-00EC-B6D3AE910F79}"/>
              </a:ext>
            </a:extLst>
          </p:cNvPr>
          <p:cNvSpPr/>
          <p:nvPr/>
        </p:nvSpPr>
        <p:spPr>
          <a:xfrm>
            <a:off x="1662917" y="2194636"/>
            <a:ext cx="1280368" cy="347687"/>
          </a:xfrm>
          <a:prstGeom prst="homePlate">
            <a:avLst>
              <a:gd name="adj" fmla="val 24867"/>
            </a:avLst>
          </a:prstGeom>
          <a:solidFill>
            <a:schemeClr val="bg1">
              <a:lumMod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spc="-1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Revamping/</a:t>
            </a:r>
            <a:r>
              <a:rPr lang="ko-KR" altLang="en-US" sz="900" spc="-1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신규 사업 적합성 </a:t>
            </a:r>
            <a:r>
              <a:rPr lang="ko-KR" altLang="en-US" sz="900" spc="-5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평가 및 도입 방안 수립</a:t>
            </a:r>
          </a:p>
        </p:txBody>
      </p:sp>
      <p:sp>
        <p:nvSpPr>
          <p:cNvPr id="4" name="화살표: 오각형 3">
            <a:extLst>
              <a:ext uri="{FF2B5EF4-FFF2-40B4-BE49-F238E27FC236}">
                <a16:creationId xmlns:a16="http://schemas.microsoft.com/office/drawing/2014/main" id="{D210033A-E0D1-9539-B877-FD076BF023A1}"/>
              </a:ext>
            </a:extLst>
          </p:cNvPr>
          <p:cNvSpPr/>
          <p:nvPr/>
        </p:nvSpPr>
        <p:spPr>
          <a:xfrm>
            <a:off x="6959169" y="2197144"/>
            <a:ext cx="1280368" cy="347687"/>
          </a:xfrm>
          <a:prstGeom prst="homePlate">
            <a:avLst>
              <a:gd name="adj" fmla="val 24867"/>
            </a:avLst>
          </a:prstGeom>
          <a:solidFill>
            <a:schemeClr val="bg1">
              <a:lumMod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ko-KR" altLang="en-US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테스트 및 후보 기술</a:t>
            </a:r>
            <a:br>
              <a:rPr lang="en-US" altLang="ko-KR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ko-KR" altLang="en-US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성능 평가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8950A2C5-8625-8886-CB26-2E34227D455C}"/>
              </a:ext>
            </a:extLst>
          </p:cNvPr>
          <p:cNvSpPr/>
          <p:nvPr/>
        </p:nvSpPr>
        <p:spPr>
          <a:xfrm>
            <a:off x="1672502" y="4346622"/>
            <a:ext cx="1198366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단계별 실행 계획</a:t>
            </a:r>
            <a: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수립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C0788E17-78C7-34FC-F882-2D4840FE4E68}"/>
              </a:ext>
            </a:extLst>
          </p:cNvPr>
          <p:cNvSpPr/>
          <p:nvPr/>
        </p:nvSpPr>
        <p:spPr>
          <a:xfrm>
            <a:off x="2990880" y="3470789"/>
            <a:ext cx="1203185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검증 결과 종합 평가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51F96459-FA0A-65D9-80D3-6C50871A288E}"/>
              </a:ext>
            </a:extLst>
          </p:cNvPr>
          <p:cNvSpPr/>
          <p:nvPr/>
        </p:nvSpPr>
        <p:spPr>
          <a:xfrm>
            <a:off x="4314077" y="3470789"/>
            <a:ext cx="1203185" cy="334800"/>
          </a:xfrm>
          <a:prstGeom prst="roundRect">
            <a:avLst/>
          </a:prstGeom>
          <a:pattFill prst="ltUpDiag">
            <a:fgClr>
              <a:srgbClr val="C4DCF2"/>
            </a:fgClr>
            <a:bgClr>
              <a:schemeClr val="bg1"/>
            </a:bgClr>
          </a:pattFill>
          <a:ln w="3175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피드백 반영</a:t>
            </a:r>
            <a: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표준</a:t>
            </a:r>
            <a: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문서 확정 </a:t>
            </a:r>
            <a: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(OCEAN-H)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B78C68B2-893F-5A71-F25A-32228ACC5B7F}"/>
              </a:ext>
            </a:extLst>
          </p:cNvPr>
          <p:cNvSpPr/>
          <p:nvPr/>
        </p:nvSpPr>
        <p:spPr>
          <a:xfrm>
            <a:off x="6960469" y="3470789"/>
            <a:ext cx="1203185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종합 평가 및</a:t>
            </a:r>
            <a:b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</a:b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우선순위 결정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7" name="화살표: 오각형 46">
            <a:extLst>
              <a:ext uri="{FF2B5EF4-FFF2-40B4-BE49-F238E27FC236}">
                <a16:creationId xmlns:a16="http://schemas.microsoft.com/office/drawing/2014/main" id="{0681C244-7C65-86B1-510C-0D4789E73BF2}"/>
              </a:ext>
            </a:extLst>
          </p:cNvPr>
          <p:cNvSpPr/>
          <p:nvPr/>
        </p:nvSpPr>
        <p:spPr>
          <a:xfrm>
            <a:off x="2990498" y="1964218"/>
            <a:ext cx="2598798" cy="200898"/>
          </a:xfrm>
          <a:prstGeom prst="homePlate">
            <a:avLst>
              <a:gd name="adj" fmla="val 24867"/>
            </a:avLst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ko-KR" altLang="en-US" sz="1000" b="1">
                <a:latin typeface="나눔스퀘어" panose="020B0600000101010101" pitchFamily="50" charset="-127"/>
                <a:ea typeface="나눔스퀘어" panose="020B0600000101010101" pitchFamily="50" charset="-127"/>
              </a:rPr>
              <a:t>전략 과제 검토</a:t>
            </a:r>
            <a:endParaRPr lang="en-US" altLang="ko-KR" sz="1000" b="1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F9689017-7EAC-166F-817F-EB2E7FAD5266}"/>
              </a:ext>
            </a:extLst>
          </p:cNvPr>
          <p:cNvCxnSpPr>
            <a:cxnSpLocks/>
            <a:stCxn id="191" idx="2"/>
            <a:endCxn id="192" idx="0"/>
          </p:cNvCxnSpPr>
          <p:nvPr/>
        </p:nvCxnSpPr>
        <p:spPr>
          <a:xfrm flipH="1">
            <a:off x="946079" y="2938921"/>
            <a:ext cx="308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5A82B1A6-5A59-A58E-136E-09489F3A0A1B}"/>
              </a:ext>
            </a:extLst>
          </p:cNvPr>
          <p:cNvCxnSpPr>
            <a:cxnSpLocks/>
            <a:stCxn id="192" idx="2"/>
          </p:cNvCxnSpPr>
          <p:nvPr/>
        </p:nvCxnSpPr>
        <p:spPr>
          <a:xfrm>
            <a:off x="946079" y="3372255"/>
            <a:ext cx="0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3FE76AFE-B6BB-5ADC-00BE-5BA84DFD6C7F}"/>
              </a:ext>
            </a:extLst>
          </p:cNvPr>
          <p:cNvCxnSpPr>
            <a:cxnSpLocks/>
            <a:stCxn id="197" idx="2"/>
            <a:endCxn id="198" idx="0"/>
          </p:cNvCxnSpPr>
          <p:nvPr/>
        </p:nvCxnSpPr>
        <p:spPr>
          <a:xfrm flipH="1">
            <a:off x="2269276" y="3372255"/>
            <a:ext cx="308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9B777DF6-46D0-CC06-20D4-F7D02B696233}"/>
              </a:ext>
            </a:extLst>
          </p:cNvPr>
          <p:cNvCxnSpPr>
            <a:cxnSpLocks/>
            <a:stCxn id="198" idx="2"/>
            <a:endCxn id="21" idx="0"/>
          </p:cNvCxnSpPr>
          <p:nvPr/>
        </p:nvCxnSpPr>
        <p:spPr>
          <a:xfrm>
            <a:off x="2269276" y="3805589"/>
            <a:ext cx="0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직선 화살표 연결선 133">
            <a:extLst>
              <a:ext uri="{FF2B5EF4-FFF2-40B4-BE49-F238E27FC236}">
                <a16:creationId xmlns:a16="http://schemas.microsoft.com/office/drawing/2014/main" id="{5ED2D1A6-7186-44E9-9B3C-5DA88AC3143C}"/>
              </a:ext>
            </a:extLst>
          </p:cNvPr>
          <p:cNvCxnSpPr>
            <a:cxnSpLocks/>
            <a:stCxn id="21" idx="2"/>
            <a:endCxn id="7" idx="0"/>
          </p:cNvCxnSpPr>
          <p:nvPr/>
        </p:nvCxnSpPr>
        <p:spPr>
          <a:xfrm>
            <a:off x="2269276" y="4238923"/>
            <a:ext cx="2409" cy="107699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직선 화살표 연결선 140">
            <a:extLst>
              <a:ext uri="{FF2B5EF4-FFF2-40B4-BE49-F238E27FC236}">
                <a16:creationId xmlns:a16="http://schemas.microsoft.com/office/drawing/2014/main" id="{72801A7B-6567-9FCA-57D9-7E00D902D074}"/>
              </a:ext>
            </a:extLst>
          </p:cNvPr>
          <p:cNvCxnSpPr>
            <a:cxnSpLocks/>
            <a:stCxn id="202" idx="2"/>
            <a:endCxn id="203" idx="0"/>
          </p:cNvCxnSpPr>
          <p:nvPr/>
        </p:nvCxnSpPr>
        <p:spPr>
          <a:xfrm flipH="1">
            <a:off x="3592473" y="2938921"/>
            <a:ext cx="308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직선 화살표 연결선 151">
            <a:extLst>
              <a:ext uri="{FF2B5EF4-FFF2-40B4-BE49-F238E27FC236}">
                <a16:creationId xmlns:a16="http://schemas.microsoft.com/office/drawing/2014/main" id="{3B11BBFE-676B-2FE8-1494-E395E6E94028}"/>
              </a:ext>
            </a:extLst>
          </p:cNvPr>
          <p:cNvCxnSpPr>
            <a:cxnSpLocks/>
            <a:stCxn id="203" idx="2"/>
            <a:endCxn id="17" idx="0"/>
          </p:cNvCxnSpPr>
          <p:nvPr/>
        </p:nvCxnSpPr>
        <p:spPr>
          <a:xfrm>
            <a:off x="3592473" y="3372255"/>
            <a:ext cx="0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직선 화살표 연결선 156">
            <a:extLst>
              <a:ext uri="{FF2B5EF4-FFF2-40B4-BE49-F238E27FC236}">
                <a16:creationId xmlns:a16="http://schemas.microsoft.com/office/drawing/2014/main" id="{AFCD8B2E-5F02-DA1A-AF88-FAA7B3F3A20C}"/>
              </a:ext>
            </a:extLst>
          </p:cNvPr>
          <p:cNvCxnSpPr>
            <a:cxnSpLocks/>
            <a:stCxn id="207" idx="2"/>
            <a:endCxn id="208" idx="0"/>
          </p:cNvCxnSpPr>
          <p:nvPr/>
        </p:nvCxnSpPr>
        <p:spPr>
          <a:xfrm flipH="1">
            <a:off x="4915670" y="2938921"/>
            <a:ext cx="308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직선 화살표 연결선 159">
            <a:extLst>
              <a:ext uri="{FF2B5EF4-FFF2-40B4-BE49-F238E27FC236}">
                <a16:creationId xmlns:a16="http://schemas.microsoft.com/office/drawing/2014/main" id="{D7CDD38C-CAE8-8D2C-D53E-DE8E3DE54C07}"/>
              </a:ext>
            </a:extLst>
          </p:cNvPr>
          <p:cNvCxnSpPr>
            <a:cxnSpLocks/>
            <a:stCxn id="208" idx="2"/>
            <a:endCxn id="33" idx="0"/>
          </p:cNvCxnSpPr>
          <p:nvPr/>
        </p:nvCxnSpPr>
        <p:spPr>
          <a:xfrm>
            <a:off x="4915670" y="3372255"/>
            <a:ext cx="0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직선 화살표 연결선 162">
            <a:extLst>
              <a:ext uri="{FF2B5EF4-FFF2-40B4-BE49-F238E27FC236}">
                <a16:creationId xmlns:a16="http://schemas.microsoft.com/office/drawing/2014/main" id="{080DBA66-297C-949C-21DF-D3C6F4956435}"/>
              </a:ext>
            </a:extLst>
          </p:cNvPr>
          <p:cNvCxnSpPr>
            <a:cxnSpLocks/>
            <a:stCxn id="35" idx="2"/>
            <a:endCxn id="36" idx="0"/>
          </p:cNvCxnSpPr>
          <p:nvPr/>
        </p:nvCxnSpPr>
        <p:spPr>
          <a:xfrm flipH="1">
            <a:off x="6238865" y="2938921"/>
            <a:ext cx="309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직선 화살표 연결선 166">
            <a:extLst>
              <a:ext uri="{FF2B5EF4-FFF2-40B4-BE49-F238E27FC236}">
                <a16:creationId xmlns:a16="http://schemas.microsoft.com/office/drawing/2014/main" id="{D8013DBF-FFEA-F009-0208-9D7D7014398D}"/>
              </a:ext>
            </a:extLst>
          </p:cNvPr>
          <p:cNvCxnSpPr>
            <a:cxnSpLocks/>
            <a:stCxn id="36" idx="2"/>
            <a:endCxn id="38" idx="0"/>
          </p:cNvCxnSpPr>
          <p:nvPr/>
        </p:nvCxnSpPr>
        <p:spPr>
          <a:xfrm>
            <a:off x="6238865" y="3372255"/>
            <a:ext cx="0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직선 화살표 연결선 169">
            <a:extLst>
              <a:ext uri="{FF2B5EF4-FFF2-40B4-BE49-F238E27FC236}">
                <a16:creationId xmlns:a16="http://schemas.microsoft.com/office/drawing/2014/main" id="{95CF270C-C60B-A581-A8DB-A4C815CE28D6}"/>
              </a:ext>
            </a:extLst>
          </p:cNvPr>
          <p:cNvCxnSpPr>
            <a:cxnSpLocks/>
            <a:stCxn id="44" idx="2"/>
            <a:endCxn id="45" idx="0"/>
          </p:cNvCxnSpPr>
          <p:nvPr/>
        </p:nvCxnSpPr>
        <p:spPr>
          <a:xfrm flipH="1">
            <a:off x="7562062" y="2938921"/>
            <a:ext cx="309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직선 화살표 연결선 176">
            <a:extLst>
              <a:ext uri="{FF2B5EF4-FFF2-40B4-BE49-F238E27FC236}">
                <a16:creationId xmlns:a16="http://schemas.microsoft.com/office/drawing/2014/main" id="{827CDEA6-8D71-2142-A687-A3C14EACF299}"/>
              </a:ext>
            </a:extLst>
          </p:cNvPr>
          <p:cNvCxnSpPr>
            <a:cxnSpLocks/>
            <a:stCxn id="45" idx="2"/>
            <a:endCxn id="41" idx="0"/>
          </p:cNvCxnSpPr>
          <p:nvPr/>
        </p:nvCxnSpPr>
        <p:spPr>
          <a:xfrm>
            <a:off x="7562062" y="3372255"/>
            <a:ext cx="0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직선 화살표 연결선 180">
            <a:extLst>
              <a:ext uri="{FF2B5EF4-FFF2-40B4-BE49-F238E27FC236}">
                <a16:creationId xmlns:a16="http://schemas.microsoft.com/office/drawing/2014/main" id="{86DC14C4-FDF1-C970-E75B-9238F76A2D60}"/>
              </a:ext>
            </a:extLst>
          </p:cNvPr>
          <p:cNvCxnSpPr>
            <a:cxnSpLocks/>
            <a:stCxn id="215" idx="2"/>
            <a:endCxn id="216" idx="0"/>
          </p:cNvCxnSpPr>
          <p:nvPr/>
        </p:nvCxnSpPr>
        <p:spPr>
          <a:xfrm flipH="1">
            <a:off x="8885259" y="2938921"/>
            <a:ext cx="308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4" name="TextBox 183">
            <a:extLst>
              <a:ext uri="{FF2B5EF4-FFF2-40B4-BE49-F238E27FC236}">
                <a16:creationId xmlns:a16="http://schemas.microsoft.com/office/drawing/2014/main" id="{45D7C85C-1AC3-DB25-3F5B-34E74130A56D}"/>
              </a:ext>
            </a:extLst>
          </p:cNvPr>
          <p:cNvSpPr txBox="1"/>
          <p:nvPr/>
        </p:nvSpPr>
        <p:spPr>
          <a:xfrm>
            <a:off x="673770" y="5329768"/>
            <a:ext cx="3936732" cy="23166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72000" rIns="36000" rtlCol="0" anchor="ctr">
            <a:noAutofit/>
          </a:bodyPr>
          <a:lstStyle/>
          <a:p>
            <a:r>
              <a:rPr lang="ko-KR" altLang="en-US" sz="1000" spc="-7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신기술</a:t>
            </a:r>
            <a:r>
              <a:rPr lang="en-US" altLang="ko-KR" sz="1000" spc="-7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spc="-7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시장 동향 수기 조사 → 외부 정보로부터 선택적 정보 수집</a:t>
            </a:r>
            <a:r>
              <a:rPr lang="en-US" altLang="ko-KR" sz="1000" spc="-7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</a:t>
            </a:r>
            <a:r>
              <a:rPr lang="ko-KR" altLang="en-US" sz="1000" spc="-7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정리</a:t>
            </a: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1822DA33-D31C-59B9-57AE-6A8CB2E85CD1}"/>
              </a:ext>
            </a:extLst>
          </p:cNvPr>
          <p:cNvSpPr txBox="1"/>
          <p:nvPr/>
        </p:nvSpPr>
        <p:spPr>
          <a:xfrm>
            <a:off x="673770" y="5627020"/>
            <a:ext cx="3936732" cy="23166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72000" rIns="36000" rtlCol="0" anchor="ctr">
            <a:noAutofit/>
          </a:bodyPr>
          <a:lstStyle/>
          <a:p>
            <a:r>
              <a:rPr lang="ko-KR" altLang="en-US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사업 검토 간 법률 관련 사항 담당자 별 확인</a:t>
            </a:r>
            <a:r>
              <a:rPr lang="en-US" altLang="ko-KR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→ </a:t>
            </a:r>
            <a:r>
              <a:rPr lang="en-US" altLang="ko-KR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Chat-Bot</a:t>
            </a:r>
            <a:r>
              <a:rPr lang="ko-KR" altLang="en-US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질의</a:t>
            </a:r>
            <a:r>
              <a:rPr lang="en-US" altLang="ko-KR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</a:t>
            </a:r>
            <a:r>
              <a:rPr lang="ko-KR" altLang="en-US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답변 제공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355FB277-25D2-F8C2-B34C-1252ADD2FAA7}"/>
              </a:ext>
            </a:extLst>
          </p:cNvPr>
          <p:cNvSpPr txBox="1"/>
          <p:nvPr/>
        </p:nvSpPr>
        <p:spPr>
          <a:xfrm>
            <a:off x="673770" y="5924273"/>
            <a:ext cx="3936732" cy="23166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72000" rIns="36000" rtlCol="0" anchor="ctr">
            <a:noAutofit/>
          </a:bodyPr>
          <a:lstStyle/>
          <a:p>
            <a:r>
              <a:rPr lang="ko-KR" altLang="en-US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시스템 </a:t>
            </a:r>
            <a:r>
              <a:rPr lang="en-US" altLang="ko-KR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· </a:t>
            </a:r>
            <a:r>
              <a:rPr lang="ko-KR" altLang="en-US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저장소 내 수작업 조회 → 신규 과제 유사 정보 자동 수집 및 제공</a:t>
            </a:r>
            <a:endParaRPr lang="en-US" altLang="ko-KR" sz="100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4121C010-D376-B2BD-E8A8-90608FB5DE53}"/>
              </a:ext>
            </a:extLst>
          </p:cNvPr>
          <p:cNvSpPr txBox="1"/>
          <p:nvPr/>
        </p:nvSpPr>
        <p:spPr>
          <a:xfrm>
            <a:off x="7489234" y="5329768"/>
            <a:ext cx="2072281" cy="23166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72000" rIns="36000" rtlCol="0" anchor="ctr">
            <a:noAutofit/>
          </a:bodyPr>
          <a:lstStyle/>
          <a:p>
            <a:r>
              <a:rPr lang="ko-KR" altLang="en-US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수집 대상 정의 및 </a:t>
            </a:r>
            <a:r>
              <a:rPr lang="en-US" altLang="ko-KR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Keyword </a:t>
            </a:r>
            <a:r>
              <a:rPr lang="ko-KR" altLang="en-US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도출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8E091224-1BE6-134D-8F89-78AD5E7B0BAC}"/>
              </a:ext>
            </a:extLst>
          </p:cNvPr>
          <p:cNvSpPr txBox="1"/>
          <p:nvPr/>
        </p:nvSpPr>
        <p:spPr>
          <a:xfrm>
            <a:off x="7489234" y="5627020"/>
            <a:ext cx="2072281" cy="23166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72000" rIns="36000" rtlCol="0" anchor="ctr">
            <a:noAutofit/>
          </a:bodyPr>
          <a:lstStyle/>
          <a:p>
            <a:r>
              <a:rPr lang="ko-KR" altLang="en-US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질의 항목별 </a:t>
            </a:r>
            <a:r>
              <a:rPr lang="en-US" altLang="ko-KR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Indexing</a:t>
            </a:r>
            <a:endParaRPr lang="ko-KR" altLang="en-US" sz="100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721F4942-2E42-1AC5-17C0-A078803AD97B}"/>
              </a:ext>
            </a:extLst>
          </p:cNvPr>
          <p:cNvSpPr txBox="1"/>
          <p:nvPr/>
        </p:nvSpPr>
        <p:spPr>
          <a:xfrm>
            <a:off x="7489234" y="5924273"/>
            <a:ext cx="2072281" cy="23166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72000" rIns="36000" rtlCol="0" anchor="ctr">
            <a:noAutofit/>
          </a:bodyPr>
          <a:lstStyle/>
          <a:p>
            <a:r>
              <a:rPr lang="en-US" altLang="ko-KR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DB</a:t>
            </a:r>
            <a:r>
              <a:rPr lang="ko-KR" altLang="en-US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화 대상 선정 및 속성 정의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D70D40C0-6E51-59F7-ABB7-94EEB2CD31AA}"/>
              </a:ext>
            </a:extLst>
          </p:cNvPr>
          <p:cNvSpPr txBox="1"/>
          <p:nvPr/>
        </p:nvSpPr>
        <p:spPr>
          <a:xfrm>
            <a:off x="344486" y="5329768"/>
            <a:ext cx="216000" cy="216000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AEF0EC83-1849-6511-F568-9B9D176646BB}"/>
              </a:ext>
            </a:extLst>
          </p:cNvPr>
          <p:cNvSpPr txBox="1"/>
          <p:nvPr/>
        </p:nvSpPr>
        <p:spPr>
          <a:xfrm>
            <a:off x="344486" y="5627020"/>
            <a:ext cx="216000" cy="216000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84A17347-1403-FD98-13FA-0AEDA3D2A304}"/>
              </a:ext>
            </a:extLst>
          </p:cNvPr>
          <p:cNvSpPr txBox="1"/>
          <p:nvPr/>
        </p:nvSpPr>
        <p:spPr>
          <a:xfrm>
            <a:off x="344486" y="5924273"/>
            <a:ext cx="216000" cy="216000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3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C5A54568-4542-B3F6-71C4-0B443A693918}"/>
              </a:ext>
            </a:extLst>
          </p:cNvPr>
          <p:cNvSpPr txBox="1"/>
          <p:nvPr/>
        </p:nvSpPr>
        <p:spPr>
          <a:xfrm>
            <a:off x="4710767" y="5329768"/>
            <a:ext cx="2678203" cy="23166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72000" rIns="36000" rtlCol="0" anchor="ctr">
            <a:noAutofit/>
          </a:bodyPr>
          <a:lstStyle/>
          <a:p>
            <a:r>
              <a:rPr lang="ko-KR" altLang="en-US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기술 정보 수집 </a:t>
            </a:r>
            <a:r>
              <a:rPr lang="en-US" altLang="ko-KR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Agent</a:t>
            </a:r>
            <a:endParaRPr lang="ko-KR" altLang="en-US" sz="100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769146B8-9D28-09A9-BB0A-06D44C1EA798}"/>
              </a:ext>
            </a:extLst>
          </p:cNvPr>
          <p:cNvSpPr txBox="1"/>
          <p:nvPr/>
        </p:nvSpPr>
        <p:spPr>
          <a:xfrm>
            <a:off x="4710767" y="5627020"/>
            <a:ext cx="2678203" cy="23166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72000" rIns="36000" rtlCol="0" anchor="ctr">
            <a:noAutofit/>
          </a:bodyPr>
          <a:lstStyle/>
          <a:p>
            <a:r>
              <a:rPr lang="en-US" altLang="ko-KR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CLX </a:t>
            </a:r>
            <a:r>
              <a:rPr lang="ko-KR" altLang="en-US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법률 지식 </a:t>
            </a:r>
            <a:r>
              <a:rPr lang="en-US" altLang="ko-KR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Q&amp;A Chat-Bot(SHE)</a:t>
            </a:r>
            <a:endParaRPr lang="ko-KR" altLang="en-US" sz="100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A9B36A05-8BD6-AB60-E0C7-A63FC96A2241}"/>
              </a:ext>
            </a:extLst>
          </p:cNvPr>
          <p:cNvSpPr txBox="1"/>
          <p:nvPr/>
        </p:nvSpPr>
        <p:spPr>
          <a:xfrm>
            <a:off x="4710767" y="5924273"/>
            <a:ext cx="2678203" cy="23166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72000" rIns="36000" rtlCol="0" anchor="ctr">
            <a:noAutofit/>
          </a:bodyPr>
          <a:lstStyle>
            <a:defPPr>
              <a:defRPr lang="en-US"/>
            </a:defPPr>
            <a:lvl1pPr>
              <a:defRPr sz="1000"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r>
              <a:rPr lang="ko-KR" altLang="en-US"/>
              <a:t>생산 운영 정보 저장 </a:t>
            </a:r>
            <a:r>
              <a:rPr lang="en-US" altLang="ko-KR"/>
              <a:t>· </a:t>
            </a:r>
            <a:r>
              <a:rPr lang="ko-KR" altLang="en-US"/>
              <a:t>분류 자동화</a:t>
            </a:r>
          </a:p>
        </p:txBody>
      </p:sp>
      <p:sp>
        <p:nvSpPr>
          <p:cNvPr id="206" name="사각형: 둥근 모서리 205">
            <a:extLst>
              <a:ext uri="{FF2B5EF4-FFF2-40B4-BE49-F238E27FC236}">
                <a16:creationId xmlns:a16="http://schemas.microsoft.com/office/drawing/2014/main" id="{C680B018-1EB7-8482-90F7-3CF3BDD5D56B}"/>
              </a:ext>
            </a:extLst>
          </p:cNvPr>
          <p:cNvSpPr/>
          <p:nvPr/>
        </p:nvSpPr>
        <p:spPr>
          <a:xfrm>
            <a:off x="6954839" y="5361899"/>
            <a:ext cx="386006" cy="167400"/>
          </a:xfrm>
          <a:prstGeom prst="roundRect">
            <a:avLst>
              <a:gd name="adj" fmla="val 18018"/>
            </a:avLst>
          </a:prstGeom>
          <a:solidFill>
            <a:schemeClr val="bg1">
              <a:lumMod val="50000"/>
            </a:schemeClr>
          </a:solidFill>
          <a:ln w="3175">
            <a:noFill/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자동화</a:t>
            </a:r>
            <a:endParaRPr kumimoji="1" lang="en-US" altLang="ko-KR" sz="900" ker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10" name="사각형: 둥근 모서리 209">
            <a:extLst>
              <a:ext uri="{FF2B5EF4-FFF2-40B4-BE49-F238E27FC236}">
                <a16:creationId xmlns:a16="http://schemas.microsoft.com/office/drawing/2014/main" id="{1A591E37-82E2-D954-B7DC-6AB1C5F08271}"/>
              </a:ext>
            </a:extLst>
          </p:cNvPr>
          <p:cNvSpPr/>
          <p:nvPr/>
        </p:nvSpPr>
        <p:spPr>
          <a:xfrm>
            <a:off x="6954839" y="5659151"/>
            <a:ext cx="386006" cy="167400"/>
          </a:xfrm>
          <a:prstGeom prst="roundRect">
            <a:avLst>
              <a:gd name="adj" fmla="val 18018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noFill/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지능화</a:t>
            </a:r>
            <a:endParaRPr kumimoji="1" lang="en-US" altLang="ko-KR" sz="900" ker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11" name="사각형: 둥근 모서리 210">
            <a:extLst>
              <a:ext uri="{FF2B5EF4-FFF2-40B4-BE49-F238E27FC236}">
                <a16:creationId xmlns:a16="http://schemas.microsoft.com/office/drawing/2014/main" id="{3CF78330-A33C-96B3-0D2F-5DDB2ECAAEBE}"/>
              </a:ext>
            </a:extLst>
          </p:cNvPr>
          <p:cNvSpPr/>
          <p:nvPr/>
        </p:nvSpPr>
        <p:spPr>
          <a:xfrm>
            <a:off x="6954839" y="5956404"/>
            <a:ext cx="386006" cy="167400"/>
          </a:xfrm>
          <a:prstGeom prst="roundRect">
            <a:avLst>
              <a:gd name="adj" fmla="val 18018"/>
            </a:avLst>
          </a:prstGeom>
          <a:solidFill>
            <a:schemeClr val="bg1">
              <a:lumMod val="50000"/>
            </a:schemeClr>
          </a:solidFill>
          <a:ln w="3175">
            <a:noFill/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자동화</a:t>
            </a:r>
            <a:endParaRPr kumimoji="1" lang="en-US" altLang="ko-KR" sz="900" ker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73AB67DF-FF69-64E2-CD38-CB9187818DD0}"/>
              </a:ext>
            </a:extLst>
          </p:cNvPr>
          <p:cNvSpPr txBox="1"/>
          <p:nvPr/>
        </p:nvSpPr>
        <p:spPr>
          <a:xfrm>
            <a:off x="270722" y="3131089"/>
            <a:ext cx="147532" cy="147532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3E2C4E88-9658-D508-990A-57958C3CFBB6}"/>
              </a:ext>
            </a:extLst>
          </p:cNvPr>
          <p:cNvSpPr txBox="1"/>
          <p:nvPr/>
        </p:nvSpPr>
        <p:spPr>
          <a:xfrm>
            <a:off x="5562743" y="3131089"/>
            <a:ext cx="147532" cy="147532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텍스트 개체 틀 4">
            <a:extLst>
              <a:ext uri="{FF2B5EF4-FFF2-40B4-BE49-F238E27FC236}">
                <a16:creationId xmlns:a16="http://schemas.microsoft.com/office/drawing/2014/main" id="{9AED7C54-A0CC-AFB1-0104-614BE1C1E07C}"/>
              </a:ext>
            </a:extLst>
          </p:cNvPr>
          <p:cNvSpPr txBox="1">
            <a:spLocks/>
          </p:cNvSpPr>
          <p:nvPr/>
        </p:nvSpPr>
        <p:spPr>
          <a:xfrm>
            <a:off x="1386038" y="721134"/>
            <a:ext cx="8180064" cy="769485"/>
          </a:xfrm>
          <a:prstGeom prst="rect">
            <a:avLst/>
          </a:prstGeom>
          <a:pattFill prst="dkUp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 w="3175">
            <a:noFill/>
          </a:ln>
        </p:spPr>
        <p:txBody>
          <a:bodyPr vert="horz" lIns="108000" tIns="36000" rIns="36000" bIns="36000" rtlCol="0" anchor="ctr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2563" indent="-182563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ko-KR" altLang="en-US" sz="1200" b="0"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ngal Pro" panose="020B0502040204020203" pitchFamily="2" charset="0"/>
              </a:rPr>
              <a:t>전략 과제 全 주기 통합 관리로 혁신 가속화</a:t>
            </a:r>
            <a:endParaRPr lang="en-US" altLang="ko-KR" sz="1200" b="0">
              <a:solidFill>
                <a:prstClr val="black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cs typeface="Mangal Pro" panose="020B0502040204020203" pitchFamily="2" charset="0"/>
            </a:endParaRPr>
          </a:p>
          <a:p>
            <a:pPr marL="355600" indent="-173038" latinLnBrk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Font typeface="나눔스퀘어 ExtraBold" panose="020B0600000101010101" pitchFamily="50" charset="-127"/>
              <a:buChar char="-"/>
            </a:pPr>
            <a:r>
              <a:rPr lang="ko-KR" altLang="en-US" sz="1100" b="0">
                <a:solidFill>
                  <a:prstClr val="black"/>
                </a:solidFill>
                <a:cs typeface="Mangal Pro" panose="020B0502040204020203" pitchFamily="2" charset="0"/>
              </a:rPr>
              <a:t>기술 </a:t>
            </a:r>
            <a:r>
              <a:rPr lang="en-US" altLang="ko-KR" sz="1100" b="0">
                <a:solidFill>
                  <a:prstClr val="black"/>
                </a:solidFill>
                <a:cs typeface="Mangal Pro" panose="020B0502040204020203" pitchFamily="2" charset="0"/>
              </a:rPr>
              <a:t>Trend</a:t>
            </a:r>
            <a:r>
              <a:rPr lang="ko-KR" altLang="en-US" sz="1100" b="0">
                <a:solidFill>
                  <a:prstClr val="black"/>
                </a:solidFill>
                <a:cs typeface="Mangal Pro" panose="020B0502040204020203" pitchFamily="2" charset="0"/>
              </a:rPr>
              <a:t> 자동 수집 및 분석으로 기회 발굴 적시성 향상</a:t>
            </a:r>
            <a:endParaRPr lang="en-US" altLang="ko-KR" sz="1100" b="0">
              <a:solidFill>
                <a:prstClr val="black"/>
              </a:solidFill>
              <a:cs typeface="Mangal Pro" panose="020B0502040204020203" pitchFamily="2" charset="0"/>
            </a:endParaRPr>
          </a:p>
          <a:p>
            <a:pPr marL="355600" indent="-173038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나눔스퀘어 ExtraBold" panose="020B0600000101010101" pitchFamily="50" charset="-127"/>
              <a:buChar char="-"/>
            </a:pPr>
            <a:r>
              <a:rPr lang="ko-KR" altLang="en-US" sz="1100" b="0">
                <a:solidFill>
                  <a:prstClr val="black"/>
                </a:solidFill>
                <a:cs typeface="Mangal Pro" panose="020B0502040204020203" pitchFamily="2" charset="0"/>
              </a:rPr>
              <a:t>전략 과제 추진 단계별 중요 </a:t>
            </a:r>
            <a:r>
              <a:rPr lang="en-US" altLang="ko-KR" sz="1100" b="0">
                <a:solidFill>
                  <a:prstClr val="black"/>
                </a:solidFill>
                <a:cs typeface="Mangal Pro" panose="020B0502040204020203" pitchFamily="2" charset="0"/>
              </a:rPr>
              <a:t>Point </a:t>
            </a:r>
            <a:r>
              <a:rPr lang="ko-KR" altLang="en-US" sz="1100" b="0">
                <a:solidFill>
                  <a:prstClr val="black"/>
                </a:solidFill>
                <a:cs typeface="Mangal Pro" panose="020B0502040204020203" pitchFamily="2" charset="0"/>
              </a:rPr>
              <a:t>식별 및 관리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CA41F411-70F2-C50A-7AA3-B41FB71482D7}"/>
              </a:ext>
            </a:extLst>
          </p:cNvPr>
          <p:cNvSpPr/>
          <p:nvPr/>
        </p:nvSpPr>
        <p:spPr>
          <a:xfrm>
            <a:off x="1667683" y="2604121"/>
            <a:ext cx="1203802" cy="334800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유관 자료 수집 및 분석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(AI Agent)</a:t>
            </a: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829301B9-54E8-BA39-D868-AFDC9C885D0D}"/>
              </a:ext>
            </a:extLst>
          </p:cNvPr>
          <p:cNvSpPr txBox="1"/>
          <p:nvPr/>
        </p:nvSpPr>
        <p:spPr>
          <a:xfrm>
            <a:off x="1598736" y="2698393"/>
            <a:ext cx="147532" cy="147532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3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ABFAE98E-89BA-9A1E-A185-FC6AA9AFFF46}"/>
              </a:ext>
            </a:extLst>
          </p:cNvPr>
          <p:cNvCxnSpPr>
            <a:cxnSpLocks/>
            <a:stCxn id="9" idx="2"/>
            <a:endCxn id="197" idx="0"/>
          </p:cNvCxnSpPr>
          <p:nvPr/>
        </p:nvCxnSpPr>
        <p:spPr>
          <a:xfrm>
            <a:off x="2269584" y="2938921"/>
            <a:ext cx="0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FFD42373-0338-14B7-F3DC-D8DE76029C08}"/>
              </a:ext>
            </a:extLst>
          </p:cNvPr>
          <p:cNvSpPr/>
          <p:nvPr/>
        </p:nvSpPr>
        <p:spPr>
          <a:xfrm>
            <a:off x="344486" y="3470789"/>
            <a:ext cx="1203185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사업 환경 분석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2996B70A-E703-9DA1-94B3-AAB113A86137}"/>
              </a:ext>
            </a:extLst>
          </p:cNvPr>
          <p:cNvSpPr txBox="1"/>
          <p:nvPr/>
        </p:nvSpPr>
        <p:spPr>
          <a:xfrm>
            <a:off x="270722" y="3997417"/>
            <a:ext cx="147532" cy="147532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278FD583-A8F4-D940-E166-DBB1FD163A90}"/>
              </a:ext>
            </a:extLst>
          </p:cNvPr>
          <p:cNvCxnSpPr>
            <a:cxnSpLocks/>
            <a:stCxn id="24" idx="2"/>
            <a:endCxn id="195" idx="0"/>
          </p:cNvCxnSpPr>
          <p:nvPr/>
        </p:nvCxnSpPr>
        <p:spPr>
          <a:xfrm>
            <a:off x="946079" y="3805589"/>
            <a:ext cx="0" cy="9819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13719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29FBE-6C98-46E2-C69C-E99871AA0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41B7C0F-2E07-A820-F9F3-BE0A8711840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4487" y="254884"/>
            <a:ext cx="5208477" cy="343235"/>
          </a:xfrm>
          <a:solidFill>
            <a:schemeClr val="bg1"/>
          </a:solidFill>
        </p:spPr>
        <p:txBody>
          <a:bodyPr wrap="none" anchor="ctr">
            <a:spAutoFit/>
          </a:bodyPr>
          <a:lstStyle/>
          <a:p>
            <a:r>
              <a:rPr lang="en-US" altLang="ko-KR" b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Appendix. [</a:t>
            </a:r>
            <a:r>
              <a:rPr lang="ko-KR" altLang="en-US" b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생산기술</a:t>
            </a:r>
            <a:r>
              <a:rPr lang="en-US" altLang="ko-KR" b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] </a:t>
            </a:r>
            <a:r>
              <a:rPr lang="ko-KR" altLang="en-US" b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전략 과제 기획 및 관리 </a:t>
            </a:r>
            <a:r>
              <a:rPr lang="en-US" altLang="ko-KR" b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(2/2)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074055BB-1158-B7CE-5050-36FB6E91786F}"/>
              </a:ext>
            </a:extLst>
          </p:cNvPr>
          <p:cNvCxnSpPr>
            <a:cxnSpLocks/>
          </p:cNvCxnSpPr>
          <p:nvPr/>
        </p:nvCxnSpPr>
        <p:spPr>
          <a:xfrm>
            <a:off x="344488" y="1768835"/>
            <a:ext cx="9221614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64AA092-E234-0510-EDA8-B40D84B6AB2F}"/>
              </a:ext>
            </a:extLst>
          </p:cNvPr>
          <p:cNvSpPr/>
          <p:nvPr/>
        </p:nvSpPr>
        <p:spPr>
          <a:xfrm>
            <a:off x="344490" y="1547834"/>
            <a:ext cx="570257" cy="171734"/>
          </a:xfrm>
          <a:prstGeom prst="rect">
            <a:avLst/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1000" b="1">
                <a:latin typeface="나눔스퀘어" panose="020B0600000101010101" pitchFamily="50" charset="-127"/>
                <a:ea typeface="나눔스퀘어" panose="020B0600000101010101" pitchFamily="50" charset="-127"/>
              </a:rPr>
              <a:t>Process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D5CB397-4CEA-98D1-9FA5-C13E071FE0ED}"/>
              </a:ext>
            </a:extLst>
          </p:cNvPr>
          <p:cNvSpPr/>
          <p:nvPr/>
        </p:nvSpPr>
        <p:spPr>
          <a:xfrm>
            <a:off x="955677" y="1547834"/>
            <a:ext cx="570257" cy="171734"/>
          </a:xfrm>
          <a:prstGeom prst="rect">
            <a:avLst/>
          </a:prstGeom>
          <a:solidFill>
            <a:schemeClr val="bg1">
              <a:lumMod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Activity</a:t>
            </a:r>
          </a:p>
        </p:txBody>
      </p:sp>
      <p:sp>
        <p:nvSpPr>
          <p:cNvPr id="129" name="사각형: 둥근 모서리 128">
            <a:extLst>
              <a:ext uri="{FF2B5EF4-FFF2-40B4-BE49-F238E27FC236}">
                <a16:creationId xmlns:a16="http://schemas.microsoft.com/office/drawing/2014/main" id="{7FBC7122-B501-07C6-C94B-CF652FA5DB2F}"/>
              </a:ext>
            </a:extLst>
          </p:cNvPr>
          <p:cNvSpPr/>
          <p:nvPr/>
        </p:nvSpPr>
        <p:spPr>
          <a:xfrm>
            <a:off x="4031571" y="1640841"/>
            <a:ext cx="1847448" cy="25598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rgbClr val="217C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To-Be </a:t>
            </a:r>
            <a:r>
              <a:rPr lang="ko-KR" altLang="en-US" sz="1200">
                <a:solidFill>
                  <a:schemeClr val="tx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업무 시나리오</a:t>
            </a:r>
          </a:p>
        </p:txBody>
      </p:sp>
      <p:sp>
        <p:nvSpPr>
          <p:cNvPr id="143" name="사각형: 둥근 모서리 142">
            <a:extLst>
              <a:ext uri="{FF2B5EF4-FFF2-40B4-BE49-F238E27FC236}">
                <a16:creationId xmlns:a16="http://schemas.microsoft.com/office/drawing/2014/main" id="{84C7E279-130A-E7C2-E719-AC99ED100494}"/>
              </a:ext>
            </a:extLst>
          </p:cNvPr>
          <p:cNvSpPr/>
          <p:nvPr/>
        </p:nvSpPr>
        <p:spPr>
          <a:xfrm>
            <a:off x="344488" y="721134"/>
            <a:ext cx="941772" cy="763179"/>
          </a:xfrm>
          <a:prstGeom prst="roundRect">
            <a:avLst>
              <a:gd name="adj" fmla="val 0"/>
            </a:avLst>
          </a:prstGeom>
          <a:solidFill>
            <a:srgbClr val="217CFA"/>
          </a:solidFill>
          <a:ln w="6350">
            <a:solidFill>
              <a:srgbClr val="217C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Digital</a:t>
            </a:r>
            <a:r>
              <a:rPr lang="ko-KR" altLang="en-US" sz="130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화 지향점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BD4F4F6E-5ED4-BD73-83AE-32FA1FF41CEB}"/>
              </a:ext>
            </a:extLst>
          </p:cNvPr>
          <p:cNvSpPr/>
          <p:nvPr/>
        </p:nvSpPr>
        <p:spPr>
          <a:xfrm>
            <a:off x="8926185" y="1553252"/>
            <a:ext cx="635326" cy="160797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solidFill>
                  <a:schemeClr val="bg1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삭제 업무</a:t>
            </a:r>
            <a:endParaRPr kumimoji="1" lang="en-US" altLang="ko-KR" sz="900" kern="0">
              <a:solidFill>
                <a:schemeClr val="bg1">
                  <a:lumMod val="7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C0A7B164-A00A-BC45-9525-51C1039738CE}"/>
              </a:ext>
            </a:extLst>
          </p:cNvPr>
          <p:cNvSpPr/>
          <p:nvPr/>
        </p:nvSpPr>
        <p:spPr>
          <a:xfrm>
            <a:off x="7552890" y="1553252"/>
            <a:ext cx="635326" cy="160797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AI/DT </a:t>
            </a: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신규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24A4EF1E-A218-FE91-4016-6A53CAC00423}"/>
              </a:ext>
            </a:extLst>
          </p:cNvPr>
          <p:cNvSpPr/>
          <p:nvPr/>
        </p:nvSpPr>
        <p:spPr>
          <a:xfrm>
            <a:off x="8239537" y="1553252"/>
            <a:ext cx="635326" cy="160797"/>
          </a:xfrm>
          <a:prstGeom prst="roundRect">
            <a:avLst/>
          </a:prstGeom>
          <a:pattFill prst="ltUpDiag">
            <a:fgClr>
              <a:srgbClr val="C4DCF2"/>
            </a:fgClr>
            <a:bgClr>
              <a:schemeClr val="bg1"/>
            </a:bgClr>
          </a:pattFill>
          <a:ln w="3175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Digital </a:t>
            </a: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기존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72C6FA6C-3B59-865B-B38C-1F870B1CC563}"/>
              </a:ext>
            </a:extLst>
          </p:cNvPr>
          <p:cNvCxnSpPr>
            <a:cxnSpLocks/>
          </p:cNvCxnSpPr>
          <p:nvPr/>
        </p:nvCxnSpPr>
        <p:spPr>
          <a:xfrm>
            <a:off x="344488" y="4859066"/>
            <a:ext cx="9221614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5E3C8FCA-9C4C-4DE5-53DC-EB11C502F00A}"/>
              </a:ext>
            </a:extLst>
          </p:cNvPr>
          <p:cNvSpPr/>
          <p:nvPr/>
        </p:nvSpPr>
        <p:spPr>
          <a:xfrm>
            <a:off x="4031571" y="4731072"/>
            <a:ext cx="1847448" cy="25598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rgbClr val="217C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주요</a:t>
            </a:r>
            <a:r>
              <a:rPr lang="en-US" altLang="ko-KR" sz="1200">
                <a:solidFill>
                  <a:schemeClr val="tx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ko-KR" altLang="en-US" sz="1200">
                <a:solidFill>
                  <a:schemeClr val="tx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추진 사항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6F101C-257D-78D2-DEC8-562B76919314}"/>
              </a:ext>
            </a:extLst>
          </p:cNvPr>
          <p:cNvSpPr txBox="1"/>
          <p:nvPr/>
        </p:nvSpPr>
        <p:spPr>
          <a:xfrm>
            <a:off x="673770" y="5073302"/>
            <a:ext cx="3936732" cy="200435"/>
          </a:xfrm>
          <a:prstGeom prst="rect">
            <a:avLst/>
          </a:prstGeom>
          <a:noFill/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ko-KR" altLang="en-US" sz="1100" u="sng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변화 </a:t>
            </a:r>
            <a:r>
              <a:rPr lang="en-US" altLang="ko-KR" sz="1100" u="sng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Point</a:t>
            </a:r>
            <a:endParaRPr lang="ko-KR" altLang="en-US" sz="1100" u="sng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BFAC688-E180-5572-82E7-CCE82CDA6F63}"/>
              </a:ext>
            </a:extLst>
          </p:cNvPr>
          <p:cNvSpPr txBox="1"/>
          <p:nvPr/>
        </p:nvSpPr>
        <p:spPr>
          <a:xfrm>
            <a:off x="7489234" y="5073302"/>
            <a:ext cx="2072281" cy="200435"/>
          </a:xfrm>
          <a:prstGeom prst="rect">
            <a:avLst/>
          </a:prstGeom>
          <a:noFill/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ko-KR" altLang="en-US" sz="1100" u="sng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업무 개선 사항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4952A7E-2276-FB0E-9EF0-455E28329C04}"/>
              </a:ext>
            </a:extLst>
          </p:cNvPr>
          <p:cNvSpPr txBox="1"/>
          <p:nvPr/>
        </p:nvSpPr>
        <p:spPr>
          <a:xfrm>
            <a:off x="4710767" y="5073302"/>
            <a:ext cx="2678203" cy="200435"/>
          </a:xfrm>
          <a:prstGeom prst="rect">
            <a:avLst/>
          </a:prstGeom>
          <a:noFill/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100" u="sng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Digital</a:t>
            </a:r>
            <a:r>
              <a:rPr lang="ko-KR" altLang="en-US" sz="1100" u="sng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화 기회</a:t>
            </a:r>
          </a:p>
        </p:txBody>
      </p:sp>
      <p:sp>
        <p:nvSpPr>
          <p:cNvPr id="5" name="화살표: 오각형 4">
            <a:extLst>
              <a:ext uri="{FF2B5EF4-FFF2-40B4-BE49-F238E27FC236}">
                <a16:creationId xmlns:a16="http://schemas.microsoft.com/office/drawing/2014/main" id="{41F96533-14B4-B318-423A-9718EFA538AE}"/>
              </a:ext>
            </a:extLst>
          </p:cNvPr>
          <p:cNvSpPr/>
          <p:nvPr/>
        </p:nvSpPr>
        <p:spPr>
          <a:xfrm>
            <a:off x="344485" y="2211778"/>
            <a:ext cx="2195516" cy="349200"/>
          </a:xfrm>
          <a:prstGeom prst="homePlate">
            <a:avLst>
              <a:gd name="adj" fmla="val 24867"/>
            </a:avLst>
          </a:prstGeom>
          <a:solidFill>
            <a:schemeClr val="bg1">
              <a:lumMod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ko-KR" altLang="en-US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공동 연구 주제 발굴 및 과제 정의</a:t>
            </a:r>
          </a:p>
        </p:txBody>
      </p:sp>
      <p:sp>
        <p:nvSpPr>
          <p:cNvPr id="6" name="화살표: 오각형 5">
            <a:extLst>
              <a:ext uri="{FF2B5EF4-FFF2-40B4-BE49-F238E27FC236}">
                <a16:creationId xmlns:a16="http://schemas.microsoft.com/office/drawing/2014/main" id="{FABDFA6C-B63A-96B3-3042-1BEFAF5EB908}"/>
              </a:ext>
            </a:extLst>
          </p:cNvPr>
          <p:cNvSpPr/>
          <p:nvPr/>
        </p:nvSpPr>
        <p:spPr>
          <a:xfrm>
            <a:off x="2667205" y="2211778"/>
            <a:ext cx="2195516" cy="349200"/>
          </a:xfrm>
          <a:prstGeom prst="homePlate">
            <a:avLst>
              <a:gd name="adj" fmla="val 24867"/>
            </a:avLst>
          </a:prstGeom>
          <a:solidFill>
            <a:schemeClr val="bg1">
              <a:lumMod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ko-KR" altLang="en-US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연구 계획 수립 및 자원 할당</a:t>
            </a:r>
          </a:p>
        </p:txBody>
      </p:sp>
      <p:sp>
        <p:nvSpPr>
          <p:cNvPr id="8" name="화살표: 오각형 7">
            <a:extLst>
              <a:ext uri="{FF2B5EF4-FFF2-40B4-BE49-F238E27FC236}">
                <a16:creationId xmlns:a16="http://schemas.microsoft.com/office/drawing/2014/main" id="{1DCB538C-3A64-8139-B276-E5FCB47F382A}"/>
              </a:ext>
            </a:extLst>
          </p:cNvPr>
          <p:cNvSpPr/>
          <p:nvPr/>
        </p:nvSpPr>
        <p:spPr>
          <a:xfrm>
            <a:off x="5043796" y="2211778"/>
            <a:ext cx="2196761" cy="349200"/>
          </a:xfrm>
          <a:prstGeom prst="homePlate">
            <a:avLst>
              <a:gd name="adj" fmla="val 24867"/>
            </a:avLst>
          </a:prstGeom>
          <a:solidFill>
            <a:schemeClr val="bg1">
              <a:lumMod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ko-KR" altLang="en-US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현장 테스트 지원 및 결과 피드백</a:t>
            </a:r>
          </a:p>
        </p:txBody>
      </p:sp>
      <p:sp>
        <p:nvSpPr>
          <p:cNvPr id="21" name="화살표: 오각형 20">
            <a:extLst>
              <a:ext uri="{FF2B5EF4-FFF2-40B4-BE49-F238E27FC236}">
                <a16:creationId xmlns:a16="http://schemas.microsoft.com/office/drawing/2014/main" id="{47A66E3F-BBFB-9F62-ED36-D0928062004F}"/>
              </a:ext>
            </a:extLst>
          </p:cNvPr>
          <p:cNvSpPr/>
          <p:nvPr/>
        </p:nvSpPr>
        <p:spPr>
          <a:xfrm>
            <a:off x="7365091" y="2211778"/>
            <a:ext cx="2196761" cy="349200"/>
          </a:xfrm>
          <a:prstGeom prst="homePlate">
            <a:avLst>
              <a:gd name="adj" fmla="val 24867"/>
            </a:avLst>
          </a:prstGeom>
          <a:solidFill>
            <a:schemeClr val="bg1">
              <a:lumMod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ko-KR" altLang="en-US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연구 결과 검토 및 현장 적용 방안 도출</a:t>
            </a:r>
          </a:p>
        </p:txBody>
      </p:sp>
      <p:sp>
        <p:nvSpPr>
          <p:cNvPr id="23" name="화살표: 오각형 22">
            <a:extLst>
              <a:ext uri="{FF2B5EF4-FFF2-40B4-BE49-F238E27FC236}">
                <a16:creationId xmlns:a16="http://schemas.microsoft.com/office/drawing/2014/main" id="{E7C8C591-F3E9-7098-EC85-46E3FCEADB1B}"/>
              </a:ext>
            </a:extLst>
          </p:cNvPr>
          <p:cNvSpPr/>
          <p:nvPr/>
        </p:nvSpPr>
        <p:spPr>
          <a:xfrm>
            <a:off x="344489" y="1964217"/>
            <a:ext cx="9217021" cy="201600"/>
          </a:xfrm>
          <a:prstGeom prst="homePlate">
            <a:avLst>
              <a:gd name="adj" fmla="val 24867"/>
            </a:avLst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1000" b="1">
                <a:latin typeface="나눔스퀘어" panose="020B0600000101010101" pitchFamily="50" charset="-127"/>
                <a:ea typeface="나눔스퀘어" panose="020B0600000101010101" pitchFamily="50" charset="-127"/>
              </a:rPr>
              <a:t>R-</a:t>
            </a:r>
            <a:r>
              <a:rPr lang="ko-KR" altLang="en-US" sz="1000" b="1">
                <a:latin typeface="나눔스퀘어" panose="020B0600000101010101" pitchFamily="50" charset="-127"/>
                <a:ea typeface="나눔스퀘어" panose="020B0600000101010101" pitchFamily="50" charset="-127"/>
              </a:rPr>
              <a:t>연구회 운영</a:t>
            </a:r>
            <a:endParaRPr lang="en-US" altLang="ko-KR" sz="1000" b="1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3F9FFDFE-C5C2-B593-1128-15780B095935}"/>
              </a:ext>
            </a:extLst>
          </p:cNvPr>
          <p:cNvSpPr/>
          <p:nvPr/>
        </p:nvSpPr>
        <p:spPr>
          <a:xfrm>
            <a:off x="344486" y="3043247"/>
            <a:ext cx="2112052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연구소 기술 역량 파악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92C8C82B-E318-12B0-0FE8-F409D99892B3}"/>
              </a:ext>
            </a:extLst>
          </p:cNvPr>
          <p:cNvSpPr/>
          <p:nvPr/>
        </p:nvSpPr>
        <p:spPr>
          <a:xfrm>
            <a:off x="2667204" y="3476581"/>
            <a:ext cx="2112052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과제 관리 체계 구축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6BF34AD1-A793-29A4-4BF1-55DA4F5CE3E7}"/>
              </a:ext>
            </a:extLst>
          </p:cNvPr>
          <p:cNvSpPr/>
          <p:nvPr/>
        </p:nvSpPr>
        <p:spPr>
          <a:xfrm>
            <a:off x="2667204" y="3043247"/>
            <a:ext cx="2112052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현장 지원 사항 정리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C95DB899-1ED4-46CD-3EE6-081B827F6814}"/>
              </a:ext>
            </a:extLst>
          </p:cNvPr>
          <p:cNvSpPr/>
          <p:nvPr/>
        </p:nvSpPr>
        <p:spPr>
          <a:xfrm>
            <a:off x="5043796" y="3476581"/>
            <a:ext cx="2112052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기초 분석 및 테스트 결과 연구소 제공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659398BE-E037-9538-F32C-D4E38CF02335}"/>
              </a:ext>
            </a:extLst>
          </p:cNvPr>
          <p:cNvSpPr/>
          <p:nvPr/>
        </p:nvSpPr>
        <p:spPr>
          <a:xfrm>
            <a:off x="5043796" y="3043247"/>
            <a:ext cx="2112052" cy="334800"/>
          </a:xfrm>
          <a:prstGeom prst="roundRect">
            <a:avLst/>
          </a:prstGeom>
          <a:pattFill prst="ltUpDiag">
            <a:fgClr>
              <a:srgbClr val="C4DCF2"/>
            </a:fgClr>
            <a:bgClr>
              <a:schemeClr val="bg1"/>
            </a:bgClr>
          </a:pattFill>
          <a:ln w="3175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데이터 수집 및 테스트 결과 정리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(DCS, PMS, OASIS)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BDF2B39C-2B81-790D-8796-7CB54277B8F2}"/>
              </a:ext>
            </a:extLst>
          </p:cNvPr>
          <p:cNvSpPr/>
          <p:nvPr/>
        </p:nvSpPr>
        <p:spPr>
          <a:xfrm>
            <a:off x="344486" y="2604121"/>
            <a:ext cx="2113135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현장 이슈 발굴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B2EBB2ED-66AC-201E-68D3-89D22516875F}"/>
              </a:ext>
            </a:extLst>
          </p:cNvPr>
          <p:cNvSpPr/>
          <p:nvPr/>
        </p:nvSpPr>
        <p:spPr>
          <a:xfrm>
            <a:off x="2667204" y="2604121"/>
            <a:ext cx="2113135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세부 연구 계획 협의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93DEF178-413A-C43D-1250-B59A66E61D2C}"/>
              </a:ext>
            </a:extLst>
          </p:cNvPr>
          <p:cNvSpPr/>
          <p:nvPr/>
        </p:nvSpPr>
        <p:spPr>
          <a:xfrm>
            <a:off x="5043796" y="2604121"/>
            <a:ext cx="2113135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테스트 수행을 위한 현장 조정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E620B6D4-B4C1-8B16-CA48-CDC0E74A8302}"/>
              </a:ext>
            </a:extLst>
          </p:cNvPr>
          <p:cNvSpPr/>
          <p:nvPr/>
        </p:nvSpPr>
        <p:spPr>
          <a:xfrm>
            <a:off x="7366514" y="3485228"/>
            <a:ext cx="2113135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필요 설비 변경 및 투자 계획 수립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56" name="사각형: 둥근 모서리 155">
            <a:extLst>
              <a:ext uri="{FF2B5EF4-FFF2-40B4-BE49-F238E27FC236}">
                <a16:creationId xmlns:a16="http://schemas.microsoft.com/office/drawing/2014/main" id="{DAA2C973-7307-3444-7F9D-99CD5ED44808}"/>
              </a:ext>
            </a:extLst>
          </p:cNvPr>
          <p:cNvSpPr/>
          <p:nvPr/>
        </p:nvSpPr>
        <p:spPr>
          <a:xfrm>
            <a:off x="7365972" y="3046102"/>
            <a:ext cx="2113135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실제 공정 적용 가능성 평가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FC2666-0528-7A94-A5E6-7EF5EAA1FDE5}"/>
              </a:ext>
            </a:extLst>
          </p:cNvPr>
          <p:cNvSpPr txBox="1"/>
          <p:nvPr/>
        </p:nvSpPr>
        <p:spPr>
          <a:xfrm>
            <a:off x="673770" y="5329072"/>
            <a:ext cx="3936732" cy="23166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72000" rIns="36000" rtlCol="0" anchor="ctr">
            <a:noAutofit/>
          </a:bodyPr>
          <a:lstStyle/>
          <a:p>
            <a:r>
              <a:rPr lang="ko-KR" altLang="en-US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시스템 </a:t>
            </a:r>
            <a:r>
              <a:rPr lang="en-US" altLang="ko-KR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· </a:t>
            </a:r>
            <a:r>
              <a:rPr lang="ko-KR" altLang="en-US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저장소 내 수작업 조회 → 연구 과제 관련 정보 자동 수집 및 제공</a:t>
            </a:r>
            <a:endParaRPr lang="en-US" altLang="ko-KR" sz="100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ACBFB6E-89E4-9C2E-2142-37CD7281BD14}"/>
              </a:ext>
            </a:extLst>
          </p:cNvPr>
          <p:cNvSpPr txBox="1"/>
          <p:nvPr/>
        </p:nvSpPr>
        <p:spPr>
          <a:xfrm>
            <a:off x="344486" y="5329768"/>
            <a:ext cx="216000" cy="216000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2" name="텍스트 개체 틀 4">
            <a:extLst>
              <a:ext uri="{FF2B5EF4-FFF2-40B4-BE49-F238E27FC236}">
                <a16:creationId xmlns:a16="http://schemas.microsoft.com/office/drawing/2014/main" id="{858E0F05-391B-4302-B2B7-9018A6C28DD1}"/>
              </a:ext>
            </a:extLst>
          </p:cNvPr>
          <p:cNvSpPr txBox="1">
            <a:spLocks/>
          </p:cNvSpPr>
          <p:nvPr/>
        </p:nvSpPr>
        <p:spPr>
          <a:xfrm>
            <a:off x="1386038" y="721134"/>
            <a:ext cx="8180064" cy="769485"/>
          </a:xfrm>
          <a:prstGeom prst="rect">
            <a:avLst/>
          </a:prstGeom>
          <a:pattFill prst="dkUp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 w="3175">
            <a:noFill/>
          </a:ln>
        </p:spPr>
        <p:txBody>
          <a:bodyPr vert="horz" lIns="108000" tIns="36000" rIns="36000" bIns="36000" rtlCol="0" anchor="ctr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2563" indent="-182563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ko-KR" altLang="en-US" sz="1200" b="0"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ngal Pro" panose="020B0502040204020203" pitchFamily="2" charset="0"/>
              </a:rPr>
              <a:t>전략 과제 全 주기 통합 관리로 혁신 가속화</a:t>
            </a:r>
            <a:endParaRPr lang="en-US" altLang="ko-KR" sz="1200" b="0">
              <a:solidFill>
                <a:prstClr val="black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cs typeface="Mangal Pro" panose="020B0502040204020203" pitchFamily="2" charset="0"/>
            </a:endParaRPr>
          </a:p>
          <a:p>
            <a:pPr marL="355600" indent="-173038" latinLnBrk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Font typeface="나눔스퀘어 ExtraBold" panose="020B0600000101010101" pitchFamily="50" charset="-127"/>
              <a:buChar char="-"/>
            </a:pPr>
            <a:r>
              <a:rPr lang="ko-KR" altLang="en-US" sz="1100" b="0">
                <a:solidFill>
                  <a:prstClr val="black"/>
                </a:solidFill>
                <a:cs typeface="Mangal Pro" panose="020B0502040204020203" pitchFamily="2" charset="0"/>
              </a:rPr>
              <a:t>기술 </a:t>
            </a:r>
            <a:r>
              <a:rPr lang="en-US" altLang="ko-KR" sz="1100" b="0">
                <a:solidFill>
                  <a:prstClr val="black"/>
                </a:solidFill>
                <a:cs typeface="Mangal Pro" panose="020B0502040204020203" pitchFamily="2" charset="0"/>
              </a:rPr>
              <a:t>Trend</a:t>
            </a:r>
            <a:r>
              <a:rPr lang="ko-KR" altLang="en-US" sz="1100" b="0">
                <a:solidFill>
                  <a:prstClr val="black"/>
                </a:solidFill>
                <a:cs typeface="Mangal Pro" panose="020B0502040204020203" pitchFamily="2" charset="0"/>
              </a:rPr>
              <a:t> 자동 수집 및 분석으로 기회 발굴 적시성 향상</a:t>
            </a:r>
            <a:endParaRPr lang="en-US" altLang="ko-KR" sz="1100" b="0">
              <a:solidFill>
                <a:prstClr val="black"/>
              </a:solidFill>
              <a:cs typeface="Mangal Pro" panose="020B0502040204020203" pitchFamily="2" charset="0"/>
            </a:endParaRPr>
          </a:p>
          <a:p>
            <a:pPr marL="355600" indent="-173038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나눔스퀘어 ExtraBold" panose="020B0600000101010101" pitchFamily="50" charset="-127"/>
              <a:buChar char="-"/>
            </a:pPr>
            <a:r>
              <a:rPr lang="ko-KR" altLang="en-US" sz="1100" b="0">
                <a:solidFill>
                  <a:prstClr val="black"/>
                </a:solidFill>
                <a:cs typeface="Mangal Pro" panose="020B0502040204020203" pitchFamily="2" charset="0"/>
              </a:rPr>
              <a:t>전략 과제 추진 단계별 중요 </a:t>
            </a:r>
            <a:r>
              <a:rPr lang="en-US" altLang="ko-KR" sz="1100" b="0">
                <a:solidFill>
                  <a:prstClr val="black"/>
                </a:solidFill>
                <a:cs typeface="Mangal Pro" panose="020B0502040204020203" pitchFamily="2" charset="0"/>
              </a:rPr>
              <a:t>Point </a:t>
            </a:r>
            <a:r>
              <a:rPr lang="ko-KR" altLang="en-US" sz="1100" b="0">
                <a:solidFill>
                  <a:prstClr val="black"/>
                </a:solidFill>
                <a:cs typeface="Mangal Pro" panose="020B0502040204020203" pitchFamily="2" charset="0"/>
              </a:rPr>
              <a:t>식별 및 관리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E3A2213B-6B3E-E013-59A3-9F72EFFAB570}"/>
              </a:ext>
            </a:extLst>
          </p:cNvPr>
          <p:cNvSpPr/>
          <p:nvPr/>
        </p:nvSpPr>
        <p:spPr>
          <a:xfrm>
            <a:off x="344486" y="3476581"/>
            <a:ext cx="2112052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연구 주제 구체화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ABFE0FDC-C2EA-7BE7-716B-2D9615A22AA0}"/>
              </a:ext>
            </a:extLst>
          </p:cNvPr>
          <p:cNvSpPr/>
          <p:nvPr/>
        </p:nvSpPr>
        <p:spPr>
          <a:xfrm>
            <a:off x="344486" y="3909915"/>
            <a:ext cx="2112052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연구 과제 선정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3AAFB624-D0AF-1A90-3314-0D6A4C617EFE}"/>
              </a:ext>
            </a:extLst>
          </p:cNvPr>
          <p:cNvSpPr/>
          <p:nvPr/>
        </p:nvSpPr>
        <p:spPr>
          <a:xfrm>
            <a:off x="7366514" y="3918562"/>
            <a:ext cx="2113135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기술 이전</a:t>
            </a:r>
            <a: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/</a:t>
            </a: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운전원 교육 계획 수립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7178CDAB-6C1F-E301-7D33-4C8F14DC345F}"/>
              </a:ext>
            </a:extLst>
          </p:cNvPr>
          <p:cNvCxnSpPr>
            <a:cxnSpLocks/>
            <a:stCxn id="40" idx="2"/>
            <a:endCxn id="25" idx="0"/>
          </p:cNvCxnSpPr>
          <p:nvPr/>
        </p:nvCxnSpPr>
        <p:spPr>
          <a:xfrm flipH="1">
            <a:off x="1400512" y="2938921"/>
            <a:ext cx="542" cy="104326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A4F055B4-B081-5F8B-8BC9-A06219854EE3}"/>
              </a:ext>
            </a:extLst>
          </p:cNvPr>
          <p:cNvCxnSpPr>
            <a:cxnSpLocks/>
            <a:stCxn id="25" idx="2"/>
            <a:endCxn id="43" idx="0"/>
          </p:cNvCxnSpPr>
          <p:nvPr/>
        </p:nvCxnSpPr>
        <p:spPr>
          <a:xfrm>
            <a:off x="1400512" y="3378047"/>
            <a:ext cx="0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786262DE-A024-3F37-F18B-C017042576E3}"/>
              </a:ext>
            </a:extLst>
          </p:cNvPr>
          <p:cNvCxnSpPr>
            <a:cxnSpLocks/>
            <a:stCxn id="43" idx="2"/>
            <a:endCxn id="44" idx="0"/>
          </p:cNvCxnSpPr>
          <p:nvPr/>
        </p:nvCxnSpPr>
        <p:spPr>
          <a:xfrm>
            <a:off x="1400512" y="3811381"/>
            <a:ext cx="0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직선 화살표 연결선 130">
            <a:extLst>
              <a:ext uri="{FF2B5EF4-FFF2-40B4-BE49-F238E27FC236}">
                <a16:creationId xmlns:a16="http://schemas.microsoft.com/office/drawing/2014/main" id="{A02D3893-6B8B-9069-A2DD-4017F21DD475}"/>
              </a:ext>
            </a:extLst>
          </p:cNvPr>
          <p:cNvCxnSpPr>
            <a:cxnSpLocks/>
            <a:stCxn id="45" idx="2"/>
            <a:endCxn id="32" idx="0"/>
          </p:cNvCxnSpPr>
          <p:nvPr/>
        </p:nvCxnSpPr>
        <p:spPr>
          <a:xfrm flipH="1">
            <a:off x="3723230" y="2938921"/>
            <a:ext cx="542" cy="104326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직선 화살표 연결선 137">
            <a:extLst>
              <a:ext uri="{FF2B5EF4-FFF2-40B4-BE49-F238E27FC236}">
                <a16:creationId xmlns:a16="http://schemas.microsoft.com/office/drawing/2014/main" id="{279073AB-95BE-9813-64E1-808C22537CF2}"/>
              </a:ext>
            </a:extLst>
          </p:cNvPr>
          <p:cNvCxnSpPr>
            <a:cxnSpLocks/>
            <a:stCxn id="32" idx="2"/>
            <a:endCxn id="26" idx="0"/>
          </p:cNvCxnSpPr>
          <p:nvPr/>
        </p:nvCxnSpPr>
        <p:spPr>
          <a:xfrm>
            <a:off x="3723230" y="3378047"/>
            <a:ext cx="0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직선 화살표 연결선 140">
            <a:extLst>
              <a:ext uri="{FF2B5EF4-FFF2-40B4-BE49-F238E27FC236}">
                <a16:creationId xmlns:a16="http://schemas.microsoft.com/office/drawing/2014/main" id="{755F9626-2289-F0C2-D4DA-F4B9C3460201}"/>
              </a:ext>
            </a:extLst>
          </p:cNvPr>
          <p:cNvCxnSpPr>
            <a:cxnSpLocks/>
            <a:stCxn id="56" idx="2"/>
            <a:endCxn id="38" idx="0"/>
          </p:cNvCxnSpPr>
          <p:nvPr/>
        </p:nvCxnSpPr>
        <p:spPr>
          <a:xfrm flipH="1">
            <a:off x="6099822" y="2938921"/>
            <a:ext cx="542" cy="104326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직선 화살표 연결선 144">
            <a:extLst>
              <a:ext uri="{FF2B5EF4-FFF2-40B4-BE49-F238E27FC236}">
                <a16:creationId xmlns:a16="http://schemas.microsoft.com/office/drawing/2014/main" id="{03E5D543-1BA0-E313-07E4-FEB2D8FE7E5F}"/>
              </a:ext>
            </a:extLst>
          </p:cNvPr>
          <p:cNvCxnSpPr>
            <a:cxnSpLocks/>
            <a:stCxn id="38" idx="2"/>
            <a:endCxn id="33" idx="0"/>
          </p:cNvCxnSpPr>
          <p:nvPr/>
        </p:nvCxnSpPr>
        <p:spPr>
          <a:xfrm>
            <a:off x="6099822" y="3378047"/>
            <a:ext cx="0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직선 화살표 연결선 147">
            <a:extLst>
              <a:ext uri="{FF2B5EF4-FFF2-40B4-BE49-F238E27FC236}">
                <a16:creationId xmlns:a16="http://schemas.microsoft.com/office/drawing/2014/main" id="{AFEB239D-E9F2-AA50-F945-4B14B3B0D285}"/>
              </a:ext>
            </a:extLst>
          </p:cNvPr>
          <p:cNvCxnSpPr>
            <a:cxnSpLocks/>
            <a:stCxn id="156" idx="2"/>
            <a:endCxn id="61" idx="0"/>
          </p:cNvCxnSpPr>
          <p:nvPr/>
        </p:nvCxnSpPr>
        <p:spPr>
          <a:xfrm>
            <a:off x="8422540" y="3380902"/>
            <a:ext cx="542" cy="104326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직선 화살표 연결선 150">
            <a:extLst>
              <a:ext uri="{FF2B5EF4-FFF2-40B4-BE49-F238E27FC236}">
                <a16:creationId xmlns:a16="http://schemas.microsoft.com/office/drawing/2014/main" id="{D3231B09-4319-B922-6D06-0A687AA21DCE}"/>
              </a:ext>
            </a:extLst>
          </p:cNvPr>
          <p:cNvCxnSpPr>
            <a:cxnSpLocks/>
            <a:stCxn id="61" idx="2"/>
            <a:endCxn id="46" idx="0"/>
          </p:cNvCxnSpPr>
          <p:nvPr/>
        </p:nvCxnSpPr>
        <p:spPr>
          <a:xfrm>
            <a:off x="8423082" y="3820028"/>
            <a:ext cx="0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연결선: 꺾임 8">
            <a:extLst>
              <a:ext uri="{FF2B5EF4-FFF2-40B4-BE49-F238E27FC236}">
                <a16:creationId xmlns:a16="http://schemas.microsoft.com/office/drawing/2014/main" id="{E55BFDC2-1F25-D047-AB1D-F861644A875E}"/>
              </a:ext>
            </a:extLst>
          </p:cNvPr>
          <p:cNvCxnSpPr>
            <a:cxnSpLocks/>
            <a:stCxn id="44" idx="3"/>
            <a:endCxn id="45" idx="1"/>
          </p:cNvCxnSpPr>
          <p:nvPr/>
        </p:nvCxnSpPr>
        <p:spPr>
          <a:xfrm flipV="1">
            <a:off x="2456538" y="2771521"/>
            <a:ext cx="210666" cy="1305794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연결선: 꺾임 49">
            <a:extLst>
              <a:ext uri="{FF2B5EF4-FFF2-40B4-BE49-F238E27FC236}">
                <a16:creationId xmlns:a16="http://schemas.microsoft.com/office/drawing/2014/main" id="{0EC4F7CA-B4CA-DC76-D45B-8B2C85D0A988}"/>
              </a:ext>
            </a:extLst>
          </p:cNvPr>
          <p:cNvCxnSpPr>
            <a:cxnSpLocks/>
            <a:stCxn id="26" idx="3"/>
            <a:endCxn id="56" idx="1"/>
          </p:cNvCxnSpPr>
          <p:nvPr/>
        </p:nvCxnSpPr>
        <p:spPr>
          <a:xfrm flipV="1">
            <a:off x="4779256" y="2771521"/>
            <a:ext cx="264540" cy="872460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연결선: 꺾임 53">
            <a:extLst>
              <a:ext uri="{FF2B5EF4-FFF2-40B4-BE49-F238E27FC236}">
                <a16:creationId xmlns:a16="http://schemas.microsoft.com/office/drawing/2014/main" id="{F0E1BF0C-55B1-0107-1448-49FF6E3611A3}"/>
              </a:ext>
            </a:extLst>
          </p:cNvPr>
          <p:cNvCxnSpPr>
            <a:cxnSpLocks/>
            <a:stCxn id="33" idx="3"/>
            <a:endCxn id="132" idx="1"/>
          </p:cNvCxnSpPr>
          <p:nvPr/>
        </p:nvCxnSpPr>
        <p:spPr>
          <a:xfrm flipV="1">
            <a:off x="7155848" y="2771521"/>
            <a:ext cx="209243" cy="872460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사각형: 둥근 모서리 131">
            <a:extLst>
              <a:ext uri="{FF2B5EF4-FFF2-40B4-BE49-F238E27FC236}">
                <a16:creationId xmlns:a16="http://schemas.microsoft.com/office/drawing/2014/main" id="{E1FFA3C6-68F0-D813-82C3-D4E915275A2A}"/>
              </a:ext>
            </a:extLst>
          </p:cNvPr>
          <p:cNvSpPr/>
          <p:nvPr/>
        </p:nvSpPr>
        <p:spPr>
          <a:xfrm>
            <a:off x="7365091" y="2604121"/>
            <a:ext cx="2113135" cy="334800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과거 연구 결과 자료 수집 및 분석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(AI Agent)</a:t>
            </a:r>
          </a:p>
        </p:txBody>
      </p:sp>
      <p:cxnSp>
        <p:nvCxnSpPr>
          <p:cNvPr id="133" name="직선 화살표 연결선 132">
            <a:extLst>
              <a:ext uri="{FF2B5EF4-FFF2-40B4-BE49-F238E27FC236}">
                <a16:creationId xmlns:a16="http://schemas.microsoft.com/office/drawing/2014/main" id="{D44CE9B4-9701-2B78-D31A-25D816DAE33D}"/>
              </a:ext>
            </a:extLst>
          </p:cNvPr>
          <p:cNvCxnSpPr>
            <a:cxnSpLocks/>
            <a:stCxn id="132" idx="2"/>
            <a:endCxn id="156" idx="0"/>
          </p:cNvCxnSpPr>
          <p:nvPr/>
        </p:nvCxnSpPr>
        <p:spPr>
          <a:xfrm>
            <a:off x="8421659" y="2938921"/>
            <a:ext cx="881" cy="107181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TextBox 157">
            <a:extLst>
              <a:ext uri="{FF2B5EF4-FFF2-40B4-BE49-F238E27FC236}">
                <a16:creationId xmlns:a16="http://schemas.microsoft.com/office/drawing/2014/main" id="{A8ABA491-1F59-72A9-9E58-EEA4E5BA252A}"/>
              </a:ext>
            </a:extLst>
          </p:cNvPr>
          <p:cNvSpPr txBox="1"/>
          <p:nvPr/>
        </p:nvSpPr>
        <p:spPr>
          <a:xfrm>
            <a:off x="7291325" y="2693816"/>
            <a:ext cx="147532" cy="147532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BAD56A-A183-7A87-D98A-0832556D5C9C}"/>
              </a:ext>
            </a:extLst>
          </p:cNvPr>
          <p:cNvSpPr txBox="1"/>
          <p:nvPr/>
        </p:nvSpPr>
        <p:spPr>
          <a:xfrm>
            <a:off x="7489234" y="5329072"/>
            <a:ext cx="2072281" cy="23166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72000" rIns="36000" rtlCol="0" anchor="ctr">
            <a:noAutofit/>
          </a:bodyPr>
          <a:lstStyle/>
          <a:p>
            <a:r>
              <a:rPr lang="en-US" altLang="ko-KR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DB</a:t>
            </a:r>
            <a:r>
              <a:rPr lang="ko-KR" altLang="en-US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화 대상 선정 및 속성 정의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8266FF-A5C5-DE52-2B53-6F01FC423D2F}"/>
              </a:ext>
            </a:extLst>
          </p:cNvPr>
          <p:cNvSpPr txBox="1"/>
          <p:nvPr/>
        </p:nvSpPr>
        <p:spPr>
          <a:xfrm>
            <a:off x="4710767" y="5329072"/>
            <a:ext cx="2678203" cy="23166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72000" rIns="36000" rtlCol="0" anchor="ctr">
            <a:noAutofit/>
          </a:bodyPr>
          <a:lstStyle>
            <a:defPPr>
              <a:defRPr lang="en-US"/>
            </a:defPPr>
            <a:lvl1pPr>
              <a:defRPr sz="1000"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r>
              <a:rPr lang="ko-KR" altLang="en-US"/>
              <a:t>생산 운영 정보 저장 </a:t>
            </a:r>
            <a:r>
              <a:rPr lang="en-US" altLang="ko-KR"/>
              <a:t>· </a:t>
            </a:r>
            <a:r>
              <a:rPr lang="ko-KR" altLang="en-US"/>
              <a:t>분류 자동화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D2829A61-8D36-5261-4C5E-70E13C2B2FC6}"/>
              </a:ext>
            </a:extLst>
          </p:cNvPr>
          <p:cNvSpPr/>
          <p:nvPr/>
        </p:nvSpPr>
        <p:spPr>
          <a:xfrm>
            <a:off x="6954839" y="5361203"/>
            <a:ext cx="386006" cy="167400"/>
          </a:xfrm>
          <a:prstGeom prst="roundRect">
            <a:avLst>
              <a:gd name="adj" fmla="val 18018"/>
            </a:avLst>
          </a:prstGeom>
          <a:solidFill>
            <a:schemeClr val="bg1">
              <a:lumMod val="50000"/>
            </a:schemeClr>
          </a:solidFill>
          <a:ln w="3175">
            <a:noFill/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자동화</a:t>
            </a:r>
            <a:endParaRPr kumimoji="1" lang="en-US" altLang="ko-KR" sz="900" ker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42430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38FE8-E386-3FD1-6BDE-9A6C9F217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CA9A71D-720C-28AC-618B-52E31649319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4487" y="254884"/>
            <a:ext cx="4517583" cy="343235"/>
          </a:xfrm>
          <a:solidFill>
            <a:schemeClr val="bg1"/>
          </a:solidFill>
        </p:spPr>
        <p:txBody>
          <a:bodyPr wrap="none" anchor="ctr">
            <a:spAutoFit/>
          </a:bodyPr>
          <a:lstStyle/>
          <a:p>
            <a:r>
              <a:rPr lang="en-US" altLang="ko-KR" b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Appendix. [</a:t>
            </a:r>
            <a:r>
              <a:rPr lang="ko-KR" altLang="en-US" b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생산기술</a:t>
            </a:r>
            <a:r>
              <a:rPr lang="en-US" altLang="ko-KR" b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] </a:t>
            </a:r>
            <a:r>
              <a:rPr lang="ko-KR" altLang="en-US" b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안전</a:t>
            </a:r>
            <a:r>
              <a:rPr lang="en-US" altLang="ko-KR" b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/</a:t>
            </a:r>
            <a:r>
              <a:rPr lang="ko-KR" altLang="en-US" b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환경 관리 </a:t>
            </a:r>
            <a:r>
              <a:rPr lang="en-US" altLang="ko-KR" b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(1/2)</a:t>
            </a:r>
          </a:p>
        </p:txBody>
      </p:sp>
      <p:sp>
        <p:nvSpPr>
          <p:cNvPr id="171" name="사각형: 둥근 모서리 170">
            <a:extLst>
              <a:ext uri="{FF2B5EF4-FFF2-40B4-BE49-F238E27FC236}">
                <a16:creationId xmlns:a16="http://schemas.microsoft.com/office/drawing/2014/main" id="{CBE27582-1071-4D5B-5A42-5EE859148461}"/>
              </a:ext>
            </a:extLst>
          </p:cNvPr>
          <p:cNvSpPr/>
          <p:nvPr/>
        </p:nvSpPr>
        <p:spPr>
          <a:xfrm>
            <a:off x="344488" y="721134"/>
            <a:ext cx="941772" cy="763179"/>
          </a:xfrm>
          <a:prstGeom prst="roundRect">
            <a:avLst>
              <a:gd name="adj" fmla="val 0"/>
            </a:avLst>
          </a:prstGeom>
          <a:solidFill>
            <a:srgbClr val="217CFA"/>
          </a:solidFill>
          <a:ln w="6350">
            <a:solidFill>
              <a:srgbClr val="217C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Digital</a:t>
            </a:r>
            <a:r>
              <a:rPr lang="ko-KR" altLang="en-US" sz="130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화 지향점</a:t>
            </a:r>
          </a:p>
        </p:txBody>
      </p: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2261A356-2FDA-4FF6-B699-8DA8597BDE9C}"/>
              </a:ext>
            </a:extLst>
          </p:cNvPr>
          <p:cNvCxnSpPr>
            <a:cxnSpLocks/>
          </p:cNvCxnSpPr>
          <p:nvPr/>
        </p:nvCxnSpPr>
        <p:spPr>
          <a:xfrm>
            <a:off x="344488" y="4859066"/>
            <a:ext cx="9221614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" name="사각형: 둥근 모서리 173">
            <a:extLst>
              <a:ext uri="{FF2B5EF4-FFF2-40B4-BE49-F238E27FC236}">
                <a16:creationId xmlns:a16="http://schemas.microsoft.com/office/drawing/2014/main" id="{F098CCDA-91BB-69DD-7A90-57034A03E946}"/>
              </a:ext>
            </a:extLst>
          </p:cNvPr>
          <p:cNvSpPr/>
          <p:nvPr/>
        </p:nvSpPr>
        <p:spPr>
          <a:xfrm>
            <a:off x="4031571" y="4731072"/>
            <a:ext cx="1847448" cy="25598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rgbClr val="217C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주요</a:t>
            </a:r>
            <a:r>
              <a:rPr lang="en-US" altLang="ko-KR" sz="1200">
                <a:solidFill>
                  <a:schemeClr val="tx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ko-KR" altLang="en-US" sz="1200">
                <a:solidFill>
                  <a:schemeClr val="tx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추진 사항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C75A80D8-0C31-8D7F-2E07-C0EEDFE4BE65}"/>
              </a:ext>
            </a:extLst>
          </p:cNvPr>
          <p:cNvSpPr txBox="1"/>
          <p:nvPr/>
        </p:nvSpPr>
        <p:spPr>
          <a:xfrm>
            <a:off x="673770" y="5073302"/>
            <a:ext cx="3936732" cy="200435"/>
          </a:xfrm>
          <a:prstGeom prst="rect">
            <a:avLst/>
          </a:prstGeom>
          <a:noFill/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ko-KR" altLang="en-US" sz="1100" u="sng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변화 </a:t>
            </a:r>
            <a:r>
              <a:rPr lang="en-US" altLang="ko-KR" sz="1100" u="sng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Point</a:t>
            </a:r>
            <a:endParaRPr lang="ko-KR" altLang="en-US" sz="1100" u="sng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6721D03E-81C7-5ED4-C91D-76F8D200A1EE}"/>
              </a:ext>
            </a:extLst>
          </p:cNvPr>
          <p:cNvSpPr txBox="1"/>
          <p:nvPr/>
        </p:nvSpPr>
        <p:spPr>
          <a:xfrm>
            <a:off x="7489234" y="5073302"/>
            <a:ext cx="2072281" cy="200435"/>
          </a:xfrm>
          <a:prstGeom prst="rect">
            <a:avLst/>
          </a:prstGeom>
          <a:noFill/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ko-KR" altLang="en-US" sz="1100" u="sng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업무 개선 사항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8316AE07-266F-9FE7-63BD-2D1E6DF31C77}"/>
              </a:ext>
            </a:extLst>
          </p:cNvPr>
          <p:cNvSpPr txBox="1"/>
          <p:nvPr/>
        </p:nvSpPr>
        <p:spPr>
          <a:xfrm>
            <a:off x="4710767" y="5073302"/>
            <a:ext cx="2678203" cy="200435"/>
          </a:xfrm>
          <a:prstGeom prst="rect">
            <a:avLst/>
          </a:prstGeom>
          <a:noFill/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100" u="sng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Digital</a:t>
            </a:r>
            <a:r>
              <a:rPr lang="ko-KR" altLang="en-US" sz="1100" u="sng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화 기회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D73369B-2567-95DF-86AC-704E4E6C84F6}"/>
              </a:ext>
            </a:extLst>
          </p:cNvPr>
          <p:cNvSpPr txBox="1">
            <a:spLocks/>
          </p:cNvSpPr>
          <p:nvPr/>
        </p:nvSpPr>
        <p:spPr>
          <a:xfrm>
            <a:off x="1386038" y="721134"/>
            <a:ext cx="8180064" cy="769485"/>
          </a:xfrm>
          <a:prstGeom prst="rect">
            <a:avLst/>
          </a:prstGeom>
          <a:pattFill prst="dkUp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 w="3175">
            <a:noFill/>
          </a:ln>
        </p:spPr>
        <p:txBody>
          <a:bodyPr vert="horz" lIns="108000" tIns="36000" rIns="36000" bIns="36000" rtlCol="0" anchor="ctr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2563" indent="-182563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en-US" altLang="ko-KR" sz="1200" b="0"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ngal Pro" panose="020B0502040204020203" pitchFamily="2" charset="0"/>
              </a:rPr>
              <a:t>SHE</a:t>
            </a:r>
            <a:r>
              <a:rPr lang="ko-KR" altLang="en-US" sz="1200" b="0"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ngal Pro" panose="020B0502040204020203" pitchFamily="2" charset="0"/>
              </a:rPr>
              <a:t> </a:t>
            </a:r>
            <a:r>
              <a:rPr lang="en-US" altLang="ko-KR" sz="1200" b="0"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ngal Pro" panose="020B0502040204020203" pitchFamily="2" charset="0"/>
              </a:rPr>
              <a:t>Data</a:t>
            </a:r>
            <a:r>
              <a:rPr lang="ko-KR" altLang="en-US" sz="1200" b="0"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ngal Pro" panose="020B0502040204020203" pitchFamily="2" charset="0"/>
              </a:rPr>
              <a:t> 통합 관리로 대관 업무 효율성 향상</a:t>
            </a:r>
            <a:endParaRPr lang="en-US" altLang="ko-KR" sz="1200" b="0">
              <a:solidFill>
                <a:prstClr val="black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cs typeface="Mangal Pro" panose="020B0502040204020203" pitchFamily="2" charset="0"/>
            </a:endParaRPr>
          </a:p>
          <a:p>
            <a:pPr marL="355600" indent="-173038" latinLnBrk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Font typeface="나눔스퀘어 ExtraBold" panose="020B0600000101010101" pitchFamily="50" charset="-127"/>
              <a:buChar char="-"/>
            </a:pPr>
            <a:r>
              <a:rPr lang="ko-KR" altLang="en-US" sz="1100" b="0">
                <a:solidFill>
                  <a:prstClr val="black"/>
                </a:solidFill>
                <a:cs typeface="Mangal Pro" panose="020B0502040204020203" pitchFamily="2" charset="0"/>
              </a:rPr>
              <a:t>안전 요소</a:t>
            </a:r>
            <a:r>
              <a:rPr lang="en-US" altLang="ko-KR" sz="1100" b="0">
                <a:solidFill>
                  <a:prstClr val="black"/>
                </a:solidFill>
                <a:cs typeface="Mangal Pro" panose="020B0502040204020203" pitchFamily="2" charset="0"/>
              </a:rPr>
              <a:t>(PSM/SMS) </a:t>
            </a:r>
            <a:r>
              <a:rPr lang="ko-KR" altLang="en-US" sz="1100" b="0">
                <a:solidFill>
                  <a:prstClr val="black"/>
                </a:solidFill>
                <a:cs typeface="Mangal Pro" panose="020B0502040204020203" pitchFamily="2" charset="0"/>
              </a:rPr>
              <a:t>구성 정보 자동 수집 및 문서화</a:t>
            </a:r>
            <a:endParaRPr lang="en-US" altLang="ko-KR" sz="1100" b="0">
              <a:solidFill>
                <a:prstClr val="black"/>
              </a:solidFill>
              <a:cs typeface="Mangal Pro" panose="020B0502040204020203" pitchFamily="2" charset="0"/>
            </a:endParaRPr>
          </a:p>
          <a:p>
            <a:pPr marL="355600" indent="-173038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나눔스퀘어 ExtraBold" panose="020B0600000101010101" pitchFamily="50" charset="-127"/>
              <a:buChar char="-"/>
            </a:pPr>
            <a:r>
              <a:rPr lang="ko-KR" altLang="en-US" sz="1100" b="0">
                <a:solidFill>
                  <a:prstClr val="black"/>
                </a:solidFill>
                <a:cs typeface="Mangal Pro" panose="020B0502040204020203" pitchFamily="2" charset="0"/>
              </a:rPr>
              <a:t>환경 법규 준수 상태 실시간 모니터링 및 분석</a:t>
            </a:r>
          </a:p>
        </p:txBody>
      </p:sp>
      <p:sp>
        <p:nvSpPr>
          <p:cNvPr id="55" name="화살표: 오각형 54">
            <a:extLst>
              <a:ext uri="{FF2B5EF4-FFF2-40B4-BE49-F238E27FC236}">
                <a16:creationId xmlns:a16="http://schemas.microsoft.com/office/drawing/2014/main" id="{983C4B21-BF6A-226B-75B0-D82C2DADF63F}"/>
              </a:ext>
            </a:extLst>
          </p:cNvPr>
          <p:cNvSpPr/>
          <p:nvPr/>
        </p:nvSpPr>
        <p:spPr>
          <a:xfrm>
            <a:off x="344486" y="1964218"/>
            <a:ext cx="5249525" cy="200898"/>
          </a:xfrm>
          <a:prstGeom prst="homePlate">
            <a:avLst>
              <a:gd name="adj" fmla="val 24867"/>
            </a:avLst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ko-KR" altLang="en-US" sz="1000" b="1">
                <a:latin typeface="나눔스퀘어" panose="020B0600000101010101" pitchFamily="50" charset="-127"/>
                <a:ea typeface="나눔스퀘어" panose="020B0600000101010101" pitchFamily="50" charset="-127"/>
              </a:rPr>
              <a:t>공정 안전성 평가 및 위험 관리</a:t>
            </a:r>
            <a:endParaRPr lang="en-US" altLang="ko-KR" sz="1000" b="1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3" name="화살표: 오각형 12">
            <a:extLst>
              <a:ext uri="{FF2B5EF4-FFF2-40B4-BE49-F238E27FC236}">
                <a16:creationId xmlns:a16="http://schemas.microsoft.com/office/drawing/2014/main" id="{1A21BA4A-9E62-6717-048C-00B187018DEB}"/>
              </a:ext>
            </a:extLst>
          </p:cNvPr>
          <p:cNvSpPr/>
          <p:nvPr/>
        </p:nvSpPr>
        <p:spPr>
          <a:xfrm>
            <a:off x="5636509" y="1964218"/>
            <a:ext cx="3925004" cy="200898"/>
          </a:xfrm>
          <a:prstGeom prst="homePlate">
            <a:avLst>
              <a:gd name="adj" fmla="val 24867"/>
            </a:avLst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ko-KR" altLang="en-US" sz="1000" b="1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오염물</a:t>
            </a:r>
            <a:r>
              <a:rPr lang="ko-KR" altLang="en-US" sz="1000" b="1">
                <a:latin typeface="나눔스퀘어" panose="020B0600000101010101" pitchFamily="50" charset="-127"/>
                <a:ea typeface="나눔스퀘어" panose="020B0600000101010101" pitchFamily="50" charset="-127"/>
              </a:rPr>
              <a:t> 배출 관리 및 환경 규제 대응</a:t>
            </a:r>
            <a:endParaRPr lang="en-US" altLang="ko-KR" sz="1000" b="1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92" name="사각형: 둥근 모서리 191">
            <a:extLst>
              <a:ext uri="{FF2B5EF4-FFF2-40B4-BE49-F238E27FC236}">
                <a16:creationId xmlns:a16="http://schemas.microsoft.com/office/drawing/2014/main" id="{CA261869-0E59-4011-3E5C-6AA8800768DC}"/>
              </a:ext>
            </a:extLst>
          </p:cNvPr>
          <p:cNvSpPr/>
          <p:nvPr/>
        </p:nvSpPr>
        <p:spPr>
          <a:xfrm>
            <a:off x="344486" y="3037455"/>
            <a:ext cx="1203185" cy="334800"/>
          </a:xfrm>
          <a:prstGeom prst="roundRect">
            <a:avLst/>
          </a:prstGeom>
          <a:pattFill prst="ltUpDiag">
            <a:fgClr>
              <a:srgbClr val="C4DCF2"/>
            </a:fgClr>
            <a:bgClr>
              <a:schemeClr val="bg1"/>
            </a:bgClr>
          </a:pattFill>
          <a:ln w="3175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위험성 평가 실행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(OCEAN-H)</a:t>
            </a:r>
          </a:p>
        </p:txBody>
      </p:sp>
      <p:sp>
        <p:nvSpPr>
          <p:cNvPr id="195" name="사각형: 둥근 모서리 194">
            <a:extLst>
              <a:ext uri="{FF2B5EF4-FFF2-40B4-BE49-F238E27FC236}">
                <a16:creationId xmlns:a16="http://schemas.microsoft.com/office/drawing/2014/main" id="{B70CD0CD-E8BF-A42C-A032-BF666424F5CE}"/>
              </a:ext>
            </a:extLst>
          </p:cNvPr>
          <p:cNvSpPr/>
          <p:nvPr/>
        </p:nvSpPr>
        <p:spPr>
          <a:xfrm>
            <a:off x="344486" y="3470789"/>
            <a:ext cx="1203185" cy="334800"/>
          </a:xfrm>
          <a:prstGeom prst="roundRect">
            <a:avLst/>
          </a:prstGeom>
          <a:pattFill prst="ltUpDiag">
            <a:fgClr>
              <a:srgbClr val="C4DCF2"/>
            </a:fgClr>
            <a:bgClr>
              <a:schemeClr val="bg1"/>
            </a:bgClr>
          </a:pattFill>
          <a:ln w="3175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리스크 저감 대책 수립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(OCEAN-H)</a:t>
            </a:r>
          </a:p>
        </p:txBody>
      </p:sp>
      <p:sp>
        <p:nvSpPr>
          <p:cNvPr id="198" name="사각형: 둥근 모서리 197">
            <a:extLst>
              <a:ext uri="{FF2B5EF4-FFF2-40B4-BE49-F238E27FC236}">
                <a16:creationId xmlns:a16="http://schemas.microsoft.com/office/drawing/2014/main" id="{A2E8EB0C-4502-B3BA-435D-77C721C9D126}"/>
              </a:ext>
            </a:extLst>
          </p:cNvPr>
          <p:cNvSpPr/>
          <p:nvPr/>
        </p:nvSpPr>
        <p:spPr>
          <a:xfrm>
            <a:off x="1667683" y="3037455"/>
            <a:ext cx="1203185" cy="334800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kern="0" err="1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작업별</a:t>
            </a: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위험 분석 수행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(AI Agent)</a:t>
            </a:r>
          </a:p>
        </p:txBody>
      </p:sp>
      <p:sp>
        <p:nvSpPr>
          <p:cNvPr id="203" name="사각형: 둥근 모서리 202">
            <a:extLst>
              <a:ext uri="{FF2B5EF4-FFF2-40B4-BE49-F238E27FC236}">
                <a16:creationId xmlns:a16="http://schemas.microsoft.com/office/drawing/2014/main" id="{DB255FF3-8017-2CCB-A9F4-90D645E6A813}"/>
              </a:ext>
            </a:extLst>
          </p:cNvPr>
          <p:cNvSpPr/>
          <p:nvPr/>
        </p:nvSpPr>
        <p:spPr>
          <a:xfrm>
            <a:off x="2990880" y="3037455"/>
            <a:ext cx="1203185" cy="334800"/>
          </a:xfrm>
          <a:prstGeom prst="roundRect">
            <a:avLst/>
          </a:prstGeom>
          <a:pattFill prst="ltUpDiag">
            <a:fgClr>
              <a:srgbClr val="C4DCF2"/>
            </a:fgClr>
            <a:bgClr>
              <a:schemeClr val="bg1"/>
            </a:bgClr>
          </a:pattFill>
          <a:ln w="3175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요소별 관리 계획 수립 및 이행</a:t>
            </a:r>
            <a: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(OCEAN-H)</a:t>
            </a:r>
          </a:p>
        </p:txBody>
      </p:sp>
      <p:sp>
        <p:nvSpPr>
          <p:cNvPr id="208" name="사각형: 둥근 모서리 207">
            <a:extLst>
              <a:ext uri="{FF2B5EF4-FFF2-40B4-BE49-F238E27FC236}">
                <a16:creationId xmlns:a16="http://schemas.microsoft.com/office/drawing/2014/main" id="{C003688D-3527-68F2-EE05-695077AA98C3}"/>
              </a:ext>
            </a:extLst>
          </p:cNvPr>
          <p:cNvSpPr/>
          <p:nvPr/>
        </p:nvSpPr>
        <p:spPr>
          <a:xfrm>
            <a:off x="4314077" y="3037455"/>
            <a:ext cx="1203185" cy="334800"/>
          </a:xfrm>
          <a:prstGeom prst="roundRect">
            <a:avLst/>
          </a:prstGeom>
          <a:pattFill prst="ltUpDiag">
            <a:fgClr>
              <a:srgbClr val="C4DCF2"/>
            </a:fgClr>
            <a:bgClr>
              <a:schemeClr val="bg1"/>
            </a:bgClr>
          </a:pattFill>
          <a:ln w="3175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요소별 관리 계획 수립 및 이행</a:t>
            </a:r>
            <a: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(OCEAN-H)</a:t>
            </a:r>
          </a:p>
        </p:txBody>
      </p:sp>
      <p:sp>
        <p:nvSpPr>
          <p:cNvPr id="216" name="사각형: 둥근 모서리 215">
            <a:extLst>
              <a:ext uri="{FF2B5EF4-FFF2-40B4-BE49-F238E27FC236}">
                <a16:creationId xmlns:a16="http://schemas.microsoft.com/office/drawing/2014/main" id="{B0F5C582-EB07-954F-17AA-40E84973BD0B}"/>
              </a:ext>
            </a:extLst>
          </p:cNvPr>
          <p:cNvSpPr/>
          <p:nvPr/>
        </p:nvSpPr>
        <p:spPr>
          <a:xfrm>
            <a:off x="8283666" y="3037455"/>
            <a:ext cx="1203185" cy="334800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물질 및 시설 현황</a:t>
            </a:r>
            <a:r>
              <a:rPr kumimoji="1" lang="en-US" altLang="ko-KR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파악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(AI Agent)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1290606A-3552-1616-935A-8B14C830CA19}"/>
              </a:ext>
            </a:extLst>
          </p:cNvPr>
          <p:cNvSpPr/>
          <p:nvPr/>
        </p:nvSpPr>
        <p:spPr>
          <a:xfrm>
            <a:off x="5637272" y="3037455"/>
            <a:ext cx="1203185" cy="334800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데이터 유효성 검증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(AI Agent)</a:t>
            </a:r>
          </a:p>
        </p:txBody>
      </p:sp>
      <p:sp>
        <p:nvSpPr>
          <p:cNvPr id="194" name="화살표: 오각형 193">
            <a:extLst>
              <a:ext uri="{FF2B5EF4-FFF2-40B4-BE49-F238E27FC236}">
                <a16:creationId xmlns:a16="http://schemas.microsoft.com/office/drawing/2014/main" id="{8B7B469F-70DF-43EC-600C-59662327A8F9}"/>
              </a:ext>
            </a:extLst>
          </p:cNvPr>
          <p:cNvSpPr/>
          <p:nvPr/>
        </p:nvSpPr>
        <p:spPr>
          <a:xfrm>
            <a:off x="344486" y="2194636"/>
            <a:ext cx="1280368" cy="347687"/>
          </a:xfrm>
          <a:prstGeom prst="homePlate">
            <a:avLst>
              <a:gd name="adj" fmla="val 24867"/>
            </a:avLst>
          </a:prstGeom>
          <a:solidFill>
            <a:schemeClr val="bg1">
              <a:lumMod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ko-KR" altLang="en-US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공정 위험성 평가</a:t>
            </a:r>
            <a:endParaRPr lang="en-US" altLang="ko-KR" sz="90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수행</a:t>
            </a:r>
            <a:r>
              <a:rPr lang="en-US" altLang="ko-KR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및 관리</a:t>
            </a:r>
          </a:p>
        </p:txBody>
      </p:sp>
      <p:sp>
        <p:nvSpPr>
          <p:cNvPr id="199" name="화살표: 오각형 198">
            <a:extLst>
              <a:ext uri="{FF2B5EF4-FFF2-40B4-BE49-F238E27FC236}">
                <a16:creationId xmlns:a16="http://schemas.microsoft.com/office/drawing/2014/main" id="{228B7D92-0B48-8CD5-6C75-BB1B4253036C}"/>
              </a:ext>
            </a:extLst>
          </p:cNvPr>
          <p:cNvSpPr/>
          <p:nvPr/>
        </p:nvSpPr>
        <p:spPr>
          <a:xfrm>
            <a:off x="2990498" y="2195472"/>
            <a:ext cx="1281129" cy="347687"/>
          </a:xfrm>
          <a:prstGeom prst="homePlate">
            <a:avLst>
              <a:gd name="adj" fmla="val 24867"/>
            </a:avLst>
          </a:prstGeom>
          <a:solidFill>
            <a:schemeClr val="bg1">
              <a:lumMod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PSM </a:t>
            </a:r>
            <a:r>
              <a:rPr lang="ko-KR" altLang="en-US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구성 요소 관리</a:t>
            </a:r>
            <a:br>
              <a:rPr lang="en-US" altLang="ko-KR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ko-KR" altLang="en-US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및 점검 대응</a:t>
            </a:r>
          </a:p>
        </p:txBody>
      </p:sp>
      <p:sp>
        <p:nvSpPr>
          <p:cNvPr id="204" name="화살표: 오각형 203">
            <a:extLst>
              <a:ext uri="{FF2B5EF4-FFF2-40B4-BE49-F238E27FC236}">
                <a16:creationId xmlns:a16="http://schemas.microsoft.com/office/drawing/2014/main" id="{A0A8F68A-727A-5698-E97B-FA26DF9E5A27}"/>
              </a:ext>
            </a:extLst>
          </p:cNvPr>
          <p:cNvSpPr/>
          <p:nvPr/>
        </p:nvSpPr>
        <p:spPr>
          <a:xfrm>
            <a:off x="4312157" y="2196308"/>
            <a:ext cx="1281855" cy="347687"/>
          </a:xfrm>
          <a:prstGeom prst="homePlate">
            <a:avLst>
              <a:gd name="adj" fmla="val 24867"/>
            </a:avLst>
          </a:prstGeom>
          <a:solidFill>
            <a:schemeClr val="bg1">
              <a:lumMod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SMS </a:t>
            </a:r>
            <a:r>
              <a:rPr lang="ko-KR" altLang="en-US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구성 요소 관리</a:t>
            </a:r>
            <a:br>
              <a:rPr lang="en-US" altLang="ko-KR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ko-KR" altLang="en-US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및 점검 대응</a:t>
            </a:r>
          </a:p>
        </p:txBody>
      </p:sp>
      <p:sp>
        <p:nvSpPr>
          <p:cNvPr id="209" name="화살표: 오각형 208">
            <a:extLst>
              <a:ext uri="{FF2B5EF4-FFF2-40B4-BE49-F238E27FC236}">
                <a16:creationId xmlns:a16="http://schemas.microsoft.com/office/drawing/2014/main" id="{1415CD19-6060-92A5-9729-78CA8D4E84EE}"/>
              </a:ext>
            </a:extLst>
          </p:cNvPr>
          <p:cNvSpPr/>
          <p:nvPr/>
        </p:nvSpPr>
        <p:spPr>
          <a:xfrm>
            <a:off x="5637273" y="2197144"/>
            <a:ext cx="1280368" cy="347687"/>
          </a:xfrm>
          <a:prstGeom prst="homePlate">
            <a:avLst>
              <a:gd name="adj" fmla="val 24867"/>
            </a:avLst>
          </a:prstGeom>
          <a:solidFill>
            <a:schemeClr val="bg1">
              <a:lumMod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ko-KR" altLang="en-US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오염물질</a:t>
            </a:r>
            <a:r>
              <a:rPr lang="en-US" altLang="ko-KR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배출 현황</a:t>
            </a:r>
            <a:endParaRPr lang="en-US" altLang="ko-KR" sz="90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모니터링 및 결과 작성</a:t>
            </a:r>
          </a:p>
        </p:txBody>
      </p:sp>
      <p:sp>
        <p:nvSpPr>
          <p:cNvPr id="37" name="화살표: 오각형 36">
            <a:extLst>
              <a:ext uri="{FF2B5EF4-FFF2-40B4-BE49-F238E27FC236}">
                <a16:creationId xmlns:a16="http://schemas.microsoft.com/office/drawing/2014/main" id="{0DFA94D2-2323-A6C5-B570-D185ADAA358C}"/>
              </a:ext>
            </a:extLst>
          </p:cNvPr>
          <p:cNvSpPr/>
          <p:nvPr/>
        </p:nvSpPr>
        <p:spPr>
          <a:xfrm>
            <a:off x="8279658" y="2207437"/>
            <a:ext cx="1281855" cy="347687"/>
          </a:xfrm>
          <a:prstGeom prst="homePlate">
            <a:avLst>
              <a:gd name="adj" fmla="val 24867"/>
            </a:avLst>
          </a:prstGeom>
          <a:solidFill>
            <a:schemeClr val="bg1">
              <a:lumMod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ko-KR" altLang="en-US" sz="90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화관법</a:t>
            </a:r>
            <a:r>
              <a:rPr lang="ko-KR" altLang="en-US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관련 데이터 관리 및 점검 대응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CCED597D-7776-FF7E-0D45-61745A5787E0}"/>
              </a:ext>
            </a:extLst>
          </p:cNvPr>
          <p:cNvSpPr/>
          <p:nvPr/>
        </p:nvSpPr>
        <p:spPr>
          <a:xfrm>
            <a:off x="5637272" y="3470789"/>
            <a:ext cx="1203185" cy="334800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이상치 확인 및 원인</a:t>
            </a:r>
            <a:br>
              <a:rPr kumimoji="1" lang="en-US" altLang="ko-KR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</a:b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분석</a:t>
            </a:r>
            <a:r>
              <a:rPr kumimoji="1" lang="en-US" altLang="ko-KR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(AI Agent)</a:t>
            </a:r>
          </a:p>
        </p:txBody>
      </p:sp>
      <p:sp>
        <p:nvSpPr>
          <p:cNvPr id="191" name="사각형: 둥근 모서리 190">
            <a:extLst>
              <a:ext uri="{FF2B5EF4-FFF2-40B4-BE49-F238E27FC236}">
                <a16:creationId xmlns:a16="http://schemas.microsoft.com/office/drawing/2014/main" id="{E3BF2CA4-8147-A74C-78FF-D95E92FD043E}"/>
              </a:ext>
            </a:extLst>
          </p:cNvPr>
          <p:cNvSpPr/>
          <p:nvPr/>
        </p:nvSpPr>
        <p:spPr>
          <a:xfrm>
            <a:off x="344486" y="2604121"/>
            <a:ext cx="1203802" cy="334800"/>
          </a:xfrm>
          <a:prstGeom prst="roundRect">
            <a:avLst/>
          </a:prstGeom>
          <a:pattFill prst="ltUpDiag">
            <a:fgClr>
              <a:srgbClr val="C4DCF2"/>
            </a:fgClr>
            <a:bgClr>
              <a:schemeClr val="bg1"/>
            </a:bgClr>
          </a:pattFill>
          <a:ln w="3175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평가 준비 및 계획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(OCEAN-H)</a:t>
            </a:r>
          </a:p>
        </p:txBody>
      </p:sp>
      <p:sp>
        <p:nvSpPr>
          <p:cNvPr id="197" name="사각형: 둥근 모서리 196">
            <a:extLst>
              <a:ext uri="{FF2B5EF4-FFF2-40B4-BE49-F238E27FC236}">
                <a16:creationId xmlns:a16="http://schemas.microsoft.com/office/drawing/2014/main" id="{478D7F86-2D3D-B67E-925D-FE23BC7B9773}"/>
              </a:ext>
            </a:extLst>
          </p:cNvPr>
          <p:cNvSpPr/>
          <p:nvPr/>
        </p:nvSpPr>
        <p:spPr>
          <a:xfrm>
            <a:off x="1667683" y="2604121"/>
            <a:ext cx="1203802" cy="334800"/>
          </a:xfrm>
          <a:prstGeom prst="roundRect">
            <a:avLst/>
          </a:prstGeom>
          <a:pattFill prst="ltUpDiag">
            <a:fgClr>
              <a:srgbClr val="C4DCF2"/>
            </a:fgClr>
            <a:bgClr>
              <a:schemeClr val="bg1"/>
            </a:bgClr>
          </a:pattFill>
          <a:ln w="3175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평가 준비 및 계획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(OCEAN-H)</a:t>
            </a:r>
          </a:p>
        </p:txBody>
      </p:sp>
      <p:sp>
        <p:nvSpPr>
          <p:cNvPr id="202" name="사각형: 둥근 모서리 201">
            <a:extLst>
              <a:ext uri="{FF2B5EF4-FFF2-40B4-BE49-F238E27FC236}">
                <a16:creationId xmlns:a16="http://schemas.microsoft.com/office/drawing/2014/main" id="{CBAEC190-618B-83F0-7736-A7DCBFB4C914}"/>
              </a:ext>
            </a:extLst>
          </p:cNvPr>
          <p:cNvSpPr/>
          <p:nvPr/>
        </p:nvSpPr>
        <p:spPr>
          <a:xfrm>
            <a:off x="2990880" y="2604121"/>
            <a:ext cx="1203802" cy="334800"/>
          </a:xfrm>
          <a:prstGeom prst="roundRect">
            <a:avLst/>
          </a:prstGeom>
          <a:pattFill prst="ltUpDiag">
            <a:fgClr>
              <a:srgbClr val="C4DCF2"/>
            </a:fgClr>
            <a:bgClr>
              <a:schemeClr val="bg1"/>
            </a:bgClr>
          </a:pattFill>
          <a:ln w="3175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PSM </a:t>
            </a: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요소 현황 파악 및 문서 점검</a:t>
            </a:r>
            <a: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(OCEAN-H)</a:t>
            </a:r>
          </a:p>
        </p:txBody>
      </p:sp>
      <p:sp>
        <p:nvSpPr>
          <p:cNvPr id="207" name="사각형: 둥근 모서리 206">
            <a:extLst>
              <a:ext uri="{FF2B5EF4-FFF2-40B4-BE49-F238E27FC236}">
                <a16:creationId xmlns:a16="http://schemas.microsoft.com/office/drawing/2014/main" id="{898B62FA-CF73-29F0-AFC0-6BFF70C33CFD}"/>
              </a:ext>
            </a:extLst>
          </p:cNvPr>
          <p:cNvSpPr/>
          <p:nvPr/>
        </p:nvSpPr>
        <p:spPr>
          <a:xfrm>
            <a:off x="4314077" y="2604121"/>
            <a:ext cx="1203802" cy="334800"/>
          </a:xfrm>
          <a:prstGeom prst="roundRect">
            <a:avLst/>
          </a:prstGeom>
          <a:pattFill prst="ltUpDiag">
            <a:fgClr>
              <a:srgbClr val="C4DCF2"/>
            </a:fgClr>
            <a:bgClr>
              <a:schemeClr val="bg1"/>
            </a:bgClr>
          </a:pattFill>
          <a:ln w="3175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SMS </a:t>
            </a: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요소 현황 파악 및 문서 점검</a:t>
            </a:r>
            <a: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(OCEAN-H)</a:t>
            </a:r>
          </a:p>
        </p:txBody>
      </p:sp>
      <p:sp>
        <p:nvSpPr>
          <p:cNvPr id="215" name="사각형: 둥근 모서리 214">
            <a:extLst>
              <a:ext uri="{FF2B5EF4-FFF2-40B4-BE49-F238E27FC236}">
                <a16:creationId xmlns:a16="http://schemas.microsoft.com/office/drawing/2014/main" id="{3946D475-9387-D4D8-E83D-A29CDC99930B}"/>
              </a:ext>
            </a:extLst>
          </p:cNvPr>
          <p:cNvSpPr/>
          <p:nvPr/>
        </p:nvSpPr>
        <p:spPr>
          <a:xfrm>
            <a:off x="8283666" y="2604121"/>
            <a:ext cx="1203802" cy="334800"/>
          </a:xfrm>
          <a:prstGeom prst="roundRect">
            <a:avLst/>
          </a:prstGeom>
          <a:pattFill prst="ltUpDiag">
            <a:fgClr>
              <a:srgbClr val="C4DCF2"/>
            </a:fgClr>
            <a:bgClr>
              <a:schemeClr val="bg1"/>
            </a:bgClr>
          </a:pattFill>
          <a:ln w="3175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대상 물질 관련 데이터 수집 및 검증</a:t>
            </a:r>
            <a: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(OCEAN-H)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48C6F8D9-8837-9072-C8EF-7F9DFD7A387A}"/>
              </a:ext>
            </a:extLst>
          </p:cNvPr>
          <p:cNvSpPr/>
          <p:nvPr/>
        </p:nvSpPr>
        <p:spPr>
          <a:xfrm>
            <a:off x="5637273" y="2604121"/>
            <a:ext cx="1203802" cy="334800"/>
          </a:xfrm>
          <a:prstGeom prst="roundRect">
            <a:avLst/>
          </a:prstGeom>
          <a:pattFill prst="ltUpDiag">
            <a:fgClr>
              <a:srgbClr val="C4DCF2"/>
            </a:fgClr>
            <a:bgClr>
              <a:schemeClr val="bg1"/>
            </a:bgClr>
          </a:pattFill>
          <a:ln w="3175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정기 수집 데이터 취합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(OCEAN-H)</a:t>
            </a: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93CF58AA-AF5F-8F8E-C58E-FB8D6965FE47}"/>
              </a:ext>
            </a:extLst>
          </p:cNvPr>
          <p:cNvSpPr/>
          <p:nvPr/>
        </p:nvSpPr>
        <p:spPr>
          <a:xfrm>
            <a:off x="6960470" y="2604121"/>
            <a:ext cx="1203802" cy="334800"/>
          </a:xfrm>
          <a:prstGeom prst="roundRect">
            <a:avLst/>
          </a:prstGeom>
          <a:pattFill prst="ltUpDiag">
            <a:fgClr>
              <a:srgbClr val="C4DCF2"/>
            </a:fgClr>
            <a:bgClr>
              <a:schemeClr val="bg1"/>
            </a:bgClr>
          </a:pattFill>
          <a:ln w="3175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연관 데이터 수집 및 검증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(OCEAN-H)</a:t>
            </a: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C0DE6966-6A85-F927-678D-5016149F58C7}"/>
              </a:ext>
            </a:extLst>
          </p:cNvPr>
          <p:cNvSpPr/>
          <p:nvPr/>
        </p:nvSpPr>
        <p:spPr>
          <a:xfrm>
            <a:off x="6960469" y="3037455"/>
            <a:ext cx="1203185" cy="334800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통합법 조건 대비</a:t>
            </a:r>
            <a:r>
              <a:rPr kumimoji="1" lang="en-US" altLang="ko-KR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미비점 확인</a:t>
            </a:r>
            <a:r>
              <a:rPr kumimoji="1" lang="en-US" altLang="ko-KR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(AI Agent)</a:t>
            </a: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0F003866-D4D0-3D6D-5947-217A23F0C113}"/>
              </a:ext>
            </a:extLst>
          </p:cNvPr>
          <p:cNvCxnSpPr>
            <a:cxnSpLocks/>
          </p:cNvCxnSpPr>
          <p:nvPr/>
        </p:nvCxnSpPr>
        <p:spPr>
          <a:xfrm>
            <a:off x="344488" y="1768835"/>
            <a:ext cx="9221614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82C92DB5-FD66-D869-3F36-9FFE9DDB851B}"/>
              </a:ext>
            </a:extLst>
          </p:cNvPr>
          <p:cNvSpPr/>
          <p:nvPr/>
        </p:nvSpPr>
        <p:spPr>
          <a:xfrm>
            <a:off x="4031571" y="1640841"/>
            <a:ext cx="1847448" cy="25598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rgbClr val="217C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To-Be </a:t>
            </a:r>
            <a:r>
              <a:rPr lang="ko-KR" altLang="en-US" sz="1200">
                <a:solidFill>
                  <a:schemeClr val="tx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업무 시나리오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4F10B07-7CC8-486B-682F-8E2F7527E57E}"/>
              </a:ext>
            </a:extLst>
          </p:cNvPr>
          <p:cNvSpPr/>
          <p:nvPr/>
        </p:nvSpPr>
        <p:spPr>
          <a:xfrm>
            <a:off x="344490" y="1547834"/>
            <a:ext cx="570257" cy="171734"/>
          </a:xfrm>
          <a:prstGeom prst="rect">
            <a:avLst/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1000" b="1">
                <a:latin typeface="나눔스퀘어" panose="020B0600000101010101" pitchFamily="50" charset="-127"/>
                <a:ea typeface="나눔스퀘어" panose="020B0600000101010101" pitchFamily="50" charset="-127"/>
              </a:rPr>
              <a:t>Process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043524E-D5BF-D307-7D75-55FA6DE4B254}"/>
              </a:ext>
            </a:extLst>
          </p:cNvPr>
          <p:cNvSpPr/>
          <p:nvPr/>
        </p:nvSpPr>
        <p:spPr>
          <a:xfrm>
            <a:off x="955677" y="1547834"/>
            <a:ext cx="570257" cy="171734"/>
          </a:xfrm>
          <a:prstGeom prst="rect">
            <a:avLst/>
          </a:prstGeom>
          <a:solidFill>
            <a:schemeClr val="bg1">
              <a:lumMod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Activity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A7E32471-974C-19F4-EA2B-FC38F9193766}"/>
              </a:ext>
            </a:extLst>
          </p:cNvPr>
          <p:cNvSpPr/>
          <p:nvPr/>
        </p:nvSpPr>
        <p:spPr>
          <a:xfrm>
            <a:off x="8926185" y="1553252"/>
            <a:ext cx="635326" cy="160797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solidFill>
                  <a:schemeClr val="bg1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삭제 업무</a:t>
            </a:r>
            <a:endParaRPr kumimoji="1" lang="en-US" altLang="ko-KR" sz="900" kern="0">
              <a:solidFill>
                <a:schemeClr val="bg1">
                  <a:lumMod val="7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72A9950E-041E-9274-00C8-E828F6D102A4}"/>
              </a:ext>
            </a:extLst>
          </p:cNvPr>
          <p:cNvSpPr/>
          <p:nvPr/>
        </p:nvSpPr>
        <p:spPr>
          <a:xfrm>
            <a:off x="7552890" y="1553252"/>
            <a:ext cx="635326" cy="160797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AI/DT </a:t>
            </a: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신규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7B97785E-7B9F-C16A-EF02-877739AE1CB9}"/>
              </a:ext>
            </a:extLst>
          </p:cNvPr>
          <p:cNvSpPr/>
          <p:nvPr/>
        </p:nvSpPr>
        <p:spPr>
          <a:xfrm>
            <a:off x="8239537" y="1553252"/>
            <a:ext cx="635326" cy="160797"/>
          </a:xfrm>
          <a:prstGeom prst="roundRect">
            <a:avLst/>
          </a:prstGeom>
          <a:pattFill prst="ltUpDiag">
            <a:fgClr>
              <a:srgbClr val="C4DCF2"/>
            </a:fgClr>
            <a:bgClr>
              <a:schemeClr val="bg1"/>
            </a:bgClr>
          </a:pattFill>
          <a:ln w="3175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Digital </a:t>
            </a: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기존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504F5CAA-E101-29CF-3F60-839BDA80C2F0}"/>
              </a:ext>
            </a:extLst>
          </p:cNvPr>
          <p:cNvSpPr/>
          <p:nvPr/>
        </p:nvSpPr>
        <p:spPr>
          <a:xfrm>
            <a:off x="1667683" y="3470789"/>
            <a:ext cx="1203185" cy="334800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안전 작업 절차 개발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(AI Agent)</a:t>
            </a:r>
          </a:p>
        </p:txBody>
      </p:sp>
      <p:sp>
        <p:nvSpPr>
          <p:cNvPr id="2" name="화살표: 오각형 1">
            <a:extLst>
              <a:ext uri="{FF2B5EF4-FFF2-40B4-BE49-F238E27FC236}">
                <a16:creationId xmlns:a16="http://schemas.microsoft.com/office/drawing/2014/main" id="{D0E3116F-106D-6456-A8D6-0247A4B2B2F2}"/>
              </a:ext>
            </a:extLst>
          </p:cNvPr>
          <p:cNvSpPr/>
          <p:nvPr/>
        </p:nvSpPr>
        <p:spPr>
          <a:xfrm>
            <a:off x="1662917" y="2194636"/>
            <a:ext cx="1280368" cy="347687"/>
          </a:xfrm>
          <a:prstGeom prst="homePlate">
            <a:avLst>
              <a:gd name="adj" fmla="val 24867"/>
            </a:avLst>
          </a:prstGeom>
          <a:solidFill>
            <a:schemeClr val="bg1">
              <a:lumMod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작업 위험성 평가</a:t>
            </a:r>
            <a:endParaRPr lang="en-US" altLang="ko-KR" sz="90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수행</a:t>
            </a:r>
            <a:r>
              <a:rPr lang="en-US" altLang="ko-KR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및 관리</a:t>
            </a:r>
          </a:p>
        </p:txBody>
      </p:sp>
      <p:sp>
        <p:nvSpPr>
          <p:cNvPr id="4" name="화살표: 오각형 3">
            <a:extLst>
              <a:ext uri="{FF2B5EF4-FFF2-40B4-BE49-F238E27FC236}">
                <a16:creationId xmlns:a16="http://schemas.microsoft.com/office/drawing/2014/main" id="{A9B0DFC1-B3FE-663D-DBDF-7BA529F44C33}"/>
              </a:ext>
            </a:extLst>
          </p:cNvPr>
          <p:cNvSpPr/>
          <p:nvPr/>
        </p:nvSpPr>
        <p:spPr>
          <a:xfrm>
            <a:off x="6959169" y="2197144"/>
            <a:ext cx="1280368" cy="347687"/>
          </a:xfrm>
          <a:prstGeom prst="homePlate">
            <a:avLst>
              <a:gd name="adj" fmla="val 24867"/>
            </a:avLst>
          </a:prstGeom>
          <a:solidFill>
            <a:schemeClr val="bg1">
              <a:lumMod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ko-KR" altLang="en-US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환경 통합법 관련 데이터 관리 및 점검 대응</a:t>
            </a:r>
            <a:r>
              <a:rPr lang="en-US" altLang="ko-KR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	</a:t>
            </a:r>
            <a:endParaRPr lang="ko-KR" altLang="en-US" sz="90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2B757FDB-56D4-ABB2-F3B3-71130DBCB6E8}"/>
              </a:ext>
            </a:extLst>
          </p:cNvPr>
          <p:cNvSpPr/>
          <p:nvPr/>
        </p:nvSpPr>
        <p:spPr>
          <a:xfrm>
            <a:off x="1672502" y="3913288"/>
            <a:ext cx="1198366" cy="334800"/>
          </a:xfrm>
          <a:prstGeom prst="roundRect">
            <a:avLst/>
          </a:prstGeom>
          <a:pattFill prst="ltUpDiag">
            <a:fgClr>
              <a:srgbClr val="C4DCF2"/>
            </a:fgClr>
            <a:bgClr>
              <a:schemeClr val="bg1"/>
            </a:bgClr>
          </a:pattFill>
          <a:ln w="3175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적용 및 피드백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(OCEAN-H)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4C294CD8-00C4-B0EA-2CCE-A5C498F737A3}"/>
              </a:ext>
            </a:extLst>
          </p:cNvPr>
          <p:cNvSpPr/>
          <p:nvPr/>
        </p:nvSpPr>
        <p:spPr>
          <a:xfrm>
            <a:off x="2990880" y="3470789"/>
            <a:ext cx="1203185" cy="334800"/>
          </a:xfrm>
          <a:prstGeom prst="roundRect">
            <a:avLst/>
          </a:prstGeom>
          <a:pattFill prst="ltUpDiag">
            <a:fgClr>
              <a:srgbClr val="C4DCF2"/>
            </a:fgClr>
            <a:bgClr>
              <a:schemeClr val="bg1"/>
            </a:bgClr>
          </a:pattFill>
          <a:ln w="3175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자체 점검 및 개선 활동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(OCEAN-H)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D03BE0D1-7018-89CC-C06F-53D351C9B92B}"/>
              </a:ext>
            </a:extLst>
          </p:cNvPr>
          <p:cNvSpPr/>
          <p:nvPr/>
        </p:nvSpPr>
        <p:spPr>
          <a:xfrm>
            <a:off x="4314077" y="3470789"/>
            <a:ext cx="1203185" cy="334800"/>
          </a:xfrm>
          <a:prstGeom prst="roundRect">
            <a:avLst/>
          </a:prstGeom>
          <a:pattFill prst="ltUpDiag">
            <a:fgClr>
              <a:srgbClr val="C4DCF2"/>
            </a:fgClr>
            <a:bgClr>
              <a:schemeClr val="bg1"/>
            </a:bgClr>
          </a:pattFill>
          <a:ln w="3175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자체 점검 및 개선 활동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(OCEAN-H)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5F57F5D6-A280-BAB3-DFBD-6F8BD8509AC6}"/>
              </a:ext>
            </a:extLst>
          </p:cNvPr>
          <p:cNvSpPr/>
          <p:nvPr/>
        </p:nvSpPr>
        <p:spPr>
          <a:xfrm>
            <a:off x="6960469" y="3470789"/>
            <a:ext cx="2519153" cy="334800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자체 점검 및 대응 준비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(AI Agent)</a:t>
            </a:r>
          </a:p>
        </p:txBody>
      </p: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9872FDD8-40AA-9864-86CB-556E42BA73EF}"/>
              </a:ext>
            </a:extLst>
          </p:cNvPr>
          <p:cNvCxnSpPr>
            <a:cxnSpLocks/>
            <a:stCxn id="191" idx="2"/>
            <a:endCxn id="192" idx="0"/>
          </p:cNvCxnSpPr>
          <p:nvPr/>
        </p:nvCxnSpPr>
        <p:spPr>
          <a:xfrm flipH="1">
            <a:off x="946079" y="2938921"/>
            <a:ext cx="308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934BE4EC-4022-C6AD-2533-1DC9807B0653}"/>
              </a:ext>
            </a:extLst>
          </p:cNvPr>
          <p:cNvCxnSpPr>
            <a:cxnSpLocks/>
            <a:stCxn id="192" idx="2"/>
            <a:endCxn id="195" idx="0"/>
          </p:cNvCxnSpPr>
          <p:nvPr/>
        </p:nvCxnSpPr>
        <p:spPr>
          <a:xfrm>
            <a:off x="946079" y="3372255"/>
            <a:ext cx="0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BEB12379-710D-604F-D6D2-167AC64405E2}"/>
              </a:ext>
            </a:extLst>
          </p:cNvPr>
          <p:cNvCxnSpPr>
            <a:cxnSpLocks/>
            <a:stCxn id="197" idx="2"/>
            <a:endCxn id="198" idx="0"/>
          </p:cNvCxnSpPr>
          <p:nvPr/>
        </p:nvCxnSpPr>
        <p:spPr>
          <a:xfrm flipH="1">
            <a:off x="2269276" y="2938921"/>
            <a:ext cx="308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6B5DA292-313D-0DC6-D049-5E2AE933511C}"/>
              </a:ext>
            </a:extLst>
          </p:cNvPr>
          <p:cNvCxnSpPr>
            <a:cxnSpLocks/>
            <a:stCxn id="198" idx="2"/>
            <a:endCxn id="21" idx="0"/>
          </p:cNvCxnSpPr>
          <p:nvPr/>
        </p:nvCxnSpPr>
        <p:spPr>
          <a:xfrm>
            <a:off x="2269276" y="3372255"/>
            <a:ext cx="0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직선 화살표 연결선 133">
            <a:extLst>
              <a:ext uri="{FF2B5EF4-FFF2-40B4-BE49-F238E27FC236}">
                <a16:creationId xmlns:a16="http://schemas.microsoft.com/office/drawing/2014/main" id="{ED2E284B-87A8-131C-D1B1-D7CFD9EA723D}"/>
              </a:ext>
            </a:extLst>
          </p:cNvPr>
          <p:cNvCxnSpPr>
            <a:cxnSpLocks/>
            <a:stCxn id="21" idx="2"/>
            <a:endCxn id="7" idx="0"/>
          </p:cNvCxnSpPr>
          <p:nvPr/>
        </p:nvCxnSpPr>
        <p:spPr>
          <a:xfrm>
            <a:off x="2269276" y="3805589"/>
            <a:ext cx="2409" cy="107699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직선 화살표 연결선 140">
            <a:extLst>
              <a:ext uri="{FF2B5EF4-FFF2-40B4-BE49-F238E27FC236}">
                <a16:creationId xmlns:a16="http://schemas.microsoft.com/office/drawing/2014/main" id="{DE935514-3D58-BA09-C30C-9BBBFCA263C9}"/>
              </a:ext>
            </a:extLst>
          </p:cNvPr>
          <p:cNvCxnSpPr>
            <a:cxnSpLocks/>
            <a:stCxn id="202" idx="2"/>
            <a:endCxn id="203" idx="0"/>
          </p:cNvCxnSpPr>
          <p:nvPr/>
        </p:nvCxnSpPr>
        <p:spPr>
          <a:xfrm flipH="1">
            <a:off x="3592473" y="2938921"/>
            <a:ext cx="308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직선 화살표 연결선 151">
            <a:extLst>
              <a:ext uri="{FF2B5EF4-FFF2-40B4-BE49-F238E27FC236}">
                <a16:creationId xmlns:a16="http://schemas.microsoft.com/office/drawing/2014/main" id="{A6312E31-3473-8B9F-FFC6-BE9D2692850A}"/>
              </a:ext>
            </a:extLst>
          </p:cNvPr>
          <p:cNvCxnSpPr>
            <a:cxnSpLocks/>
            <a:stCxn id="203" idx="2"/>
            <a:endCxn id="17" idx="0"/>
          </p:cNvCxnSpPr>
          <p:nvPr/>
        </p:nvCxnSpPr>
        <p:spPr>
          <a:xfrm>
            <a:off x="3592473" y="3372255"/>
            <a:ext cx="0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직선 화살표 연결선 156">
            <a:extLst>
              <a:ext uri="{FF2B5EF4-FFF2-40B4-BE49-F238E27FC236}">
                <a16:creationId xmlns:a16="http://schemas.microsoft.com/office/drawing/2014/main" id="{C88F45DC-C923-BB01-C6DC-FE12F764E401}"/>
              </a:ext>
            </a:extLst>
          </p:cNvPr>
          <p:cNvCxnSpPr>
            <a:cxnSpLocks/>
            <a:stCxn id="207" idx="2"/>
            <a:endCxn id="208" idx="0"/>
          </p:cNvCxnSpPr>
          <p:nvPr/>
        </p:nvCxnSpPr>
        <p:spPr>
          <a:xfrm flipH="1">
            <a:off x="4915670" y="2938921"/>
            <a:ext cx="308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직선 화살표 연결선 159">
            <a:extLst>
              <a:ext uri="{FF2B5EF4-FFF2-40B4-BE49-F238E27FC236}">
                <a16:creationId xmlns:a16="http://schemas.microsoft.com/office/drawing/2014/main" id="{8AD1E563-CB84-F5AE-6508-85EBCEB4E007}"/>
              </a:ext>
            </a:extLst>
          </p:cNvPr>
          <p:cNvCxnSpPr>
            <a:cxnSpLocks/>
            <a:stCxn id="208" idx="2"/>
            <a:endCxn id="33" idx="0"/>
          </p:cNvCxnSpPr>
          <p:nvPr/>
        </p:nvCxnSpPr>
        <p:spPr>
          <a:xfrm>
            <a:off x="4915670" y="3372255"/>
            <a:ext cx="0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직선 화살표 연결선 162">
            <a:extLst>
              <a:ext uri="{FF2B5EF4-FFF2-40B4-BE49-F238E27FC236}">
                <a16:creationId xmlns:a16="http://schemas.microsoft.com/office/drawing/2014/main" id="{5A0F9FEF-BEF5-B79E-514D-42E359804C7C}"/>
              </a:ext>
            </a:extLst>
          </p:cNvPr>
          <p:cNvCxnSpPr>
            <a:cxnSpLocks/>
            <a:stCxn id="35" idx="2"/>
            <a:endCxn id="36" idx="0"/>
          </p:cNvCxnSpPr>
          <p:nvPr/>
        </p:nvCxnSpPr>
        <p:spPr>
          <a:xfrm flipH="1">
            <a:off x="6238865" y="2938921"/>
            <a:ext cx="309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직선 화살표 연결선 166">
            <a:extLst>
              <a:ext uri="{FF2B5EF4-FFF2-40B4-BE49-F238E27FC236}">
                <a16:creationId xmlns:a16="http://schemas.microsoft.com/office/drawing/2014/main" id="{AC135507-69DB-3DB9-A53D-20606EDF9B6D}"/>
              </a:ext>
            </a:extLst>
          </p:cNvPr>
          <p:cNvCxnSpPr>
            <a:cxnSpLocks/>
            <a:stCxn id="36" idx="2"/>
            <a:endCxn id="38" idx="0"/>
          </p:cNvCxnSpPr>
          <p:nvPr/>
        </p:nvCxnSpPr>
        <p:spPr>
          <a:xfrm>
            <a:off x="6238865" y="3372255"/>
            <a:ext cx="0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직선 화살표 연결선 169">
            <a:extLst>
              <a:ext uri="{FF2B5EF4-FFF2-40B4-BE49-F238E27FC236}">
                <a16:creationId xmlns:a16="http://schemas.microsoft.com/office/drawing/2014/main" id="{E7005631-7BBF-6DF7-A20D-416AA5142504}"/>
              </a:ext>
            </a:extLst>
          </p:cNvPr>
          <p:cNvCxnSpPr>
            <a:cxnSpLocks/>
            <a:stCxn id="44" idx="2"/>
            <a:endCxn id="45" idx="0"/>
          </p:cNvCxnSpPr>
          <p:nvPr/>
        </p:nvCxnSpPr>
        <p:spPr>
          <a:xfrm flipH="1">
            <a:off x="7562062" y="2938921"/>
            <a:ext cx="309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직선 화살표 연결선 180">
            <a:extLst>
              <a:ext uri="{FF2B5EF4-FFF2-40B4-BE49-F238E27FC236}">
                <a16:creationId xmlns:a16="http://schemas.microsoft.com/office/drawing/2014/main" id="{362CF0AA-11B1-A0A0-11AD-E17E039F0918}"/>
              </a:ext>
            </a:extLst>
          </p:cNvPr>
          <p:cNvCxnSpPr>
            <a:cxnSpLocks/>
            <a:stCxn id="215" idx="2"/>
            <a:endCxn id="216" idx="0"/>
          </p:cNvCxnSpPr>
          <p:nvPr/>
        </p:nvCxnSpPr>
        <p:spPr>
          <a:xfrm flipH="1">
            <a:off x="8885259" y="2938921"/>
            <a:ext cx="308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4" name="TextBox 183">
            <a:extLst>
              <a:ext uri="{FF2B5EF4-FFF2-40B4-BE49-F238E27FC236}">
                <a16:creationId xmlns:a16="http://schemas.microsoft.com/office/drawing/2014/main" id="{9624A5C7-E35D-D652-E01A-31CF47AB8AA4}"/>
              </a:ext>
            </a:extLst>
          </p:cNvPr>
          <p:cNvSpPr txBox="1"/>
          <p:nvPr/>
        </p:nvSpPr>
        <p:spPr>
          <a:xfrm>
            <a:off x="673770" y="5329768"/>
            <a:ext cx="3936732" cy="23166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72000" rIns="36000" rtlCol="0" anchor="ctr">
            <a:noAutofit/>
          </a:bodyPr>
          <a:lstStyle/>
          <a:p>
            <a:r>
              <a:rPr lang="ko-KR" altLang="en-US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팀별 </a:t>
            </a:r>
            <a:r>
              <a:rPr lang="en-US" altLang="ko-KR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JSA </a:t>
            </a:r>
            <a:r>
              <a:rPr lang="ko-KR" altLang="en-US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내용 및 수준 상이 → 유사 작업 </a:t>
            </a:r>
            <a:r>
              <a:rPr lang="en-US" altLang="ko-KR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JSA </a:t>
            </a:r>
            <a:r>
              <a:rPr lang="ko-KR" altLang="en-US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클러스터 구축</a:t>
            </a:r>
            <a:r>
              <a:rPr lang="en-US" altLang="ko-KR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</a:t>
            </a:r>
            <a:r>
              <a:rPr lang="ko-KR" altLang="en-US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제공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AAA885B9-E466-D943-D9D3-7511D4462A0A}"/>
              </a:ext>
            </a:extLst>
          </p:cNvPr>
          <p:cNvSpPr txBox="1"/>
          <p:nvPr/>
        </p:nvSpPr>
        <p:spPr>
          <a:xfrm>
            <a:off x="673770" y="6189201"/>
            <a:ext cx="3936732" cy="23166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72000" rIns="36000" rtlCol="0" anchor="ctr">
            <a:noAutofit/>
          </a:bodyPr>
          <a:lstStyle/>
          <a:p>
            <a:r>
              <a:rPr lang="ko-KR" altLang="en-US" sz="1000" spc="-5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환경운영 </a:t>
            </a:r>
            <a:r>
              <a:rPr lang="en-US" altLang="ko-KR" sz="1000" spc="-5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Data</a:t>
            </a:r>
            <a:r>
              <a:rPr lang="ko-KR" altLang="en-US" sz="1000" spc="-5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유관 시스템에 수작업 </a:t>
            </a:r>
            <a:r>
              <a:rPr lang="en-US" altLang="ko-KR" sz="1000" spc="-5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Update</a:t>
            </a:r>
            <a:r>
              <a:rPr lang="ko-KR" altLang="en-US" sz="1000" spc="-5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→ 환경운영 </a:t>
            </a:r>
            <a:r>
              <a:rPr lang="en-US" altLang="ko-KR" sz="1000" spc="-5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Data</a:t>
            </a:r>
            <a:r>
              <a:rPr lang="ko-KR" altLang="en-US" sz="1000" spc="-5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자동 </a:t>
            </a:r>
            <a:r>
              <a:rPr lang="en-US" altLang="ko-KR" sz="1000" spc="-5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Update</a:t>
            </a: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3E73C85C-E1DA-E12C-2C0E-733182CF278D}"/>
              </a:ext>
            </a:extLst>
          </p:cNvPr>
          <p:cNvSpPr txBox="1"/>
          <p:nvPr/>
        </p:nvSpPr>
        <p:spPr>
          <a:xfrm>
            <a:off x="7489234" y="5329768"/>
            <a:ext cx="2072281" cy="23166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72000" rIns="36000" rtlCol="0" anchor="ctr">
            <a:noAutofit/>
          </a:bodyPr>
          <a:lstStyle/>
          <a:p>
            <a:r>
              <a:rPr lang="en-US" altLang="ko-KR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N/A</a:t>
            </a:r>
            <a:endParaRPr lang="ko-KR" altLang="en-US" sz="100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E3BF5B25-F251-5FE3-8BB6-0E9D6A4C46CF}"/>
              </a:ext>
            </a:extLst>
          </p:cNvPr>
          <p:cNvSpPr txBox="1"/>
          <p:nvPr/>
        </p:nvSpPr>
        <p:spPr>
          <a:xfrm>
            <a:off x="7489234" y="6189201"/>
            <a:ext cx="2072281" cy="23166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72000" rIns="36000" rtlCol="0" anchor="ctr">
            <a:noAutofit/>
          </a:bodyPr>
          <a:lstStyle/>
          <a:p>
            <a:r>
              <a:rPr lang="en-US" altLang="ko-KR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N/A</a:t>
            </a:r>
            <a:endParaRPr lang="ko-KR" altLang="en-US" sz="100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DA945CF7-A99F-FA59-FAD3-371D1BF216BB}"/>
              </a:ext>
            </a:extLst>
          </p:cNvPr>
          <p:cNvSpPr txBox="1"/>
          <p:nvPr/>
        </p:nvSpPr>
        <p:spPr>
          <a:xfrm>
            <a:off x="344486" y="5329768"/>
            <a:ext cx="216000" cy="216000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8076CA80-1A50-D147-A946-6B4E6E1F2ECD}"/>
              </a:ext>
            </a:extLst>
          </p:cNvPr>
          <p:cNvSpPr txBox="1"/>
          <p:nvPr/>
        </p:nvSpPr>
        <p:spPr>
          <a:xfrm>
            <a:off x="344486" y="5627020"/>
            <a:ext cx="216000" cy="216000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087D8B90-EB7D-CAE7-8684-DB452F6BB000}"/>
              </a:ext>
            </a:extLst>
          </p:cNvPr>
          <p:cNvSpPr txBox="1"/>
          <p:nvPr/>
        </p:nvSpPr>
        <p:spPr>
          <a:xfrm>
            <a:off x="344486" y="6189201"/>
            <a:ext cx="216000" cy="216000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3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E5C86C95-AC24-01C1-9F92-865D64A06CFF}"/>
              </a:ext>
            </a:extLst>
          </p:cNvPr>
          <p:cNvSpPr txBox="1"/>
          <p:nvPr/>
        </p:nvSpPr>
        <p:spPr>
          <a:xfrm>
            <a:off x="4710767" y="5329768"/>
            <a:ext cx="2678203" cy="23166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72000" rIns="36000" rtlCol="0" anchor="ctr">
            <a:noAutofit/>
          </a:bodyPr>
          <a:lstStyle/>
          <a:p>
            <a:r>
              <a:rPr lang="en-US" altLang="ko-KR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JSA Best Practice </a:t>
            </a:r>
            <a:r>
              <a:rPr lang="ko-KR" altLang="en-US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선정 </a:t>
            </a:r>
            <a:r>
              <a:rPr lang="en-US" altLang="ko-KR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Agent(SHE)</a:t>
            </a:r>
            <a:endParaRPr lang="ko-KR" altLang="en-US" sz="100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1A980765-4882-7C34-B6FE-CA71343EB9E3}"/>
              </a:ext>
            </a:extLst>
          </p:cNvPr>
          <p:cNvSpPr txBox="1"/>
          <p:nvPr/>
        </p:nvSpPr>
        <p:spPr>
          <a:xfrm>
            <a:off x="4710767" y="6189201"/>
            <a:ext cx="2678203" cy="23166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72000" rIns="36000" rtlCol="0" anchor="ctr">
            <a:noAutofit/>
          </a:bodyPr>
          <a:lstStyle/>
          <a:p>
            <a:r>
              <a:rPr lang="ko-KR" altLang="en-US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환경운영 </a:t>
            </a:r>
            <a:r>
              <a:rPr lang="en-US" altLang="ko-KR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Data DB</a:t>
            </a:r>
            <a:r>
              <a:rPr lang="ko-KR" altLang="en-US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화 및 검증 </a:t>
            </a:r>
            <a:r>
              <a:rPr lang="en-US" altLang="ko-KR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Agent(SHE)</a:t>
            </a:r>
            <a:endParaRPr lang="ko-KR" altLang="en-US" sz="100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06" name="사각형: 둥근 모서리 205">
            <a:extLst>
              <a:ext uri="{FF2B5EF4-FFF2-40B4-BE49-F238E27FC236}">
                <a16:creationId xmlns:a16="http://schemas.microsoft.com/office/drawing/2014/main" id="{CB2125B1-AC4E-A711-030F-9CFEC20D5AB7}"/>
              </a:ext>
            </a:extLst>
          </p:cNvPr>
          <p:cNvSpPr/>
          <p:nvPr/>
        </p:nvSpPr>
        <p:spPr>
          <a:xfrm>
            <a:off x="6954839" y="5361899"/>
            <a:ext cx="386006" cy="167400"/>
          </a:xfrm>
          <a:prstGeom prst="roundRect">
            <a:avLst>
              <a:gd name="adj" fmla="val 18018"/>
            </a:avLst>
          </a:prstGeom>
          <a:solidFill>
            <a:schemeClr val="bg1">
              <a:lumMod val="50000"/>
            </a:schemeClr>
          </a:solidFill>
          <a:ln w="3175">
            <a:noFill/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자동화</a:t>
            </a:r>
            <a:endParaRPr kumimoji="1" lang="en-US" altLang="ko-KR" sz="900" ker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11" name="사각형: 둥근 모서리 210">
            <a:extLst>
              <a:ext uri="{FF2B5EF4-FFF2-40B4-BE49-F238E27FC236}">
                <a16:creationId xmlns:a16="http://schemas.microsoft.com/office/drawing/2014/main" id="{21167A4E-48A4-67A4-D117-409DEE8CB1A8}"/>
              </a:ext>
            </a:extLst>
          </p:cNvPr>
          <p:cNvSpPr/>
          <p:nvPr/>
        </p:nvSpPr>
        <p:spPr>
          <a:xfrm>
            <a:off x="6954839" y="6221332"/>
            <a:ext cx="386006" cy="167400"/>
          </a:xfrm>
          <a:prstGeom prst="roundRect">
            <a:avLst>
              <a:gd name="adj" fmla="val 18018"/>
            </a:avLst>
          </a:prstGeom>
          <a:solidFill>
            <a:schemeClr val="bg1">
              <a:lumMod val="50000"/>
            </a:schemeClr>
          </a:solidFill>
          <a:ln w="3175">
            <a:noFill/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자동화</a:t>
            </a:r>
            <a:endParaRPr kumimoji="1" lang="en-US" altLang="ko-KR" sz="900" ker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D8412492-2B88-27B8-C2D4-2CA9FFA60C57}"/>
              </a:ext>
            </a:extLst>
          </p:cNvPr>
          <p:cNvSpPr/>
          <p:nvPr/>
        </p:nvSpPr>
        <p:spPr>
          <a:xfrm>
            <a:off x="344486" y="3913288"/>
            <a:ext cx="1198366" cy="334800"/>
          </a:xfrm>
          <a:prstGeom prst="roundRect">
            <a:avLst/>
          </a:prstGeom>
          <a:pattFill prst="ltUpDiag">
            <a:fgClr>
              <a:srgbClr val="C4DCF2"/>
            </a:fgClr>
            <a:bgClr>
              <a:schemeClr val="bg1"/>
            </a:bgClr>
          </a:pattFill>
          <a:ln w="3175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단계별 실행 계획</a:t>
            </a:r>
            <a: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수립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(OCEAN-H)</a:t>
            </a: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1F309A36-2987-AFD4-0C85-F66A89BD60A0}"/>
              </a:ext>
            </a:extLst>
          </p:cNvPr>
          <p:cNvCxnSpPr>
            <a:cxnSpLocks/>
            <a:stCxn id="195" idx="2"/>
            <a:endCxn id="6" idx="0"/>
          </p:cNvCxnSpPr>
          <p:nvPr/>
        </p:nvCxnSpPr>
        <p:spPr>
          <a:xfrm flipH="1">
            <a:off x="943669" y="3805589"/>
            <a:ext cx="2410" cy="107699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138FE06E-13FC-2147-4E55-90EBF772048D}"/>
              </a:ext>
            </a:extLst>
          </p:cNvPr>
          <p:cNvSpPr/>
          <p:nvPr/>
        </p:nvSpPr>
        <p:spPr>
          <a:xfrm>
            <a:off x="2995698" y="3913288"/>
            <a:ext cx="2521563" cy="334800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규제기관 점검 준비 및 자료 제출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(AI Agent)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42C094D1-4B15-B958-C22D-B27C7B1FC762}"/>
              </a:ext>
            </a:extLst>
          </p:cNvPr>
          <p:cNvSpPr/>
          <p:nvPr/>
        </p:nvSpPr>
        <p:spPr>
          <a:xfrm>
            <a:off x="6965287" y="3913288"/>
            <a:ext cx="2519153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기술적 설명 및 자료 제출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D9CFB63C-758A-E26F-49EE-FBDC32A7FA2D}"/>
              </a:ext>
            </a:extLst>
          </p:cNvPr>
          <p:cNvSpPr/>
          <p:nvPr/>
        </p:nvSpPr>
        <p:spPr>
          <a:xfrm>
            <a:off x="6964853" y="4340702"/>
            <a:ext cx="2519153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개선 계획 수립 및 이행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0C64BC27-65F9-1BDB-477E-6F31F3FC57AB}"/>
              </a:ext>
            </a:extLst>
          </p:cNvPr>
          <p:cNvCxnSpPr>
            <a:cxnSpLocks/>
            <a:stCxn id="28" idx="2"/>
            <a:endCxn id="34" idx="0"/>
          </p:cNvCxnSpPr>
          <p:nvPr/>
        </p:nvCxnSpPr>
        <p:spPr>
          <a:xfrm flipH="1">
            <a:off x="8224430" y="4248088"/>
            <a:ext cx="434" cy="9261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7C0E2B5C-3594-C161-8234-A67C8967EB67}"/>
              </a:ext>
            </a:extLst>
          </p:cNvPr>
          <p:cNvSpPr/>
          <p:nvPr/>
        </p:nvSpPr>
        <p:spPr>
          <a:xfrm>
            <a:off x="5637272" y="3913288"/>
            <a:ext cx="1203185" cy="334800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실적 데이터 입력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(AI Agent)</a:t>
            </a:r>
          </a:p>
        </p:txBody>
      </p: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4C0835F5-6C11-7A2F-EA06-B1DF4D2FC403}"/>
              </a:ext>
            </a:extLst>
          </p:cNvPr>
          <p:cNvCxnSpPr>
            <a:cxnSpLocks/>
            <a:stCxn id="38" idx="2"/>
            <a:endCxn id="54" idx="0"/>
          </p:cNvCxnSpPr>
          <p:nvPr/>
        </p:nvCxnSpPr>
        <p:spPr>
          <a:xfrm>
            <a:off x="6238865" y="3805589"/>
            <a:ext cx="0" cy="107699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TextBox 134">
            <a:extLst>
              <a:ext uri="{FF2B5EF4-FFF2-40B4-BE49-F238E27FC236}">
                <a16:creationId xmlns:a16="http://schemas.microsoft.com/office/drawing/2014/main" id="{3DE6337A-92A2-C9F7-7D1A-2CB880AFDF90}"/>
              </a:ext>
            </a:extLst>
          </p:cNvPr>
          <p:cNvSpPr txBox="1"/>
          <p:nvPr/>
        </p:nvSpPr>
        <p:spPr>
          <a:xfrm>
            <a:off x="1598736" y="3131089"/>
            <a:ext cx="147532" cy="147532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9389EA3C-D5C9-9246-551F-7F06E5C9E753}"/>
              </a:ext>
            </a:extLst>
          </p:cNvPr>
          <p:cNvSpPr txBox="1"/>
          <p:nvPr/>
        </p:nvSpPr>
        <p:spPr>
          <a:xfrm>
            <a:off x="1598736" y="3559563"/>
            <a:ext cx="147532" cy="147532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135A8072-3111-96C2-BAF3-A0363C8CEEB5}"/>
              </a:ext>
            </a:extLst>
          </p:cNvPr>
          <p:cNvSpPr txBox="1"/>
          <p:nvPr/>
        </p:nvSpPr>
        <p:spPr>
          <a:xfrm>
            <a:off x="673770" y="5627826"/>
            <a:ext cx="3936732" cy="494500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72000" rIns="36000" rtlCol="0" anchor="ctr">
            <a:noAutofit/>
          </a:bodyPr>
          <a:lstStyle/>
          <a:p>
            <a:pPr marL="72000" indent="-72000">
              <a:buFont typeface="Arial" panose="020B0604020202020204" pitchFamily="34" charset="0"/>
              <a:buChar char="•"/>
            </a:pPr>
            <a:r>
              <a:rPr lang="ko-KR" altLang="en-US" sz="1000" spc="-5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유관 시스템</a:t>
            </a:r>
            <a:r>
              <a:rPr lang="en-US" altLang="ko-KR" sz="1000" spc="-5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</a:t>
            </a:r>
            <a:r>
              <a:rPr lang="ko-KR" altLang="en-US" sz="1000" spc="-5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문서 </a:t>
            </a:r>
            <a:r>
              <a:rPr lang="en-US" altLang="ko-KR" sz="1000" spc="-5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Data</a:t>
            </a:r>
            <a:r>
              <a:rPr lang="ko-KR" altLang="en-US" sz="1000" spc="-5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수작업 취합</a:t>
            </a:r>
            <a:r>
              <a:rPr lang="en-US" altLang="ko-KR" sz="1000" spc="-5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/Update</a:t>
            </a:r>
            <a:r>
              <a:rPr lang="ko-KR" altLang="en-US" sz="1000" spc="-5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→ 안전 운영 요소</a:t>
            </a:r>
            <a:r>
              <a:rPr lang="en-US" altLang="ko-KR" sz="1000" spc="-5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1000" spc="-5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별 변경 정보 자동 추출</a:t>
            </a:r>
            <a:r>
              <a:rPr lang="en-US" altLang="ko-KR" sz="1000" spc="-5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/Update</a:t>
            </a:r>
          </a:p>
          <a:p>
            <a:pPr marL="72000" indent="-72000">
              <a:buFont typeface="Arial" panose="020B0604020202020204" pitchFamily="34" charset="0"/>
              <a:buChar char="•"/>
            </a:pPr>
            <a:r>
              <a:rPr lang="ko-KR" altLang="en-US" sz="1000" spc="-5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감사 수검 내용 간 개별 비교 → 이전 감사 수검 자료 대비 변경 내역 자동 검토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9228AFD1-99A2-EE35-4565-0990D4E2C5BE}"/>
              </a:ext>
            </a:extLst>
          </p:cNvPr>
          <p:cNvSpPr txBox="1"/>
          <p:nvPr/>
        </p:nvSpPr>
        <p:spPr>
          <a:xfrm>
            <a:off x="7489234" y="5627825"/>
            <a:ext cx="2072281" cy="494500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72000" rIns="36000" rtlCol="0" anchor="ctr">
            <a:noAutofit/>
          </a:bodyPr>
          <a:lstStyle/>
          <a:p>
            <a:r>
              <a:rPr lang="en-US" altLang="ko-KR" sz="1000" spc="-5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N/A</a:t>
            </a:r>
            <a:endParaRPr lang="ko-KR" altLang="en-US" sz="1000" spc="-5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2553F42C-158D-47FE-F9A9-12EA96C9B03E}"/>
              </a:ext>
            </a:extLst>
          </p:cNvPr>
          <p:cNvSpPr txBox="1"/>
          <p:nvPr/>
        </p:nvSpPr>
        <p:spPr>
          <a:xfrm>
            <a:off x="4710767" y="5627824"/>
            <a:ext cx="2678203" cy="494501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72000" rIns="36000" rtlCol="0" anchor="ctr">
            <a:noAutofit/>
          </a:bodyPr>
          <a:lstStyle/>
          <a:p>
            <a:r>
              <a:rPr lang="ko-KR" altLang="en-US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안전운영 </a:t>
            </a:r>
            <a:r>
              <a:rPr lang="en-US" altLang="ko-KR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Data </a:t>
            </a:r>
            <a:r>
              <a:rPr lang="ko-KR" altLang="en-US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현행화 및</a:t>
            </a:r>
            <a:endParaRPr lang="en-US" altLang="ko-KR" sz="100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변경관리 지원 </a:t>
            </a:r>
            <a:r>
              <a:rPr lang="en-US" altLang="ko-KR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AI(SHE)</a:t>
            </a:r>
            <a:endParaRPr lang="ko-KR" altLang="en-US" sz="100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42" name="사각형: 둥근 모서리 141">
            <a:extLst>
              <a:ext uri="{FF2B5EF4-FFF2-40B4-BE49-F238E27FC236}">
                <a16:creationId xmlns:a16="http://schemas.microsoft.com/office/drawing/2014/main" id="{803E4FEB-5C58-B101-F642-D7F2F9DA5BB2}"/>
              </a:ext>
            </a:extLst>
          </p:cNvPr>
          <p:cNvSpPr/>
          <p:nvPr/>
        </p:nvSpPr>
        <p:spPr>
          <a:xfrm>
            <a:off x="6954839" y="5791374"/>
            <a:ext cx="386006" cy="167400"/>
          </a:xfrm>
          <a:prstGeom prst="roundRect">
            <a:avLst>
              <a:gd name="adj" fmla="val 18018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noFill/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지능화</a:t>
            </a:r>
            <a:endParaRPr kumimoji="1" lang="en-US" altLang="ko-KR" sz="900" ker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4FAEE8F5-5D24-89DA-24BB-C9C3B8021F4A}"/>
              </a:ext>
            </a:extLst>
          </p:cNvPr>
          <p:cNvSpPr txBox="1"/>
          <p:nvPr/>
        </p:nvSpPr>
        <p:spPr>
          <a:xfrm>
            <a:off x="2926752" y="4006922"/>
            <a:ext cx="147532" cy="147532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27F26722-5C0D-FC1B-7251-EC3C43355D14}"/>
              </a:ext>
            </a:extLst>
          </p:cNvPr>
          <p:cNvSpPr txBox="1"/>
          <p:nvPr/>
        </p:nvSpPr>
        <p:spPr>
          <a:xfrm>
            <a:off x="5563508" y="3131089"/>
            <a:ext cx="147532" cy="147532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3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C0600386-F771-E20A-D5B9-98D051AFBAC5}"/>
              </a:ext>
            </a:extLst>
          </p:cNvPr>
          <p:cNvSpPr txBox="1"/>
          <p:nvPr/>
        </p:nvSpPr>
        <p:spPr>
          <a:xfrm>
            <a:off x="5563508" y="3564035"/>
            <a:ext cx="147532" cy="147532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3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47209ECC-9998-F681-9208-BED78C099430}"/>
              </a:ext>
            </a:extLst>
          </p:cNvPr>
          <p:cNvSpPr txBox="1"/>
          <p:nvPr/>
        </p:nvSpPr>
        <p:spPr>
          <a:xfrm>
            <a:off x="5563508" y="4006922"/>
            <a:ext cx="147532" cy="147532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3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3E53CA50-C85E-DA1D-29E5-72EC6670CECB}"/>
              </a:ext>
            </a:extLst>
          </p:cNvPr>
          <p:cNvSpPr txBox="1"/>
          <p:nvPr/>
        </p:nvSpPr>
        <p:spPr>
          <a:xfrm>
            <a:off x="6891333" y="3132755"/>
            <a:ext cx="147532" cy="147532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3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ED67B3F2-2501-9CF2-30D7-774A0056766F}"/>
              </a:ext>
            </a:extLst>
          </p:cNvPr>
          <p:cNvSpPr txBox="1"/>
          <p:nvPr/>
        </p:nvSpPr>
        <p:spPr>
          <a:xfrm>
            <a:off x="6891333" y="3564035"/>
            <a:ext cx="147532" cy="147532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3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51F7B1E2-EFC0-CC7D-2918-DC2F0BFA281B}"/>
              </a:ext>
            </a:extLst>
          </p:cNvPr>
          <p:cNvSpPr txBox="1"/>
          <p:nvPr/>
        </p:nvSpPr>
        <p:spPr>
          <a:xfrm>
            <a:off x="8215930" y="3132755"/>
            <a:ext cx="147532" cy="147532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3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22" name="연결선: 꺾임 21">
            <a:extLst>
              <a:ext uri="{FF2B5EF4-FFF2-40B4-BE49-F238E27FC236}">
                <a16:creationId xmlns:a16="http://schemas.microsoft.com/office/drawing/2014/main" id="{F6EE88D6-5533-7F22-ACC0-6A0378E383F9}"/>
              </a:ext>
            </a:extLst>
          </p:cNvPr>
          <p:cNvCxnSpPr>
            <a:cxnSpLocks/>
            <a:stCxn id="17" idx="2"/>
            <a:endCxn id="14" idx="0"/>
          </p:cNvCxnSpPr>
          <p:nvPr/>
        </p:nvCxnSpPr>
        <p:spPr>
          <a:xfrm rot="16200000" flipH="1">
            <a:off x="3870627" y="3527434"/>
            <a:ext cx="107699" cy="664007"/>
          </a:xfrm>
          <a:prstGeom prst="bentConnector3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32A74500-343A-E211-DD2A-8E7F0A7DC44D}"/>
              </a:ext>
            </a:extLst>
          </p:cNvPr>
          <p:cNvCxnSpPr>
            <a:cxnSpLocks/>
            <a:stCxn id="33" idx="2"/>
            <a:endCxn id="14" idx="0"/>
          </p:cNvCxnSpPr>
          <p:nvPr/>
        </p:nvCxnSpPr>
        <p:spPr>
          <a:xfrm rot="5400000">
            <a:off x="4532226" y="3529843"/>
            <a:ext cx="107699" cy="659190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연결선: 꺾임 41">
            <a:extLst>
              <a:ext uri="{FF2B5EF4-FFF2-40B4-BE49-F238E27FC236}">
                <a16:creationId xmlns:a16="http://schemas.microsoft.com/office/drawing/2014/main" id="{54482C55-8E3C-D85A-D243-44973CF3B19F}"/>
              </a:ext>
            </a:extLst>
          </p:cNvPr>
          <p:cNvCxnSpPr>
            <a:cxnSpLocks/>
            <a:stCxn id="6" idx="3"/>
            <a:endCxn id="197" idx="1"/>
          </p:cNvCxnSpPr>
          <p:nvPr/>
        </p:nvCxnSpPr>
        <p:spPr>
          <a:xfrm flipV="1">
            <a:off x="1542852" y="2771521"/>
            <a:ext cx="124831" cy="1309167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연결선: 꺾임 48">
            <a:extLst>
              <a:ext uri="{FF2B5EF4-FFF2-40B4-BE49-F238E27FC236}">
                <a16:creationId xmlns:a16="http://schemas.microsoft.com/office/drawing/2014/main" id="{67F3776F-434E-1019-8C41-D6BF3B74A279}"/>
              </a:ext>
            </a:extLst>
          </p:cNvPr>
          <p:cNvCxnSpPr>
            <a:cxnSpLocks/>
            <a:stCxn id="7" idx="3"/>
            <a:endCxn id="202" idx="1"/>
          </p:cNvCxnSpPr>
          <p:nvPr/>
        </p:nvCxnSpPr>
        <p:spPr>
          <a:xfrm flipV="1">
            <a:off x="2870868" y="2771521"/>
            <a:ext cx="120012" cy="1309167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연결선: 꺾임 52">
            <a:extLst>
              <a:ext uri="{FF2B5EF4-FFF2-40B4-BE49-F238E27FC236}">
                <a16:creationId xmlns:a16="http://schemas.microsoft.com/office/drawing/2014/main" id="{24A0C559-AB69-ACED-06EE-A36E5FF87F47}"/>
              </a:ext>
            </a:extLst>
          </p:cNvPr>
          <p:cNvCxnSpPr>
            <a:cxnSpLocks/>
            <a:stCxn id="54" idx="3"/>
            <a:endCxn id="44" idx="1"/>
          </p:cNvCxnSpPr>
          <p:nvPr/>
        </p:nvCxnSpPr>
        <p:spPr>
          <a:xfrm flipV="1">
            <a:off x="6840457" y="2771521"/>
            <a:ext cx="120013" cy="1309167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직선 화살표 연결선 177">
            <a:extLst>
              <a:ext uri="{FF2B5EF4-FFF2-40B4-BE49-F238E27FC236}">
                <a16:creationId xmlns:a16="http://schemas.microsoft.com/office/drawing/2014/main" id="{42E84E7A-4F92-09E8-8D3D-A6BFA2D82DF6}"/>
              </a:ext>
            </a:extLst>
          </p:cNvPr>
          <p:cNvCxnSpPr>
            <a:cxnSpLocks/>
            <a:stCxn id="41" idx="2"/>
            <a:endCxn id="28" idx="0"/>
          </p:cNvCxnSpPr>
          <p:nvPr/>
        </p:nvCxnSpPr>
        <p:spPr>
          <a:xfrm>
            <a:off x="8220046" y="3805589"/>
            <a:ext cx="4818" cy="107699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연결선: 꺾임 182">
            <a:extLst>
              <a:ext uri="{FF2B5EF4-FFF2-40B4-BE49-F238E27FC236}">
                <a16:creationId xmlns:a16="http://schemas.microsoft.com/office/drawing/2014/main" id="{CF55E841-844A-CF20-6E7E-30E6D5151D04}"/>
              </a:ext>
            </a:extLst>
          </p:cNvPr>
          <p:cNvCxnSpPr>
            <a:cxnSpLocks/>
            <a:stCxn id="216" idx="2"/>
            <a:endCxn id="41" idx="0"/>
          </p:cNvCxnSpPr>
          <p:nvPr/>
        </p:nvCxnSpPr>
        <p:spPr>
          <a:xfrm rot="5400000">
            <a:off x="8503386" y="3088916"/>
            <a:ext cx="98534" cy="665213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연결선: 꺾임 200">
            <a:extLst>
              <a:ext uri="{FF2B5EF4-FFF2-40B4-BE49-F238E27FC236}">
                <a16:creationId xmlns:a16="http://schemas.microsoft.com/office/drawing/2014/main" id="{5FD4EFDF-0382-5E07-C75E-ADA2827EA64B}"/>
              </a:ext>
            </a:extLst>
          </p:cNvPr>
          <p:cNvCxnSpPr>
            <a:cxnSpLocks/>
            <a:stCxn id="45" idx="2"/>
            <a:endCxn id="41" idx="0"/>
          </p:cNvCxnSpPr>
          <p:nvPr/>
        </p:nvCxnSpPr>
        <p:spPr>
          <a:xfrm rot="16200000" flipH="1">
            <a:off x="7841787" y="3092530"/>
            <a:ext cx="98534" cy="657984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33552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D3462-0714-2442-F0B0-693FEB86F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AF9DE8B-A2D5-B78C-B49F-302A4B7A357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4487" y="254884"/>
            <a:ext cx="4517583" cy="343235"/>
          </a:xfrm>
          <a:solidFill>
            <a:schemeClr val="bg1"/>
          </a:solidFill>
        </p:spPr>
        <p:txBody>
          <a:bodyPr wrap="none" anchor="ctr">
            <a:spAutoFit/>
          </a:bodyPr>
          <a:lstStyle/>
          <a:p>
            <a:r>
              <a:rPr lang="en-US" altLang="ko-KR" b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Appendix. [</a:t>
            </a:r>
            <a:r>
              <a:rPr lang="ko-KR" altLang="en-US" b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생산기술</a:t>
            </a:r>
            <a:r>
              <a:rPr lang="en-US" altLang="ko-KR" b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] </a:t>
            </a:r>
            <a:r>
              <a:rPr lang="ko-KR" altLang="en-US" b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안전</a:t>
            </a:r>
            <a:r>
              <a:rPr lang="en-US" altLang="ko-KR" b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/</a:t>
            </a:r>
            <a:r>
              <a:rPr lang="ko-KR" altLang="en-US" b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환경 관리 </a:t>
            </a:r>
            <a:r>
              <a:rPr lang="en-US" altLang="ko-KR" b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(2/2)</a:t>
            </a:r>
          </a:p>
        </p:txBody>
      </p:sp>
      <p:sp>
        <p:nvSpPr>
          <p:cNvPr id="171" name="사각형: 둥근 모서리 170">
            <a:extLst>
              <a:ext uri="{FF2B5EF4-FFF2-40B4-BE49-F238E27FC236}">
                <a16:creationId xmlns:a16="http://schemas.microsoft.com/office/drawing/2014/main" id="{0C02EBF5-23FE-0B74-FCF6-0FAE09823143}"/>
              </a:ext>
            </a:extLst>
          </p:cNvPr>
          <p:cNvSpPr/>
          <p:nvPr/>
        </p:nvSpPr>
        <p:spPr>
          <a:xfrm>
            <a:off x="344488" y="721134"/>
            <a:ext cx="941772" cy="763179"/>
          </a:xfrm>
          <a:prstGeom prst="roundRect">
            <a:avLst>
              <a:gd name="adj" fmla="val 0"/>
            </a:avLst>
          </a:prstGeom>
          <a:solidFill>
            <a:srgbClr val="217CFA"/>
          </a:solidFill>
          <a:ln w="6350">
            <a:solidFill>
              <a:srgbClr val="217C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Digital</a:t>
            </a:r>
            <a:r>
              <a:rPr lang="ko-KR" altLang="en-US" sz="130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화 지향점</a:t>
            </a:r>
          </a:p>
        </p:txBody>
      </p: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FDD01A75-12A4-150D-A506-B7ABD7F92F48}"/>
              </a:ext>
            </a:extLst>
          </p:cNvPr>
          <p:cNvCxnSpPr>
            <a:cxnSpLocks/>
          </p:cNvCxnSpPr>
          <p:nvPr/>
        </p:nvCxnSpPr>
        <p:spPr>
          <a:xfrm>
            <a:off x="344488" y="4859066"/>
            <a:ext cx="9221614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" name="사각형: 둥근 모서리 173">
            <a:extLst>
              <a:ext uri="{FF2B5EF4-FFF2-40B4-BE49-F238E27FC236}">
                <a16:creationId xmlns:a16="http://schemas.microsoft.com/office/drawing/2014/main" id="{6CADD6FA-393E-8F3B-60F6-B4CA8396045C}"/>
              </a:ext>
            </a:extLst>
          </p:cNvPr>
          <p:cNvSpPr/>
          <p:nvPr/>
        </p:nvSpPr>
        <p:spPr>
          <a:xfrm>
            <a:off x="4031571" y="4731072"/>
            <a:ext cx="1847448" cy="25598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rgbClr val="217C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주요</a:t>
            </a:r>
            <a:r>
              <a:rPr lang="en-US" altLang="ko-KR" sz="1200">
                <a:solidFill>
                  <a:schemeClr val="tx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ko-KR" altLang="en-US" sz="1200">
                <a:solidFill>
                  <a:schemeClr val="tx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추진 사항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F6808DAA-7896-D597-0796-6994AF3AC19B}"/>
              </a:ext>
            </a:extLst>
          </p:cNvPr>
          <p:cNvSpPr txBox="1"/>
          <p:nvPr/>
        </p:nvSpPr>
        <p:spPr>
          <a:xfrm>
            <a:off x="673770" y="5073302"/>
            <a:ext cx="3936732" cy="200435"/>
          </a:xfrm>
          <a:prstGeom prst="rect">
            <a:avLst/>
          </a:prstGeom>
          <a:noFill/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ko-KR" altLang="en-US" sz="1100" u="sng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변화 </a:t>
            </a:r>
            <a:r>
              <a:rPr lang="en-US" altLang="ko-KR" sz="1100" u="sng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Point</a:t>
            </a:r>
            <a:endParaRPr lang="ko-KR" altLang="en-US" sz="1100" u="sng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3D378C8F-C3C3-514A-55CF-6AC081E122D0}"/>
              </a:ext>
            </a:extLst>
          </p:cNvPr>
          <p:cNvSpPr txBox="1"/>
          <p:nvPr/>
        </p:nvSpPr>
        <p:spPr>
          <a:xfrm>
            <a:off x="7489234" y="5073302"/>
            <a:ext cx="2072281" cy="200435"/>
          </a:xfrm>
          <a:prstGeom prst="rect">
            <a:avLst/>
          </a:prstGeom>
          <a:noFill/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ko-KR" altLang="en-US" sz="1100" u="sng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업무 개선 사항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EA3BF503-158E-136E-A569-D52D18B4EF19}"/>
              </a:ext>
            </a:extLst>
          </p:cNvPr>
          <p:cNvSpPr txBox="1"/>
          <p:nvPr/>
        </p:nvSpPr>
        <p:spPr>
          <a:xfrm>
            <a:off x="4710767" y="5073302"/>
            <a:ext cx="2678203" cy="200435"/>
          </a:xfrm>
          <a:prstGeom prst="rect">
            <a:avLst/>
          </a:prstGeom>
          <a:noFill/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100" u="sng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Digital</a:t>
            </a:r>
            <a:r>
              <a:rPr lang="ko-KR" altLang="en-US" sz="1100" u="sng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화 기회</a:t>
            </a:r>
          </a:p>
        </p:txBody>
      </p:sp>
      <p:sp>
        <p:nvSpPr>
          <p:cNvPr id="55" name="화살표: 오각형 54">
            <a:extLst>
              <a:ext uri="{FF2B5EF4-FFF2-40B4-BE49-F238E27FC236}">
                <a16:creationId xmlns:a16="http://schemas.microsoft.com/office/drawing/2014/main" id="{92D27501-39ED-1151-DF02-6D4AA5D3ACD6}"/>
              </a:ext>
            </a:extLst>
          </p:cNvPr>
          <p:cNvSpPr/>
          <p:nvPr/>
        </p:nvSpPr>
        <p:spPr>
          <a:xfrm>
            <a:off x="344486" y="1964218"/>
            <a:ext cx="5249525" cy="200898"/>
          </a:xfrm>
          <a:prstGeom prst="homePlate">
            <a:avLst>
              <a:gd name="adj" fmla="val 24867"/>
            </a:avLst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ko-KR" altLang="en-US" sz="1000" b="1">
                <a:latin typeface="나눔스퀘어" panose="020B0600000101010101" pitchFamily="50" charset="-127"/>
                <a:ea typeface="나눔스퀘어" panose="020B0600000101010101" pitchFamily="50" charset="-127"/>
              </a:rPr>
              <a:t>사고 조사 및 재발 방지 대책 수립</a:t>
            </a:r>
            <a:endParaRPr lang="en-US" altLang="ko-KR" sz="1000" b="1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3" name="화살표: 오각형 12">
            <a:extLst>
              <a:ext uri="{FF2B5EF4-FFF2-40B4-BE49-F238E27FC236}">
                <a16:creationId xmlns:a16="http://schemas.microsoft.com/office/drawing/2014/main" id="{55340AB8-7F1F-2259-AE68-427552990335}"/>
              </a:ext>
            </a:extLst>
          </p:cNvPr>
          <p:cNvSpPr/>
          <p:nvPr/>
        </p:nvSpPr>
        <p:spPr>
          <a:xfrm>
            <a:off x="5636509" y="1964218"/>
            <a:ext cx="3925004" cy="200898"/>
          </a:xfrm>
          <a:prstGeom prst="homePlate">
            <a:avLst>
              <a:gd name="adj" fmla="val 24867"/>
            </a:avLst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ko-KR" altLang="en-US" sz="1000" b="1">
                <a:latin typeface="나눔스퀘어" panose="020B0600000101010101" pitchFamily="50" charset="-127"/>
                <a:ea typeface="나눔스퀘어" panose="020B0600000101010101" pitchFamily="50" charset="-127"/>
              </a:rPr>
              <a:t>안전 및 환경 인허가 업무 지원</a:t>
            </a:r>
            <a:endParaRPr lang="en-US" altLang="ko-KR" sz="1000" b="1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92" name="사각형: 둥근 모서리 191">
            <a:extLst>
              <a:ext uri="{FF2B5EF4-FFF2-40B4-BE49-F238E27FC236}">
                <a16:creationId xmlns:a16="http://schemas.microsoft.com/office/drawing/2014/main" id="{B4CEEF26-AECC-987A-9324-54E51D809C5C}"/>
              </a:ext>
            </a:extLst>
          </p:cNvPr>
          <p:cNvSpPr/>
          <p:nvPr/>
        </p:nvSpPr>
        <p:spPr>
          <a:xfrm>
            <a:off x="344486" y="3037455"/>
            <a:ext cx="1203185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조사 범위 및 방법론</a:t>
            </a:r>
            <a:b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</a:b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설정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95" name="사각형: 둥근 모서리 194">
            <a:extLst>
              <a:ext uri="{FF2B5EF4-FFF2-40B4-BE49-F238E27FC236}">
                <a16:creationId xmlns:a16="http://schemas.microsoft.com/office/drawing/2014/main" id="{7DB7444C-AF38-AAB8-CDCD-A9C4A7B7AED5}"/>
              </a:ext>
            </a:extLst>
          </p:cNvPr>
          <p:cNvSpPr/>
          <p:nvPr/>
        </p:nvSpPr>
        <p:spPr>
          <a:xfrm>
            <a:off x="344486" y="3470789"/>
            <a:ext cx="1203185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필요 자원 확보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98" name="사각형: 둥근 모서리 197">
            <a:extLst>
              <a:ext uri="{FF2B5EF4-FFF2-40B4-BE49-F238E27FC236}">
                <a16:creationId xmlns:a16="http://schemas.microsoft.com/office/drawing/2014/main" id="{18B3B00F-2801-3847-A62C-CB0A6C9C55D5}"/>
              </a:ext>
            </a:extLst>
          </p:cNvPr>
          <p:cNvSpPr/>
          <p:nvPr/>
        </p:nvSpPr>
        <p:spPr>
          <a:xfrm>
            <a:off x="1667683" y="3037455"/>
            <a:ext cx="1203185" cy="334800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사고 경위 분석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(AI Agent)</a:t>
            </a:r>
          </a:p>
        </p:txBody>
      </p:sp>
      <p:sp>
        <p:nvSpPr>
          <p:cNvPr id="203" name="사각형: 둥근 모서리 202">
            <a:extLst>
              <a:ext uri="{FF2B5EF4-FFF2-40B4-BE49-F238E27FC236}">
                <a16:creationId xmlns:a16="http://schemas.microsoft.com/office/drawing/2014/main" id="{269C71D9-C129-4ABC-8640-FB347994B570}"/>
              </a:ext>
            </a:extLst>
          </p:cNvPr>
          <p:cNvSpPr/>
          <p:nvPr/>
        </p:nvSpPr>
        <p:spPr>
          <a:xfrm>
            <a:off x="2990880" y="3037455"/>
            <a:ext cx="1203185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설비 및 공정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보완</a:t>
            </a:r>
            <a: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방안 도출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08" name="사각형: 둥근 모서리 207">
            <a:extLst>
              <a:ext uri="{FF2B5EF4-FFF2-40B4-BE49-F238E27FC236}">
                <a16:creationId xmlns:a16="http://schemas.microsoft.com/office/drawing/2014/main" id="{92F4F9E4-563C-A1FE-86D5-DC174BD77360}"/>
              </a:ext>
            </a:extLst>
          </p:cNvPr>
          <p:cNvSpPr/>
          <p:nvPr/>
        </p:nvSpPr>
        <p:spPr>
          <a:xfrm>
            <a:off x="4314077" y="3037455"/>
            <a:ext cx="1203185" cy="334800"/>
          </a:xfrm>
          <a:prstGeom prst="roundRect">
            <a:avLst/>
          </a:prstGeom>
          <a:pattFill prst="ltUpDiag">
            <a:fgClr>
              <a:srgbClr val="C4DCF2"/>
            </a:fgClr>
            <a:bgClr>
              <a:schemeClr val="bg1"/>
            </a:bgClr>
          </a:pattFill>
          <a:ln w="3175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승인 절차 이행 및</a:t>
            </a:r>
            <a: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피드백 수렴</a:t>
            </a:r>
            <a: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(</a:t>
            </a: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사고관리시스템</a:t>
            </a:r>
            <a: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)</a:t>
            </a:r>
          </a:p>
        </p:txBody>
      </p:sp>
      <p:sp>
        <p:nvSpPr>
          <p:cNvPr id="216" name="사각형: 둥근 모서리 215">
            <a:extLst>
              <a:ext uri="{FF2B5EF4-FFF2-40B4-BE49-F238E27FC236}">
                <a16:creationId xmlns:a16="http://schemas.microsoft.com/office/drawing/2014/main" id="{15F3661B-7C05-DB05-D169-715D0838AC2E}"/>
              </a:ext>
            </a:extLst>
          </p:cNvPr>
          <p:cNvSpPr/>
          <p:nvPr/>
        </p:nvSpPr>
        <p:spPr>
          <a:xfrm>
            <a:off x="8283666" y="3037455"/>
            <a:ext cx="1203185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기술 브리핑 자료 준비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94" name="화살표: 오각형 193">
            <a:extLst>
              <a:ext uri="{FF2B5EF4-FFF2-40B4-BE49-F238E27FC236}">
                <a16:creationId xmlns:a16="http://schemas.microsoft.com/office/drawing/2014/main" id="{D7580037-8FAB-80F5-6F3C-6877EA2AFBCB}"/>
              </a:ext>
            </a:extLst>
          </p:cNvPr>
          <p:cNvSpPr/>
          <p:nvPr/>
        </p:nvSpPr>
        <p:spPr>
          <a:xfrm>
            <a:off x="344486" y="2194636"/>
            <a:ext cx="1280368" cy="347687"/>
          </a:xfrm>
          <a:prstGeom prst="homePlate">
            <a:avLst>
              <a:gd name="adj" fmla="val 24867"/>
            </a:avLst>
          </a:prstGeom>
          <a:solidFill>
            <a:schemeClr val="bg1">
              <a:lumMod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ko-KR" altLang="en-US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사고 조사 조직</a:t>
            </a:r>
            <a:r>
              <a:rPr lang="en-US" altLang="ko-KR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(TF) </a:t>
            </a:r>
            <a:r>
              <a:rPr lang="ko-KR" altLang="en-US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구성</a:t>
            </a:r>
          </a:p>
        </p:txBody>
      </p:sp>
      <p:sp>
        <p:nvSpPr>
          <p:cNvPr id="199" name="화살표: 오각형 198">
            <a:extLst>
              <a:ext uri="{FF2B5EF4-FFF2-40B4-BE49-F238E27FC236}">
                <a16:creationId xmlns:a16="http://schemas.microsoft.com/office/drawing/2014/main" id="{BF1AAA89-5DFF-1FF8-A04E-564999A37A2A}"/>
              </a:ext>
            </a:extLst>
          </p:cNvPr>
          <p:cNvSpPr/>
          <p:nvPr/>
        </p:nvSpPr>
        <p:spPr>
          <a:xfrm>
            <a:off x="2990498" y="2195472"/>
            <a:ext cx="1281129" cy="347687"/>
          </a:xfrm>
          <a:prstGeom prst="homePlate">
            <a:avLst>
              <a:gd name="adj" fmla="val 24867"/>
            </a:avLst>
          </a:prstGeom>
          <a:solidFill>
            <a:schemeClr val="bg1">
              <a:lumMod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ko-KR" altLang="en-US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재발 방지 대책 수립 및 이행 관리</a:t>
            </a:r>
          </a:p>
        </p:txBody>
      </p:sp>
      <p:sp>
        <p:nvSpPr>
          <p:cNvPr id="204" name="화살표: 오각형 203">
            <a:extLst>
              <a:ext uri="{FF2B5EF4-FFF2-40B4-BE49-F238E27FC236}">
                <a16:creationId xmlns:a16="http://schemas.microsoft.com/office/drawing/2014/main" id="{B7EE2FDE-F608-6EF7-2FCB-6346B64AC94A}"/>
              </a:ext>
            </a:extLst>
          </p:cNvPr>
          <p:cNvSpPr/>
          <p:nvPr/>
        </p:nvSpPr>
        <p:spPr>
          <a:xfrm>
            <a:off x="4312157" y="2196308"/>
            <a:ext cx="1281855" cy="347687"/>
          </a:xfrm>
          <a:prstGeom prst="homePlate">
            <a:avLst>
              <a:gd name="adj" fmla="val 24867"/>
            </a:avLst>
          </a:prstGeom>
          <a:solidFill>
            <a:schemeClr val="bg1">
              <a:lumMod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ko-KR" altLang="en-US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사고 조사 보고서</a:t>
            </a:r>
            <a:endParaRPr lang="en-US" altLang="ko-KR" sz="90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작성 및 사례 공유</a:t>
            </a:r>
          </a:p>
        </p:txBody>
      </p:sp>
      <p:sp>
        <p:nvSpPr>
          <p:cNvPr id="209" name="화살표: 오각형 208">
            <a:extLst>
              <a:ext uri="{FF2B5EF4-FFF2-40B4-BE49-F238E27FC236}">
                <a16:creationId xmlns:a16="http://schemas.microsoft.com/office/drawing/2014/main" id="{51F25562-DD67-BD90-594C-A69B91A95060}"/>
              </a:ext>
            </a:extLst>
          </p:cNvPr>
          <p:cNvSpPr/>
          <p:nvPr/>
        </p:nvSpPr>
        <p:spPr>
          <a:xfrm>
            <a:off x="5637273" y="2197144"/>
            <a:ext cx="1280368" cy="347687"/>
          </a:xfrm>
          <a:prstGeom prst="homePlate">
            <a:avLst>
              <a:gd name="adj" fmla="val 24867"/>
            </a:avLst>
          </a:prstGeom>
          <a:solidFill>
            <a:schemeClr val="bg1">
              <a:lumMod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ko-KR" altLang="en-US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인허가 기초 자료</a:t>
            </a:r>
            <a:r>
              <a:rPr lang="en-US" altLang="ko-KR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작성</a:t>
            </a:r>
            <a:endParaRPr lang="en-US" altLang="ko-KR" sz="90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및 신청</a:t>
            </a:r>
            <a:r>
              <a:rPr lang="en-US" altLang="ko-KR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</a:t>
            </a:r>
            <a:r>
              <a:rPr lang="ko-KR" altLang="en-US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갱신 의뢰</a:t>
            </a:r>
          </a:p>
        </p:txBody>
      </p:sp>
      <p:sp>
        <p:nvSpPr>
          <p:cNvPr id="37" name="화살표: 오각형 36">
            <a:extLst>
              <a:ext uri="{FF2B5EF4-FFF2-40B4-BE49-F238E27FC236}">
                <a16:creationId xmlns:a16="http://schemas.microsoft.com/office/drawing/2014/main" id="{1A7F349B-8613-EDAD-8C82-166DA29920EA}"/>
              </a:ext>
            </a:extLst>
          </p:cNvPr>
          <p:cNvSpPr/>
          <p:nvPr/>
        </p:nvSpPr>
        <p:spPr>
          <a:xfrm>
            <a:off x="8279658" y="2207437"/>
            <a:ext cx="1281855" cy="347687"/>
          </a:xfrm>
          <a:prstGeom prst="homePlate">
            <a:avLst>
              <a:gd name="adj" fmla="val 24867"/>
            </a:avLst>
          </a:prstGeom>
          <a:solidFill>
            <a:schemeClr val="bg1">
              <a:lumMod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ko-KR" altLang="en-US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인허가 기관 실사 대응</a:t>
            </a:r>
            <a:endParaRPr lang="en-US" altLang="ko-KR" sz="90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및 후속 조치 이행</a:t>
            </a:r>
          </a:p>
        </p:txBody>
      </p:sp>
      <p:sp>
        <p:nvSpPr>
          <p:cNvPr id="191" name="사각형: 둥근 모서리 190">
            <a:extLst>
              <a:ext uri="{FF2B5EF4-FFF2-40B4-BE49-F238E27FC236}">
                <a16:creationId xmlns:a16="http://schemas.microsoft.com/office/drawing/2014/main" id="{C0BEA911-1DDA-EE7D-1936-D43DE66C4813}"/>
              </a:ext>
            </a:extLst>
          </p:cNvPr>
          <p:cNvSpPr/>
          <p:nvPr/>
        </p:nvSpPr>
        <p:spPr>
          <a:xfrm>
            <a:off x="344486" y="2604121"/>
            <a:ext cx="1203802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TF </a:t>
            </a: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구성원 선정 및</a:t>
            </a:r>
            <a:b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</a:b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역할 분담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97" name="사각형: 둥근 모서리 196">
            <a:extLst>
              <a:ext uri="{FF2B5EF4-FFF2-40B4-BE49-F238E27FC236}">
                <a16:creationId xmlns:a16="http://schemas.microsoft.com/office/drawing/2014/main" id="{64E147FA-CE0A-C575-677D-F58DE2BE9BCA}"/>
              </a:ext>
            </a:extLst>
          </p:cNvPr>
          <p:cNvSpPr/>
          <p:nvPr/>
        </p:nvSpPr>
        <p:spPr>
          <a:xfrm>
            <a:off x="1667683" y="2604121"/>
            <a:ext cx="1203802" cy="334800"/>
          </a:xfrm>
          <a:prstGeom prst="roundRect">
            <a:avLst/>
          </a:prstGeom>
          <a:pattFill prst="ltUpDiag">
            <a:fgClr>
              <a:srgbClr val="C4DCF2"/>
            </a:fgClr>
            <a:bgClr>
              <a:schemeClr val="bg1"/>
            </a:bgClr>
          </a:pattFill>
          <a:ln w="3175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현장 정보 및 운전</a:t>
            </a:r>
            <a:b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</a:b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데이터 수집</a:t>
            </a:r>
            <a: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(PMS)</a:t>
            </a:r>
          </a:p>
        </p:txBody>
      </p:sp>
      <p:sp>
        <p:nvSpPr>
          <p:cNvPr id="202" name="사각형: 둥근 모서리 201">
            <a:extLst>
              <a:ext uri="{FF2B5EF4-FFF2-40B4-BE49-F238E27FC236}">
                <a16:creationId xmlns:a16="http://schemas.microsoft.com/office/drawing/2014/main" id="{1BAE48B2-4197-54D7-2E0B-BDE00FAD3E4C}"/>
              </a:ext>
            </a:extLst>
          </p:cNvPr>
          <p:cNvSpPr/>
          <p:nvPr/>
        </p:nvSpPr>
        <p:spPr>
          <a:xfrm>
            <a:off x="2990880" y="2604121"/>
            <a:ext cx="1203802" cy="334800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재발 방지 대책 수립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(AI Agent)</a:t>
            </a:r>
          </a:p>
        </p:txBody>
      </p:sp>
      <p:sp>
        <p:nvSpPr>
          <p:cNvPr id="207" name="사각형: 둥근 모서리 206">
            <a:extLst>
              <a:ext uri="{FF2B5EF4-FFF2-40B4-BE49-F238E27FC236}">
                <a16:creationId xmlns:a16="http://schemas.microsoft.com/office/drawing/2014/main" id="{487723A7-F8D2-59A0-1C5C-B1E5EA44EA70}"/>
              </a:ext>
            </a:extLst>
          </p:cNvPr>
          <p:cNvSpPr/>
          <p:nvPr/>
        </p:nvSpPr>
        <p:spPr>
          <a:xfrm>
            <a:off x="4314077" y="2604121"/>
            <a:ext cx="1203802" cy="334800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사고 보고서 초안 작성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(AI Agent)</a:t>
            </a:r>
          </a:p>
        </p:txBody>
      </p:sp>
      <p:sp>
        <p:nvSpPr>
          <p:cNvPr id="215" name="사각형: 둥근 모서리 214">
            <a:extLst>
              <a:ext uri="{FF2B5EF4-FFF2-40B4-BE49-F238E27FC236}">
                <a16:creationId xmlns:a16="http://schemas.microsoft.com/office/drawing/2014/main" id="{2C3795A5-E2C7-79B4-328F-00EFE270F825}"/>
              </a:ext>
            </a:extLst>
          </p:cNvPr>
          <p:cNvSpPr/>
          <p:nvPr/>
        </p:nvSpPr>
        <p:spPr>
          <a:xfrm>
            <a:off x="8283666" y="2604121"/>
            <a:ext cx="1203802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실사 대상 사전 점검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6A8C873B-09B8-91CF-B310-A905A31E0AE6}"/>
              </a:ext>
            </a:extLst>
          </p:cNvPr>
          <p:cNvSpPr/>
          <p:nvPr/>
        </p:nvSpPr>
        <p:spPr>
          <a:xfrm>
            <a:off x="6960470" y="2604121"/>
            <a:ext cx="1203802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기술 이슈 분석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D541C777-76FD-7F93-6F0C-076403BAE7AB}"/>
              </a:ext>
            </a:extLst>
          </p:cNvPr>
          <p:cNvSpPr/>
          <p:nvPr/>
        </p:nvSpPr>
        <p:spPr>
          <a:xfrm>
            <a:off x="6960469" y="3037455"/>
            <a:ext cx="1203185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이슈별 대응 방안 도출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37620FEE-A4D8-62D1-9CB8-4FB341BC088B}"/>
              </a:ext>
            </a:extLst>
          </p:cNvPr>
          <p:cNvCxnSpPr>
            <a:cxnSpLocks/>
          </p:cNvCxnSpPr>
          <p:nvPr/>
        </p:nvCxnSpPr>
        <p:spPr>
          <a:xfrm>
            <a:off x="344488" y="1768835"/>
            <a:ext cx="9221614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ECF7415A-E24A-A243-0E07-296FAD4FB928}"/>
              </a:ext>
            </a:extLst>
          </p:cNvPr>
          <p:cNvSpPr/>
          <p:nvPr/>
        </p:nvSpPr>
        <p:spPr>
          <a:xfrm>
            <a:off x="4031571" y="1640841"/>
            <a:ext cx="1847448" cy="25598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rgbClr val="217C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To-Be </a:t>
            </a:r>
            <a:r>
              <a:rPr lang="ko-KR" altLang="en-US" sz="1200">
                <a:solidFill>
                  <a:schemeClr val="tx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업무 시나리오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E45CC1A-B2F6-3AD9-4C94-D5B4900BE26F}"/>
              </a:ext>
            </a:extLst>
          </p:cNvPr>
          <p:cNvSpPr/>
          <p:nvPr/>
        </p:nvSpPr>
        <p:spPr>
          <a:xfrm>
            <a:off x="344490" y="1547834"/>
            <a:ext cx="570257" cy="171734"/>
          </a:xfrm>
          <a:prstGeom prst="rect">
            <a:avLst/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1000" b="1">
                <a:latin typeface="나눔스퀘어" panose="020B0600000101010101" pitchFamily="50" charset="-127"/>
                <a:ea typeface="나눔스퀘어" panose="020B0600000101010101" pitchFamily="50" charset="-127"/>
              </a:rPr>
              <a:t>Process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8949603-F7E1-CA22-2D3E-5A6EA428A698}"/>
              </a:ext>
            </a:extLst>
          </p:cNvPr>
          <p:cNvSpPr/>
          <p:nvPr/>
        </p:nvSpPr>
        <p:spPr>
          <a:xfrm>
            <a:off x="955677" y="1547834"/>
            <a:ext cx="570257" cy="171734"/>
          </a:xfrm>
          <a:prstGeom prst="rect">
            <a:avLst/>
          </a:prstGeom>
          <a:solidFill>
            <a:schemeClr val="bg1">
              <a:lumMod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Activity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50309AA2-378F-1EB5-EFBD-04293EB55915}"/>
              </a:ext>
            </a:extLst>
          </p:cNvPr>
          <p:cNvSpPr/>
          <p:nvPr/>
        </p:nvSpPr>
        <p:spPr>
          <a:xfrm>
            <a:off x="8926185" y="1553252"/>
            <a:ext cx="635326" cy="160797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solidFill>
                  <a:schemeClr val="bg1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삭제 업무</a:t>
            </a:r>
            <a:endParaRPr kumimoji="1" lang="en-US" altLang="ko-KR" sz="900" kern="0">
              <a:solidFill>
                <a:schemeClr val="bg1">
                  <a:lumMod val="7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2EB3CA18-A59B-8350-B6FC-19E6C34FE1A0}"/>
              </a:ext>
            </a:extLst>
          </p:cNvPr>
          <p:cNvSpPr/>
          <p:nvPr/>
        </p:nvSpPr>
        <p:spPr>
          <a:xfrm>
            <a:off x="7552890" y="1553252"/>
            <a:ext cx="635326" cy="160797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AI/DT </a:t>
            </a: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신규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9E94E4B3-E83A-93FC-5D2A-4FB083BA88A4}"/>
              </a:ext>
            </a:extLst>
          </p:cNvPr>
          <p:cNvSpPr/>
          <p:nvPr/>
        </p:nvSpPr>
        <p:spPr>
          <a:xfrm>
            <a:off x="8239537" y="1553252"/>
            <a:ext cx="635326" cy="160797"/>
          </a:xfrm>
          <a:prstGeom prst="roundRect">
            <a:avLst/>
          </a:prstGeom>
          <a:pattFill prst="ltUpDiag">
            <a:fgClr>
              <a:srgbClr val="C4DCF2"/>
            </a:fgClr>
            <a:bgClr>
              <a:schemeClr val="bg1"/>
            </a:bgClr>
          </a:pattFill>
          <a:ln w="3175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Digital </a:t>
            </a: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기존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72FC9E20-9685-1B70-8158-21F453175B0F}"/>
              </a:ext>
            </a:extLst>
          </p:cNvPr>
          <p:cNvSpPr/>
          <p:nvPr/>
        </p:nvSpPr>
        <p:spPr>
          <a:xfrm>
            <a:off x="1667683" y="3470789"/>
            <a:ext cx="1203185" cy="334800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발생 근본 원인 파악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(AI Agent)</a:t>
            </a:r>
          </a:p>
        </p:txBody>
      </p:sp>
      <p:sp>
        <p:nvSpPr>
          <p:cNvPr id="2" name="화살표: 오각형 1">
            <a:extLst>
              <a:ext uri="{FF2B5EF4-FFF2-40B4-BE49-F238E27FC236}">
                <a16:creationId xmlns:a16="http://schemas.microsoft.com/office/drawing/2014/main" id="{B0B124BF-1014-FE1A-2FCB-AADCC492770D}"/>
              </a:ext>
            </a:extLst>
          </p:cNvPr>
          <p:cNvSpPr/>
          <p:nvPr/>
        </p:nvSpPr>
        <p:spPr>
          <a:xfrm>
            <a:off x="1662917" y="2194636"/>
            <a:ext cx="1280368" cy="347687"/>
          </a:xfrm>
          <a:prstGeom prst="homePlate">
            <a:avLst>
              <a:gd name="adj" fmla="val 24867"/>
            </a:avLst>
          </a:prstGeom>
          <a:solidFill>
            <a:schemeClr val="bg1">
              <a:lumMod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사고 분석 및</a:t>
            </a:r>
            <a:endParaRPr lang="en-US" altLang="ko-KR" sz="90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근본 원인 파악</a:t>
            </a:r>
          </a:p>
        </p:txBody>
      </p:sp>
      <p:sp>
        <p:nvSpPr>
          <p:cNvPr id="4" name="화살표: 오각형 3">
            <a:extLst>
              <a:ext uri="{FF2B5EF4-FFF2-40B4-BE49-F238E27FC236}">
                <a16:creationId xmlns:a16="http://schemas.microsoft.com/office/drawing/2014/main" id="{1ACC4C41-37E7-DD2D-19C0-47888219B318}"/>
              </a:ext>
            </a:extLst>
          </p:cNvPr>
          <p:cNvSpPr/>
          <p:nvPr/>
        </p:nvSpPr>
        <p:spPr>
          <a:xfrm>
            <a:off x="6959169" y="2197144"/>
            <a:ext cx="1280368" cy="347687"/>
          </a:xfrm>
          <a:prstGeom prst="homePlate">
            <a:avLst>
              <a:gd name="adj" fmla="val 24867"/>
            </a:avLst>
          </a:prstGeom>
          <a:solidFill>
            <a:schemeClr val="bg1">
              <a:lumMod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ko-KR" altLang="en-US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인허가 과정</a:t>
            </a:r>
            <a:endParaRPr lang="en-US" altLang="ko-KR" sz="90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기술 이슈 대응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B2F9F2B-B8BC-ACC0-28C3-2DDF97E39C79}"/>
              </a:ext>
            </a:extLst>
          </p:cNvPr>
          <p:cNvSpPr/>
          <p:nvPr/>
        </p:nvSpPr>
        <p:spPr>
          <a:xfrm>
            <a:off x="2990880" y="3470789"/>
            <a:ext cx="1203185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운전 절차 및 관리 체계 보완 방안 도출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84C752AC-165A-9363-FA65-D9982C3CD6D1}"/>
              </a:ext>
            </a:extLst>
          </p:cNvPr>
          <p:cNvSpPr/>
          <p:nvPr/>
        </p:nvSpPr>
        <p:spPr>
          <a:xfrm>
            <a:off x="4314077" y="3470789"/>
            <a:ext cx="1203185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사례 공유 및 교훈</a:t>
            </a:r>
            <a: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전파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12D35B38-11C9-F735-4E14-307542FBB1A8}"/>
              </a:ext>
            </a:extLst>
          </p:cNvPr>
          <p:cNvSpPr/>
          <p:nvPr/>
        </p:nvSpPr>
        <p:spPr>
          <a:xfrm>
            <a:off x="6960469" y="3470789"/>
            <a:ext cx="1203185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대응 방안 및 기술적</a:t>
            </a:r>
            <a:b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</a:b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근거 자료 제공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CFAC7A9A-AA2D-76C4-972C-386BB3801431}"/>
              </a:ext>
            </a:extLst>
          </p:cNvPr>
          <p:cNvCxnSpPr>
            <a:cxnSpLocks/>
            <a:stCxn id="191" idx="2"/>
            <a:endCxn id="192" idx="0"/>
          </p:cNvCxnSpPr>
          <p:nvPr/>
        </p:nvCxnSpPr>
        <p:spPr>
          <a:xfrm flipH="1">
            <a:off x="946079" y="2938921"/>
            <a:ext cx="308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840E5A1B-068F-153B-FE32-DFDE52284E69}"/>
              </a:ext>
            </a:extLst>
          </p:cNvPr>
          <p:cNvCxnSpPr>
            <a:cxnSpLocks/>
            <a:stCxn id="192" idx="2"/>
            <a:endCxn id="195" idx="0"/>
          </p:cNvCxnSpPr>
          <p:nvPr/>
        </p:nvCxnSpPr>
        <p:spPr>
          <a:xfrm>
            <a:off x="946079" y="3372255"/>
            <a:ext cx="0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034A8219-86C9-288A-04FB-89EEA7DE07CA}"/>
              </a:ext>
            </a:extLst>
          </p:cNvPr>
          <p:cNvCxnSpPr>
            <a:cxnSpLocks/>
            <a:stCxn id="197" idx="2"/>
            <a:endCxn id="198" idx="0"/>
          </p:cNvCxnSpPr>
          <p:nvPr/>
        </p:nvCxnSpPr>
        <p:spPr>
          <a:xfrm flipH="1">
            <a:off x="2269276" y="2938921"/>
            <a:ext cx="308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C608333B-1F6B-AE53-0A17-EFC7F0A85286}"/>
              </a:ext>
            </a:extLst>
          </p:cNvPr>
          <p:cNvCxnSpPr>
            <a:cxnSpLocks/>
            <a:stCxn id="198" idx="2"/>
            <a:endCxn id="21" idx="0"/>
          </p:cNvCxnSpPr>
          <p:nvPr/>
        </p:nvCxnSpPr>
        <p:spPr>
          <a:xfrm>
            <a:off x="2269276" y="3372255"/>
            <a:ext cx="0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직선 화살표 연결선 140">
            <a:extLst>
              <a:ext uri="{FF2B5EF4-FFF2-40B4-BE49-F238E27FC236}">
                <a16:creationId xmlns:a16="http://schemas.microsoft.com/office/drawing/2014/main" id="{071FF541-7EE2-C203-EE92-BE7DFE090701}"/>
              </a:ext>
            </a:extLst>
          </p:cNvPr>
          <p:cNvCxnSpPr>
            <a:cxnSpLocks/>
            <a:stCxn id="202" idx="2"/>
            <a:endCxn id="203" idx="0"/>
          </p:cNvCxnSpPr>
          <p:nvPr/>
        </p:nvCxnSpPr>
        <p:spPr>
          <a:xfrm flipH="1">
            <a:off x="3592473" y="2938921"/>
            <a:ext cx="308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직선 화살표 연결선 151">
            <a:extLst>
              <a:ext uri="{FF2B5EF4-FFF2-40B4-BE49-F238E27FC236}">
                <a16:creationId xmlns:a16="http://schemas.microsoft.com/office/drawing/2014/main" id="{7C2FF4BC-887E-F5AC-95BC-939799C96D5A}"/>
              </a:ext>
            </a:extLst>
          </p:cNvPr>
          <p:cNvCxnSpPr>
            <a:cxnSpLocks/>
            <a:stCxn id="203" idx="2"/>
            <a:endCxn id="17" idx="0"/>
          </p:cNvCxnSpPr>
          <p:nvPr/>
        </p:nvCxnSpPr>
        <p:spPr>
          <a:xfrm>
            <a:off x="3592473" y="3372255"/>
            <a:ext cx="0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직선 화살표 연결선 156">
            <a:extLst>
              <a:ext uri="{FF2B5EF4-FFF2-40B4-BE49-F238E27FC236}">
                <a16:creationId xmlns:a16="http://schemas.microsoft.com/office/drawing/2014/main" id="{0F2DD428-53B5-3EE1-FFF6-8AA229EABF4F}"/>
              </a:ext>
            </a:extLst>
          </p:cNvPr>
          <p:cNvCxnSpPr>
            <a:cxnSpLocks/>
            <a:stCxn id="207" idx="2"/>
            <a:endCxn id="208" idx="0"/>
          </p:cNvCxnSpPr>
          <p:nvPr/>
        </p:nvCxnSpPr>
        <p:spPr>
          <a:xfrm flipH="1">
            <a:off x="4915670" y="2938921"/>
            <a:ext cx="308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직선 화살표 연결선 159">
            <a:extLst>
              <a:ext uri="{FF2B5EF4-FFF2-40B4-BE49-F238E27FC236}">
                <a16:creationId xmlns:a16="http://schemas.microsoft.com/office/drawing/2014/main" id="{9475E3C2-07B2-EE28-82CF-E6AE7B0550D0}"/>
              </a:ext>
            </a:extLst>
          </p:cNvPr>
          <p:cNvCxnSpPr>
            <a:cxnSpLocks/>
            <a:stCxn id="208" idx="2"/>
            <a:endCxn id="33" idx="0"/>
          </p:cNvCxnSpPr>
          <p:nvPr/>
        </p:nvCxnSpPr>
        <p:spPr>
          <a:xfrm>
            <a:off x="4915670" y="3372255"/>
            <a:ext cx="0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직선 화살표 연결선 169">
            <a:extLst>
              <a:ext uri="{FF2B5EF4-FFF2-40B4-BE49-F238E27FC236}">
                <a16:creationId xmlns:a16="http://schemas.microsoft.com/office/drawing/2014/main" id="{4F9B02FC-9110-885A-669D-FEEB0CE73201}"/>
              </a:ext>
            </a:extLst>
          </p:cNvPr>
          <p:cNvCxnSpPr>
            <a:cxnSpLocks/>
            <a:stCxn id="44" idx="2"/>
            <a:endCxn id="45" idx="0"/>
          </p:cNvCxnSpPr>
          <p:nvPr/>
        </p:nvCxnSpPr>
        <p:spPr>
          <a:xfrm flipH="1">
            <a:off x="7562062" y="2938921"/>
            <a:ext cx="309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직선 화살표 연결선 176">
            <a:extLst>
              <a:ext uri="{FF2B5EF4-FFF2-40B4-BE49-F238E27FC236}">
                <a16:creationId xmlns:a16="http://schemas.microsoft.com/office/drawing/2014/main" id="{8F7AF8ED-503B-4B91-B5DF-31B18F135C7B}"/>
              </a:ext>
            </a:extLst>
          </p:cNvPr>
          <p:cNvCxnSpPr>
            <a:cxnSpLocks/>
            <a:stCxn id="45" idx="2"/>
            <a:endCxn id="41" idx="0"/>
          </p:cNvCxnSpPr>
          <p:nvPr/>
        </p:nvCxnSpPr>
        <p:spPr>
          <a:xfrm>
            <a:off x="7562062" y="3372255"/>
            <a:ext cx="0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직선 화살표 연결선 180">
            <a:extLst>
              <a:ext uri="{FF2B5EF4-FFF2-40B4-BE49-F238E27FC236}">
                <a16:creationId xmlns:a16="http://schemas.microsoft.com/office/drawing/2014/main" id="{8B0C4810-12A4-4BB7-86B7-ED75BC40BA12}"/>
              </a:ext>
            </a:extLst>
          </p:cNvPr>
          <p:cNvCxnSpPr>
            <a:cxnSpLocks/>
            <a:stCxn id="215" idx="2"/>
            <a:endCxn id="216" idx="0"/>
          </p:cNvCxnSpPr>
          <p:nvPr/>
        </p:nvCxnSpPr>
        <p:spPr>
          <a:xfrm flipH="1">
            <a:off x="8885259" y="2938921"/>
            <a:ext cx="308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5" name="TextBox 184">
            <a:extLst>
              <a:ext uri="{FF2B5EF4-FFF2-40B4-BE49-F238E27FC236}">
                <a16:creationId xmlns:a16="http://schemas.microsoft.com/office/drawing/2014/main" id="{C4A2E302-92B6-788C-76F6-DC050CD07F75}"/>
              </a:ext>
            </a:extLst>
          </p:cNvPr>
          <p:cNvSpPr txBox="1"/>
          <p:nvPr/>
        </p:nvSpPr>
        <p:spPr>
          <a:xfrm>
            <a:off x="673770" y="5329768"/>
            <a:ext cx="3936732" cy="367200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72000" rIns="36000" rtlCol="0" anchor="ctr">
            <a:noAutofit/>
          </a:bodyPr>
          <a:lstStyle/>
          <a:p>
            <a:r>
              <a:rPr lang="ko-KR" altLang="en-US" sz="1000" spc="-5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과거 이력 검색</a:t>
            </a:r>
            <a:r>
              <a:rPr lang="en-US" altLang="ko-KR" sz="1000" spc="-5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spc="-5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경험 기반 분석 및 대책 수립 → 내</a:t>
            </a:r>
            <a:r>
              <a:rPr lang="en-US" altLang="ko-KR" sz="1000" spc="-5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</a:t>
            </a:r>
            <a:r>
              <a:rPr lang="ko-KR" altLang="en-US" sz="1000" spc="-5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외부 사고 보고서 기반 원인 분석 및 </a:t>
            </a:r>
            <a:r>
              <a:rPr lang="ko-KR" altLang="en-US" sz="1000" spc="-5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대책안</a:t>
            </a:r>
            <a:r>
              <a:rPr lang="ko-KR" altLang="en-US" sz="1000" spc="-5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추천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A14150E0-E367-AF1F-F08A-9098C1C380AE}"/>
              </a:ext>
            </a:extLst>
          </p:cNvPr>
          <p:cNvSpPr txBox="1"/>
          <p:nvPr/>
        </p:nvSpPr>
        <p:spPr>
          <a:xfrm>
            <a:off x="673770" y="5768953"/>
            <a:ext cx="3936732" cy="23166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72000" rIns="36000" rtlCol="0" anchor="ctr">
            <a:noAutofit/>
          </a:bodyPr>
          <a:lstStyle/>
          <a:p>
            <a:r>
              <a:rPr lang="ko-KR" altLang="en-US" sz="1000" spc="-5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유사 보고서 검색</a:t>
            </a:r>
            <a:r>
              <a:rPr lang="en-US" altLang="ko-KR" sz="1000" spc="-5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spc="-5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경험 기반 보고서 작성 → 축적된 보고서 기반으로 초안 제공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3E836B20-E306-CD07-9F0F-9EF0447E32AF}"/>
              </a:ext>
            </a:extLst>
          </p:cNvPr>
          <p:cNvSpPr txBox="1"/>
          <p:nvPr/>
        </p:nvSpPr>
        <p:spPr>
          <a:xfrm>
            <a:off x="7489234" y="5329768"/>
            <a:ext cx="2072281" cy="367200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72000" rIns="36000" rtlCol="0" anchor="ctr">
            <a:noAutofit/>
          </a:bodyPr>
          <a:lstStyle/>
          <a:p>
            <a:r>
              <a:rPr lang="ko-KR" altLang="en-US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사고 보고서 원인</a:t>
            </a:r>
            <a:r>
              <a:rPr lang="en-US" altLang="ko-KR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</a:t>
            </a:r>
            <a:r>
              <a:rPr lang="ko-KR" altLang="en-US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유형별 표준화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D917ADD0-A611-CB5D-F557-FD7872F08721}"/>
              </a:ext>
            </a:extLst>
          </p:cNvPr>
          <p:cNvSpPr txBox="1"/>
          <p:nvPr/>
        </p:nvSpPr>
        <p:spPr>
          <a:xfrm>
            <a:off x="7489234" y="5768953"/>
            <a:ext cx="2072281" cy="23166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72000" rIns="36000" rtlCol="0" anchor="ctr">
            <a:noAutofit/>
          </a:bodyPr>
          <a:lstStyle/>
          <a:p>
            <a:r>
              <a:rPr lang="ko-KR" altLang="en-US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유형 별 사고 보고서 </a:t>
            </a:r>
            <a:r>
              <a:rPr lang="en-US" altLang="ko-KR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Template</a:t>
            </a:r>
            <a:r>
              <a:rPr lang="ko-KR" altLang="en-US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화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8D18363A-8F05-501E-E2EE-4EC6BBBF8F80}"/>
              </a:ext>
            </a:extLst>
          </p:cNvPr>
          <p:cNvSpPr txBox="1"/>
          <p:nvPr/>
        </p:nvSpPr>
        <p:spPr>
          <a:xfrm>
            <a:off x="344486" y="5329768"/>
            <a:ext cx="216000" cy="216000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57BA0E3E-2F5D-C085-B324-EE7BF29027EE}"/>
              </a:ext>
            </a:extLst>
          </p:cNvPr>
          <p:cNvSpPr txBox="1"/>
          <p:nvPr/>
        </p:nvSpPr>
        <p:spPr>
          <a:xfrm>
            <a:off x="4710767" y="5329767"/>
            <a:ext cx="2678203" cy="655185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72000" rIns="36000" rtlCol="0" anchor="t">
            <a:noAutofit/>
          </a:bodyPr>
          <a:lstStyle/>
          <a:p>
            <a:r>
              <a:rPr lang="en-US" altLang="ko-KR" sz="1000" spc="-5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SHE Risk </a:t>
            </a:r>
            <a:r>
              <a:rPr lang="ko-KR" altLang="en-US" sz="1000" spc="-5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점검 및 </a:t>
            </a:r>
            <a:r>
              <a:rPr lang="en-US" altLang="ko-KR" sz="1000" spc="-5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LL </a:t>
            </a:r>
            <a:r>
              <a:rPr lang="ko-KR" altLang="en-US" sz="1000" spc="-5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사례 분석 제공 </a:t>
            </a:r>
            <a:r>
              <a:rPr lang="en-US" altLang="ko-KR" sz="1000" spc="-5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Agent</a:t>
            </a:r>
          </a:p>
          <a:p>
            <a:r>
              <a:rPr lang="en-US" altLang="ko-KR" sz="1000" spc="-5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- </a:t>
            </a:r>
            <a:r>
              <a:rPr lang="ko-KR" altLang="en-US" sz="1000" spc="-5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사고분석 보고서 작성 자동화 포함</a:t>
            </a:r>
            <a:r>
              <a:rPr lang="en-US" altLang="ko-KR" sz="1000" spc="-5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(SHE)</a:t>
            </a:r>
            <a:endParaRPr lang="ko-KR" altLang="en-US" sz="1000" spc="-5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10" name="사각형: 둥근 모서리 209">
            <a:extLst>
              <a:ext uri="{FF2B5EF4-FFF2-40B4-BE49-F238E27FC236}">
                <a16:creationId xmlns:a16="http://schemas.microsoft.com/office/drawing/2014/main" id="{DD83E3A7-3861-D114-294A-51796B4E86C0}"/>
              </a:ext>
            </a:extLst>
          </p:cNvPr>
          <p:cNvSpPr/>
          <p:nvPr/>
        </p:nvSpPr>
        <p:spPr>
          <a:xfrm>
            <a:off x="6954839" y="5428482"/>
            <a:ext cx="386006" cy="167400"/>
          </a:xfrm>
          <a:prstGeom prst="roundRect">
            <a:avLst>
              <a:gd name="adj" fmla="val 18018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noFill/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지능화</a:t>
            </a:r>
            <a:endParaRPr kumimoji="1" lang="en-US" altLang="ko-KR" sz="900" ker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21B591C8-447C-CDA0-134E-42E05B28B709}"/>
              </a:ext>
            </a:extLst>
          </p:cNvPr>
          <p:cNvSpPr txBox="1"/>
          <p:nvPr/>
        </p:nvSpPr>
        <p:spPr>
          <a:xfrm>
            <a:off x="673770" y="6066205"/>
            <a:ext cx="3936732" cy="23166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72000" rIns="36000" rtlCol="0" anchor="ctr">
            <a:noAutofit/>
          </a:bodyPr>
          <a:lstStyle/>
          <a:p>
            <a:r>
              <a:rPr lang="ko-KR" altLang="en-US" sz="1000" spc="-5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시스템 </a:t>
            </a:r>
            <a:r>
              <a:rPr lang="en-US" altLang="ko-KR" sz="1000" spc="-5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· </a:t>
            </a:r>
            <a:r>
              <a:rPr lang="ko-KR" altLang="en-US" sz="1000" spc="-5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저장소 내 수작업 조회 → 유사 인허가 수행 정보 자동 수집 및 제공</a:t>
            </a:r>
            <a:endParaRPr lang="en-US" altLang="ko-KR" sz="1000" spc="-5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F2CA375F-904B-7722-93FE-ED1694C3D668}"/>
              </a:ext>
            </a:extLst>
          </p:cNvPr>
          <p:cNvSpPr txBox="1"/>
          <p:nvPr/>
        </p:nvSpPr>
        <p:spPr>
          <a:xfrm>
            <a:off x="344486" y="6066205"/>
            <a:ext cx="216000" cy="216000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C64F1B27-4901-B395-D24C-F6D1DDE1CBDE}"/>
              </a:ext>
            </a:extLst>
          </p:cNvPr>
          <p:cNvSpPr/>
          <p:nvPr/>
        </p:nvSpPr>
        <p:spPr>
          <a:xfrm>
            <a:off x="2990880" y="3905378"/>
            <a:ext cx="1203185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세부 실행 계획 수립 및 모니터링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0E61A540-68EB-9808-8DB7-DF8C8705E280}"/>
              </a:ext>
            </a:extLst>
          </p:cNvPr>
          <p:cNvCxnSpPr>
            <a:cxnSpLocks/>
            <a:stCxn id="17" idx="2"/>
            <a:endCxn id="6" idx="0"/>
          </p:cNvCxnSpPr>
          <p:nvPr/>
        </p:nvCxnSpPr>
        <p:spPr>
          <a:xfrm>
            <a:off x="3592473" y="3805589"/>
            <a:ext cx="0" cy="99789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D93E936B-FE4D-23AD-D7DC-B1E36288BC71}"/>
              </a:ext>
            </a:extLst>
          </p:cNvPr>
          <p:cNvSpPr/>
          <p:nvPr/>
        </p:nvSpPr>
        <p:spPr>
          <a:xfrm>
            <a:off x="8283666" y="3470789"/>
            <a:ext cx="1203185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현장 실사 지원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9FE01BC7-FCA7-DB83-1268-7F47BEBFB562}"/>
              </a:ext>
            </a:extLst>
          </p:cNvPr>
          <p:cNvSpPr/>
          <p:nvPr/>
        </p:nvSpPr>
        <p:spPr>
          <a:xfrm>
            <a:off x="8283666" y="3905378"/>
            <a:ext cx="1203185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지적 사항 조치 계획</a:t>
            </a:r>
            <a:b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</a:b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수립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FEE3A7A4-484B-29A3-CA2A-935C28504D85}"/>
              </a:ext>
            </a:extLst>
          </p:cNvPr>
          <p:cNvCxnSpPr>
            <a:cxnSpLocks/>
            <a:stCxn id="216" idx="2"/>
            <a:endCxn id="14" idx="0"/>
          </p:cNvCxnSpPr>
          <p:nvPr/>
        </p:nvCxnSpPr>
        <p:spPr>
          <a:xfrm>
            <a:off x="8885259" y="3372255"/>
            <a:ext cx="0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8D5F7968-7C9A-65BD-D7AF-CA25B2AAFFFA}"/>
              </a:ext>
            </a:extLst>
          </p:cNvPr>
          <p:cNvCxnSpPr>
            <a:cxnSpLocks/>
            <a:stCxn id="14" idx="2"/>
            <a:endCxn id="20" idx="0"/>
          </p:cNvCxnSpPr>
          <p:nvPr/>
        </p:nvCxnSpPr>
        <p:spPr>
          <a:xfrm>
            <a:off x="8885259" y="3805589"/>
            <a:ext cx="0" cy="99789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2EBF39BA-6B4A-9B3B-981A-CFA0CE084FA8}"/>
              </a:ext>
            </a:extLst>
          </p:cNvPr>
          <p:cNvSpPr txBox="1"/>
          <p:nvPr/>
        </p:nvSpPr>
        <p:spPr>
          <a:xfrm>
            <a:off x="1598736" y="3131089"/>
            <a:ext cx="147532" cy="147532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ADB0117-47AF-FC58-754E-ECC3869AC9D1}"/>
              </a:ext>
            </a:extLst>
          </p:cNvPr>
          <p:cNvSpPr txBox="1"/>
          <p:nvPr/>
        </p:nvSpPr>
        <p:spPr>
          <a:xfrm>
            <a:off x="1598736" y="3559563"/>
            <a:ext cx="147532" cy="147532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685DA1F7-C05C-1024-5AAE-5AB67B6A9CB9}"/>
              </a:ext>
            </a:extLst>
          </p:cNvPr>
          <p:cNvSpPr/>
          <p:nvPr/>
        </p:nvSpPr>
        <p:spPr>
          <a:xfrm>
            <a:off x="5637272" y="3470789"/>
            <a:ext cx="1203185" cy="334800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과거 자료 검색 및 분석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(AI Agent)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D5D6243E-5CA6-9764-F53B-6FED8D5B460A}"/>
              </a:ext>
            </a:extLst>
          </p:cNvPr>
          <p:cNvSpPr/>
          <p:nvPr/>
        </p:nvSpPr>
        <p:spPr>
          <a:xfrm>
            <a:off x="5637273" y="3037455"/>
            <a:ext cx="1203802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인허가 주관부서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요청</a:t>
            </a:r>
            <a: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내역 확인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cxnSp>
        <p:nvCxnSpPr>
          <p:cNvPr id="163" name="직선 화살표 연결선 162">
            <a:extLst>
              <a:ext uri="{FF2B5EF4-FFF2-40B4-BE49-F238E27FC236}">
                <a16:creationId xmlns:a16="http://schemas.microsoft.com/office/drawing/2014/main" id="{8BB7DCE6-1051-CE0F-9EBE-F0082311EBA8}"/>
              </a:ext>
            </a:extLst>
          </p:cNvPr>
          <p:cNvCxnSpPr>
            <a:cxnSpLocks/>
            <a:stCxn id="35" idx="2"/>
            <a:endCxn id="36" idx="0"/>
          </p:cNvCxnSpPr>
          <p:nvPr/>
        </p:nvCxnSpPr>
        <p:spPr>
          <a:xfrm flipH="1">
            <a:off x="6238865" y="3372255"/>
            <a:ext cx="309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BFC90A70-BC13-2779-0F48-32B00D5C9A23}"/>
              </a:ext>
            </a:extLst>
          </p:cNvPr>
          <p:cNvSpPr txBox="1"/>
          <p:nvPr/>
        </p:nvSpPr>
        <p:spPr>
          <a:xfrm>
            <a:off x="5563508" y="3564423"/>
            <a:ext cx="147532" cy="147532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12" name="연결선: 꺾임 11">
            <a:extLst>
              <a:ext uri="{FF2B5EF4-FFF2-40B4-BE49-F238E27FC236}">
                <a16:creationId xmlns:a16="http://schemas.microsoft.com/office/drawing/2014/main" id="{39AF2F52-CA04-AA74-DA42-745B710DD63D}"/>
              </a:ext>
            </a:extLst>
          </p:cNvPr>
          <p:cNvCxnSpPr>
            <a:cxnSpLocks/>
            <a:stCxn id="195" idx="3"/>
            <a:endCxn id="197" idx="1"/>
          </p:cNvCxnSpPr>
          <p:nvPr/>
        </p:nvCxnSpPr>
        <p:spPr>
          <a:xfrm flipV="1">
            <a:off x="1547671" y="2771521"/>
            <a:ext cx="120012" cy="866668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0F3BD9AD-9B4D-A5F3-105A-12658F07ACDF}"/>
              </a:ext>
            </a:extLst>
          </p:cNvPr>
          <p:cNvCxnSpPr>
            <a:cxnSpLocks/>
            <a:stCxn id="21" idx="3"/>
            <a:endCxn id="202" idx="1"/>
          </p:cNvCxnSpPr>
          <p:nvPr/>
        </p:nvCxnSpPr>
        <p:spPr>
          <a:xfrm flipV="1">
            <a:off x="2870868" y="2771521"/>
            <a:ext cx="120012" cy="866668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E4A12E3-655D-39FE-D29D-319202BEC2C8}"/>
              </a:ext>
            </a:extLst>
          </p:cNvPr>
          <p:cNvSpPr txBox="1"/>
          <p:nvPr/>
        </p:nvSpPr>
        <p:spPr>
          <a:xfrm>
            <a:off x="2916732" y="2698393"/>
            <a:ext cx="147532" cy="147532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47" name="연결선: 꺾임 46">
            <a:extLst>
              <a:ext uri="{FF2B5EF4-FFF2-40B4-BE49-F238E27FC236}">
                <a16:creationId xmlns:a16="http://schemas.microsoft.com/office/drawing/2014/main" id="{22C9238F-C904-89AE-12B1-101DFDC3F08E}"/>
              </a:ext>
            </a:extLst>
          </p:cNvPr>
          <p:cNvCxnSpPr>
            <a:cxnSpLocks/>
            <a:stCxn id="6" idx="3"/>
            <a:endCxn id="207" idx="1"/>
          </p:cNvCxnSpPr>
          <p:nvPr/>
        </p:nvCxnSpPr>
        <p:spPr>
          <a:xfrm flipV="1">
            <a:off x="4194065" y="2771521"/>
            <a:ext cx="120012" cy="1301257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574B10D7-0EAC-FF6E-E2B6-15FCC5E453BF}"/>
              </a:ext>
            </a:extLst>
          </p:cNvPr>
          <p:cNvSpPr txBox="1"/>
          <p:nvPr/>
        </p:nvSpPr>
        <p:spPr>
          <a:xfrm>
            <a:off x="4238391" y="2698393"/>
            <a:ext cx="147532" cy="147532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8394F677-7A6C-C68A-EB9E-0C7216AFCB7F}"/>
              </a:ext>
            </a:extLst>
          </p:cNvPr>
          <p:cNvSpPr/>
          <p:nvPr/>
        </p:nvSpPr>
        <p:spPr>
          <a:xfrm>
            <a:off x="5637273" y="2604121"/>
            <a:ext cx="1203802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안전 및 환경 관련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인허가 신청 의뢰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cxnSp>
        <p:nvCxnSpPr>
          <p:cNvPr id="128" name="직선 화살표 연결선 127">
            <a:extLst>
              <a:ext uri="{FF2B5EF4-FFF2-40B4-BE49-F238E27FC236}">
                <a16:creationId xmlns:a16="http://schemas.microsoft.com/office/drawing/2014/main" id="{43664FC0-568A-30A1-02C7-8B55CF7C456E}"/>
              </a:ext>
            </a:extLst>
          </p:cNvPr>
          <p:cNvCxnSpPr>
            <a:cxnSpLocks/>
            <a:stCxn id="56" idx="2"/>
            <a:endCxn id="35" idx="0"/>
          </p:cNvCxnSpPr>
          <p:nvPr/>
        </p:nvCxnSpPr>
        <p:spPr>
          <a:xfrm>
            <a:off x="6239174" y="2938921"/>
            <a:ext cx="0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연결선: 꺾임 130">
            <a:extLst>
              <a:ext uri="{FF2B5EF4-FFF2-40B4-BE49-F238E27FC236}">
                <a16:creationId xmlns:a16="http://schemas.microsoft.com/office/drawing/2014/main" id="{2E479B97-F850-28D4-4C5D-7880285E5239}"/>
              </a:ext>
            </a:extLst>
          </p:cNvPr>
          <p:cNvCxnSpPr>
            <a:cxnSpLocks/>
            <a:stCxn id="142" idx="3"/>
            <a:endCxn id="44" idx="1"/>
          </p:cNvCxnSpPr>
          <p:nvPr/>
        </p:nvCxnSpPr>
        <p:spPr>
          <a:xfrm flipV="1">
            <a:off x="6840457" y="2771521"/>
            <a:ext cx="120013" cy="1297323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연결선: 꺾임 133">
            <a:extLst>
              <a:ext uri="{FF2B5EF4-FFF2-40B4-BE49-F238E27FC236}">
                <a16:creationId xmlns:a16="http://schemas.microsoft.com/office/drawing/2014/main" id="{542777C0-B015-127B-DD39-25C768B5952A}"/>
              </a:ext>
            </a:extLst>
          </p:cNvPr>
          <p:cNvCxnSpPr>
            <a:cxnSpLocks/>
            <a:stCxn id="41" idx="3"/>
            <a:endCxn id="215" idx="1"/>
          </p:cNvCxnSpPr>
          <p:nvPr/>
        </p:nvCxnSpPr>
        <p:spPr>
          <a:xfrm flipV="1">
            <a:off x="8163654" y="2771521"/>
            <a:ext cx="120012" cy="866668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사각형: 둥근 모서리 141">
            <a:extLst>
              <a:ext uri="{FF2B5EF4-FFF2-40B4-BE49-F238E27FC236}">
                <a16:creationId xmlns:a16="http://schemas.microsoft.com/office/drawing/2014/main" id="{F010FEC7-2050-E54F-8828-029E9A0D23D4}"/>
              </a:ext>
            </a:extLst>
          </p:cNvPr>
          <p:cNvSpPr/>
          <p:nvPr/>
        </p:nvSpPr>
        <p:spPr>
          <a:xfrm>
            <a:off x="5637272" y="3901444"/>
            <a:ext cx="1203185" cy="334800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인허가 기초 자료 작성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(AI Agent)</a:t>
            </a:r>
          </a:p>
        </p:txBody>
      </p:sp>
      <p:cxnSp>
        <p:nvCxnSpPr>
          <p:cNvPr id="144" name="직선 화살표 연결선 143">
            <a:extLst>
              <a:ext uri="{FF2B5EF4-FFF2-40B4-BE49-F238E27FC236}">
                <a16:creationId xmlns:a16="http://schemas.microsoft.com/office/drawing/2014/main" id="{0E5F25BD-E9CB-86D5-F9C2-6B1972959F8C}"/>
              </a:ext>
            </a:extLst>
          </p:cNvPr>
          <p:cNvCxnSpPr>
            <a:cxnSpLocks/>
            <a:stCxn id="36" idx="2"/>
            <a:endCxn id="142" idx="0"/>
          </p:cNvCxnSpPr>
          <p:nvPr/>
        </p:nvCxnSpPr>
        <p:spPr>
          <a:xfrm>
            <a:off x="6238865" y="3805589"/>
            <a:ext cx="0" cy="95855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TextBox 147">
            <a:extLst>
              <a:ext uri="{FF2B5EF4-FFF2-40B4-BE49-F238E27FC236}">
                <a16:creationId xmlns:a16="http://schemas.microsoft.com/office/drawing/2014/main" id="{AF9814C2-2963-81FB-279E-487984A941DB}"/>
              </a:ext>
            </a:extLst>
          </p:cNvPr>
          <p:cNvSpPr txBox="1"/>
          <p:nvPr/>
        </p:nvSpPr>
        <p:spPr>
          <a:xfrm>
            <a:off x="5563508" y="3999012"/>
            <a:ext cx="147532" cy="147532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9" name="텍스트 개체 틀 4">
            <a:extLst>
              <a:ext uri="{FF2B5EF4-FFF2-40B4-BE49-F238E27FC236}">
                <a16:creationId xmlns:a16="http://schemas.microsoft.com/office/drawing/2014/main" id="{70F8249C-40EF-4DA8-84CA-39B594D63229}"/>
              </a:ext>
            </a:extLst>
          </p:cNvPr>
          <p:cNvSpPr txBox="1">
            <a:spLocks/>
          </p:cNvSpPr>
          <p:nvPr/>
        </p:nvSpPr>
        <p:spPr>
          <a:xfrm>
            <a:off x="1386038" y="721134"/>
            <a:ext cx="8180064" cy="769485"/>
          </a:xfrm>
          <a:prstGeom prst="rect">
            <a:avLst/>
          </a:prstGeom>
          <a:pattFill prst="dkUp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 w="3175">
            <a:noFill/>
          </a:ln>
        </p:spPr>
        <p:txBody>
          <a:bodyPr vert="horz" lIns="108000" tIns="36000" rIns="36000" bIns="36000" rtlCol="0" anchor="ctr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2563" indent="-182563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en-US" altLang="ko-KR" sz="1200" b="0"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ngal Pro" panose="020B0502040204020203" pitchFamily="2" charset="0"/>
              </a:rPr>
              <a:t>SHE</a:t>
            </a:r>
            <a:r>
              <a:rPr lang="ko-KR" altLang="en-US" sz="1200" b="0"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ngal Pro" panose="020B0502040204020203" pitchFamily="2" charset="0"/>
              </a:rPr>
              <a:t> </a:t>
            </a:r>
            <a:r>
              <a:rPr lang="en-US" altLang="ko-KR" sz="1200" b="0"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ngal Pro" panose="020B0502040204020203" pitchFamily="2" charset="0"/>
              </a:rPr>
              <a:t>Data</a:t>
            </a:r>
            <a:r>
              <a:rPr lang="ko-KR" altLang="en-US" sz="1200" b="0"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ngal Pro" panose="020B0502040204020203" pitchFamily="2" charset="0"/>
              </a:rPr>
              <a:t> 통합 관리로 대관 업무 효율성 향상</a:t>
            </a:r>
            <a:endParaRPr lang="en-US" altLang="ko-KR" sz="1200" b="0">
              <a:solidFill>
                <a:prstClr val="black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cs typeface="Mangal Pro" panose="020B0502040204020203" pitchFamily="2" charset="0"/>
            </a:endParaRPr>
          </a:p>
          <a:p>
            <a:pPr marL="355600" indent="-173038" latinLnBrk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Font typeface="나눔스퀘어 ExtraBold" panose="020B0600000101010101" pitchFamily="50" charset="-127"/>
              <a:buChar char="-"/>
            </a:pPr>
            <a:r>
              <a:rPr lang="ko-KR" altLang="en-US" sz="1100" b="0">
                <a:solidFill>
                  <a:prstClr val="black"/>
                </a:solidFill>
                <a:cs typeface="Mangal Pro" panose="020B0502040204020203" pitchFamily="2" charset="0"/>
              </a:rPr>
              <a:t>안전 요소</a:t>
            </a:r>
            <a:r>
              <a:rPr lang="en-US" altLang="ko-KR" sz="1100" b="0">
                <a:solidFill>
                  <a:prstClr val="black"/>
                </a:solidFill>
                <a:cs typeface="Mangal Pro" panose="020B0502040204020203" pitchFamily="2" charset="0"/>
              </a:rPr>
              <a:t>(PSM/SMS) </a:t>
            </a:r>
            <a:r>
              <a:rPr lang="ko-KR" altLang="en-US" sz="1100" b="0">
                <a:solidFill>
                  <a:prstClr val="black"/>
                </a:solidFill>
                <a:cs typeface="Mangal Pro" panose="020B0502040204020203" pitchFamily="2" charset="0"/>
              </a:rPr>
              <a:t>구성 정보 자동 수집 및 문서화</a:t>
            </a:r>
            <a:endParaRPr lang="en-US" altLang="ko-KR" sz="1100" b="0">
              <a:solidFill>
                <a:prstClr val="black"/>
              </a:solidFill>
              <a:cs typeface="Mangal Pro" panose="020B0502040204020203" pitchFamily="2" charset="0"/>
            </a:endParaRPr>
          </a:p>
          <a:p>
            <a:pPr marL="355600" indent="-173038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나눔스퀘어 ExtraBold" panose="020B0600000101010101" pitchFamily="50" charset="-127"/>
              <a:buChar char="-"/>
            </a:pPr>
            <a:r>
              <a:rPr lang="ko-KR" altLang="en-US" sz="1100" b="0">
                <a:solidFill>
                  <a:prstClr val="black"/>
                </a:solidFill>
                <a:cs typeface="Mangal Pro" panose="020B0502040204020203" pitchFamily="2" charset="0"/>
              </a:rPr>
              <a:t>환경 법규 준수 상태 실시간 모니터링 및 분석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99EDA1-7DCD-A23B-561F-7C72615183A4}"/>
              </a:ext>
            </a:extLst>
          </p:cNvPr>
          <p:cNvSpPr txBox="1"/>
          <p:nvPr/>
        </p:nvSpPr>
        <p:spPr>
          <a:xfrm>
            <a:off x="7489234" y="6060347"/>
            <a:ext cx="2072281" cy="23166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72000" rIns="36000" rtlCol="0" anchor="ctr">
            <a:noAutofit/>
          </a:bodyPr>
          <a:lstStyle/>
          <a:p>
            <a:r>
              <a:rPr lang="en-US" altLang="ko-KR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DB</a:t>
            </a:r>
            <a:r>
              <a:rPr lang="ko-KR" altLang="en-US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화 대상 선정 및 속성 정의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9E4BE6-7EFE-8339-B5D7-A9E3C5452386}"/>
              </a:ext>
            </a:extLst>
          </p:cNvPr>
          <p:cNvSpPr txBox="1"/>
          <p:nvPr/>
        </p:nvSpPr>
        <p:spPr>
          <a:xfrm>
            <a:off x="4710767" y="6060347"/>
            <a:ext cx="2678203" cy="23166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72000" rIns="36000" rtlCol="0" anchor="ctr">
            <a:noAutofit/>
          </a:bodyPr>
          <a:lstStyle>
            <a:defPPr>
              <a:defRPr lang="en-US"/>
            </a:defPPr>
            <a:lvl1pPr>
              <a:defRPr sz="1000"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r>
              <a:rPr lang="ko-KR" altLang="en-US"/>
              <a:t>생산 운영 정보 저장 </a:t>
            </a:r>
            <a:r>
              <a:rPr lang="en-US" altLang="ko-KR"/>
              <a:t>· </a:t>
            </a:r>
            <a:r>
              <a:rPr lang="ko-KR" altLang="en-US"/>
              <a:t>분류 자동화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CA30E23D-8AAC-0435-6418-5B4D13E82EAA}"/>
              </a:ext>
            </a:extLst>
          </p:cNvPr>
          <p:cNvSpPr/>
          <p:nvPr/>
        </p:nvSpPr>
        <p:spPr>
          <a:xfrm>
            <a:off x="6954839" y="6092478"/>
            <a:ext cx="386006" cy="167400"/>
          </a:xfrm>
          <a:prstGeom prst="roundRect">
            <a:avLst>
              <a:gd name="adj" fmla="val 18018"/>
            </a:avLst>
          </a:prstGeom>
          <a:solidFill>
            <a:schemeClr val="bg1">
              <a:lumMod val="50000"/>
            </a:schemeClr>
          </a:solidFill>
          <a:ln w="3175">
            <a:noFill/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자동화</a:t>
            </a:r>
            <a:endParaRPr kumimoji="1" lang="en-US" altLang="ko-KR" sz="900" ker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7746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9AC04-9110-8529-5795-29D65EA9F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4C2B5F-EE8C-33AA-F847-E072CA0C32A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4487" y="254884"/>
            <a:ext cx="5064207" cy="343235"/>
          </a:xfrm>
          <a:solidFill>
            <a:schemeClr val="bg1"/>
          </a:solidFill>
        </p:spPr>
        <p:txBody>
          <a:bodyPr wrap="none" anchor="ctr">
            <a:spAutoFit/>
          </a:bodyPr>
          <a:lstStyle/>
          <a:p>
            <a:r>
              <a:rPr lang="en-US" altLang="ko-KR" b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Appendix. [</a:t>
            </a:r>
            <a:r>
              <a:rPr lang="ko-KR" altLang="en-US" b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생산기술</a:t>
            </a:r>
            <a:r>
              <a:rPr lang="en-US" altLang="ko-KR" b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] </a:t>
            </a:r>
            <a:r>
              <a:rPr lang="ko-KR" altLang="en-US" b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공장 운영 및 운전 정보 제공</a:t>
            </a:r>
            <a:endParaRPr lang="en-US" altLang="ko-KR" b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864E4E31-149F-7F03-A8FE-22FA4EB25484}"/>
              </a:ext>
            </a:extLst>
          </p:cNvPr>
          <p:cNvCxnSpPr>
            <a:cxnSpLocks/>
          </p:cNvCxnSpPr>
          <p:nvPr/>
        </p:nvCxnSpPr>
        <p:spPr>
          <a:xfrm>
            <a:off x="344488" y="1768835"/>
            <a:ext cx="9221614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E8997A2-D19F-70C2-86DA-47904F632517}"/>
              </a:ext>
            </a:extLst>
          </p:cNvPr>
          <p:cNvSpPr/>
          <p:nvPr/>
        </p:nvSpPr>
        <p:spPr>
          <a:xfrm>
            <a:off x="344490" y="1547834"/>
            <a:ext cx="570257" cy="171734"/>
          </a:xfrm>
          <a:prstGeom prst="rect">
            <a:avLst/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1000" b="1">
                <a:latin typeface="나눔스퀘어" panose="020B0600000101010101" pitchFamily="50" charset="-127"/>
                <a:ea typeface="나눔스퀘어" panose="020B0600000101010101" pitchFamily="50" charset="-127"/>
              </a:rPr>
              <a:t>Process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76922F3-E5D0-FC29-F211-A3542F8EB80F}"/>
              </a:ext>
            </a:extLst>
          </p:cNvPr>
          <p:cNvSpPr/>
          <p:nvPr/>
        </p:nvSpPr>
        <p:spPr>
          <a:xfrm>
            <a:off x="955677" y="1547834"/>
            <a:ext cx="570257" cy="171734"/>
          </a:xfrm>
          <a:prstGeom prst="rect">
            <a:avLst/>
          </a:prstGeom>
          <a:solidFill>
            <a:schemeClr val="bg1">
              <a:lumMod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Activity</a:t>
            </a:r>
          </a:p>
        </p:txBody>
      </p:sp>
      <p:sp>
        <p:nvSpPr>
          <p:cNvPr id="129" name="사각형: 둥근 모서리 128">
            <a:extLst>
              <a:ext uri="{FF2B5EF4-FFF2-40B4-BE49-F238E27FC236}">
                <a16:creationId xmlns:a16="http://schemas.microsoft.com/office/drawing/2014/main" id="{25F66AE5-7A17-4261-9CF6-332EB4FA280F}"/>
              </a:ext>
            </a:extLst>
          </p:cNvPr>
          <p:cNvSpPr/>
          <p:nvPr/>
        </p:nvSpPr>
        <p:spPr>
          <a:xfrm>
            <a:off x="4031571" y="1640841"/>
            <a:ext cx="1847448" cy="25598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rgbClr val="217C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To-Be </a:t>
            </a:r>
            <a:r>
              <a:rPr lang="ko-KR" altLang="en-US" sz="1200">
                <a:solidFill>
                  <a:schemeClr val="tx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업무 시나리오</a:t>
            </a:r>
          </a:p>
        </p:txBody>
      </p:sp>
      <p:sp>
        <p:nvSpPr>
          <p:cNvPr id="143" name="사각형: 둥근 모서리 142">
            <a:extLst>
              <a:ext uri="{FF2B5EF4-FFF2-40B4-BE49-F238E27FC236}">
                <a16:creationId xmlns:a16="http://schemas.microsoft.com/office/drawing/2014/main" id="{23D33F86-E98F-C78C-A0E8-31085C80A59A}"/>
              </a:ext>
            </a:extLst>
          </p:cNvPr>
          <p:cNvSpPr/>
          <p:nvPr/>
        </p:nvSpPr>
        <p:spPr>
          <a:xfrm>
            <a:off x="344488" y="721134"/>
            <a:ext cx="941772" cy="763179"/>
          </a:xfrm>
          <a:prstGeom prst="roundRect">
            <a:avLst>
              <a:gd name="adj" fmla="val 0"/>
            </a:avLst>
          </a:prstGeom>
          <a:solidFill>
            <a:srgbClr val="217CFA"/>
          </a:solidFill>
          <a:ln w="6350">
            <a:solidFill>
              <a:srgbClr val="217C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Digital</a:t>
            </a:r>
            <a:r>
              <a:rPr lang="ko-KR" altLang="en-US" sz="130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화 지향점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B84B6604-DCD2-D938-3A74-32A1A16DE1DF}"/>
              </a:ext>
            </a:extLst>
          </p:cNvPr>
          <p:cNvSpPr/>
          <p:nvPr/>
        </p:nvSpPr>
        <p:spPr>
          <a:xfrm>
            <a:off x="8926185" y="1553252"/>
            <a:ext cx="635326" cy="160797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solidFill>
                  <a:schemeClr val="bg1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삭제 업무</a:t>
            </a:r>
            <a:endParaRPr kumimoji="1" lang="en-US" altLang="ko-KR" sz="900" kern="0">
              <a:solidFill>
                <a:schemeClr val="bg1">
                  <a:lumMod val="7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E5A57458-B0EB-1718-AE9C-84F8CB22E005}"/>
              </a:ext>
            </a:extLst>
          </p:cNvPr>
          <p:cNvSpPr/>
          <p:nvPr/>
        </p:nvSpPr>
        <p:spPr>
          <a:xfrm>
            <a:off x="7552890" y="1553252"/>
            <a:ext cx="635326" cy="160797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AI/DT </a:t>
            </a: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신규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28556777-514A-B538-3D63-531294DC0C76}"/>
              </a:ext>
            </a:extLst>
          </p:cNvPr>
          <p:cNvSpPr/>
          <p:nvPr/>
        </p:nvSpPr>
        <p:spPr>
          <a:xfrm>
            <a:off x="8239537" y="1553252"/>
            <a:ext cx="635326" cy="160797"/>
          </a:xfrm>
          <a:prstGeom prst="roundRect">
            <a:avLst/>
          </a:prstGeom>
          <a:pattFill prst="ltUpDiag">
            <a:fgClr>
              <a:srgbClr val="C4DCF2"/>
            </a:fgClr>
            <a:bgClr>
              <a:schemeClr val="bg1"/>
            </a:bgClr>
          </a:pattFill>
          <a:ln w="3175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Digital </a:t>
            </a: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기존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2362E1A0-012E-2445-07F5-28508DDF7602}"/>
              </a:ext>
            </a:extLst>
          </p:cNvPr>
          <p:cNvCxnSpPr>
            <a:cxnSpLocks/>
          </p:cNvCxnSpPr>
          <p:nvPr/>
        </p:nvCxnSpPr>
        <p:spPr>
          <a:xfrm>
            <a:off x="344488" y="4859066"/>
            <a:ext cx="9221614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AD3108F1-30C2-B915-20B2-6076173FF4DE}"/>
              </a:ext>
            </a:extLst>
          </p:cNvPr>
          <p:cNvSpPr/>
          <p:nvPr/>
        </p:nvSpPr>
        <p:spPr>
          <a:xfrm>
            <a:off x="4031571" y="4731072"/>
            <a:ext cx="1847448" cy="25598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rgbClr val="217C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주요</a:t>
            </a:r>
            <a:r>
              <a:rPr lang="en-US" altLang="ko-KR" sz="1200">
                <a:solidFill>
                  <a:schemeClr val="tx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ko-KR" altLang="en-US" sz="1200">
                <a:solidFill>
                  <a:schemeClr val="tx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추진 사항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B8D0232-3CA1-40BA-4ABB-56A5346A82B5}"/>
              </a:ext>
            </a:extLst>
          </p:cNvPr>
          <p:cNvSpPr txBox="1"/>
          <p:nvPr/>
        </p:nvSpPr>
        <p:spPr>
          <a:xfrm>
            <a:off x="673770" y="5073302"/>
            <a:ext cx="3936732" cy="200435"/>
          </a:xfrm>
          <a:prstGeom prst="rect">
            <a:avLst/>
          </a:prstGeom>
          <a:noFill/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ko-KR" altLang="en-US" sz="1100" u="sng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변화 </a:t>
            </a:r>
            <a:r>
              <a:rPr lang="en-US" altLang="ko-KR" sz="1100" u="sng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Point</a:t>
            </a:r>
            <a:endParaRPr lang="ko-KR" altLang="en-US" sz="1100" u="sng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F4C7CAD-E553-DF20-00C1-D8E928BFA9F7}"/>
              </a:ext>
            </a:extLst>
          </p:cNvPr>
          <p:cNvSpPr txBox="1"/>
          <p:nvPr/>
        </p:nvSpPr>
        <p:spPr>
          <a:xfrm>
            <a:off x="7489234" y="5073302"/>
            <a:ext cx="2072281" cy="200435"/>
          </a:xfrm>
          <a:prstGeom prst="rect">
            <a:avLst/>
          </a:prstGeom>
          <a:noFill/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ko-KR" altLang="en-US" sz="1100" u="sng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업무 개선 사항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55762C9-02FC-AB1A-4DCE-A1DFF688227F}"/>
              </a:ext>
            </a:extLst>
          </p:cNvPr>
          <p:cNvSpPr txBox="1"/>
          <p:nvPr/>
        </p:nvSpPr>
        <p:spPr>
          <a:xfrm>
            <a:off x="4710767" y="5073302"/>
            <a:ext cx="2678203" cy="200435"/>
          </a:xfrm>
          <a:prstGeom prst="rect">
            <a:avLst/>
          </a:prstGeom>
          <a:noFill/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100" u="sng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Digital</a:t>
            </a:r>
            <a:r>
              <a:rPr lang="ko-KR" altLang="en-US" sz="1100" u="sng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화 기회</a:t>
            </a:r>
          </a:p>
        </p:txBody>
      </p:sp>
      <p:sp>
        <p:nvSpPr>
          <p:cNvPr id="5" name="화살표: 오각형 4">
            <a:extLst>
              <a:ext uri="{FF2B5EF4-FFF2-40B4-BE49-F238E27FC236}">
                <a16:creationId xmlns:a16="http://schemas.microsoft.com/office/drawing/2014/main" id="{5C9F0AA3-1E95-50E3-8111-DBD98D05B4CA}"/>
              </a:ext>
            </a:extLst>
          </p:cNvPr>
          <p:cNvSpPr/>
          <p:nvPr/>
        </p:nvSpPr>
        <p:spPr>
          <a:xfrm>
            <a:off x="344485" y="2211778"/>
            <a:ext cx="2195516" cy="349200"/>
          </a:xfrm>
          <a:prstGeom prst="homePlate">
            <a:avLst>
              <a:gd name="adj" fmla="val 24867"/>
            </a:avLst>
          </a:prstGeom>
          <a:solidFill>
            <a:schemeClr val="bg1">
              <a:lumMod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ko-KR" altLang="en-US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운영 정보 취합 및 가공</a:t>
            </a:r>
          </a:p>
        </p:txBody>
      </p:sp>
      <p:sp>
        <p:nvSpPr>
          <p:cNvPr id="6" name="화살표: 오각형 5">
            <a:extLst>
              <a:ext uri="{FF2B5EF4-FFF2-40B4-BE49-F238E27FC236}">
                <a16:creationId xmlns:a16="http://schemas.microsoft.com/office/drawing/2014/main" id="{020715FC-3921-3BC8-0647-225D52FA79B7}"/>
              </a:ext>
            </a:extLst>
          </p:cNvPr>
          <p:cNvSpPr/>
          <p:nvPr/>
        </p:nvSpPr>
        <p:spPr>
          <a:xfrm>
            <a:off x="2667205" y="2211778"/>
            <a:ext cx="2195516" cy="349200"/>
          </a:xfrm>
          <a:prstGeom prst="homePlate">
            <a:avLst>
              <a:gd name="adj" fmla="val 24867"/>
            </a:avLst>
          </a:prstGeom>
          <a:solidFill>
            <a:schemeClr val="bg1">
              <a:lumMod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ko-KR" altLang="en-US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운영 정보 제공 및 </a:t>
            </a:r>
            <a:r>
              <a:rPr lang="en-US" altLang="ko-KR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DB</a:t>
            </a:r>
            <a:r>
              <a:rPr lang="ko-KR" altLang="en-US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화</a:t>
            </a:r>
          </a:p>
        </p:txBody>
      </p:sp>
      <p:sp>
        <p:nvSpPr>
          <p:cNvPr id="8" name="화살표: 오각형 7">
            <a:extLst>
              <a:ext uri="{FF2B5EF4-FFF2-40B4-BE49-F238E27FC236}">
                <a16:creationId xmlns:a16="http://schemas.microsoft.com/office/drawing/2014/main" id="{29A55247-8129-82B8-9D18-603CDF46BE74}"/>
              </a:ext>
            </a:extLst>
          </p:cNvPr>
          <p:cNvSpPr/>
          <p:nvPr/>
        </p:nvSpPr>
        <p:spPr>
          <a:xfrm>
            <a:off x="5043796" y="2211778"/>
            <a:ext cx="2196761" cy="349200"/>
          </a:xfrm>
          <a:prstGeom prst="homePlate">
            <a:avLst>
              <a:gd name="adj" fmla="val 24867"/>
            </a:avLst>
          </a:prstGeom>
          <a:solidFill>
            <a:schemeClr val="bg1">
              <a:lumMod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ko-KR" altLang="en-US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운전 데이터 수집 및 분석</a:t>
            </a:r>
          </a:p>
        </p:txBody>
      </p:sp>
      <p:sp>
        <p:nvSpPr>
          <p:cNvPr id="21" name="화살표: 오각형 20">
            <a:extLst>
              <a:ext uri="{FF2B5EF4-FFF2-40B4-BE49-F238E27FC236}">
                <a16:creationId xmlns:a16="http://schemas.microsoft.com/office/drawing/2014/main" id="{FDC583CE-B052-1971-4420-4C25F9D87222}"/>
              </a:ext>
            </a:extLst>
          </p:cNvPr>
          <p:cNvSpPr/>
          <p:nvPr/>
        </p:nvSpPr>
        <p:spPr>
          <a:xfrm>
            <a:off x="7365091" y="2211778"/>
            <a:ext cx="2196761" cy="349200"/>
          </a:xfrm>
          <a:prstGeom prst="homePlate">
            <a:avLst>
              <a:gd name="adj" fmla="val 24867"/>
            </a:avLst>
          </a:prstGeom>
          <a:solidFill>
            <a:schemeClr val="bg1">
              <a:lumMod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ko-KR" altLang="en-US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운전 데이터 제공 및 </a:t>
            </a:r>
            <a:r>
              <a:rPr lang="en-US" altLang="ko-KR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DB</a:t>
            </a:r>
            <a:r>
              <a:rPr lang="ko-KR" altLang="en-US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화</a:t>
            </a:r>
          </a:p>
        </p:txBody>
      </p:sp>
      <p:sp>
        <p:nvSpPr>
          <p:cNvPr id="23" name="화살표: 오각형 22">
            <a:extLst>
              <a:ext uri="{FF2B5EF4-FFF2-40B4-BE49-F238E27FC236}">
                <a16:creationId xmlns:a16="http://schemas.microsoft.com/office/drawing/2014/main" id="{3C88AD17-4669-19D8-7B5F-1F542C587747}"/>
              </a:ext>
            </a:extLst>
          </p:cNvPr>
          <p:cNvSpPr/>
          <p:nvPr/>
        </p:nvSpPr>
        <p:spPr>
          <a:xfrm>
            <a:off x="344490" y="1964217"/>
            <a:ext cx="4518232" cy="201600"/>
          </a:xfrm>
          <a:prstGeom prst="homePlate">
            <a:avLst>
              <a:gd name="adj" fmla="val 24867"/>
            </a:avLst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ko-KR" altLang="en-US" sz="1000" b="1">
                <a:latin typeface="나눔스퀘어" panose="020B0600000101010101" pitchFamily="50" charset="-127"/>
                <a:ea typeface="나눔스퀘어" panose="020B0600000101010101" pitchFamily="50" charset="-127"/>
              </a:rPr>
              <a:t>공장 운영 정보 작성 및 제공</a:t>
            </a:r>
            <a:endParaRPr lang="en-US" altLang="ko-KR" sz="1000" b="1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E72B6F31-BDE9-9396-19E1-A2F138B681D9}"/>
              </a:ext>
            </a:extLst>
          </p:cNvPr>
          <p:cNvSpPr/>
          <p:nvPr/>
        </p:nvSpPr>
        <p:spPr>
          <a:xfrm>
            <a:off x="344486" y="3930097"/>
            <a:ext cx="2112052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수집 정보 완전성 및 정확성 검증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BC46A2FD-413F-EC54-2BFF-2E113D08143B}"/>
              </a:ext>
            </a:extLst>
          </p:cNvPr>
          <p:cNvSpPr/>
          <p:nvPr/>
        </p:nvSpPr>
        <p:spPr>
          <a:xfrm>
            <a:off x="2667204" y="3486836"/>
            <a:ext cx="2112052" cy="334800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데이터베이스 구축 및 이력 관리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(AI Agent)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E5FA0DC4-FDCC-DA23-B26A-1BD0D58DC1D1}"/>
              </a:ext>
            </a:extLst>
          </p:cNvPr>
          <p:cNvSpPr/>
          <p:nvPr/>
        </p:nvSpPr>
        <p:spPr>
          <a:xfrm>
            <a:off x="2667204" y="3053502"/>
            <a:ext cx="2112052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요청 담당자 질의 및 추가 요청 대응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565B26B2-CF9F-AF25-E0B7-CD0E671489A1}"/>
              </a:ext>
            </a:extLst>
          </p:cNvPr>
          <p:cNvSpPr/>
          <p:nvPr/>
        </p:nvSpPr>
        <p:spPr>
          <a:xfrm>
            <a:off x="5043796" y="3486836"/>
            <a:ext cx="2112052" cy="334800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데이터 가공 및 핵심 내용 도출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(AI Agent)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688C522A-36FC-3465-C8F6-8E433C0D2EDD}"/>
              </a:ext>
            </a:extLst>
          </p:cNvPr>
          <p:cNvSpPr/>
          <p:nvPr/>
        </p:nvSpPr>
        <p:spPr>
          <a:xfrm>
            <a:off x="5043796" y="3930097"/>
            <a:ext cx="2112052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수집 데이터 완전성 및 정확성 검증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957810B2-CB27-7915-F5F1-1DF6D2E74C6A}"/>
              </a:ext>
            </a:extLst>
          </p:cNvPr>
          <p:cNvSpPr/>
          <p:nvPr/>
        </p:nvSpPr>
        <p:spPr>
          <a:xfrm>
            <a:off x="344486" y="3057637"/>
            <a:ext cx="2113135" cy="334800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필요 정보 수집 및 취합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(AI Agent)</a:t>
            </a: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C29F5700-2FED-879B-97ED-E89E69BA4276}"/>
              </a:ext>
            </a:extLst>
          </p:cNvPr>
          <p:cNvSpPr/>
          <p:nvPr/>
        </p:nvSpPr>
        <p:spPr>
          <a:xfrm>
            <a:off x="2667204" y="2614376"/>
            <a:ext cx="2113135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요청 </a:t>
            </a:r>
            <a: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Template </a:t>
            </a: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작성 및 전달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ABB00085-C1A6-BF2F-5710-2D9991CD8E43}"/>
              </a:ext>
            </a:extLst>
          </p:cNvPr>
          <p:cNvSpPr/>
          <p:nvPr/>
        </p:nvSpPr>
        <p:spPr>
          <a:xfrm>
            <a:off x="5043796" y="3057637"/>
            <a:ext cx="2113135" cy="334800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필요 데이터 수집 및 취합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(AI Agent)</a:t>
            </a: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0D4B0677-5106-F37F-F0A6-5B14759FDAD9}"/>
              </a:ext>
            </a:extLst>
          </p:cNvPr>
          <p:cNvSpPr/>
          <p:nvPr/>
        </p:nvSpPr>
        <p:spPr>
          <a:xfrm>
            <a:off x="7366514" y="3053502"/>
            <a:ext cx="2113135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요청 담당자 질의 및 추가 요청 대응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56" name="사각형: 둥근 모서리 155">
            <a:extLst>
              <a:ext uri="{FF2B5EF4-FFF2-40B4-BE49-F238E27FC236}">
                <a16:creationId xmlns:a16="http://schemas.microsoft.com/office/drawing/2014/main" id="{F709667B-21D8-C164-C687-6BC7975CFE2F}"/>
              </a:ext>
            </a:extLst>
          </p:cNvPr>
          <p:cNvSpPr/>
          <p:nvPr/>
        </p:nvSpPr>
        <p:spPr>
          <a:xfrm>
            <a:off x="7365972" y="2614376"/>
            <a:ext cx="2113135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요청 </a:t>
            </a:r>
            <a: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Template </a:t>
            </a: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작성 및 전달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07CEDAB-954C-00D5-9D97-3E77A1B3F8BB}"/>
              </a:ext>
            </a:extLst>
          </p:cNvPr>
          <p:cNvSpPr txBox="1"/>
          <p:nvPr/>
        </p:nvSpPr>
        <p:spPr>
          <a:xfrm>
            <a:off x="7489234" y="5339044"/>
            <a:ext cx="2072281" cy="525013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72000" rIns="36000" rtlCol="0" anchor="ctr">
            <a:noAutofit/>
          </a:bodyPr>
          <a:lstStyle/>
          <a:p>
            <a:r>
              <a:rPr lang="en-US" altLang="ko-KR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DB</a:t>
            </a:r>
            <a:r>
              <a:rPr lang="ko-KR" altLang="en-US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화 대상 선정 및 속성 정의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A355890-53AD-F594-4AA3-469795D123F8}"/>
              </a:ext>
            </a:extLst>
          </p:cNvPr>
          <p:cNvSpPr txBox="1"/>
          <p:nvPr/>
        </p:nvSpPr>
        <p:spPr>
          <a:xfrm>
            <a:off x="344486" y="5329768"/>
            <a:ext cx="216000" cy="216000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46F4DDB-2143-367F-6BA7-C1364D8940C7}"/>
              </a:ext>
            </a:extLst>
          </p:cNvPr>
          <p:cNvSpPr txBox="1"/>
          <p:nvPr/>
        </p:nvSpPr>
        <p:spPr>
          <a:xfrm>
            <a:off x="4710767" y="5339044"/>
            <a:ext cx="2678203" cy="525013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72000" rIns="36000" rtlCol="0" anchor="ctr">
            <a:noAutofit/>
          </a:bodyPr>
          <a:lstStyle>
            <a:defPPr>
              <a:defRPr lang="en-US"/>
            </a:defPPr>
            <a:lvl1pPr>
              <a:defRPr sz="1000"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r>
              <a:rPr lang="ko-KR" altLang="en-US"/>
              <a:t>생산 운영 정보 저장 </a:t>
            </a:r>
            <a:r>
              <a:rPr lang="en-US" altLang="ko-KR"/>
              <a:t>· </a:t>
            </a:r>
            <a:r>
              <a:rPr lang="ko-KR" altLang="en-US"/>
              <a:t>분류 자동화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B6094B79-D259-FC9C-99EE-154093F01778}"/>
              </a:ext>
            </a:extLst>
          </p:cNvPr>
          <p:cNvSpPr/>
          <p:nvPr/>
        </p:nvSpPr>
        <p:spPr>
          <a:xfrm>
            <a:off x="6954839" y="5517850"/>
            <a:ext cx="386006" cy="167400"/>
          </a:xfrm>
          <a:prstGeom prst="roundRect">
            <a:avLst>
              <a:gd name="adj" fmla="val 18018"/>
            </a:avLst>
          </a:prstGeom>
          <a:solidFill>
            <a:schemeClr val="bg1">
              <a:lumMod val="50000"/>
            </a:schemeClr>
          </a:solidFill>
          <a:ln w="3175">
            <a:noFill/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자동화</a:t>
            </a:r>
            <a:endParaRPr kumimoji="1" lang="en-US" altLang="ko-KR" sz="900" ker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2" name="텍스트 개체 틀 4">
            <a:extLst>
              <a:ext uri="{FF2B5EF4-FFF2-40B4-BE49-F238E27FC236}">
                <a16:creationId xmlns:a16="http://schemas.microsoft.com/office/drawing/2014/main" id="{A65667E4-C19A-D24A-AEE8-57BF4CB53969}"/>
              </a:ext>
            </a:extLst>
          </p:cNvPr>
          <p:cNvSpPr txBox="1">
            <a:spLocks/>
          </p:cNvSpPr>
          <p:nvPr/>
        </p:nvSpPr>
        <p:spPr>
          <a:xfrm>
            <a:off x="1386038" y="721134"/>
            <a:ext cx="8180064" cy="769485"/>
          </a:xfrm>
          <a:prstGeom prst="rect">
            <a:avLst/>
          </a:prstGeom>
          <a:pattFill prst="dkUp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 w="3175">
            <a:noFill/>
          </a:ln>
        </p:spPr>
        <p:txBody>
          <a:bodyPr vert="horz" lIns="108000" tIns="36000" rIns="36000" bIns="36000" rtlCol="0" anchor="ctr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2563" indent="-182563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ko-KR" altLang="en-US" sz="1200" b="0"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ngal Pro" panose="020B0502040204020203" pitchFamily="2" charset="0"/>
              </a:rPr>
              <a:t>업무 산출물 지식 자산화 및 연결 강화</a:t>
            </a:r>
            <a:endParaRPr lang="en-US" altLang="ko-KR" sz="1200" b="0">
              <a:solidFill>
                <a:prstClr val="black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cs typeface="Mangal Pro" panose="020B0502040204020203" pitchFamily="2" charset="0"/>
            </a:endParaRPr>
          </a:p>
          <a:p>
            <a:pPr marL="355600" indent="-173038" latinLnBrk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Font typeface="나눔스퀘어 ExtraBold" panose="020B0600000101010101" pitchFamily="50" charset="-127"/>
              <a:buChar char="-"/>
            </a:pPr>
            <a:r>
              <a:rPr lang="ko-KR" altLang="en-US" sz="1100" b="0">
                <a:solidFill>
                  <a:prstClr val="black"/>
                </a:solidFill>
                <a:cs typeface="Mangal Pro" panose="020B0502040204020203" pitchFamily="2" charset="0"/>
              </a:rPr>
              <a:t>산출물의 체계적 축적 및 활용도 개선</a:t>
            </a:r>
            <a:endParaRPr lang="en-US" altLang="ko-KR" sz="1100" b="0">
              <a:solidFill>
                <a:prstClr val="black"/>
              </a:solidFill>
              <a:cs typeface="Mangal Pro" panose="020B0502040204020203" pitchFamily="2" charset="0"/>
            </a:endParaRPr>
          </a:p>
          <a:p>
            <a:pPr marL="355600" indent="-173038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나눔스퀘어 ExtraBold" panose="020B0600000101010101" pitchFamily="50" charset="-127"/>
              <a:buChar char="-"/>
            </a:pPr>
            <a:r>
              <a:rPr lang="ko-KR" altLang="en-US" sz="1100" b="0">
                <a:solidFill>
                  <a:prstClr val="black"/>
                </a:solidFill>
                <a:cs typeface="Mangal Pro" panose="020B0502040204020203" pitchFamily="2" charset="0"/>
              </a:rPr>
              <a:t>업무</a:t>
            </a:r>
            <a:r>
              <a:rPr lang="en-US" altLang="ko-KR" sz="1100" b="0">
                <a:solidFill>
                  <a:prstClr val="black"/>
                </a:solidFill>
                <a:cs typeface="Mangal Pro" panose="020B0502040204020203" pitchFamily="2" charset="0"/>
              </a:rPr>
              <a:t>-</a:t>
            </a:r>
            <a:r>
              <a:rPr lang="ko-KR" altLang="en-US" sz="1100" b="0">
                <a:solidFill>
                  <a:prstClr val="black"/>
                </a:solidFill>
                <a:cs typeface="Mangal Pro" panose="020B0502040204020203" pitchFamily="2" charset="0"/>
              </a:rPr>
              <a:t>데이터</a:t>
            </a:r>
            <a:r>
              <a:rPr lang="en-US" altLang="ko-KR" sz="1100" b="0">
                <a:solidFill>
                  <a:prstClr val="black"/>
                </a:solidFill>
                <a:cs typeface="Mangal Pro" panose="020B0502040204020203" pitchFamily="2" charset="0"/>
              </a:rPr>
              <a:t>-</a:t>
            </a:r>
            <a:r>
              <a:rPr lang="ko-KR" altLang="en-US" sz="1100" b="0">
                <a:solidFill>
                  <a:prstClr val="black"/>
                </a:solidFill>
                <a:cs typeface="Mangal Pro" panose="020B0502040204020203" pitchFamily="2" charset="0"/>
              </a:rPr>
              <a:t>산출물 간 연결성 확보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D5AA77B4-CBDE-9682-E328-E814A51F2C88}"/>
              </a:ext>
            </a:extLst>
          </p:cNvPr>
          <p:cNvSpPr/>
          <p:nvPr/>
        </p:nvSpPr>
        <p:spPr>
          <a:xfrm>
            <a:off x="344486" y="3486836"/>
            <a:ext cx="2112052" cy="334800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정보 가공 및 핵심 내용 도출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(AI Agent)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68F79648-C854-5AA4-ECA1-FEED6C116007}"/>
              </a:ext>
            </a:extLst>
          </p:cNvPr>
          <p:cNvSpPr/>
          <p:nvPr/>
        </p:nvSpPr>
        <p:spPr>
          <a:xfrm>
            <a:off x="7366514" y="3486836"/>
            <a:ext cx="2113135" cy="334800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데이터베이스 구축 및 이력 관리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(AI Agent)</a:t>
            </a:r>
          </a:p>
        </p:txBody>
      </p:sp>
      <p:cxnSp>
        <p:nvCxnSpPr>
          <p:cNvPr id="131" name="직선 화살표 연결선 130">
            <a:extLst>
              <a:ext uri="{FF2B5EF4-FFF2-40B4-BE49-F238E27FC236}">
                <a16:creationId xmlns:a16="http://schemas.microsoft.com/office/drawing/2014/main" id="{D86BAAB9-5204-DC3B-C1B5-1920B7AED627}"/>
              </a:ext>
            </a:extLst>
          </p:cNvPr>
          <p:cNvCxnSpPr>
            <a:cxnSpLocks/>
            <a:stCxn id="45" idx="2"/>
            <a:endCxn id="32" idx="0"/>
          </p:cNvCxnSpPr>
          <p:nvPr/>
        </p:nvCxnSpPr>
        <p:spPr>
          <a:xfrm flipH="1">
            <a:off x="3723230" y="2949176"/>
            <a:ext cx="542" cy="104326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직선 화살표 연결선 137">
            <a:extLst>
              <a:ext uri="{FF2B5EF4-FFF2-40B4-BE49-F238E27FC236}">
                <a16:creationId xmlns:a16="http://schemas.microsoft.com/office/drawing/2014/main" id="{01E38FE6-77CF-7DA0-E3BE-1CFFDF177CD1}"/>
              </a:ext>
            </a:extLst>
          </p:cNvPr>
          <p:cNvCxnSpPr>
            <a:cxnSpLocks/>
            <a:stCxn id="32" idx="2"/>
            <a:endCxn id="26" idx="0"/>
          </p:cNvCxnSpPr>
          <p:nvPr/>
        </p:nvCxnSpPr>
        <p:spPr>
          <a:xfrm>
            <a:off x="3723230" y="3388302"/>
            <a:ext cx="0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직선 화살표 연결선 147">
            <a:extLst>
              <a:ext uri="{FF2B5EF4-FFF2-40B4-BE49-F238E27FC236}">
                <a16:creationId xmlns:a16="http://schemas.microsoft.com/office/drawing/2014/main" id="{36F65022-E23C-6395-F603-131BEDA06215}"/>
              </a:ext>
            </a:extLst>
          </p:cNvPr>
          <p:cNvCxnSpPr>
            <a:cxnSpLocks/>
            <a:stCxn id="156" idx="2"/>
            <a:endCxn id="61" idx="0"/>
          </p:cNvCxnSpPr>
          <p:nvPr/>
        </p:nvCxnSpPr>
        <p:spPr>
          <a:xfrm>
            <a:off x="8422540" y="2949176"/>
            <a:ext cx="542" cy="104326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직선 화살표 연결선 150">
            <a:extLst>
              <a:ext uri="{FF2B5EF4-FFF2-40B4-BE49-F238E27FC236}">
                <a16:creationId xmlns:a16="http://schemas.microsoft.com/office/drawing/2014/main" id="{E5D043EA-0B1E-D841-E844-4BE905169132}"/>
              </a:ext>
            </a:extLst>
          </p:cNvPr>
          <p:cNvCxnSpPr>
            <a:cxnSpLocks/>
            <a:stCxn id="61" idx="2"/>
            <a:endCxn id="46" idx="0"/>
          </p:cNvCxnSpPr>
          <p:nvPr/>
        </p:nvCxnSpPr>
        <p:spPr>
          <a:xfrm>
            <a:off x="8423082" y="3388302"/>
            <a:ext cx="0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화살표: 오각형 8">
            <a:extLst>
              <a:ext uri="{FF2B5EF4-FFF2-40B4-BE49-F238E27FC236}">
                <a16:creationId xmlns:a16="http://schemas.microsoft.com/office/drawing/2014/main" id="{362AEA09-81E4-2AFB-B4B4-273B99509BF6}"/>
              </a:ext>
            </a:extLst>
          </p:cNvPr>
          <p:cNvSpPr/>
          <p:nvPr/>
        </p:nvSpPr>
        <p:spPr>
          <a:xfrm>
            <a:off x="5043281" y="1964217"/>
            <a:ext cx="4518229" cy="201600"/>
          </a:xfrm>
          <a:prstGeom prst="homePlate">
            <a:avLst>
              <a:gd name="adj" fmla="val 24867"/>
            </a:avLst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ko-KR" altLang="en-US" sz="1000" b="1">
                <a:latin typeface="나눔스퀘어" panose="020B0600000101010101" pitchFamily="50" charset="-127"/>
                <a:ea typeface="나눔스퀘어" panose="020B0600000101010101" pitchFamily="50" charset="-127"/>
              </a:rPr>
              <a:t>공정 운전 정보 작성 및 제공</a:t>
            </a:r>
            <a:endParaRPr lang="en-US" altLang="ko-KR" sz="1000" b="1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01D3681-4356-19BD-7A36-1FE732C74043}"/>
              </a:ext>
            </a:extLst>
          </p:cNvPr>
          <p:cNvSpPr txBox="1"/>
          <p:nvPr/>
        </p:nvSpPr>
        <p:spPr>
          <a:xfrm>
            <a:off x="270722" y="3592261"/>
            <a:ext cx="147532" cy="147532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8A36302-D589-2286-1579-DE3371A698D8}"/>
              </a:ext>
            </a:extLst>
          </p:cNvPr>
          <p:cNvSpPr txBox="1"/>
          <p:nvPr/>
        </p:nvSpPr>
        <p:spPr>
          <a:xfrm>
            <a:off x="270722" y="3151271"/>
            <a:ext cx="147532" cy="147532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01B5EF4A-2975-474D-8776-358AB045C618}"/>
              </a:ext>
            </a:extLst>
          </p:cNvPr>
          <p:cNvSpPr txBox="1"/>
          <p:nvPr/>
        </p:nvSpPr>
        <p:spPr>
          <a:xfrm>
            <a:off x="4970030" y="3151271"/>
            <a:ext cx="147532" cy="147532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8BDA039B-A4D2-F205-9D0B-843CFCEC6E67}"/>
              </a:ext>
            </a:extLst>
          </p:cNvPr>
          <p:cNvSpPr txBox="1"/>
          <p:nvPr/>
        </p:nvSpPr>
        <p:spPr>
          <a:xfrm>
            <a:off x="4970030" y="3592668"/>
            <a:ext cx="147532" cy="147532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C2A05E97-0187-4632-A178-3ED5CE9283D7}"/>
              </a:ext>
            </a:extLst>
          </p:cNvPr>
          <p:cNvSpPr txBox="1"/>
          <p:nvPr/>
        </p:nvSpPr>
        <p:spPr>
          <a:xfrm>
            <a:off x="2593438" y="3580470"/>
            <a:ext cx="147532" cy="147532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8FDE4A74-90AD-45E6-AF6B-15295647D68C}"/>
              </a:ext>
            </a:extLst>
          </p:cNvPr>
          <p:cNvSpPr txBox="1"/>
          <p:nvPr/>
        </p:nvSpPr>
        <p:spPr>
          <a:xfrm>
            <a:off x="7291325" y="3582500"/>
            <a:ext cx="147532" cy="147532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72217437-1FB1-6B11-9684-6CCAA3CCA6D3}"/>
              </a:ext>
            </a:extLst>
          </p:cNvPr>
          <p:cNvSpPr/>
          <p:nvPr/>
        </p:nvSpPr>
        <p:spPr>
          <a:xfrm>
            <a:off x="344486" y="2616142"/>
            <a:ext cx="2113135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운영 정보 취합 요청 접수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5682804D-17D6-9E81-88D2-31F361D5ABA4}"/>
              </a:ext>
            </a:extLst>
          </p:cNvPr>
          <p:cNvCxnSpPr>
            <a:cxnSpLocks/>
            <a:stCxn id="59" idx="2"/>
            <a:endCxn id="40" idx="0"/>
          </p:cNvCxnSpPr>
          <p:nvPr/>
        </p:nvCxnSpPr>
        <p:spPr>
          <a:xfrm>
            <a:off x="1401054" y="2950942"/>
            <a:ext cx="0" cy="106695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사각형: 둥근 모서리 135">
            <a:extLst>
              <a:ext uri="{FF2B5EF4-FFF2-40B4-BE49-F238E27FC236}">
                <a16:creationId xmlns:a16="http://schemas.microsoft.com/office/drawing/2014/main" id="{1B23D072-F834-6BC8-D2E3-ED40EDBF99A5}"/>
              </a:ext>
            </a:extLst>
          </p:cNvPr>
          <p:cNvSpPr/>
          <p:nvPr/>
        </p:nvSpPr>
        <p:spPr>
          <a:xfrm>
            <a:off x="5042713" y="2616142"/>
            <a:ext cx="2113135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운전 데이터 취합 요청 접수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cxnSp>
        <p:nvCxnSpPr>
          <p:cNvPr id="137" name="연결선: 꺾임 136">
            <a:extLst>
              <a:ext uri="{FF2B5EF4-FFF2-40B4-BE49-F238E27FC236}">
                <a16:creationId xmlns:a16="http://schemas.microsoft.com/office/drawing/2014/main" id="{69B24D12-9B02-5872-F3E9-97815918F8DE}"/>
              </a:ext>
            </a:extLst>
          </p:cNvPr>
          <p:cNvCxnSpPr>
            <a:cxnSpLocks/>
            <a:stCxn id="25" idx="3"/>
            <a:endCxn id="45" idx="1"/>
          </p:cNvCxnSpPr>
          <p:nvPr/>
        </p:nvCxnSpPr>
        <p:spPr>
          <a:xfrm flipV="1">
            <a:off x="2456538" y="2781776"/>
            <a:ext cx="210666" cy="1315721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연결선: 꺾임 141">
            <a:extLst>
              <a:ext uri="{FF2B5EF4-FFF2-40B4-BE49-F238E27FC236}">
                <a16:creationId xmlns:a16="http://schemas.microsoft.com/office/drawing/2014/main" id="{748AC2D3-EF23-5850-5132-399DABD46CC1}"/>
              </a:ext>
            </a:extLst>
          </p:cNvPr>
          <p:cNvCxnSpPr>
            <a:cxnSpLocks/>
            <a:stCxn id="38" idx="3"/>
            <a:endCxn id="156" idx="1"/>
          </p:cNvCxnSpPr>
          <p:nvPr/>
        </p:nvCxnSpPr>
        <p:spPr>
          <a:xfrm flipV="1">
            <a:off x="7155848" y="2781776"/>
            <a:ext cx="210124" cy="1315721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직선 화살표 연결선 146">
            <a:extLst>
              <a:ext uri="{FF2B5EF4-FFF2-40B4-BE49-F238E27FC236}">
                <a16:creationId xmlns:a16="http://schemas.microsoft.com/office/drawing/2014/main" id="{0EC7E4A3-563A-E1E0-2316-8379F3CF4D58}"/>
              </a:ext>
            </a:extLst>
          </p:cNvPr>
          <p:cNvCxnSpPr>
            <a:cxnSpLocks/>
            <a:stCxn id="136" idx="2"/>
            <a:endCxn id="56" idx="0"/>
          </p:cNvCxnSpPr>
          <p:nvPr/>
        </p:nvCxnSpPr>
        <p:spPr>
          <a:xfrm>
            <a:off x="6099281" y="2950942"/>
            <a:ext cx="1083" cy="106695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TextBox 154">
            <a:extLst>
              <a:ext uri="{FF2B5EF4-FFF2-40B4-BE49-F238E27FC236}">
                <a16:creationId xmlns:a16="http://schemas.microsoft.com/office/drawing/2014/main" id="{F5D69281-83FD-D0D5-56B7-D366B4E32D0F}"/>
              </a:ext>
            </a:extLst>
          </p:cNvPr>
          <p:cNvSpPr txBox="1"/>
          <p:nvPr/>
        </p:nvSpPr>
        <p:spPr>
          <a:xfrm>
            <a:off x="673770" y="5339044"/>
            <a:ext cx="3936732" cy="528915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72000" rIns="36000" rtlCol="0" anchor="ctr">
            <a:noAutofit/>
          </a:bodyPr>
          <a:lstStyle/>
          <a:p>
            <a:pPr marL="72000" indent="-72000">
              <a:buFont typeface="Arial" panose="020B0604020202020204" pitchFamily="34" charset="0"/>
              <a:buChar char="•"/>
            </a:pPr>
            <a:r>
              <a:rPr lang="ko-KR" altLang="en-US" sz="1000" spc="-5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시스템 </a:t>
            </a:r>
            <a:r>
              <a:rPr lang="en-US" altLang="ko-KR" sz="1000" spc="-5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· </a:t>
            </a:r>
            <a:r>
              <a:rPr lang="ko-KR" altLang="en-US" sz="1000" spc="-5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저장소 내 수작업 조회 → 요청 분석</a:t>
            </a:r>
            <a:r>
              <a:rPr lang="en-US" altLang="ko-KR" sz="1000" spc="-5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spc="-5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유관 자료 자동 수집 및 제공</a:t>
            </a:r>
          </a:p>
          <a:p>
            <a:pPr marL="72000" indent="-72000">
              <a:buFont typeface="Arial" panose="020B0604020202020204" pitchFamily="34" charset="0"/>
              <a:buChar char="•"/>
            </a:pPr>
            <a:r>
              <a:rPr lang="en-US" altLang="ko-KR" sz="1000" spc="-5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RTDB · </a:t>
            </a:r>
            <a:r>
              <a:rPr lang="ko-KR" altLang="en-US" sz="1000" spc="-5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저장소 내 수작업 조회 → 요청 분석</a:t>
            </a:r>
            <a:r>
              <a:rPr lang="en-US" altLang="ko-KR" sz="1000" spc="-5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spc="-5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유관 </a:t>
            </a:r>
            <a:r>
              <a:rPr lang="en-US" altLang="ko-KR" sz="1000" spc="-5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Data </a:t>
            </a:r>
            <a:r>
              <a:rPr lang="ko-KR" altLang="en-US" sz="1000" spc="-5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자동 수집 및 제공</a:t>
            </a:r>
            <a:endParaRPr lang="en-US" altLang="ko-KR" sz="1000" spc="-5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72000" indent="-72000">
              <a:buFont typeface="Arial" panose="020B0604020202020204" pitchFamily="34" charset="0"/>
              <a:buChar char="•"/>
            </a:pPr>
            <a:r>
              <a:rPr lang="ko-KR" altLang="en-US" sz="1000" spc="-5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생성 정보 시스템 </a:t>
            </a:r>
            <a:r>
              <a:rPr lang="en-US" altLang="ko-KR" sz="1000" spc="-5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· </a:t>
            </a:r>
            <a:r>
              <a:rPr lang="ko-KR" altLang="en-US" sz="1000" spc="-5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저장소 내 수작업 저장 → 생성 정보 자동 분류 및 저장</a:t>
            </a:r>
          </a:p>
        </p:txBody>
      </p:sp>
    </p:spTree>
    <p:extLst>
      <p:ext uri="{BB962C8B-B14F-4D97-AF65-F5344CB8AC3E}">
        <p14:creationId xmlns:p14="http://schemas.microsoft.com/office/powerpoint/2010/main" val="18071670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F4E8D-7838-4DBD-3634-209AD9A21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637104F-1439-2C95-6B6C-AFB95206A63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4487" y="254884"/>
            <a:ext cx="4586512" cy="343235"/>
          </a:xfrm>
          <a:solidFill>
            <a:schemeClr val="bg1"/>
          </a:solidFill>
        </p:spPr>
        <p:txBody>
          <a:bodyPr wrap="none" anchor="ctr">
            <a:spAutoFit/>
          </a:bodyPr>
          <a:lstStyle/>
          <a:p>
            <a:r>
              <a:rPr lang="en-US" altLang="ko-KR" b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Appendix. [</a:t>
            </a:r>
            <a:r>
              <a:rPr lang="ko-KR" altLang="en-US" b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생산기술</a:t>
            </a:r>
            <a:r>
              <a:rPr lang="en-US" altLang="ko-KR" b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] </a:t>
            </a:r>
            <a:r>
              <a:rPr lang="ko-KR" altLang="en-US" b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기술 교육 및 역량 향상</a:t>
            </a:r>
            <a:endParaRPr lang="en-US" altLang="ko-KR" b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171" name="사각형: 둥근 모서리 170">
            <a:extLst>
              <a:ext uri="{FF2B5EF4-FFF2-40B4-BE49-F238E27FC236}">
                <a16:creationId xmlns:a16="http://schemas.microsoft.com/office/drawing/2014/main" id="{964F1BFD-C489-B4D6-A5F7-B2117212A7F5}"/>
              </a:ext>
            </a:extLst>
          </p:cNvPr>
          <p:cNvSpPr/>
          <p:nvPr/>
        </p:nvSpPr>
        <p:spPr>
          <a:xfrm>
            <a:off x="344488" y="721134"/>
            <a:ext cx="941772" cy="763179"/>
          </a:xfrm>
          <a:prstGeom prst="roundRect">
            <a:avLst>
              <a:gd name="adj" fmla="val 0"/>
            </a:avLst>
          </a:prstGeom>
          <a:solidFill>
            <a:srgbClr val="217CFA"/>
          </a:solidFill>
          <a:ln w="6350">
            <a:solidFill>
              <a:srgbClr val="217C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Digital</a:t>
            </a:r>
            <a:r>
              <a:rPr lang="ko-KR" altLang="en-US" sz="130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화 지향점</a:t>
            </a:r>
          </a:p>
        </p:txBody>
      </p: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BBF7B489-6705-A1FB-1F86-1ED6D6950EEA}"/>
              </a:ext>
            </a:extLst>
          </p:cNvPr>
          <p:cNvCxnSpPr>
            <a:cxnSpLocks/>
          </p:cNvCxnSpPr>
          <p:nvPr/>
        </p:nvCxnSpPr>
        <p:spPr>
          <a:xfrm>
            <a:off x="344488" y="4859066"/>
            <a:ext cx="9221614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" name="사각형: 둥근 모서리 173">
            <a:extLst>
              <a:ext uri="{FF2B5EF4-FFF2-40B4-BE49-F238E27FC236}">
                <a16:creationId xmlns:a16="http://schemas.microsoft.com/office/drawing/2014/main" id="{DA2A4241-523F-3576-AB19-B69830D25CCE}"/>
              </a:ext>
            </a:extLst>
          </p:cNvPr>
          <p:cNvSpPr/>
          <p:nvPr/>
        </p:nvSpPr>
        <p:spPr>
          <a:xfrm>
            <a:off x="4031571" y="4731072"/>
            <a:ext cx="1847448" cy="25598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rgbClr val="217C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주요</a:t>
            </a:r>
            <a:r>
              <a:rPr lang="en-US" altLang="ko-KR" sz="1200">
                <a:solidFill>
                  <a:schemeClr val="tx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ko-KR" altLang="en-US" sz="1200">
                <a:solidFill>
                  <a:schemeClr val="tx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추진 사항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72AE6F09-9429-7D89-2757-35569D207DB4}"/>
              </a:ext>
            </a:extLst>
          </p:cNvPr>
          <p:cNvSpPr txBox="1"/>
          <p:nvPr/>
        </p:nvSpPr>
        <p:spPr>
          <a:xfrm>
            <a:off x="673770" y="5073302"/>
            <a:ext cx="3936732" cy="200435"/>
          </a:xfrm>
          <a:prstGeom prst="rect">
            <a:avLst/>
          </a:prstGeom>
          <a:noFill/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ko-KR" altLang="en-US" sz="1100" u="sng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변화 </a:t>
            </a:r>
            <a:r>
              <a:rPr lang="en-US" altLang="ko-KR" sz="1100" u="sng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Point</a:t>
            </a:r>
            <a:endParaRPr lang="ko-KR" altLang="en-US" sz="1100" u="sng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E208B4E8-757A-3FD6-98C2-D05F900918EB}"/>
              </a:ext>
            </a:extLst>
          </p:cNvPr>
          <p:cNvSpPr txBox="1"/>
          <p:nvPr/>
        </p:nvSpPr>
        <p:spPr>
          <a:xfrm>
            <a:off x="673770" y="5329768"/>
            <a:ext cx="3936732" cy="23166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72000" rIns="36000" rtlCol="0" anchor="ctr">
            <a:noAutofit/>
          </a:bodyPr>
          <a:lstStyle/>
          <a:p>
            <a:r>
              <a:rPr lang="ko-KR" altLang="en-US" sz="1000" spc="-7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교육 결과 개별 문서 작성 </a:t>
            </a:r>
            <a:r>
              <a:rPr lang="en-US" altLang="ko-KR" sz="1000" spc="-7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· </a:t>
            </a:r>
            <a:r>
              <a:rPr lang="ko-KR" altLang="en-US" sz="1000" spc="-7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보관 → 교육 결과 시스템 입력 기반 분석 및 활용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91AFFDF9-C291-EFDA-A90E-02288F37859E}"/>
              </a:ext>
            </a:extLst>
          </p:cNvPr>
          <p:cNvSpPr txBox="1"/>
          <p:nvPr/>
        </p:nvSpPr>
        <p:spPr>
          <a:xfrm>
            <a:off x="7489234" y="5073302"/>
            <a:ext cx="2072281" cy="200435"/>
          </a:xfrm>
          <a:prstGeom prst="rect">
            <a:avLst/>
          </a:prstGeom>
          <a:noFill/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ko-KR" altLang="en-US" sz="1100" u="sng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업무 개선 사항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2ABEB0DE-F2D6-A151-777D-30BB989A2100}"/>
              </a:ext>
            </a:extLst>
          </p:cNvPr>
          <p:cNvSpPr txBox="1"/>
          <p:nvPr/>
        </p:nvSpPr>
        <p:spPr>
          <a:xfrm>
            <a:off x="7489234" y="5329768"/>
            <a:ext cx="2072281" cy="23166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72000" rIns="36000" rtlCol="0" anchor="ctr">
            <a:noAutofit/>
          </a:bodyPr>
          <a:lstStyle/>
          <a:p>
            <a:r>
              <a:rPr lang="en-US" altLang="ko-KR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N/A</a:t>
            </a:r>
            <a:endParaRPr lang="ko-KR" altLang="en-US" sz="100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028FFA1C-338A-06C2-0BC8-7110F825A7C5}"/>
              </a:ext>
            </a:extLst>
          </p:cNvPr>
          <p:cNvSpPr txBox="1"/>
          <p:nvPr/>
        </p:nvSpPr>
        <p:spPr>
          <a:xfrm>
            <a:off x="344486" y="5329768"/>
            <a:ext cx="216000" cy="216000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A361C7CB-21C9-7E1D-E1F1-A3E1CFA22EF5}"/>
              </a:ext>
            </a:extLst>
          </p:cNvPr>
          <p:cNvSpPr txBox="1"/>
          <p:nvPr/>
        </p:nvSpPr>
        <p:spPr>
          <a:xfrm>
            <a:off x="4710767" y="5073302"/>
            <a:ext cx="2678203" cy="200435"/>
          </a:xfrm>
          <a:prstGeom prst="rect">
            <a:avLst/>
          </a:prstGeom>
          <a:noFill/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100" u="sng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Digital</a:t>
            </a:r>
            <a:r>
              <a:rPr lang="ko-KR" altLang="en-US" sz="1100" u="sng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화 기회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65894F87-3B38-8554-3E14-4BEE51B045C5}"/>
              </a:ext>
            </a:extLst>
          </p:cNvPr>
          <p:cNvSpPr txBox="1"/>
          <p:nvPr/>
        </p:nvSpPr>
        <p:spPr>
          <a:xfrm>
            <a:off x="4710767" y="5329768"/>
            <a:ext cx="2678203" cy="23166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72000" rIns="36000" rtlCol="0" anchor="ctr">
            <a:noAutofit/>
          </a:bodyPr>
          <a:lstStyle/>
          <a:p>
            <a:r>
              <a:rPr lang="ko-KR" altLang="en-US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교육 포탈 기능 개선</a:t>
            </a:r>
            <a:r>
              <a:rPr lang="en-US" altLang="ko-KR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교육 결과 관리</a:t>
            </a:r>
            <a:r>
              <a:rPr lang="en-US" altLang="ko-KR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endParaRPr lang="ko-KR" altLang="en-US" sz="100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28" name="사각형: 둥근 모서리 227">
            <a:extLst>
              <a:ext uri="{FF2B5EF4-FFF2-40B4-BE49-F238E27FC236}">
                <a16:creationId xmlns:a16="http://schemas.microsoft.com/office/drawing/2014/main" id="{C1A61980-EC7B-F897-A09D-1CF69C69EC7E}"/>
              </a:ext>
            </a:extLst>
          </p:cNvPr>
          <p:cNvSpPr/>
          <p:nvPr/>
        </p:nvSpPr>
        <p:spPr>
          <a:xfrm>
            <a:off x="6954839" y="5361899"/>
            <a:ext cx="386006" cy="167400"/>
          </a:xfrm>
          <a:prstGeom prst="roundRect">
            <a:avLst>
              <a:gd name="adj" fmla="val 18018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정보화</a:t>
            </a:r>
            <a:endParaRPr kumimoji="1" lang="en-US" altLang="ko-KR" sz="900" kern="0">
              <a:latin typeface="나눔스퀘어 Bold" panose="020B0600000101010101" pitchFamily="50" charset="-127"/>
              <a:ea typeface="나눔스퀘어 Bold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C3ABAAB-D041-2850-0382-CDD8E345603C}"/>
              </a:ext>
            </a:extLst>
          </p:cNvPr>
          <p:cNvSpPr txBox="1">
            <a:spLocks/>
          </p:cNvSpPr>
          <p:nvPr/>
        </p:nvSpPr>
        <p:spPr>
          <a:xfrm>
            <a:off x="1386038" y="721134"/>
            <a:ext cx="8180064" cy="769485"/>
          </a:xfrm>
          <a:prstGeom prst="rect">
            <a:avLst/>
          </a:prstGeom>
          <a:pattFill prst="dkUp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 w="3175">
            <a:noFill/>
          </a:ln>
        </p:spPr>
        <p:txBody>
          <a:bodyPr vert="horz" lIns="108000" tIns="36000" rIns="36000" bIns="36000" rtlCol="0" anchor="ctr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2563" indent="-182563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ko-KR" altLang="en-US" sz="1200" b="0"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ngal Pro" panose="020B0502040204020203" pitchFamily="2" charset="0"/>
              </a:rPr>
              <a:t>기술 세미나 및 교육 자료 관리 </a:t>
            </a:r>
            <a:r>
              <a:rPr lang="en-US" altLang="ko-KR" sz="1200" b="0"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ngal Pro" panose="020B0502040204020203" pitchFamily="2" charset="0"/>
              </a:rPr>
              <a:t>Digital</a:t>
            </a:r>
            <a:r>
              <a:rPr lang="ko-KR" altLang="en-US" sz="1200" b="0"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ngal Pro" panose="020B0502040204020203" pitchFamily="2" charset="0"/>
              </a:rPr>
              <a:t>화</a:t>
            </a:r>
            <a:endParaRPr lang="en-US" altLang="ko-KR" sz="1200" b="0">
              <a:solidFill>
                <a:prstClr val="black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cs typeface="Mangal Pro" panose="020B0502040204020203" pitchFamily="2" charset="0"/>
            </a:endParaRPr>
          </a:p>
          <a:p>
            <a:pPr marL="355600" indent="-173038" latinLnBrk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Font typeface="나눔스퀘어 ExtraBold" panose="020B0600000101010101" pitchFamily="50" charset="-127"/>
              <a:buChar char="-"/>
            </a:pPr>
            <a:r>
              <a:rPr lang="ko-KR" altLang="en-US" sz="1100" b="0">
                <a:solidFill>
                  <a:prstClr val="black"/>
                </a:solidFill>
                <a:cs typeface="Mangal Pro" panose="020B0502040204020203" pitchFamily="2" charset="0"/>
              </a:rPr>
              <a:t>기술 세미나 및 워크숍 자료 사내 자산화</a:t>
            </a:r>
            <a:endParaRPr lang="en-US" altLang="ko-KR" sz="1100" b="0">
              <a:solidFill>
                <a:prstClr val="black"/>
              </a:solidFill>
              <a:cs typeface="Mangal Pro" panose="020B0502040204020203" pitchFamily="2" charset="0"/>
            </a:endParaRPr>
          </a:p>
          <a:p>
            <a:pPr marL="355600" indent="-173038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나눔스퀘어 ExtraBold" panose="020B0600000101010101" pitchFamily="50" charset="-127"/>
              <a:buChar char="-"/>
            </a:pPr>
            <a:r>
              <a:rPr lang="ko-KR" altLang="en-US" sz="1100" b="0">
                <a:solidFill>
                  <a:prstClr val="black"/>
                </a:solidFill>
                <a:cs typeface="Mangal Pro" panose="020B0502040204020203" pitchFamily="2" charset="0"/>
              </a:rPr>
              <a:t>엔지니어 교육 자료 및 이력 관리 체계화</a:t>
            </a:r>
          </a:p>
        </p:txBody>
      </p:sp>
      <p:sp>
        <p:nvSpPr>
          <p:cNvPr id="192" name="사각형: 둥근 모서리 191">
            <a:extLst>
              <a:ext uri="{FF2B5EF4-FFF2-40B4-BE49-F238E27FC236}">
                <a16:creationId xmlns:a16="http://schemas.microsoft.com/office/drawing/2014/main" id="{A68CAFE8-3B7F-52FC-08C4-24568B37B539}"/>
              </a:ext>
            </a:extLst>
          </p:cNvPr>
          <p:cNvSpPr/>
          <p:nvPr/>
        </p:nvSpPr>
        <p:spPr>
          <a:xfrm>
            <a:off x="344487" y="3037455"/>
            <a:ext cx="1687168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사내</a:t>
            </a:r>
            <a: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/</a:t>
            </a: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외 발표자 섭외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95" name="사각형: 둥근 모서리 194">
            <a:extLst>
              <a:ext uri="{FF2B5EF4-FFF2-40B4-BE49-F238E27FC236}">
                <a16:creationId xmlns:a16="http://schemas.microsoft.com/office/drawing/2014/main" id="{09C1F566-8527-7F36-7680-12C8D99D7BB0}"/>
              </a:ext>
            </a:extLst>
          </p:cNvPr>
          <p:cNvSpPr/>
          <p:nvPr/>
        </p:nvSpPr>
        <p:spPr>
          <a:xfrm>
            <a:off x="344487" y="3470789"/>
            <a:ext cx="1687168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세미나</a:t>
            </a:r>
            <a: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/</a:t>
            </a: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워크숍 계획 수립</a:t>
            </a:r>
            <a: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및 안내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98" name="사각형: 둥근 모서리 197">
            <a:extLst>
              <a:ext uri="{FF2B5EF4-FFF2-40B4-BE49-F238E27FC236}">
                <a16:creationId xmlns:a16="http://schemas.microsoft.com/office/drawing/2014/main" id="{682C9252-0E8F-711E-A303-38E3647E8B70}"/>
              </a:ext>
            </a:extLst>
          </p:cNvPr>
          <p:cNvSpPr/>
          <p:nvPr/>
        </p:nvSpPr>
        <p:spPr>
          <a:xfrm>
            <a:off x="2199941" y="3037455"/>
            <a:ext cx="1687168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피드백 수렴 및 반영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00" name="사각형: 둥근 모서리 199">
            <a:extLst>
              <a:ext uri="{FF2B5EF4-FFF2-40B4-BE49-F238E27FC236}">
                <a16:creationId xmlns:a16="http://schemas.microsoft.com/office/drawing/2014/main" id="{77803F8A-180E-CB0F-9ABF-A282550B4F99}"/>
              </a:ext>
            </a:extLst>
          </p:cNvPr>
          <p:cNvSpPr/>
          <p:nvPr/>
        </p:nvSpPr>
        <p:spPr>
          <a:xfrm>
            <a:off x="4055395" y="3470789"/>
            <a:ext cx="1687168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사내</a:t>
            </a:r>
            <a: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/</a:t>
            </a: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외 역량 개발 프로그램</a:t>
            </a:r>
            <a: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추진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03" name="사각형: 둥근 모서리 202">
            <a:extLst>
              <a:ext uri="{FF2B5EF4-FFF2-40B4-BE49-F238E27FC236}">
                <a16:creationId xmlns:a16="http://schemas.microsoft.com/office/drawing/2014/main" id="{D3C0F45A-326B-E7BE-452A-0F3648272968}"/>
              </a:ext>
            </a:extLst>
          </p:cNvPr>
          <p:cNvSpPr/>
          <p:nvPr/>
        </p:nvSpPr>
        <p:spPr>
          <a:xfrm>
            <a:off x="4055395" y="3037455"/>
            <a:ext cx="1687168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계층별 역량 개발 목표 설정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08" name="사각형: 둥근 모서리 207">
            <a:extLst>
              <a:ext uri="{FF2B5EF4-FFF2-40B4-BE49-F238E27FC236}">
                <a16:creationId xmlns:a16="http://schemas.microsoft.com/office/drawing/2014/main" id="{1AC86BBF-B6D1-3701-5CC3-6D86901E5680}"/>
              </a:ext>
            </a:extLst>
          </p:cNvPr>
          <p:cNvSpPr/>
          <p:nvPr/>
        </p:nvSpPr>
        <p:spPr>
          <a:xfrm>
            <a:off x="5910849" y="3037455"/>
            <a:ext cx="1687168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단계별 학습 목표 설정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C4835DAC-983D-99BA-30A0-0DC551951B53}"/>
              </a:ext>
            </a:extLst>
          </p:cNvPr>
          <p:cNvSpPr/>
          <p:nvPr/>
        </p:nvSpPr>
        <p:spPr>
          <a:xfrm>
            <a:off x="7766301" y="3037455"/>
            <a:ext cx="1687168" cy="334800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목표 대비 성과 평가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(</a:t>
            </a: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교육 포탈</a:t>
            </a:r>
            <a:r>
              <a:rPr kumimoji="1" lang="en-US" altLang="ko-KR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94" name="화살표: 오각형 193">
            <a:extLst>
              <a:ext uri="{FF2B5EF4-FFF2-40B4-BE49-F238E27FC236}">
                <a16:creationId xmlns:a16="http://schemas.microsoft.com/office/drawing/2014/main" id="{731E7F96-749E-DEEE-1287-B451F480FFF7}"/>
              </a:ext>
            </a:extLst>
          </p:cNvPr>
          <p:cNvSpPr/>
          <p:nvPr/>
        </p:nvSpPr>
        <p:spPr>
          <a:xfrm>
            <a:off x="344485" y="2194636"/>
            <a:ext cx="1796464" cy="347687"/>
          </a:xfrm>
          <a:prstGeom prst="homePlate">
            <a:avLst>
              <a:gd name="adj" fmla="val 24867"/>
            </a:avLst>
          </a:prstGeom>
          <a:solidFill>
            <a:schemeClr val="bg1">
              <a:lumMod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ko-KR" altLang="en-US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세미나</a:t>
            </a:r>
            <a:r>
              <a:rPr lang="en-US" altLang="ko-KR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</a:t>
            </a:r>
            <a:r>
              <a:rPr lang="ko-KR" altLang="en-US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워크숍 준비</a:t>
            </a:r>
          </a:p>
        </p:txBody>
      </p:sp>
      <p:sp>
        <p:nvSpPr>
          <p:cNvPr id="199" name="화살표: 오각형 198">
            <a:extLst>
              <a:ext uri="{FF2B5EF4-FFF2-40B4-BE49-F238E27FC236}">
                <a16:creationId xmlns:a16="http://schemas.microsoft.com/office/drawing/2014/main" id="{D6451BB7-0668-FEE7-884A-A23FFA15B5C9}"/>
              </a:ext>
            </a:extLst>
          </p:cNvPr>
          <p:cNvSpPr/>
          <p:nvPr/>
        </p:nvSpPr>
        <p:spPr>
          <a:xfrm>
            <a:off x="2199941" y="2195472"/>
            <a:ext cx="1796464" cy="347687"/>
          </a:xfrm>
          <a:prstGeom prst="homePlate">
            <a:avLst>
              <a:gd name="adj" fmla="val 24867"/>
            </a:avLst>
          </a:prstGeom>
          <a:solidFill>
            <a:schemeClr val="bg1">
              <a:lumMod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ko-KR" altLang="en-US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세미나</a:t>
            </a:r>
            <a:r>
              <a:rPr lang="en-US" altLang="ko-KR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</a:t>
            </a:r>
            <a:r>
              <a:rPr lang="ko-KR" altLang="en-US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워크숍</a:t>
            </a:r>
            <a:endParaRPr lang="en-US" altLang="ko-KR" sz="90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실행 및 결과 관리</a:t>
            </a:r>
          </a:p>
        </p:txBody>
      </p:sp>
      <p:sp>
        <p:nvSpPr>
          <p:cNvPr id="204" name="화살표: 오각형 203">
            <a:extLst>
              <a:ext uri="{FF2B5EF4-FFF2-40B4-BE49-F238E27FC236}">
                <a16:creationId xmlns:a16="http://schemas.microsoft.com/office/drawing/2014/main" id="{4496B564-F0E7-2FF4-C3F9-FD89AD7CC508}"/>
              </a:ext>
            </a:extLst>
          </p:cNvPr>
          <p:cNvSpPr/>
          <p:nvPr/>
        </p:nvSpPr>
        <p:spPr>
          <a:xfrm>
            <a:off x="4055395" y="2196308"/>
            <a:ext cx="1797483" cy="347687"/>
          </a:xfrm>
          <a:prstGeom prst="homePlate">
            <a:avLst>
              <a:gd name="adj" fmla="val 24867"/>
            </a:avLst>
          </a:prstGeom>
          <a:solidFill>
            <a:schemeClr val="bg1">
              <a:lumMod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ko-KR" altLang="en-US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엔지니어 역량</a:t>
            </a:r>
            <a:endParaRPr lang="en-US" altLang="ko-KR" sz="90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개발 계획 수립 및 운영</a:t>
            </a:r>
          </a:p>
        </p:txBody>
      </p:sp>
      <p:sp>
        <p:nvSpPr>
          <p:cNvPr id="209" name="화살표: 오각형 208">
            <a:extLst>
              <a:ext uri="{FF2B5EF4-FFF2-40B4-BE49-F238E27FC236}">
                <a16:creationId xmlns:a16="http://schemas.microsoft.com/office/drawing/2014/main" id="{B5F56479-4DC0-37D7-169C-E2EB9244F1F0}"/>
              </a:ext>
            </a:extLst>
          </p:cNvPr>
          <p:cNvSpPr/>
          <p:nvPr/>
        </p:nvSpPr>
        <p:spPr>
          <a:xfrm>
            <a:off x="5909712" y="2197144"/>
            <a:ext cx="1797483" cy="347687"/>
          </a:xfrm>
          <a:prstGeom prst="homePlate">
            <a:avLst>
              <a:gd name="adj" fmla="val 24867"/>
            </a:avLst>
          </a:prstGeom>
          <a:solidFill>
            <a:schemeClr val="bg1">
              <a:lumMod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ko-KR" altLang="en-US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신입 엔지니어</a:t>
            </a:r>
            <a:endParaRPr lang="en-US" altLang="ko-KR" sz="90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교육 프로그램</a:t>
            </a:r>
            <a:r>
              <a:rPr lang="en-US" altLang="ko-KR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기획 및 운영</a:t>
            </a:r>
          </a:p>
        </p:txBody>
      </p:sp>
      <p:sp>
        <p:nvSpPr>
          <p:cNvPr id="37" name="화살표: 오각형 36">
            <a:extLst>
              <a:ext uri="{FF2B5EF4-FFF2-40B4-BE49-F238E27FC236}">
                <a16:creationId xmlns:a16="http://schemas.microsoft.com/office/drawing/2014/main" id="{51C88423-C1DC-A3D6-5614-6712D75D3354}"/>
              </a:ext>
            </a:extLst>
          </p:cNvPr>
          <p:cNvSpPr/>
          <p:nvPr/>
        </p:nvSpPr>
        <p:spPr>
          <a:xfrm>
            <a:off x="7764028" y="2197980"/>
            <a:ext cx="1797483" cy="347687"/>
          </a:xfrm>
          <a:prstGeom prst="homePlate">
            <a:avLst>
              <a:gd name="adj" fmla="val 24867"/>
            </a:avLst>
          </a:prstGeom>
          <a:solidFill>
            <a:schemeClr val="bg1">
              <a:lumMod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ko-KR" altLang="en-US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교육 효과 측정 및</a:t>
            </a:r>
            <a:endParaRPr lang="en-US" altLang="ko-KR" sz="90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개선 방안</a:t>
            </a:r>
            <a:r>
              <a:rPr lang="en-US" altLang="ko-KR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도출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85C6A719-58A7-F2EC-A231-4C73A34802CB}"/>
              </a:ext>
            </a:extLst>
          </p:cNvPr>
          <p:cNvSpPr/>
          <p:nvPr/>
        </p:nvSpPr>
        <p:spPr>
          <a:xfrm>
            <a:off x="7766301" y="3470789"/>
            <a:ext cx="1687168" cy="334800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개선점 도출 및 교육 반영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(</a:t>
            </a: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교육 포탈</a:t>
            </a:r>
            <a:r>
              <a:rPr kumimoji="1" lang="en-US" altLang="ko-KR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)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2E4242A4-E9AE-F4DE-7F97-E697A3978109}"/>
              </a:ext>
            </a:extLst>
          </p:cNvPr>
          <p:cNvSpPr/>
          <p:nvPr/>
        </p:nvSpPr>
        <p:spPr>
          <a:xfrm>
            <a:off x="4055395" y="3904123"/>
            <a:ext cx="1687168" cy="334800"/>
          </a:xfrm>
          <a:prstGeom prst="roundRect">
            <a:avLst/>
          </a:prstGeom>
          <a:pattFill prst="ltUpDiag">
            <a:fgClr>
              <a:srgbClr val="C4DCF2"/>
            </a:fgClr>
            <a:bgClr>
              <a:schemeClr val="bg1"/>
            </a:bgClr>
          </a:pattFill>
          <a:ln w="3175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학습 현황 관리 및 지원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(OCEAN-H)</a:t>
            </a:r>
          </a:p>
        </p:txBody>
      </p:sp>
      <p:sp>
        <p:nvSpPr>
          <p:cNvPr id="191" name="사각형: 둥근 모서리 190">
            <a:extLst>
              <a:ext uri="{FF2B5EF4-FFF2-40B4-BE49-F238E27FC236}">
                <a16:creationId xmlns:a16="http://schemas.microsoft.com/office/drawing/2014/main" id="{16334BF5-52C7-DE6A-4C57-103D68CB0F20}"/>
              </a:ext>
            </a:extLst>
          </p:cNvPr>
          <p:cNvSpPr/>
          <p:nvPr/>
        </p:nvSpPr>
        <p:spPr>
          <a:xfrm>
            <a:off x="344487" y="2604121"/>
            <a:ext cx="1688033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주제 선정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97" name="사각형: 둥근 모서리 196">
            <a:extLst>
              <a:ext uri="{FF2B5EF4-FFF2-40B4-BE49-F238E27FC236}">
                <a16:creationId xmlns:a16="http://schemas.microsoft.com/office/drawing/2014/main" id="{DA1D26EA-330F-6618-C6D3-099353743632}"/>
              </a:ext>
            </a:extLst>
          </p:cNvPr>
          <p:cNvSpPr/>
          <p:nvPr/>
        </p:nvSpPr>
        <p:spPr>
          <a:xfrm>
            <a:off x="2199941" y="2604121"/>
            <a:ext cx="1688033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세미나</a:t>
            </a:r>
            <a: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/</a:t>
            </a: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워크숍 개최 및 진행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02" name="사각형: 둥근 모서리 201">
            <a:extLst>
              <a:ext uri="{FF2B5EF4-FFF2-40B4-BE49-F238E27FC236}">
                <a16:creationId xmlns:a16="http://schemas.microsoft.com/office/drawing/2014/main" id="{8AE77A23-2BC0-5A69-0E52-02BE26D8262D}"/>
              </a:ext>
            </a:extLst>
          </p:cNvPr>
          <p:cNvSpPr/>
          <p:nvPr/>
        </p:nvSpPr>
        <p:spPr>
          <a:xfrm>
            <a:off x="4055395" y="2604121"/>
            <a:ext cx="1688033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핵심 역량 정의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07" name="사각형: 둥근 모서리 206">
            <a:extLst>
              <a:ext uri="{FF2B5EF4-FFF2-40B4-BE49-F238E27FC236}">
                <a16:creationId xmlns:a16="http://schemas.microsoft.com/office/drawing/2014/main" id="{1C5761A9-5015-6537-17E0-172DACCAE675}"/>
              </a:ext>
            </a:extLst>
          </p:cNvPr>
          <p:cNvSpPr/>
          <p:nvPr/>
        </p:nvSpPr>
        <p:spPr>
          <a:xfrm>
            <a:off x="5910849" y="2604121"/>
            <a:ext cx="1688033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초기 요구 수준 정의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E1C7EF5C-E8D6-7F62-7C0C-8679944A5ECF}"/>
              </a:ext>
            </a:extLst>
          </p:cNvPr>
          <p:cNvSpPr/>
          <p:nvPr/>
        </p:nvSpPr>
        <p:spPr>
          <a:xfrm>
            <a:off x="7766301" y="2604121"/>
            <a:ext cx="1688033" cy="334800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교육 결과</a:t>
            </a:r>
            <a:r>
              <a:rPr kumimoji="1" lang="en-US" altLang="ko-KR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수집 및 분석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(</a:t>
            </a: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교육 포탈</a:t>
            </a:r>
            <a:r>
              <a:rPr kumimoji="1" lang="en-US" altLang="ko-KR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)</a:t>
            </a:r>
          </a:p>
        </p:txBody>
      </p:sp>
      <p:sp>
        <p:nvSpPr>
          <p:cNvPr id="55" name="화살표: 오각형 54">
            <a:extLst>
              <a:ext uri="{FF2B5EF4-FFF2-40B4-BE49-F238E27FC236}">
                <a16:creationId xmlns:a16="http://schemas.microsoft.com/office/drawing/2014/main" id="{FBD164E1-B8C4-6753-63DD-41E36F4B7BD1}"/>
              </a:ext>
            </a:extLst>
          </p:cNvPr>
          <p:cNvSpPr/>
          <p:nvPr/>
        </p:nvSpPr>
        <p:spPr>
          <a:xfrm>
            <a:off x="344489" y="1964218"/>
            <a:ext cx="3651917" cy="200898"/>
          </a:xfrm>
          <a:prstGeom prst="homePlate">
            <a:avLst>
              <a:gd name="adj" fmla="val 24867"/>
            </a:avLst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ko-KR" altLang="en-US" sz="1000" b="1">
                <a:latin typeface="나눔스퀘어" panose="020B0600000101010101" pitchFamily="50" charset="-127"/>
                <a:ea typeface="나눔스퀘어" panose="020B0600000101010101" pitchFamily="50" charset="-127"/>
              </a:rPr>
              <a:t>사내 기술 세미나 및 워크숍 운영</a:t>
            </a:r>
            <a:endParaRPr lang="en-US" altLang="ko-KR" sz="1000" b="1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3" name="화살표: 오각형 12">
            <a:extLst>
              <a:ext uri="{FF2B5EF4-FFF2-40B4-BE49-F238E27FC236}">
                <a16:creationId xmlns:a16="http://schemas.microsoft.com/office/drawing/2014/main" id="{6BB4A10A-CE98-A5BF-8AC5-05B697428477}"/>
              </a:ext>
            </a:extLst>
          </p:cNvPr>
          <p:cNvSpPr/>
          <p:nvPr/>
        </p:nvSpPr>
        <p:spPr>
          <a:xfrm>
            <a:off x="4055397" y="1964218"/>
            <a:ext cx="5506116" cy="200898"/>
          </a:xfrm>
          <a:prstGeom prst="homePlate">
            <a:avLst>
              <a:gd name="adj" fmla="val 24867"/>
            </a:avLst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ko-KR" altLang="en-US" sz="1000" b="1">
                <a:latin typeface="나눔스퀘어" panose="020B0600000101010101" pitchFamily="50" charset="-127"/>
                <a:ea typeface="나눔스퀘어" panose="020B0600000101010101" pitchFamily="50" charset="-127"/>
              </a:rPr>
              <a:t>엔지니어 교육 및 멘토링</a:t>
            </a:r>
            <a:endParaRPr lang="en-US" altLang="ko-KR" sz="1000" b="1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C813652E-221F-C90C-22B3-4EEA1859ECFD}"/>
              </a:ext>
            </a:extLst>
          </p:cNvPr>
          <p:cNvCxnSpPr>
            <a:cxnSpLocks/>
            <a:stCxn id="191" idx="2"/>
            <a:endCxn id="192" idx="0"/>
          </p:cNvCxnSpPr>
          <p:nvPr/>
        </p:nvCxnSpPr>
        <p:spPr>
          <a:xfrm flipH="1">
            <a:off x="1188071" y="2938921"/>
            <a:ext cx="433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ED4395F3-A6DF-75FA-EED5-D1E33E83F5A7}"/>
              </a:ext>
            </a:extLst>
          </p:cNvPr>
          <p:cNvCxnSpPr>
            <a:cxnSpLocks/>
            <a:stCxn id="192" idx="2"/>
            <a:endCxn id="195" idx="0"/>
          </p:cNvCxnSpPr>
          <p:nvPr/>
        </p:nvCxnSpPr>
        <p:spPr>
          <a:xfrm>
            <a:off x="1188071" y="3372255"/>
            <a:ext cx="0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1E57DB8B-4C33-CF1D-DE3E-F04BA00FCA7A}"/>
              </a:ext>
            </a:extLst>
          </p:cNvPr>
          <p:cNvCxnSpPr>
            <a:cxnSpLocks/>
            <a:stCxn id="197" idx="2"/>
            <a:endCxn id="198" idx="0"/>
          </p:cNvCxnSpPr>
          <p:nvPr/>
        </p:nvCxnSpPr>
        <p:spPr>
          <a:xfrm flipH="1">
            <a:off x="3043525" y="2938921"/>
            <a:ext cx="433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CE2EF20C-BCE8-0C59-2940-3ED67C20A136}"/>
              </a:ext>
            </a:extLst>
          </p:cNvPr>
          <p:cNvCxnSpPr>
            <a:cxnSpLocks/>
            <a:stCxn id="202" idx="2"/>
            <a:endCxn id="203" idx="0"/>
          </p:cNvCxnSpPr>
          <p:nvPr/>
        </p:nvCxnSpPr>
        <p:spPr>
          <a:xfrm flipH="1">
            <a:off x="4898979" y="2938921"/>
            <a:ext cx="433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6D926E90-5012-2D9D-C20F-4599D547EB5E}"/>
              </a:ext>
            </a:extLst>
          </p:cNvPr>
          <p:cNvCxnSpPr>
            <a:cxnSpLocks/>
            <a:stCxn id="203" idx="2"/>
            <a:endCxn id="200" idx="0"/>
          </p:cNvCxnSpPr>
          <p:nvPr/>
        </p:nvCxnSpPr>
        <p:spPr>
          <a:xfrm>
            <a:off x="4898979" y="3372255"/>
            <a:ext cx="0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A476F18E-E719-C8A1-6134-FAA34A45A323}"/>
              </a:ext>
            </a:extLst>
          </p:cNvPr>
          <p:cNvCxnSpPr>
            <a:cxnSpLocks/>
            <a:stCxn id="200" idx="2"/>
            <a:endCxn id="39" idx="0"/>
          </p:cNvCxnSpPr>
          <p:nvPr/>
        </p:nvCxnSpPr>
        <p:spPr>
          <a:xfrm>
            <a:off x="4898979" y="3805589"/>
            <a:ext cx="0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직선 화살표 연결선 131">
            <a:extLst>
              <a:ext uri="{FF2B5EF4-FFF2-40B4-BE49-F238E27FC236}">
                <a16:creationId xmlns:a16="http://schemas.microsoft.com/office/drawing/2014/main" id="{8DCF0C17-98EF-4C7C-D0E8-1A8AB1BFED5C}"/>
              </a:ext>
            </a:extLst>
          </p:cNvPr>
          <p:cNvCxnSpPr>
            <a:cxnSpLocks/>
            <a:stCxn id="207" idx="2"/>
            <a:endCxn id="208" idx="0"/>
          </p:cNvCxnSpPr>
          <p:nvPr/>
        </p:nvCxnSpPr>
        <p:spPr>
          <a:xfrm flipH="1">
            <a:off x="6754433" y="2938921"/>
            <a:ext cx="433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직선 화살표 연결선 134">
            <a:extLst>
              <a:ext uri="{FF2B5EF4-FFF2-40B4-BE49-F238E27FC236}">
                <a16:creationId xmlns:a16="http://schemas.microsoft.com/office/drawing/2014/main" id="{41C52205-E624-BE01-8AF1-3290C174EF6D}"/>
              </a:ext>
            </a:extLst>
          </p:cNvPr>
          <p:cNvCxnSpPr>
            <a:cxnSpLocks/>
            <a:stCxn id="35" idx="2"/>
            <a:endCxn id="36" idx="0"/>
          </p:cNvCxnSpPr>
          <p:nvPr/>
        </p:nvCxnSpPr>
        <p:spPr>
          <a:xfrm flipH="1">
            <a:off x="8609885" y="2938921"/>
            <a:ext cx="433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직선 화살표 연결선 137">
            <a:extLst>
              <a:ext uri="{FF2B5EF4-FFF2-40B4-BE49-F238E27FC236}">
                <a16:creationId xmlns:a16="http://schemas.microsoft.com/office/drawing/2014/main" id="{DA157AF4-049B-5042-D0E5-8A8CBDF074AA}"/>
              </a:ext>
            </a:extLst>
          </p:cNvPr>
          <p:cNvCxnSpPr>
            <a:cxnSpLocks/>
            <a:stCxn id="36" idx="2"/>
            <a:endCxn id="38" idx="0"/>
          </p:cNvCxnSpPr>
          <p:nvPr/>
        </p:nvCxnSpPr>
        <p:spPr>
          <a:xfrm>
            <a:off x="8609885" y="3372255"/>
            <a:ext cx="0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F67B5451-2917-607D-EA31-7F535660F314}"/>
              </a:ext>
            </a:extLst>
          </p:cNvPr>
          <p:cNvCxnSpPr>
            <a:cxnSpLocks/>
          </p:cNvCxnSpPr>
          <p:nvPr/>
        </p:nvCxnSpPr>
        <p:spPr>
          <a:xfrm>
            <a:off x="344488" y="1768835"/>
            <a:ext cx="9221614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567ADE6A-67A0-8CCD-166B-49DA57F54C43}"/>
              </a:ext>
            </a:extLst>
          </p:cNvPr>
          <p:cNvSpPr/>
          <p:nvPr/>
        </p:nvSpPr>
        <p:spPr>
          <a:xfrm>
            <a:off x="4031571" y="1640841"/>
            <a:ext cx="1847448" cy="25598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rgbClr val="217C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To-Be </a:t>
            </a:r>
            <a:r>
              <a:rPr lang="ko-KR" altLang="en-US" sz="1200">
                <a:solidFill>
                  <a:schemeClr val="tx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업무 시나리오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9A5270F-FF4A-8813-FDD6-D9E5C4F7C80C}"/>
              </a:ext>
            </a:extLst>
          </p:cNvPr>
          <p:cNvSpPr/>
          <p:nvPr/>
        </p:nvSpPr>
        <p:spPr>
          <a:xfrm>
            <a:off x="344490" y="1547834"/>
            <a:ext cx="570257" cy="171734"/>
          </a:xfrm>
          <a:prstGeom prst="rect">
            <a:avLst/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1000" b="1">
                <a:latin typeface="나눔스퀘어" panose="020B0600000101010101" pitchFamily="50" charset="-127"/>
                <a:ea typeface="나눔스퀘어" panose="020B0600000101010101" pitchFamily="50" charset="-127"/>
              </a:rPr>
              <a:t>Process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A6D5379-A5A3-162E-4ABB-2B02BD0246F7}"/>
              </a:ext>
            </a:extLst>
          </p:cNvPr>
          <p:cNvSpPr/>
          <p:nvPr/>
        </p:nvSpPr>
        <p:spPr>
          <a:xfrm>
            <a:off x="955677" y="1547834"/>
            <a:ext cx="570257" cy="171734"/>
          </a:xfrm>
          <a:prstGeom prst="rect">
            <a:avLst/>
          </a:prstGeom>
          <a:solidFill>
            <a:schemeClr val="bg1">
              <a:lumMod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altLang="ko-KR" sz="1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Activity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22283859-1CB5-D09B-BEC1-32C5B5CBE840}"/>
              </a:ext>
            </a:extLst>
          </p:cNvPr>
          <p:cNvSpPr/>
          <p:nvPr/>
        </p:nvSpPr>
        <p:spPr>
          <a:xfrm>
            <a:off x="8926185" y="1553252"/>
            <a:ext cx="635326" cy="160797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solidFill>
                  <a:schemeClr val="bg1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삭제 업무</a:t>
            </a:r>
            <a:endParaRPr kumimoji="1" lang="en-US" altLang="ko-KR" sz="900" kern="0">
              <a:solidFill>
                <a:schemeClr val="bg1">
                  <a:lumMod val="7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BCEA71F6-0059-4608-431A-1EED05855891}"/>
              </a:ext>
            </a:extLst>
          </p:cNvPr>
          <p:cNvSpPr/>
          <p:nvPr/>
        </p:nvSpPr>
        <p:spPr>
          <a:xfrm>
            <a:off x="7552890" y="1553252"/>
            <a:ext cx="635326" cy="160797"/>
          </a:xfrm>
          <a:prstGeom prst="roundRect">
            <a:avLst/>
          </a:prstGeom>
          <a:solidFill>
            <a:srgbClr val="C4DCF2"/>
          </a:solidFill>
          <a:ln w="19050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AI/DT </a:t>
            </a:r>
            <a:r>
              <a:rPr kumimoji="1" lang="ko-KR" altLang="en-US" sz="900" b="1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신규</a:t>
            </a:r>
            <a:endParaRPr kumimoji="1" lang="en-US" altLang="ko-KR" sz="900" b="1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89A1223E-74BA-761F-29E6-72510364716C}"/>
              </a:ext>
            </a:extLst>
          </p:cNvPr>
          <p:cNvSpPr/>
          <p:nvPr/>
        </p:nvSpPr>
        <p:spPr>
          <a:xfrm>
            <a:off x="8239537" y="1553252"/>
            <a:ext cx="635326" cy="160797"/>
          </a:xfrm>
          <a:prstGeom prst="roundRect">
            <a:avLst/>
          </a:prstGeom>
          <a:pattFill prst="ltUpDiag">
            <a:fgClr>
              <a:srgbClr val="C4DCF2"/>
            </a:fgClr>
            <a:bgClr>
              <a:schemeClr val="bg1"/>
            </a:bgClr>
          </a:pattFill>
          <a:ln w="3175">
            <a:solidFill>
              <a:srgbClr val="217CFA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Digital </a:t>
            </a: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기존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32EBB553-30AF-A7C2-0813-245815763D23}"/>
              </a:ext>
            </a:extLst>
          </p:cNvPr>
          <p:cNvSpPr/>
          <p:nvPr/>
        </p:nvSpPr>
        <p:spPr>
          <a:xfrm>
            <a:off x="344485" y="3904123"/>
            <a:ext cx="1687168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자료 작성 및 배포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9A0F14E0-E97E-068E-EF0E-728838DE5677}"/>
              </a:ext>
            </a:extLst>
          </p:cNvPr>
          <p:cNvCxnSpPr>
            <a:cxnSpLocks/>
            <a:stCxn id="195" idx="2"/>
            <a:endCxn id="2" idx="0"/>
          </p:cNvCxnSpPr>
          <p:nvPr/>
        </p:nvCxnSpPr>
        <p:spPr>
          <a:xfrm flipH="1">
            <a:off x="1188069" y="3805589"/>
            <a:ext cx="2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10BFAD91-DAE4-5915-0872-4B57734BBD67}"/>
              </a:ext>
            </a:extLst>
          </p:cNvPr>
          <p:cNvSpPr/>
          <p:nvPr/>
        </p:nvSpPr>
        <p:spPr>
          <a:xfrm>
            <a:off x="5909712" y="3904123"/>
            <a:ext cx="1687168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적응 및 성장 지원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49717082-A4E2-13AC-CB9D-F49B3D0EC521}"/>
              </a:ext>
            </a:extLst>
          </p:cNvPr>
          <p:cNvSpPr/>
          <p:nvPr/>
        </p:nvSpPr>
        <p:spPr>
          <a:xfrm>
            <a:off x="5909712" y="3470789"/>
            <a:ext cx="1687168" cy="33480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프로그램 운영 및 멘토링</a:t>
            </a:r>
            <a:r>
              <a:rPr kumimoji="1" lang="en-US" altLang="ko-KR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1" lang="ko-KR" altLang="en-US" sz="900" kern="0"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체계 구축</a:t>
            </a:r>
            <a:endParaRPr kumimoji="1" lang="en-US" altLang="ko-KR" sz="900" kern="0"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46F77DC6-9D0B-241F-DBE7-CCA9E9EB0F1C}"/>
              </a:ext>
            </a:extLst>
          </p:cNvPr>
          <p:cNvCxnSpPr>
            <a:cxnSpLocks/>
            <a:stCxn id="208" idx="2"/>
            <a:endCxn id="14" idx="0"/>
          </p:cNvCxnSpPr>
          <p:nvPr/>
        </p:nvCxnSpPr>
        <p:spPr>
          <a:xfrm flipH="1">
            <a:off x="6753296" y="3372255"/>
            <a:ext cx="1137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BAB7EDB9-F18C-1E5E-BD53-3E4E0B2409BF}"/>
              </a:ext>
            </a:extLst>
          </p:cNvPr>
          <p:cNvCxnSpPr>
            <a:cxnSpLocks/>
            <a:stCxn id="14" idx="2"/>
            <a:endCxn id="12" idx="0"/>
          </p:cNvCxnSpPr>
          <p:nvPr/>
        </p:nvCxnSpPr>
        <p:spPr>
          <a:xfrm>
            <a:off x="6753296" y="3805589"/>
            <a:ext cx="0" cy="98534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4108312B-62F9-1364-72E7-E76ADFF92D7C}"/>
              </a:ext>
            </a:extLst>
          </p:cNvPr>
          <p:cNvSpPr txBox="1"/>
          <p:nvPr/>
        </p:nvSpPr>
        <p:spPr>
          <a:xfrm>
            <a:off x="7691022" y="3127094"/>
            <a:ext cx="147532" cy="147532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275F27-AAA1-2939-3582-A74BD3AA3C38}"/>
              </a:ext>
            </a:extLst>
          </p:cNvPr>
          <p:cNvSpPr txBox="1"/>
          <p:nvPr/>
        </p:nvSpPr>
        <p:spPr>
          <a:xfrm>
            <a:off x="7691022" y="3559064"/>
            <a:ext cx="147532" cy="147532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45" name="연결선: 꺾임 44">
            <a:extLst>
              <a:ext uri="{FF2B5EF4-FFF2-40B4-BE49-F238E27FC236}">
                <a16:creationId xmlns:a16="http://schemas.microsoft.com/office/drawing/2014/main" id="{22C9E5A8-68FD-93B8-453E-4BC5465F87F7}"/>
              </a:ext>
            </a:extLst>
          </p:cNvPr>
          <p:cNvCxnSpPr>
            <a:cxnSpLocks/>
            <a:stCxn id="2" idx="3"/>
            <a:endCxn id="197" idx="1"/>
          </p:cNvCxnSpPr>
          <p:nvPr/>
        </p:nvCxnSpPr>
        <p:spPr>
          <a:xfrm flipV="1">
            <a:off x="2031653" y="2771521"/>
            <a:ext cx="168288" cy="1300002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연결선: 꺾임 48">
            <a:extLst>
              <a:ext uri="{FF2B5EF4-FFF2-40B4-BE49-F238E27FC236}">
                <a16:creationId xmlns:a16="http://schemas.microsoft.com/office/drawing/2014/main" id="{A882BC30-C837-277C-E957-4587E4B5FAD8}"/>
              </a:ext>
            </a:extLst>
          </p:cNvPr>
          <p:cNvCxnSpPr>
            <a:cxnSpLocks/>
            <a:stCxn id="39" idx="3"/>
            <a:endCxn id="207" idx="1"/>
          </p:cNvCxnSpPr>
          <p:nvPr/>
        </p:nvCxnSpPr>
        <p:spPr>
          <a:xfrm flipV="1">
            <a:off x="5742563" y="2771521"/>
            <a:ext cx="168286" cy="1300002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연결선: 꺾임 52">
            <a:extLst>
              <a:ext uri="{FF2B5EF4-FFF2-40B4-BE49-F238E27FC236}">
                <a16:creationId xmlns:a16="http://schemas.microsoft.com/office/drawing/2014/main" id="{90872DB3-A3F5-1AF9-F6F3-C3A9175F3A6B}"/>
              </a:ext>
            </a:extLst>
          </p:cNvPr>
          <p:cNvCxnSpPr>
            <a:cxnSpLocks/>
            <a:stCxn id="12" idx="3"/>
            <a:endCxn id="35" idx="1"/>
          </p:cNvCxnSpPr>
          <p:nvPr/>
        </p:nvCxnSpPr>
        <p:spPr>
          <a:xfrm flipV="1">
            <a:off x="7596880" y="2771521"/>
            <a:ext cx="169421" cy="1300002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6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FD451831-C539-C66A-54E6-DA627D88918F}"/>
              </a:ext>
            </a:extLst>
          </p:cNvPr>
          <p:cNvSpPr txBox="1"/>
          <p:nvPr/>
        </p:nvSpPr>
        <p:spPr>
          <a:xfrm>
            <a:off x="7691022" y="2693760"/>
            <a:ext cx="147532" cy="147532"/>
          </a:xfrm>
          <a:prstGeom prst="ellipse">
            <a:avLst/>
          </a:prstGeom>
          <a:solidFill>
            <a:srgbClr val="217CFA"/>
          </a:solidFill>
          <a:ln w="12700">
            <a:solidFill>
              <a:schemeClr val="bg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endParaRPr lang="ko-KR" altLang="en-US" sz="1000" b="1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4891828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tfVRF6phEuvXCp81E_Wmw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tfVRF6phEuvXCp81E_Wmw"/>
</p:tagLst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headEnd type="none" w="med" len="med"/>
          <a:tailEnd type="triangle" w="med" len="med"/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solidFill>
          <a:schemeClr val="bg1"/>
        </a:solidFill>
        <a:ln w="3175">
          <a:solidFill>
            <a:schemeClr val="tx1"/>
          </a:solidFill>
        </a:ln>
      </a:spPr>
      <a:bodyPr vert="horz" wrap="square" lIns="72000" tIns="36000" rIns="72000" bIns="36000" rtlCol="0" anchor="t">
        <a:noAutofit/>
      </a:bodyPr>
      <a:lstStyle>
        <a:defPPr marL="0" marR="0" indent="0" algn="ctr" defTabSz="914400" rtl="0" eaLnBrk="1" fontAlgn="auto" latinLnBrk="0" hangingPunct="1">
          <a:lnSpc>
            <a:spcPct val="120000"/>
          </a:lnSpc>
          <a:spcBef>
            <a:spcPts val="0"/>
          </a:spcBef>
          <a:spcAft>
            <a:spcPts val="0"/>
          </a:spcAft>
          <a:buClrTx/>
          <a:buSzPct val="100000"/>
          <a:buFontTx/>
          <a:buNone/>
          <a:tabLst/>
          <a:defRPr kumimoji="0" sz="1200" b="1" i="0" u="none" strike="noStrike" kern="1200" cap="none" spc="0" normalizeH="0" baseline="0" noProof="0" dirty="0" smtClean="0">
            <a:ln>
              <a:noFill/>
            </a:ln>
            <a:solidFill>
              <a:srgbClr val="000000"/>
            </a:solidFill>
            <a:effectLst/>
            <a:uLnTx/>
            <a:uFillTx/>
            <a:latin typeface="나눔스퀘어" panose="020B0600000101010101" pitchFamily="50" charset="-127"/>
            <a:ea typeface="나눔스퀘어" panose="020B0600000101010101" pitchFamily="50" charset="-127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1A1301B5DF3CB45AAFBBAB68C940E3B" ma:contentTypeVersion="11" ma:contentTypeDescription="Create a new document." ma:contentTypeScope="" ma:versionID="3e498e1ba5898eb36619a5113558e69c">
  <xsd:schema xmlns:xsd="http://www.w3.org/2001/XMLSchema" xmlns:xs="http://www.w3.org/2001/XMLSchema" xmlns:p="http://schemas.microsoft.com/office/2006/metadata/properties" xmlns:ns3="4d4d85dc-887d-4529-a40e-f7411cba2291" targetNamespace="http://schemas.microsoft.com/office/2006/metadata/properties" ma:root="true" ma:fieldsID="a9b07b197f5296c46631ffa66ca0d03b" ns3:_="">
    <xsd:import namespace="4d4d85dc-887d-4529-a40e-f7411cba2291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4d85dc-887d-4529-a40e-f7411cba2291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d4d85dc-887d-4529-a40e-f7411cba2291" xsi:nil="true"/>
  </documentManagement>
</p:properties>
</file>

<file path=customXml/itemProps1.xml><?xml version="1.0" encoding="utf-8"?>
<ds:datastoreItem xmlns:ds="http://schemas.openxmlformats.org/officeDocument/2006/customXml" ds:itemID="{282977CD-7ABA-4558-9F3F-9798C675767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19CE611-7F76-417E-B1C1-CC24421C3ED8}">
  <ds:schemaRefs>
    <ds:schemaRef ds:uri="4d4d85dc-887d-4529-a40e-f7411cba229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F90B75D3-62EC-42DE-95DF-68F579ACD809}">
  <ds:schemaRefs>
    <ds:schemaRef ds:uri="http://purl.org/dc/terms/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4d4d85dc-887d-4529-a40e-f7411cba2291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docMetadata/LabelInfo.xml><?xml version="1.0" encoding="utf-8"?>
<clbl:labelList xmlns:clbl="http://schemas.microsoft.com/office/2020/mipLabelMetadata">
  <clbl:label id="{2c1357aa-0960-4b6d-b918-e2668fbe3cee}" enabled="1" method="Privileged" siteId="{a291953b-a95f-4c1e-8127-00ffdb5b7f6c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80</TotalTime>
  <Words>8021</Words>
  <Application>Microsoft Office PowerPoint</Application>
  <PresentationFormat>A4 용지(210x297mm)</PresentationFormat>
  <Paragraphs>1684</Paragraphs>
  <Slides>25</Slides>
  <Notes>25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25</vt:i4>
      </vt:variant>
    </vt:vector>
  </HeadingPairs>
  <TitlesOfParts>
    <vt:vector size="38" baseType="lpstr">
      <vt:lpstr>나눔스퀘어</vt:lpstr>
      <vt:lpstr>나눔스퀘어 Bold</vt:lpstr>
      <vt:lpstr>나눔스퀘어 ExtraBold</vt:lpstr>
      <vt:lpstr>맑은 고딕</vt:lpstr>
      <vt:lpstr>Aptos</vt:lpstr>
      <vt:lpstr>Aptos Display</vt:lpstr>
      <vt:lpstr>Arial</vt:lpstr>
      <vt:lpstr>Arial Narrow</vt:lpstr>
      <vt:lpstr>Century Gothic</vt:lpstr>
      <vt:lpstr>Mangal Pro</vt:lpstr>
      <vt:lpstr>Wingdings</vt:lpstr>
      <vt:lpstr>Office 테마</vt:lpstr>
      <vt:lpstr>1_Office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PwC 정문규</dc:creator>
  <cp:lastModifiedBy>Dongki Her (KR - ADVS)</cp:lastModifiedBy>
  <cp:revision>3</cp:revision>
  <cp:lastPrinted>2025-05-19T01:00:24Z</cp:lastPrinted>
  <dcterms:created xsi:type="dcterms:W3CDTF">2024-07-29T08:10:55Z</dcterms:created>
  <dcterms:modified xsi:type="dcterms:W3CDTF">2026-07-02T10:55:07Z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0x01010001A1301B5DF3CB45AAFBBAB68C940E3B</vt:lpwstr>
  </property>
</Properties>
</file>