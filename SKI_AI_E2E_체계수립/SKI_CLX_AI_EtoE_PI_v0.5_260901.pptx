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4" r:id="rId4"/>
  </p:sldMasterIdLst>
  <p:notesMasterIdLst>
    <p:notesMasterId r:id="rId15"/>
  </p:notesMasterIdLst>
  <p:sldIdLst>
    <p:sldId id="257" r:id="rId5"/>
    <p:sldId id="890" r:id="rId6"/>
    <p:sldId id="891" r:id="rId7"/>
    <p:sldId id="885" r:id="rId8"/>
    <p:sldId id="887" r:id="rId9"/>
    <p:sldId id="888" r:id="rId10"/>
    <p:sldId id="889" r:id="rId11"/>
    <p:sldId id="871" r:id="rId12"/>
    <p:sldId id="822" r:id="rId13"/>
    <p:sldId id="892" r:id="rId14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추진 계획" id="{0BEA6655-B893-4BEC-8C71-65352BFC3C89}">
          <p14:sldIdLst>
            <p14:sldId id="257"/>
            <p14:sldId id="890"/>
            <p14:sldId id="891"/>
            <p14:sldId id="885"/>
            <p14:sldId id="887"/>
            <p14:sldId id="888"/>
            <p14:sldId id="889"/>
            <p14:sldId id="871"/>
            <p14:sldId id="822"/>
            <p14:sldId id="892"/>
          </p14:sldIdLst>
        </p14:section>
        <p14:section name="Back up" id="{C1703EE7-2D81-45A2-B21C-76AB36DA9DF7}">
          <p14:sldIdLst/>
        </p14:section>
      </p14:sectionLst>
    </p:ext>
    <p:ext uri="{EFAFB233-063F-42B5-8137-9DF3F51BA10A}">
      <p15:sldGuideLst xmlns:p15="http://schemas.microsoft.com/office/powerpoint/2012/main">
        <p15:guide id="3" pos="3188" userDrawn="1">
          <p15:clr>
            <a:srgbClr val="A4A3A4"/>
          </p15:clr>
        </p15:guide>
        <p15:guide id="4" pos="3052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2976" userDrawn="1">
          <p15:clr>
            <a:srgbClr val="A4A3A4"/>
          </p15:clr>
        </p15:guide>
        <p15:guide id="7" orient="horz" pos="1321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CD5F03-460D-B568-E189-F2BF1AC04F5F}" name="이규석(GYUSEOK LEE)/DT추진실/SKI" initials="GL" userId="S::si70548@skcorp.com::b511ebd8-9241-49ac-8fe4-a5263738d60c" providerId="AD"/>
  <p188:author id="{C62C4979-2325-26EB-5FE4-0D5C041F842C}" name="구세운(SEWOON KOO)/DT기획팀/SKI" initials="SK" userId="S::si13846@skcorp.com::29f7a9e7-b1f2-4c60-9b5d-6f932a36eacf" providerId="AD"/>
  <p188:author id="{045EF280-96CE-1FC8-81C0-7607CA1CCF44}" name="박민규(MINGYU PARK)/DT기획팀/SKI" initials="MP" userId="S::si17646@skcorp.com::93d6e976-38ad-4452-8b44-d3868c6c0ecd" providerId="AD"/>
  <p188:author id="{C4C5C296-4A04-E045-CA7E-9AED2E4C40E7}" name="정문구(MOONGOO JEONG)/DT기획팀/SKI" initials="MJ" userId="S::si14287@skcorp.com::415046b8-e780-438f-bb95-a77b42e9b73a" providerId="AD"/>
  <p188:author id="{5CF171A2-5824-B610-8DF3-7AD9A8824C05}" name="김정현(JUNGHYUN KIM)/DT기획팀/SKI" initials="" userId="S::si14714@skcorp.com::2ff99678-2f5d-4602-9dbb-4a52aa0cb851" providerId="AD"/>
  <p188:author id="{A64B72B4-B485-3485-CF90-FCF172D4E9A5}" name="전홍민(HONGMIN JEON)/Plant DT팀/SKI" initials="HJ" userId="S::si15877@skcorp.com::75bf3af2-2bfa-43ec-a7e7-e87cf5d77db8" providerId="AD"/>
  <p188:author id="{56717CB6-66D9-ADCE-C0E9-8F1068A17611}" name="김은주(EUNJU KIM)/DT기획팀/SKI" initials="EK" userId="S::si17363@skcorp.com::4310ee31-2b75-4480-be2d-613356818a3d" providerId="AD"/>
  <p188:author id="{191D92EB-C45E-C5CB-C1F2-B9FF97E7BC91}" name="이종왕(JONGWANG LEE)/Plant DT팀/SKI" initials="" userId="S::si17760@skcorp.com::b9b5b1dd-517e-414a-b07e-e2201a6367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AA6"/>
    <a:srgbClr val="E3ECF8"/>
    <a:srgbClr val="217CFA"/>
    <a:srgbClr val="F2F6FC"/>
    <a:srgbClr val="F9EEED"/>
    <a:srgbClr val="A0C4F2"/>
    <a:srgbClr val="6DA7F2"/>
    <a:srgbClr val="023373"/>
    <a:srgbClr val="FFFAF6"/>
    <a:srgbClr val="F4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5F559-72BC-4CA6-BDB8-BC14663C456F}" v="154" dt="2026-08-31T06:20:16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4010" autoAdjust="0"/>
  </p:normalViewPr>
  <p:slideViewPr>
    <p:cSldViewPr snapToGrid="0">
      <p:cViewPr varScale="1">
        <p:scale>
          <a:sx n="66" d="100"/>
          <a:sy n="66" d="100"/>
        </p:scale>
        <p:origin x="1172" y="40"/>
      </p:cViewPr>
      <p:guideLst>
        <p:guide pos="3188"/>
        <p:guide pos="3052"/>
        <p:guide orient="horz" pos="1003"/>
        <p:guide orient="horz" pos="2976"/>
        <p:guide orient="horz" pos="1321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0" tIns="45645" rIns="91290" bIns="45645" rtlCol="0" anchor="ctr"/>
          <a:lstStyle/>
          <a:p>
            <a:r>
              <a:rPr lang="en-US" altLang="zh-CN"/>
              <a:t>r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84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03C7C-C46B-4330-8C72-F53C314FB765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2512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000E-33CF-12E7-D1EA-2CF243F3B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3E5793-72B6-997E-1520-0891D6717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ED7510-C998-408B-BEF3-0C3E2AF89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8189" tIns="44095" rIns="88189" bIns="44095"/>
          <a:lstStyle/>
          <a:p>
            <a:endParaRPr lang="ko-KR" altLang="en-US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3FC917-0971-FFE1-A70A-29A2FD5E8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88189" tIns="44095" rIns="88189" bIns="44095"/>
          <a:lstStyle/>
          <a:p>
            <a:fld id="{61E2742E-9E8E-4922-8A9E-A443D39573F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698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11D8-A683-5B93-FF9F-33B7DF68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4683A9-1E82-5638-8EA8-67AA5A6DE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6B9FBB-8F56-F39D-6FC0-928287B64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8189" tIns="44095" rIns="88189" bIns="44095"/>
          <a:lstStyle/>
          <a:p>
            <a:endParaRPr lang="ko-KR" altLang="en-US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41C34B-C8BB-7381-677A-A064D61DD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88189" tIns="44095" rIns="88189" bIns="44095"/>
          <a:lstStyle/>
          <a:p>
            <a:fld id="{61E2742E-9E8E-4922-8A9E-A443D39573F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766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30CD7-B9DE-1578-2F02-DE5D72CB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F26126-B4CD-5EF2-5095-BF425972A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5C6364-7F8C-2942-F94E-EB149CA5F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8189" tIns="44095" rIns="88189" bIns="44095"/>
          <a:lstStyle/>
          <a:p>
            <a:endParaRPr lang="ko-KR" altLang="en-US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131F02-7059-3C83-B736-E3B1BD363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88189" tIns="44095" rIns="88189" bIns="44095"/>
          <a:lstStyle/>
          <a:p>
            <a:fld id="{61E2742E-9E8E-4922-8A9E-A443D39573F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033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9190-2AB6-461B-D036-165C4DA11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0A20E3-7800-6A66-13DF-B534ED0FF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DCCB69-D5A2-92C8-CE3E-3EF41854C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8189" tIns="44095" rIns="88189" bIns="44095"/>
          <a:lstStyle/>
          <a:p>
            <a:endParaRPr lang="ko-KR" altLang="en-US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CA0B2-31C7-9DEF-E0CD-2859D62E9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88189" tIns="44095" rIns="88189" bIns="44095"/>
          <a:lstStyle/>
          <a:p>
            <a:fld id="{61E2742E-9E8E-4922-8A9E-A443D39573F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72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DC44-C556-D0A9-F790-B90A2246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189FB4-EF2B-A862-A7C9-27ED30A4E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4362E2-2804-D45B-0B62-119612C9F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8189" tIns="44095" rIns="88189" bIns="44095"/>
          <a:lstStyle/>
          <a:p>
            <a:endParaRPr lang="ko-KR" altLang="en-US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E8568-D74B-7A8A-EB77-9A3C27567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88189" tIns="44095" rIns="88189" bIns="44095"/>
          <a:lstStyle/>
          <a:p>
            <a:fld id="{61E2742E-9E8E-4922-8A9E-A443D39573F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948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BDEF-08AD-2406-5411-D589A0712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7B4AC0-2A1F-921A-335C-0B35C840B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60D3E9-CDB4-A8F6-9C0A-7D59F4FFB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8189" tIns="44095" rIns="88189" bIns="44095"/>
          <a:lstStyle/>
          <a:p>
            <a:endParaRPr lang="ko-KR" altLang="en-US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70A050-EE4A-446E-5418-12CDD9E5F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88189" tIns="44095" rIns="88189" bIns="44095"/>
          <a:lstStyle/>
          <a:p>
            <a:fld id="{61E2742E-9E8E-4922-8A9E-A443D39573F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5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00473" y="620688"/>
            <a:ext cx="9505503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0F41C98F-A816-BBB0-5D89-879FBF0AA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66025" y="6451603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354">
                <a:latin typeface="+mj-lt"/>
              </a:defRPr>
            </a:lvl1pPr>
          </a:lstStyle>
          <a:p>
            <a:fld id="{7E47190A-A7C8-48C3-B89D-34DE3FE3E56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20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2개,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1208584" y="429600"/>
            <a:ext cx="8697432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344488" y="765175"/>
            <a:ext cx="9217025" cy="719138"/>
          </a:xfrm>
          <a:prstGeom prst="rect">
            <a:avLst/>
          </a:prstGeom>
        </p:spPr>
        <p:txBody>
          <a:bodyPr/>
          <a:lstStyle>
            <a:lvl1pPr marL="0" indent="0" algn="ctr" latinLnBrk="0">
              <a:buNone/>
              <a:defRPr sz="18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2457724" cy="369332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lvl1pPr marL="0" indent="0">
              <a:buNone/>
              <a:defRPr sz="18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</a:t>
            </a:r>
          </a:p>
        </p:txBody>
      </p:sp>
      <p:sp>
        <p:nvSpPr>
          <p:cNvPr id="11" name="텍스트 개체 틀 9"/>
          <p:cNvSpPr>
            <a:spLocks noGrp="1"/>
          </p:cNvSpPr>
          <p:nvPr>
            <p:ph type="body" sz="quarter" idx="12"/>
          </p:nvPr>
        </p:nvSpPr>
        <p:spPr>
          <a:xfrm>
            <a:off x="7347444" y="257224"/>
            <a:ext cx="2214068" cy="338554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lvl1pPr marL="0" indent="0" algn="r">
              <a:buNone/>
              <a:defRPr sz="16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텍스트 스타일 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92B40D-3092-1598-48E8-127AF9175CF6}"/>
              </a:ext>
            </a:extLst>
          </p:cNvPr>
          <p:cNvSpPr/>
          <p:nvPr userDrawn="1"/>
        </p:nvSpPr>
        <p:spPr>
          <a:xfrm>
            <a:off x="-609600" y="595778"/>
            <a:ext cx="447675" cy="2365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200">
              <a:solidFill>
                <a:schemeClr val="tx2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564D52-9FF7-A74B-D7E9-7844536454BA}"/>
              </a:ext>
            </a:extLst>
          </p:cNvPr>
          <p:cNvSpPr/>
          <p:nvPr userDrawn="1"/>
        </p:nvSpPr>
        <p:spPr>
          <a:xfrm>
            <a:off x="-609600" y="872797"/>
            <a:ext cx="447675" cy="236558"/>
          </a:xfrm>
          <a:prstGeom prst="rect">
            <a:avLst/>
          </a:prstGeom>
          <a:solidFill>
            <a:srgbClr val="A0C4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ko-KR" altLang="en-US" sz="1200">
              <a:solidFill>
                <a:schemeClr val="tx2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A0413D-E828-3D54-DCA9-505AD4B4F2C8}"/>
              </a:ext>
            </a:extLst>
          </p:cNvPr>
          <p:cNvSpPr/>
          <p:nvPr userDrawn="1"/>
        </p:nvSpPr>
        <p:spPr>
          <a:xfrm>
            <a:off x="-609600" y="1148249"/>
            <a:ext cx="447675" cy="236558"/>
          </a:xfrm>
          <a:prstGeom prst="rect">
            <a:avLst/>
          </a:prstGeom>
          <a:solidFill>
            <a:srgbClr val="6DA7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ko-KR" altLang="en-US" sz="1200">
              <a:solidFill>
                <a:schemeClr val="tx2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9DC92B4-124A-0628-B285-5153B52D9572}"/>
              </a:ext>
            </a:extLst>
          </p:cNvPr>
          <p:cNvSpPr/>
          <p:nvPr userDrawn="1"/>
        </p:nvSpPr>
        <p:spPr>
          <a:xfrm>
            <a:off x="-609600" y="1423701"/>
            <a:ext cx="447675" cy="236558"/>
          </a:xfrm>
          <a:prstGeom prst="rect">
            <a:avLst/>
          </a:prstGeom>
          <a:solidFill>
            <a:srgbClr val="03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ko-KR" altLang="en-US" sz="1200">
              <a:solidFill>
                <a:schemeClr val="tx2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43EF1D-3C54-0928-3963-5B4436BF907E}"/>
              </a:ext>
            </a:extLst>
          </p:cNvPr>
          <p:cNvSpPr/>
          <p:nvPr userDrawn="1"/>
        </p:nvSpPr>
        <p:spPr>
          <a:xfrm>
            <a:off x="-609600" y="1699153"/>
            <a:ext cx="447675" cy="236558"/>
          </a:xfrm>
          <a:prstGeom prst="rect">
            <a:avLst/>
          </a:prstGeom>
          <a:solidFill>
            <a:srgbClr val="0233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ko-KR" altLang="en-US" sz="1200">
              <a:solidFill>
                <a:schemeClr val="tx2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D8E288-9144-2C0E-05B3-3218CC99453A}"/>
              </a:ext>
            </a:extLst>
          </p:cNvPr>
          <p:cNvSpPr txBox="1">
            <a:spLocks/>
          </p:cNvSpPr>
          <p:nvPr userDrawn="1"/>
        </p:nvSpPr>
        <p:spPr>
          <a:xfrm>
            <a:off x="9328638" y="6571129"/>
            <a:ext cx="568735" cy="2696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lvl1pPr marL="0" indent="0" algn="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914423" indent="-351701" algn="l" defTabSz="112544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34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06804" indent="-281361" algn="l" defTabSz="112544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9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69526" indent="-281361" algn="l" defTabSz="112544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32248" indent="-281361" algn="l" defTabSz="112544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94970" indent="-281361" algn="l" defTabSz="112544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91" indent="-281361" algn="l" defTabSz="112544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413" indent="-281361" algn="l" defTabSz="112544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135" indent="-281361" algn="l" defTabSz="112544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57200" latinLnBrk="0">
              <a:spcBef>
                <a:spcPts val="0"/>
              </a:spcBef>
              <a:buFontTx/>
              <a:buNone/>
              <a:defRPr/>
            </a:pPr>
            <a:fld id="{EF5576CC-3483-45BA-A8BC-6AAD2972425B}" type="slidenum">
              <a:rPr lang="ko-KR" altLang="en-US" sz="900" b="0" spc="-40" smtClean="0">
                <a:solidFill>
                  <a:prstClr val="black">
                    <a:tint val="75000"/>
                  </a:prstClr>
                </a:solidFill>
                <a:latin typeface="Tahoma" panose="020B0604030504040204" pitchFamily="34" charset="0"/>
                <a:ea typeface="맑은 고딕" panose="020B0503020000020004" pitchFamily="50" charset="-127"/>
              </a:rPr>
              <a:pPr algn="l" defTabSz="457200" latinLnBrk="0">
                <a:spcBef>
                  <a:spcPts val="0"/>
                </a:spcBef>
                <a:buFontTx/>
                <a:buNone/>
                <a:defRPr/>
              </a:pPr>
              <a:t>‹#›</a:t>
            </a:fld>
            <a:endParaRPr lang="ko-KR" altLang="en-US" sz="900" b="0" spc="-40">
              <a:solidFill>
                <a:prstClr val="black">
                  <a:tint val="75000"/>
                </a:prstClr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555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73">
          <p15:clr>
            <a:srgbClr val="FBAE40"/>
          </p15:clr>
        </p15:guide>
        <p15:guide id="6" orient="horz" pos="1230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orient="horz" pos="414" userDrawn="1">
          <p15:clr>
            <a:srgbClr val="FBAE40"/>
          </p15:clr>
        </p15:guide>
        <p15:guide id="9" orient="horz" pos="3022">
          <p15:clr>
            <a:srgbClr val="FBAE40"/>
          </p15:clr>
        </p15:guide>
        <p15:guide id="10" orient="horz" pos="1321" userDrawn="1">
          <p15:clr>
            <a:srgbClr val="FBAE40"/>
          </p15:clr>
        </p15:guide>
        <p15:guide id="11" orient="horz" pos="13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554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BDE6EF39-F987-AF0D-9213-D1025DDF1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66025" y="6451603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354">
                <a:latin typeface="+mj-lt"/>
              </a:defRPr>
            </a:lvl1pPr>
          </a:lstStyle>
          <a:p>
            <a:fld id="{7E47190A-A7C8-48C3-B89D-34DE3FE3E56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07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67" r:id="rId2"/>
    <p:sldLayoutId id="2147483768" r:id="rId3"/>
  </p:sldLayoutIdLst>
  <p:hf hdr="0" ftr="0" dt="0"/>
  <p:txStyles>
    <p:titleStyle>
      <a:lvl1pPr algn="ctr" defTabSz="1125444" rtl="0" eaLnBrk="1" latinLnBrk="1" hangingPunct="1">
        <a:spcBef>
          <a:spcPct val="0"/>
        </a:spcBef>
        <a:buNone/>
        <a:defRPr sz="54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2041" indent="-422041" algn="l" defTabSz="1125444" rtl="0" eaLnBrk="1" latinLnBrk="1" hangingPunct="1">
        <a:spcBef>
          <a:spcPct val="20000"/>
        </a:spcBef>
        <a:buFont typeface="Arial" pitchFamily="34" charset="0"/>
        <a:buChar char="•"/>
        <a:defRPr sz="3939" kern="1200">
          <a:solidFill>
            <a:schemeClr val="tx1"/>
          </a:solidFill>
          <a:latin typeface="+mn-lt"/>
          <a:ea typeface="+mn-ea"/>
          <a:cs typeface="+mn-cs"/>
        </a:defRPr>
      </a:lvl1pPr>
      <a:lvl2pPr marL="914423" indent="-351701" algn="l" defTabSz="1125444" rtl="0" eaLnBrk="1" latinLnBrk="1" hangingPunct="1">
        <a:spcBef>
          <a:spcPct val="20000"/>
        </a:spcBef>
        <a:buFont typeface="Arial" pitchFamily="34" charset="0"/>
        <a:buChar char="–"/>
        <a:defRPr sz="3446" kern="1200">
          <a:solidFill>
            <a:schemeClr val="tx1"/>
          </a:solidFill>
          <a:latin typeface="+mn-lt"/>
          <a:ea typeface="+mn-ea"/>
          <a:cs typeface="+mn-cs"/>
        </a:defRPr>
      </a:lvl2pPr>
      <a:lvl3pPr marL="1406804" indent="-281361" algn="l" defTabSz="1125444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1969526" indent="-281361" algn="l" defTabSz="1125444" rtl="0" eaLnBrk="1" latinLnBrk="1" hangingPunct="1">
        <a:spcBef>
          <a:spcPct val="20000"/>
        </a:spcBef>
        <a:buFont typeface="Arial" pitchFamily="34" charset="0"/>
        <a:buChar char="–"/>
        <a:defRPr sz="2462" kern="1200">
          <a:solidFill>
            <a:schemeClr val="tx1"/>
          </a:solidFill>
          <a:latin typeface="+mn-lt"/>
          <a:ea typeface="+mn-ea"/>
          <a:cs typeface="+mn-cs"/>
        </a:defRPr>
      </a:lvl4pPr>
      <a:lvl5pPr marL="2532248" indent="-281361" algn="l" defTabSz="1125444" rtl="0" eaLnBrk="1" latinLnBrk="1" hangingPunct="1">
        <a:spcBef>
          <a:spcPct val="20000"/>
        </a:spcBef>
        <a:buFont typeface="Arial" pitchFamily="34" charset="0"/>
        <a:buChar char="»"/>
        <a:defRPr sz="2462" kern="1200">
          <a:solidFill>
            <a:schemeClr val="tx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1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1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1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1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B17638-B017-3477-1F9A-AE7F304DDADA}"/>
              </a:ext>
            </a:extLst>
          </p:cNvPr>
          <p:cNvSpPr txBox="1"/>
          <p:nvPr/>
        </p:nvSpPr>
        <p:spPr>
          <a:xfrm>
            <a:off x="-6524" y="1916832"/>
            <a:ext cx="9912523" cy="15846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ctr">
              <a:spcAft>
                <a:spcPts val="600"/>
              </a:spcAft>
              <a:defRPr sz="1200" b="1">
                <a:latin typeface="나눔고딕" panose="020D0804000000000000" pitchFamily="50" charset="-127"/>
                <a:ea typeface="나눔고딕" panose="020D0804000000000000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ko-KR" altLang="en-US" sz="32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895674"/>
            <a:ext cx="9912524" cy="1631297"/>
          </a:xfrm>
        </p:spPr>
        <p:txBody>
          <a:bodyPr anchor="ctr">
            <a:normAutofit/>
          </a:bodyPr>
          <a:lstStyle/>
          <a:p>
            <a:pPr lvl="0" defTabSz="914400" latinLnBrk="0">
              <a:lnSpc>
                <a:spcPct val="120000"/>
              </a:lnSpc>
              <a:spcBef>
                <a:spcPts val="0"/>
              </a:spcBef>
              <a:defRPr/>
            </a:pPr>
            <a:r>
              <a:rPr kumimoji="1" lang="en-US" altLang="ko-KR" sz="3200" kern="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CLX AI E-to-E </a:t>
            </a:r>
            <a:r>
              <a:rPr kumimoji="1" lang="ko-KR" altLang="en-US" sz="3200" kern="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운영체계 정립 </a:t>
            </a:r>
            <a:r>
              <a:rPr kumimoji="1" lang="en-US" altLang="ko-KR" sz="3200" kern="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PI</a:t>
            </a:r>
            <a:br>
              <a:rPr kumimoji="1" lang="en-US" altLang="ko-KR" sz="1200" kern="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</a:br>
            <a:r>
              <a:rPr kumimoji="1" lang="en-US" altLang="ko-KR" sz="2000" kern="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- </a:t>
            </a:r>
            <a:r>
              <a:rPr kumimoji="1" lang="ko-KR" altLang="en-US" sz="2000" kern="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추진계획 보고 </a:t>
            </a:r>
            <a:r>
              <a:rPr kumimoji="1" lang="en-US" altLang="ko-KR" sz="2000" kern="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- </a:t>
            </a:r>
            <a:endParaRPr lang="ko-KR" altLang="en-US" sz="10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AD0179-0026-3819-424C-4541F76DE82A}"/>
              </a:ext>
            </a:extLst>
          </p:cNvPr>
          <p:cNvSpPr/>
          <p:nvPr/>
        </p:nvSpPr>
        <p:spPr>
          <a:xfrm>
            <a:off x="353540" y="3803831"/>
            <a:ext cx="597483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 fontAlgn="base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kumimoji="1" lang="en-US" altLang="ko-KR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</a:t>
            </a:r>
            <a:r>
              <a:rPr kumimoji="1" lang="ko-KR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수행 배경</a:t>
            </a:r>
            <a:endParaRPr kumimoji="1" lang="en-US" altLang="ko-KR" sz="1600" dirty="0">
              <a:solidFill>
                <a:prstClr val="black">
                  <a:lumMod val="50000"/>
                  <a:lumOff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 marL="182563" indent="-182563" fontAlgn="base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kumimoji="1" lang="ko-KR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수행 범위</a:t>
            </a:r>
            <a:endParaRPr kumimoji="1" lang="en-US" altLang="ko-KR" sz="1600" dirty="0">
              <a:solidFill>
                <a:prstClr val="black">
                  <a:lumMod val="50000"/>
                  <a:lumOff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 marL="182563" indent="-182563" fontAlgn="base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kumimoji="1" lang="en-US" altLang="ko-KR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</a:t>
            </a:r>
            <a:r>
              <a:rPr kumimoji="1" lang="ko-KR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수행 방안</a:t>
            </a:r>
            <a:endParaRPr kumimoji="1" lang="en-US" altLang="ko-KR" sz="1600" dirty="0">
              <a:solidFill>
                <a:prstClr val="black">
                  <a:lumMod val="50000"/>
                  <a:lumOff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 marL="182563" indent="-182563" fontAlgn="base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kumimoji="1" lang="en-US" altLang="ko-KR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</a:t>
            </a:r>
            <a:r>
              <a:rPr kumimoji="1" lang="ko-KR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추진 계획</a:t>
            </a:r>
            <a:endParaRPr kumimoji="1" lang="en-US" altLang="ko-KR" sz="1600" dirty="0">
              <a:solidFill>
                <a:prstClr val="black">
                  <a:lumMod val="50000"/>
                  <a:lumOff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79F7355C-DE57-3135-8722-58925127CB94}"/>
              </a:ext>
            </a:extLst>
          </p:cNvPr>
          <p:cNvSpPr txBox="1">
            <a:spLocks/>
          </p:cNvSpPr>
          <p:nvPr/>
        </p:nvSpPr>
        <p:spPr>
          <a:xfrm>
            <a:off x="7811588" y="6271364"/>
            <a:ext cx="1821931" cy="360040"/>
          </a:xfrm>
        </p:spPr>
        <p:txBody>
          <a:bodyPr>
            <a:normAutofit/>
          </a:bodyPr>
          <a:lstStyle>
            <a:lvl1pPr marL="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1125444" rtl="0" eaLnBrk="1" latinLnBrk="1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691494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BD9E-0BE7-CB9C-AAF9-B8101AE2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79A84-422E-2EF0-043B-547BB4039C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1361270" cy="369332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수행 배경</a:t>
            </a:r>
          </a:p>
        </p:txBody>
      </p:sp>
      <p:sp>
        <p:nvSpPr>
          <p:cNvPr id="51" name="텍스트 개체 틀 1">
            <a:extLst>
              <a:ext uri="{FF2B5EF4-FFF2-40B4-BE49-F238E27FC236}">
                <a16:creationId xmlns:a16="http://schemas.microsoft.com/office/drawing/2014/main" id="{AF974CE4-2B44-3514-8D39-C7A7CB300B7C}"/>
              </a:ext>
            </a:extLst>
          </p:cNvPr>
          <p:cNvSpPr txBox="1">
            <a:spLocks/>
          </p:cNvSpPr>
          <p:nvPr/>
        </p:nvSpPr>
        <p:spPr>
          <a:xfrm>
            <a:off x="344488" y="867201"/>
            <a:ext cx="9217025" cy="3815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1125444">
              <a:spcBef>
                <a:spcPct val="20000"/>
              </a:spcBef>
              <a:buFont typeface="Arial" pitchFamily="34" charset="0"/>
              <a:buNone/>
              <a:defRPr b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914423" indent="-351701" defTabSz="1125444" latinLnBrk="1">
              <a:spcBef>
                <a:spcPct val="20000"/>
              </a:spcBef>
              <a:buFont typeface="Arial" pitchFamily="34" charset="0"/>
              <a:buChar char="–"/>
              <a:defRPr sz="3446"/>
            </a:lvl2pPr>
            <a:lvl3pPr marL="1406804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954"/>
            </a:lvl3pPr>
            <a:lvl4pPr marL="1969526" indent="-281361" defTabSz="1125444" latinLnBrk="1">
              <a:spcBef>
                <a:spcPct val="20000"/>
              </a:spcBef>
              <a:buFont typeface="Arial" pitchFamily="34" charset="0"/>
              <a:buChar char="–"/>
              <a:defRPr sz="2462"/>
            </a:lvl4pPr>
            <a:lvl5pPr marL="2532248" indent="-281361" defTabSz="1125444" latinLnBrk="1">
              <a:spcBef>
                <a:spcPct val="20000"/>
              </a:spcBef>
              <a:buFont typeface="Arial" pitchFamily="34" charset="0"/>
              <a:buChar char="»"/>
              <a:defRPr sz="2462"/>
            </a:lvl5pPr>
            <a:lvl6pPr marL="3094970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6pPr>
            <a:lvl7pPr marL="3657691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7pPr>
            <a:lvl8pPr marL="4220413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8pPr>
            <a:lvl9pPr marL="4783135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9pPr>
          </a:lstStyle>
          <a:p>
            <a:r>
              <a:rPr lang="en-US" altLang="ko-KR" dirty="0"/>
              <a:t>CLX Brain AI </a:t>
            </a:r>
            <a:r>
              <a:rPr lang="ko-KR" altLang="en-US" dirty="0"/>
              <a:t>본격 추진을 위해 </a:t>
            </a:r>
            <a:r>
              <a:rPr lang="en-US" altLang="ko-KR" dirty="0"/>
              <a:t>CLX </a:t>
            </a:r>
            <a:r>
              <a:rPr lang="ko-KR" altLang="en-US" dirty="0"/>
              <a:t>특화 요건을 반영한 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실행 구조 및 관리체계를 설계하고</a:t>
            </a:r>
            <a:r>
              <a:rPr lang="en-US" altLang="ko-KR" dirty="0"/>
              <a:t> </a:t>
            </a:r>
            <a:r>
              <a:rPr lang="ko-KR" altLang="en-US" dirty="0"/>
              <a:t>단계별 개발 </a:t>
            </a:r>
            <a:r>
              <a:rPr lang="en-US" altLang="ko-KR" dirty="0"/>
              <a:t>· </a:t>
            </a:r>
            <a:r>
              <a:rPr lang="ko-KR" altLang="en-US" dirty="0"/>
              <a:t>개선 로드맵을 수립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1C4EB-F262-B861-6BE3-6D9FA87AED8B}"/>
              </a:ext>
            </a:extLst>
          </p:cNvPr>
          <p:cNvSpPr txBox="1"/>
          <p:nvPr/>
        </p:nvSpPr>
        <p:spPr>
          <a:xfrm>
            <a:off x="770467" y="5012267"/>
            <a:ext cx="4290739" cy="1334003"/>
          </a:xfrm>
          <a:prstGeom prst="rect">
            <a:avLst/>
          </a:prstGeom>
          <a:noFill/>
        </p:spPr>
        <p:txBody>
          <a:bodyPr wrap="square" lIns="36000" rIns="36000">
            <a:noAutofit/>
          </a:bodyPr>
          <a:lstStyle/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spc="-50" dirty="0"/>
              <a:t>AI </a:t>
            </a:r>
            <a:r>
              <a:rPr lang="ko-KR" altLang="en-US" sz="1200" spc="-50" dirty="0"/>
              <a:t>학습 </a:t>
            </a:r>
            <a:r>
              <a:rPr lang="en-US" altLang="ko-KR" sz="1200" spc="-50" dirty="0"/>
              <a:t>· Agent </a:t>
            </a:r>
            <a:r>
              <a:rPr lang="ko-KR" altLang="en-US" sz="1200" spc="-50" dirty="0"/>
              <a:t>운영을 위한 </a:t>
            </a:r>
            <a:r>
              <a:rPr lang="en-US" altLang="ko-KR" sz="1200" spc="-50" dirty="0"/>
              <a:t>Data Context </a:t>
            </a:r>
            <a:r>
              <a:rPr lang="ko-KR" altLang="en-US" sz="1200" spc="-50" dirty="0"/>
              <a:t>정보 및 품질 수준 미흡</a:t>
            </a:r>
            <a:endParaRPr lang="en-US" altLang="ko-KR" sz="1200" spc="-5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spc="-50" dirty="0"/>
              <a:t>AI Agent</a:t>
            </a:r>
            <a:r>
              <a:rPr lang="ko-KR" altLang="en-US" sz="1200" spc="-50" dirty="0"/>
              <a:t>의 결과를 업무에 적시 반영하기 위한 </a:t>
            </a:r>
            <a:r>
              <a:rPr lang="en-US" altLang="ko-KR" sz="1200" spc="-50" dirty="0"/>
              <a:t>Agent-</a:t>
            </a:r>
            <a:r>
              <a:rPr lang="ko-KR" altLang="en-US" sz="1200" spc="-50" dirty="0"/>
              <a:t>시스템 間</a:t>
            </a:r>
            <a:br>
              <a:rPr lang="en-US" altLang="ko-KR" sz="1200" spc="-50" dirty="0"/>
            </a:br>
            <a:r>
              <a:rPr lang="ko-KR" altLang="en-US" sz="1200" spc="-50" dirty="0"/>
              <a:t>연계 체계 및 업무 시스템 자체의 고도화 필요</a:t>
            </a:r>
            <a:endParaRPr lang="en-US" altLang="ko-KR" sz="1200" spc="-5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spc="-50" dirty="0"/>
              <a:t>CLX </a:t>
            </a:r>
            <a:r>
              <a:rPr lang="ko-KR" altLang="en-US" sz="1200" spc="-50" dirty="0"/>
              <a:t>업무 특성 및 운영 환경을 고려한 </a:t>
            </a:r>
            <a:r>
              <a:rPr lang="en-US" altLang="ko-KR" sz="1200" spc="-50" dirty="0" err="1"/>
              <a:t>MLOps</a:t>
            </a:r>
            <a:r>
              <a:rPr lang="en-US" altLang="ko-KR" sz="1200" spc="-50" dirty="0"/>
              <a:t> · </a:t>
            </a:r>
            <a:r>
              <a:rPr lang="en-US" altLang="ko-KR" sz="1200" spc="-50" dirty="0" err="1"/>
              <a:t>AgentOps</a:t>
            </a:r>
            <a:r>
              <a:rPr lang="en-US" altLang="ko-KR" sz="1200" spc="-50" dirty="0"/>
              <a:t> </a:t>
            </a:r>
            <a:r>
              <a:rPr lang="ko-KR" altLang="en-US" sz="1200" spc="-50" dirty="0"/>
              <a:t>구축 필요</a:t>
            </a:r>
            <a:endParaRPr lang="en-US" altLang="ko-KR" sz="1200" spc="-5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200" spc="-50" dirty="0" err="1"/>
              <a:t>암묵지</a:t>
            </a:r>
            <a:r>
              <a:rPr lang="ko-KR" altLang="en-US" sz="1200" spc="-50" dirty="0"/>
              <a:t> </a:t>
            </a:r>
            <a:r>
              <a:rPr lang="en-US" altLang="ko-KR" sz="1200" spc="-50" dirty="0"/>
              <a:t>· </a:t>
            </a:r>
            <a:r>
              <a:rPr lang="ko-KR" altLang="en-US" sz="1200" spc="-50" dirty="0"/>
              <a:t>비정형 문서 등 산재된 </a:t>
            </a:r>
            <a:r>
              <a:rPr lang="en-US" altLang="ko-KR" sz="1200" spc="-50" dirty="0"/>
              <a:t>CLX </a:t>
            </a:r>
            <a:r>
              <a:rPr lang="ko-KR" altLang="en-US" sz="1200" spc="-50" dirty="0"/>
              <a:t>지식의 체계화 된 관리 미흡</a:t>
            </a:r>
            <a:endParaRPr lang="en-US" altLang="ko-KR" sz="1200" spc="-5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EA984EF-169D-AA8E-E65E-F5BC27756091}"/>
              </a:ext>
            </a:extLst>
          </p:cNvPr>
          <p:cNvGrpSpPr/>
          <p:nvPr/>
        </p:nvGrpSpPr>
        <p:grpSpPr>
          <a:xfrm>
            <a:off x="5272514" y="2674800"/>
            <a:ext cx="144000" cy="2880000"/>
            <a:chOff x="5393400" y="3733826"/>
            <a:chExt cx="72000" cy="21600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1D82A95-0672-DEEB-6442-AC63B8DEB397}"/>
                </a:ext>
              </a:extLst>
            </p:cNvPr>
            <p:cNvCxnSpPr>
              <a:cxnSpLocks/>
            </p:cNvCxnSpPr>
            <p:nvPr/>
          </p:nvCxnSpPr>
          <p:spPr>
            <a:xfrm>
              <a:off x="5393400" y="3733826"/>
              <a:ext cx="72000" cy="108000"/>
            </a:xfrm>
            <a:prstGeom prst="line">
              <a:avLst/>
            </a:prstGeom>
            <a:noFill/>
            <a:ln w="12700" cap="rnd">
              <a:solidFill>
                <a:sysClr val="window" lastClr="FFFFFF">
                  <a:lumMod val="50000"/>
                  <a:alpha val="80000"/>
                </a:sysClr>
              </a:solidFill>
              <a:round/>
              <a:headEnd type="none" w="med" len="med"/>
              <a:tailEnd type="none" w="med" len="med"/>
            </a:ln>
          </p:spPr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97DFF8E1-1DE2-1582-122B-C4DD5538E0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3400" y="3841826"/>
              <a:ext cx="72000" cy="108000"/>
            </a:xfrm>
            <a:prstGeom prst="line">
              <a:avLst/>
            </a:prstGeom>
            <a:noFill/>
            <a:ln w="12700" cap="rnd">
              <a:solidFill>
                <a:sysClr val="window" lastClr="FFFFFF">
                  <a:lumMod val="50000"/>
                  <a:alpha val="80000"/>
                </a:sysClr>
              </a:solidFill>
              <a:round/>
              <a:headEnd type="none" w="med" len="med"/>
              <a:tailEnd type="none" w="med" len="med"/>
            </a:ln>
          </p:spPr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02A613D-F84A-2185-B20F-AD931E1229E8}"/>
              </a:ext>
            </a:extLst>
          </p:cNvPr>
          <p:cNvSpPr/>
          <p:nvPr/>
        </p:nvSpPr>
        <p:spPr>
          <a:xfrm>
            <a:off x="695723" y="4652428"/>
            <a:ext cx="4280603" cy="38158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Brain AI </a:t>
            </a:r>
            <a:r>
              <a:rPr lang="ko-KR" altLang="en-US" sz="14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추진을 위한 주요 개선 사항 </a:t>
            </a:r>
            <a:r>
              <a:rPr lang="en-US" altLang="ko-KR" sz="12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lt"/>
                <a:ea typeface="나눔스퀘어 Bold" panose="020B0600000101010101" pitchFamily="50" charset="-127"/>
                <a:cs typeface="+mj-cs"/>
              </a:rPr>
              <a:t>(CLX Pain point)</a:t>
            </a:r>
            <a:endParaRPr lang="ko-KR" altLang="en-US" sz="1400" kern="0" spc="-5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4B79F1-D4BF-6565-4129-3285972B6A32}"/>
              </a:ext>
            </a:extLst>
          </p:cNvPr>
          <p:cNvSpPr txBox="1"/>
          <p:nvPr/>
        </p:nvSpPr>
        <p:spPr>
          <a:xfrm>
            <a:off x="695723" y="1915454"/>
            <a:ext cx="4365227" cy="57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spc="-5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’26. 6</a:t>
            </a:r>
            <a:r>
              <a:rPr lang="ko-KR" altLang="en-US" sz="1100" spc="-5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月 </a:t>
            </a:r>
            <a:r>
              <a:rPr lang="en-US" altLang="ko-KR" sz="1100" spc="-5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CLX AX Vision · </a:t>
            </a:r>
            <a:r>
              <a:rPr lang="ko-KR" altLang="en-US" sz="1100" spc="-5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전략</a:t>
            </a:r>
            <a:r>
              <a:rPr lang="en-US" altLang="ko-KR" sz="1100" spc="-5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 </a:t>
            </a:r>
            <a:r>
              <a:rPr lang="ko-KR" altLang="en-US" sz="1100" spc="-50" dirty="0"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rPr>
              <a:t>수립</a:t>
            </a:r>
            <a:endParaRPr lang="en-US" altLang="ko-KR" sz="1200" spc="-50" dirty="0">
              <a:latin typeface="나눔스퀘어" panose="020B0600000101010101" pitchFamily="50" charset="-127"/>
              <a:ea typeface="나눔스퀘어" panose="020B0600000101010101" pitchFamily="50" charset="-127"/>
              <a:cs typeface="Tahoma" panose="020B0604030504040204" pitchFamily="34" charset="0"/>
            </a:endParaRPr>
          </a:p>
          <a:p>
            <a:pPr marL="0" marR="0" lvl="0" indent="0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ahoma" panose="020B0604030504040204" pitchFamily="34" charset="0"/>
              </a:rPr>
              <a:t>Brain AI </a:t>
            </a:r>
            <a:r>
              <a:rPr lang="ko-KR" altLang="en-US" sz="14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ahoma" panose="020B0604030504040204" pitchFamily="34" charset="0"/>
              </a:rPr>
              <a:t>기반 </a:t>
            </a:r>
            <a:r>
              <a:rPr lang="en-US" altLang="ko-KR" sz="14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ahoma" panose="020B0604030504040204" pitchFamily="34" charset="0"/>
              </a:rPr>
              <a:t>Dual Brain </a:t>
            </a:r>
            <a:r>
              <a:rPr lang="ko-KR" altLang="en-US" sz="1400" spc="-5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ahoma" panose="020B0604030504040204" pitchFamily="34" charset="0"/>
              </a:rPr>
              <a:t>운영 체계로의 진화</a:t>
            </a:r>
            <a:endParaRPr lang="en-US" altLang="ko-KR" sz="1400" spc="-50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1FFD61-85E5-F7AC-3562-12140E793081}"/>
              </a:ext>
            </a:extLst>
          </p:cNvPr>
          <p:cNvSpPr txBox="1"/>
          <p:nvPr/>
        </p:nvSpPr>
        <p:spPr>
          <a:xfrm>
            <a:off x="770467" y="2936618"/>
            <a:ext cx="4290483" cy="1578232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bg1">
                <a:lumMod val="6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215597123">
                  <a:custGeom>
                    <a:avLst/>
                    <a:gdLst>
                      <a:gd name="connsiteX0" fmla="*/ 0 w 4320000"/>
                      <a:gd name="connsiteY0" fmla="*/ 0 h 1187376"/>
                      <a:gd name="connsiteX1" fmla="*/ 4320000 w 4320000"/>
                      <a:gd name="connsiteY1" fmla="*/ 0 h 1187376"/>
                      <a:gd name="connsiteX2" fmla="*/ 4320000 w 4320000"/>
                      <a:gd name="connsiteY2" fmla="*/ 1187376 h 1187376"/>
                      <a:gd name="connsiteX3" fmla="*/ 0 w 4320000"/>
                      <a:gd name="connsiteY3" fmla="*/ 1187376 h 1187376"/>
                      <a:gd name="connsiteX4" fmla="*/ 0 w 4320000"/>
                      <a:gd name="connsiteY4" fmla="*/ 0 h 11873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320000" h="1187376" extrusionOk="0">
                        <a:moveTo>
                          <a:pt x="0" y="0"/>
                        </a:moveTo>
                        <a:cubicBezTo>
                          <a:pt x="1486145" y="38151"/>
                          <a:pt x="2573206" y="19680"/>
                          <a:pt x="4320000" y="0"/>
                        </a:cubicBezTo>
                        <a:cubicBezTo>
                          <a:pt x="4410414" y="406560"/>
                          <a:pt x="4227915" y="876713"/>
                          <a:pt x="4320000" y="1187376"/>
                        </a:cubicBezTo>
                        <a:cubicBezTo>
                          <a:pt x="2960096" y="1166408"/>
                          <a:pt x="2126860" y="1243019"/>
                          <a:pt x="0" y="1187376"/>
                        </a:cubicBezTo>
                        <a:cubicBezTo>
                          <a:pt x="88954" y="959753"/>
                          <a:pt x="-99589" y="54740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36000" tIns="108000" rIns="36000" bIns="108000" anchor="t">
            <a:noAutofit/>
          </a:bodyPr>
          <a:lstStyle>
            <a:defPPr>
              <a:defRPr lang="ko-KR"/>
            </a:defPPr>
            <a:lvl1pPr>
              <a:defRPr sz="900">
                <a:solidFill>
                  <a:srgbClr val="0000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</a:lstStyle>
          <a:p>
            <a:pPr lvl="0" algn="ctr" defTabSz="914400">
              <a:lnSpc>
                <a:spcPct val="120000"/>
              </a:lnSpc>
              <a:spcBef>
                <a:spcPts val="600"/>
              </a:spcBef>
              <a:defRPr/>
            </a:pPr>
            <a:endParaRPr lang="en-US" altLang="ko-KR" sz="1200" kern="0" spc="-50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9" name="Freeform 73">
            <a:extLst>
              <a:ext uri="{FF2B5EF4-FFF2-40B4-BE49-F238E27FC236}">
                <a16:creationId xmlns:a16="http://schemas.microsoft.com/office/drawing/2014/main" id="{72674F66-9C44-7D76-5A78-009C1991CAB1}"/>
              </a:ext>
            </a:extLst>
          </p:cNvPr>
          <p:cNvSpPr>
            <a:spLocks noEditPoints="1"/>
          </p:cNvSpPr>
          <p:nvPr/>
        </p:nvSpPr>
        <p:spPr bwMode="auto">
          <a:xfrm>
            <a:off x="351061" y="2081168"/>
            <a:ext cx="252000" cy="252000"/>
          </a:xfrm>
          <a:custGeom>
            <a:avLst/>
            <a:gdLst>
              <a:gd name="T0" fmla="*/ 176 w 353"/>
              <a:gd name="T1" fmla="*/ 221 h 353"/>
              <a:gd name="T2" fmla="*/ 102 w 353"/>
              <a:gd name="T3" fmla="*/ 147 h 353"/>
              <a:gd name="T4" fmla="*/ 96 w 353"/>
              <a:gd name="T5" fmla="*/ 145 h 353"/>
              <a:gd name="T6" fmla="*/ 88 w 353"/>
              <a:gd name="T7" fmla="*/ 153 h 353"/>
              <a:gd name="T8" fmla="*/ 90 w 353"/>
              <a:gd name="T9" fmla="*/ 158 h 353"/>
              <a:gd name="T10" fmla="*/ 170 w 353"/>
              <a:gd name="T11" fmla="*/ 239 h 353"/>
              <a:gd name="T12" fmla="*/ 176 w 353"/>
              <a:gd name="T13" fmla="*/ 241 h 353"/>
              <a:gd name="T14" fmla="*/ 182 w 353"/>
              <a:gd name="T15" fmla="*/ 238 h 353"/>
              <a:gd name="T16" fmla="*/ 182 w 353"/>
              <a:gd name="T17" fmla="*/ 238 h 353"/>
              <a:gd name="T18" fmla="*/ 316 w 353"/>
              <a:gd name="T19" fmla="*/ 98 h 353"/>
              <a:gd name="T20" fmla="*/ 316 w 353"/>
              <a:gd name="T21" fmla="*/ 98 h 353"/>
              <a:gd name="T22" fmla="*/ 328 w 353"/>
              <a:gd name="T23" fmla="*/ 86 h 353"/>
              <a:gd name="T24" fmla="*/ 327 w 353"/>
              <a:gd name="T25" fmla="*/ 86 h 353"/>
              <a:gd name="T26" fmla="*/ 351 w 353"/>
              <a:gd name="T27" fmla="*/ 62 h 353"/>
              <a:gd name="T28" fmla="*/ 351 w 353"/>
              <a:gd name="T29" fmla="*/ 62 h 353"/>
              <a:gd name="T30" fmla="*/ 353 w 353"/>
              <a:gd name="T31" fmla="*/ 56 h 353"/>
              <a:gd name="T32" fmla="*/ 345 w 353"/>
              <a:gd name="T33" fmla="*/ 48 h 353"/>
              <a:gd name="T34" fmla="*/ 339 w 353"/>
              <a:gd name="T35" fmla="*/ 51 h 353"/>
              <a:gd name="T36" fmla="*/ 339 w 353"/>
              <a:gd name="T37" fmla="*/ 51 h 353"/>
              <a:gd name="T38" fmla="*/ 318 w 353"/>
              <a:gd name="T39" fmla="*/ 72 h 353"/>
              <a:gd name="T40" fmla="*/ 318 w 353"/>
              <a:gd name="T41" fmla="*/ 72 h 353"/>
              <a:gd name="T42" fmla="*/ 307 w 353"/>
              <a:gd name="T43" fmla="*/ 84 h 353"/>
              <a:gd name="T44" fmla="*/ 307 w 353"/>
              <a:gd name="T45" fmla="*/ 84 h 353"/>
              <a:gd name="T46" fmla="*/ 176 w 353"/>
              <a:gd name="T47" fmla="*/ 221 h 353"/>
              <a:gd name="T48" fmla="*/ 339 w 353"/>
              <a:gd name="T49" fmla="*/ 109 h 353"/>
              <a:gd name="T50" fmla="*/ 327 w 353"/>
              <a:gd name="T51" fmla="*/ 109 h 353"/>
              <a:gd name="T52" fmla="*/ 325 w 353"/>
              <a:gd name="T53" fmla="*/ 117 h 353"/>
              <a:gd name="T54" fmla="*/ 325 w 353"/>
              <a:gd name="T55" fmla="*/ 117 h 353"/>
              <a:gd name="T56" fmla="*/ 337 w 353"/>
              <a:gd name="T57" fmla="*/ 177 h 353"/>
              <a:gd name="T58" fmla="*/ 176 w 353"/>
              <a:gd name="T59" fmla="*/ 337 h 353"/>
              <a:gd name="T60" fmla="*/ 16 w 353"/>
              <a:gd name="T61" fmla="*/ 177 h 353"/>
              <a:gd name="T62" fmla="*/ 176 w 353"/>
              <a:gd name="T63" fmla="*/ 16 h 353"/>
              <a:gd name="T64" fmla="*/ 292 w 353"/>
              <a:gd name="T65" fmla="*/ 65 h 353"/>
              <a:gd name="T66" fmla="*/ 292 w 353"/>
              <a:gd name="T67" fmla="*/ 65 h 353"/>
              <a:gd name="T68" fmla="*/ 303 w 353"/>
              <a:gd name="T69" fmla="*/ 65 h 353"/>
              <a:gd name="T70" fmla="*/ 303 w 353"/>
              <a:gd name="T71" fmla="*/ 54 h 353"/>
              <a:gd name="T72" fmla="*/ 302 w 353"/>
              <a:gd name="T73" fmla="*/ 53 h 353"/>
              <a:gd name="T74" fmla="*/ 176 w 353"/>
              <a:gd name="T75" fmla="*/ 0 h 353"/>
              <a:gd name="T76" fmla="*/ 0 w 353"/>
              <a:gd name="T77" fmla="*/ 177 h 353"/>
              <a:gd name="T78" fmla="*/ 176 w 353"/>
              <a:gd name="T79" fmla="*/ 353 h 353"/>
              <a:gd name="T80" fmla="*/ 353 w 353"/>
              <a:gd name="T81" fmla="*/ 177 h 353"/>
              <a:gd name="T82" fmla="*/ 341 w 353"/>
              <a:gd name="T83" fmla="*/ 112 h 353"/>
              <a:gd name="T84" fmla="*/ 339 w 353"/>
              <a:gd name="T85" fmla="*/ 109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53" h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bg1">
              <a:lumMod val="50000"/>
            </a:schemeClr>
          </a:solidFill>
          <a:ln w="635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1" lang="en-US" sz="1800" i="0" u="none" strike="noStrike" kern="0" cap="none" spc="-40" normalizeH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F3A00B-87BB-11DC-1ACD-25A791277D46}"/>
              </a:ext>
            </a:extLst>
          </p:cNvPr>
          <p:cNvSpPr txBox="1"/>
          <p:nvPr/>
        </p:nvSpPr>
        <p:spPr>
          <a:xfrm>
            <a:off x="695723" y="2468858"/>
            <a:ext cx="4365873" cy="400110"/>
          </a:xfrm>
          <a:prstGeom prst="rect">
            <a:avLst/>
          </a:prstGeom>
          <a:noFill/>
        </p:spPr>
        <p:txBody>
          <a:bodyPr wrap="square" rIns="36000">
            <a:spAutoFit/>
          </a:bodyPr>
          <a:lstStyle/>
          <a:p>
            <a:r>
              <a:rPr lang="en-US" altLang="ko-KR" sz="1000" spc="-50" dirty="0"/>
              <a:t>24</a:t>
            </a:r>
            <a:r>
              <a:rPr lang="ko-KR" altLang="en-US" sz="1000" spc="-50" dirty="0"/>
              <a:t>시간 상시 관측 </a:t>
            </a:r>
            <a:r>
              <a:rPr lang="en-US" altLang="ko-KR" sz="1000" spc="-50" dirty="0"/>
              <a:t>· </a:t>
            </a:r>
            <a:r>
              <a:rPr lang="ko-KR" altLang="en-US" sz="1000" spc="-50" dirty="0"/>
              <a:t>분석하는 </a:t>
            </a:r>
            <a:r>
              <a:rPr lang="en-US" altLang="ko-KR" sz="1000" spc="-50" dirty="0"/>
              <a:t>Brain AI</a:t>
            </a:r>
            <a:r>
              <a:rPr lang="ko-KR" altLang="en-US" sz="1000" spc="-50" dirty="0"/>
              <a:t>의 판단과 엔지니어의 의사결정을 결합하여</a:t>
            </a:r>
            <a:endParaRPr lang="en-US" altLang="ko-KR" sz="1000" spc="-50" dirty="0"/>
          </a:p>
          <a:p>
            <a:r>
              <a:rPr lang="ko-KR" altLang="en-US" sz="1000" spc="-50" dirty="0"/>
              <a:t>더 빠르게 감지하고 더 정확하게 판단하며 안전하고 확실하게 실행하는 운영 체계 구현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E195973-F55F-5EF9-0569-6FC118A0B0A0}"/>
              </a:ext>
            </a:extLst>
          </p:cNvPr>
          <p:cNvSpPr/>
          <p:nvPr/>
        </p:nvSpPr>
        <p:spPr>
          <a:xfrm>
            <a:off x="874932" y="3017592"/>
            <a:ext cx="1442818" cy="184709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u="sng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전략 방향 및 핵심 과제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F9B5177-F080-8993-777C-9A596BDDAE59}"/>
              </a:ext>
            </a:extLst>
          </p:cNvPr>
          <p:cNvSpPr/>
          <p:nvPr/>
        </p:nvSpPr>
        <p:spPr>
          <a:xfrm>
            <a:off x="845300" y="3306130"/>
            <a:ext cx="1938119" cy="30352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u="none" strike="noStrike" kern="0" cap="none" spc="-50" normalizeH="0" noProof="0" dirty="0">
                <a:ln>
                  <a:noFill/>
                </a:ln>
                <a:solidFill>
                  <a:srgbClr val="035AA6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[</a:t>
            </a:r>
            <a:r>
              <a:rPr kumimoji="1" lang="ko-KR" altLang="en-US" sz="1100" b="1" u="none" strike="noStrike" kern="0" cap="none" spc="-50" normalizeH="0" noProof="0" dirty="0">
                <a:ln>
                  <a:noFill/>
                </a:ln>
                <a:solidFill>
                  <a:srgbClr val="035AA6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마진 최적화</a:t>
            </a:r>
            <a:r>
              <a:rPr kumimoji="1" lang="en-US" altLang="ko-KR" sz="1100" b="1" u="none" strike="noStrike" kern="0" cap="none" spc="-50" normalizeH="0" noProof="0" dirty="0">
                <a:ln>
                  <a:noFill/>
                </a:ln>
                <a:solidFill>
                  <a:srgbClr val="035AA6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]  </a:t>
            </a:r>
            <a:r>
              <a:rPr kumimoji="1" lang="ko-KR" altLang="en-US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실시간 최적화와 공정 통합으로 전체 마진을 극대화</a:t>
            </a:r>
            <a:endParaRPr kumimoji="1" lang="en-US" altLang="ko-KR" sz="1000" u="none" strike="noStrike" kern="0" cap="none" spc="-50" normalizeH="0" noProof="0" dirty="0">
              <a:ln>
                <a:noFill/>
              </a:ln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1D597BA5-239C-2FD3-CBBE-BA19614DBCBE}"/>
              </a:ext>
            </a:extLst>
          </p:cNvPr>
          <p:cNvSpPr/>
          <p:nvPr/>
        </p:nvSpPr>
        <p:spPr>
          <a:xfrm>
            <a:off x="845300" y="3695410"/>
            <a:ext cx="1938119" cy="30352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kern="0" spc="-50" dirty="0">
                <a:solidFill>
                  <a:srgbClr val="035AA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[</a:t>
            </a:r>
            <a:r>
              <a:rPr kumimoji="1" lang="ko-KR" altLang="en-US" sz="1100" b="1" kern="0" spc="-50" dirty="0">
                <a:solidFill>
                  <a:srgbClr val="035AA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안정 운전</a:t>
            </a:r>
            <a:r>
              <a:rPr kumimoji="1" lang="en-US" altLang="ko-KR" sz="1100" b="1" kern="0" spc="-50" dirty="0">
                <a:solidFill>
                  <a:srgbClr val="035AA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]  </a:t>
            </a:r>
            <a:r>
              <a:rPr kumimoji="1" lang="ko-KR" altLang="en-US" sz="1000" u="none" strike="noStrike" kern="0" cap="none" spc="-50" normalizeH="0" noProof="0" dirty="0" err="1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선제적</a:t>
            </a:r>
            <a:r>
              <a:rPr kumimoji="1" lang="ko-KR" altLang="en-US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예측과 업무 자동 연계로 무정지 운영 실현</a:t>
            </a:r>
            <a:endParaRPr kumimoji="1" lang="en-US" altLang="ko-KR" sz="1000" u="none" strike="noStrike" kern="0" cap="none" spc="-50" normalizeH="0" noProof="0" dirty="0">
              <a:ln>
                <a:noFill/>
              </a:ln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30214A7-05D6-30DF-775E-3C735D107C5D}"/>
              </a:ext>
            </a:extLst>
          </p:cNvPr>
          <p:cNvSpPr/>
          <p:nvPr/>
        </p:nvSpPr>
        <p:spPr>
          <a:xfrm>
            <a:off x="845300" y="4084689"/>
            <a:ext cx="1938119" cy="30352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kern="0" spc="-50" dirty="0">
                <a:solidFill>
                  <a:srgbClr val="035AA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[</a:t>
            </a:r>
            <a:r>
              <a:rPr kumimoji="1" lang="ko-KR" altLang="en-US" sz="1100" b="1" kern="0" spc="-50" dirty="0">
                <a:solidFill>
                  <a:srgbClr val="035AA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안전 운영</a:t>
            </a:r>
            <a:r>
              <a:rPr kumimoji="1" lang="en-US" altLang="ko-KR" sz="1100" b="1" kern="0" spc="-50" dirty="0">
                <a:solidFill>
                  <a:srgbClr val="035AA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]  </a:t>
            </a:r>
            <a:r>
              <a:rPr kumimoji="1" lang="ko-KR" altLang="en-US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위험의 선제 감시와 실시간 현장 통제로 사고 원천 차단</a:t>
            </a:r>
            <a:endParaRPr kumimoji="1" lang="en-US" altLang="ko-KR" sz="1000" u="none" strike="noStrike" kern="0" cap="none" spc="-50" normalizeH="0" noProof="0" dirty="0">
              <a:ln>
                <a:noFill/>
              </a:ln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976B12D-6325-C4E5-AA59-0F11D51A4C26}"/>
              </a:ext>
            </a:extLst>
          </p:cNvPr>
          <p:cNvSpPr/>
          <p:nvPr/>
        </p:nvSpPr>
        <p:spPr>
          <a:xfrm>
            <a:off x="2980266" y="3306130"/>
            <a:ext cx="2080683" cy="30352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</a:t>
            </a:r>
            <a:r>
              <a:rPr kumimoji="1" lang="en-US" altLang="ko-KR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Optimizer AI, </a:t>
            </a:r>
            <a:r>
              <a:rPr kumimoji="1" lang="ko-KR" altLang="en-US" sz="1000" kern="0" spc="-50" dirty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비정상 운전 지원 </a:t>
            </a:r>
            <a:r>
              <a:rPr kumimoji="1" lang="en-US" altLang="ko-KR" sz="1000" kern="0" spc="-50" dirty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AI,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에너지 </a:t>
            </a:r>
            <a:r>
              <a:rPr kumimoji="1" lang="en-US" altLang="ko-KR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Network Optimizer AI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5064F33-5969-8772-34B2-55BF2B2CDA56}"/>
              </a:ext>
            </a:extLst>
          </p:cNvPr>
          <p:cNvSpPr/>
          <p:nvPr/>
        </p:nvSpPr>
        <p:spPr>
          <a:xfrm>
            <a:off x="2980266" y="3695410"/>
            <a:ext cx="2080683" cy="30352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Trouble Prediction AI, </a:t>
            </a:r>
            <a:br>
              <a:rPr kumimoji="1" lang="en-US" altLang="ko-KR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Maintenance Planning AI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F18ADAE-DFC7-ED5F-9A38-B53C62431852}"/>
              </a:ext>
            </a:extLst>
          </p:cNvPr>
          <p:cNvSpPr/>
          <p:nvPr/>
        </p:nvSpPr>
        <p:spPr>
          <a:xfrm>
            <a:off x="2980266" y="4084689"/>
            <a:ext cx="2080683" cy="30352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SHE </a:t>
            </a:r>
            <a:r>
              <a:rPr kumimoji="1" lang="ko-KR" altLang="en-US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통합관제 기반 </a:t>
            </a:r>
            <a:r>
              <a:rPr kumimoji="1" lang="en-US" altLang="ko-KR" sz="1000" u="none" strike="noStrike" kern="0" cap="none" spc="-50" normalizeH="0" noProof="0" dirty="0" err="1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SHEild</a:t>
            </a:r>
            <a:r>
              <a:rPr kumimoji="1" lang="en-US" altLang="ko-KR" sz="1000" u="none" strike="noStrike" kern="0" cap="none" spc="-50" normalizeH="0" noProof="0" dirty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AI</a:t>
            </a:r>
          </a:p>
        </p:txBody>
      </p:sp>
      <p:sp>
        <p:nvSpPr>
          <p:cNvPr id="59" name="이등변 삼각형 58">
            <a:extLst>
              <a:ext uri="{FF2B5EF4-FFF2-40B4-BE49-F238E27FC236}">
                <a16:creationId xmlns:a16="http://schemas.microsoft.com/office/drawing/2014/main" id="{D9F44135-A320-0F51-C078-43B086D8F4D8}"/>
              </a:ext>
            </a:extLst>
          </p:cNvPr>
          <p:cNvSpPr/>
          <p:nvPr/>
        </p:nvSpPr>
        <p:spPr>
          <a:xfrm rot="5400000">
            <a:off x="2811290" y="3403054"/>
            <a:ext cx="141105" cy="100873"/>
          </a:xfrm>
          <a:prstGeom prst="triangle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81DF1442-AB85-1A4D-A7CB-9BC0B36B0D59}"/>
              </a:ext>
            </a:extLst>
          </p:cNvPr>
          <p:cNvSpPr/>
          <p:nvPr/>
        </p:nvSpPr>
        <p:spPr>
          <a:xfrm rot="5400000">
            <a:off x="2811290" y="3796734"/>
            <a:ext cx="141105" cy="100873"/>
          </a:xfrm>
          <a:prstGeom prst="triangle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1" name="이등변 삼각형 60">
            <a:extLst>
              <a:ext uri="{FF2B5EF4-FFF2-40B4-BE49-F238E27FC236}">
                <a16:creationId xmlns:a16="http://schemas.microsoft.com/office/drawing/2014/main" id="{2D66590B-E660-62A9-5999-10037C087FB9}"/>
              </a:ext>
            </a:extLst>
          </p:cNvPr>
          <p:cNvSpPr/>
          <p:nvPr/>
        </p:nvSpPr>
        <p:spPr>
          <a:xfrm rot="5400000">
            <a:off x="2811290" y="4186013"/>
            <a:ext cx="141105" cy="100873"/>
          </a:xfrm>
          <a:prstGeom prst="triangle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2" name="Freeform 73">
            <a:extLst>
              <a:ext uri="{FF2B5EF4-FFF2-40B4-BE49-F238E27FC236}">
                <a16:creationId xmlns:a16="http://schemas.microsoft.com/office/drawing/2014/main" id="{14AD927D-F434-1DFD-3EB5-F7E866855099}"/>
              </a:ext>
            </a:extLst>
          </p:cNvPr>
          <p:cNvSpPr>
            <a:spLocks noEditPoints="1"/>
          </p:cNvSpPr>
          <p:nvPr/>
        </p:nvSpPr>
        <p:spPr bwMode="auto">
          <a:xfrm>
            <a:off x="351061" y="4706421"/>
            <a:ext cx="252000" cy="252000"/>
          </a:xfrm>
          <a:custGeom>
            <a:avLst/>
            <a:gdLst>
              <a:gd name="T0" fmla="*/ 176 w 353"/>
              <a:gd name="T1" fmla="*/ 221 h 353"/>
              <a:gd name="T2" fmla="*/ 102 w 353"/>
              <a:gd name="T3" fmla="*/ 147 h 353"/>
              <a:gd name="T4" fmla="*/ 96 w 353"/>
              <a:gd name="T5" fmla="*/ 145 h 353"/>
              <a:gd name="T6" fmla="*/ 88 w 353"/>
              <a:gd name="T7" fmla="*/ 153 h 353"/>
              <a:gd name="T8" fmla="*/ 90 w 353"/>
              <a:gd name="T9" fmla="*/ 158 h 353"/>
              <a:gd name="T10" fmla="*/ 170 w 353"/>
              <a:gd name="T11" fmla="*/ 239 h 353"/>
              <a:gd name="T12" fmla="*/ 176 w 353"/>
              <a:gd name="T13" fmla="*/ 241 h 353"/>
              <a:gd name="T14" fmla="*/ 182 w 353"/>
              <a:gd name="T15" fmla="*/ 238 h 353"/>
              <a:gd name="T16" fmla="*/ 182 w 353"/>
              <a:gd name="T17" fmla="*/ 238 h 353"/>
              <a:gd name="T18" fmla="*/ 316 w 353"/>
              <a:gd name="T19" fmla="*/ 98 h 353"/>
              <a:gd name="T20" fmla="*/ 316 w 353"/>
              <a:gd name="T21" fmla="*/ 98 h 353"/>
              <a:gd name="T22" fmla="*/ 328 w 353"/>
              <a:gd name="T23" fmla="*/ 86 h 353"/>
              <a:gd name="T24" fmla="*/ 327 w 353"/>
              <a:gd name="T25" fmla="*/ 86 h 353"/>
              <a:gd name="T26" fmla="*/ 351 w 353"/>
              <a:gd name="T27" fmla="*/ 62 h 353"/>
              <a:gd name="T28" fmla="*/ 351 w 353"/>
              <a:gd name="T29" fmla="*/ 62 h 353"/>
              <a:gd name="T30" fmla="*/ 353 w 353"/>
              <a:gd name="T31" fmla="*/ 56 h 353"/>
              <a:gd name="T32" fmla="*/ 345 w 353"/>
              <a:gd name="T33" fmla="*/ 48 h 353"/>
              <a:gd name="T34" fmla="*/ 339 w 353"/>
              <a:gd name="T35" fmla="*/ 51 h 353"/>
              <a:gd name="T36" fmla="*/ 339 w 353"/>
              <a:gd name="T37" fmla="*/ 51 h 353"/>
              <a:gd name="T38" fmla="*/ 318 w 353"/>
              <a:gd name="T39" fmla="*/ 72 h 353"/>
              <a:gd name="T40" fmla="*/ 318 w 353"/>
              <a:gd name="T41" fmla="*/ 72 h 353"/>
              <a:gd name="T42" fmla="*/ 307 w 353"/>
              <a:gd name="T43" fmla="*/ 84 h 353"/>
              <a:gd name="T44" fmla="*/ 307 w 353"/>
              <a:gd name="T45" fmla="*/ 84 h 353"/>
              <a:gd name="T46" fmla="*/ 176 w 353"/>
              <a:gd name="T47" fmla="*/ 221 h 353"/>
              <a:gd name="T48" fmla="*/ 339 w 353"/>
              <a:gd name="T49" fmla="*/ 109 h 353"/>
              <a:gd name="T50" fmla="*/ 327 w 353"/>
              <a:gd name="T51" fmla="*/ 109 h 353"/>
              <a:gd name="T52" fmla="*/ 325 w 353"/>
              <a:gd name="T53" fmla="*/ 117 h 353"/>
              <a:gd name="T54" fmla="*/ 325 w 353"/>
              <a:gd name="T55" fmla="*/ 117 h 353"/>
              <a:gd name="T56" fmla="*/ 337 w 353"/>
              <a:gd name="T57" fmla="*/ 177 h 353"/>
              <a:gd name="T58" fmla="*/ 176 w 353"/>
              <a:gd name="T59" fmla="*/ 337 h 353"/>
              <a:gd name="T60" fmla="*/ 16 w 353"/>
              <a:gd name="T61" fmla="*/ 177 h 353"/>
              <a:gd name="T62" fmla="*/ 176 w 353"/>
              <a:gd name="T63" fmla="*/ 16 h 353"/>
              <a:gd name="T64" fmla="*/ 292 w 353"/>
              <a:gd name="T65" fmla="*/ 65 h 353"/>
              <a:gd name="T66" fmla="*/ 292 w 353"/>
              <a:gd name="T67" fmla="*/ 65 h 353"/>
              <a:gd name="T68" fmla="*/ 303 w 353"/>
              <a:gd name="T69" fmla="*/ 65 h 353"/>
              <a:gd name="T70" fmla="*/ 303 w 353"/>
              <a:gd name="T71" fmla="*/ 54 h 353"/>
              <a:gd name="T72" fmla="*/ 302 w 353"/>
              <a:gd name="T73" fmla="*/ 53 h 353"/>
              <a:gd name="T74" fmla="*/ 176 w 353"/>
              <a:gd name="T75" fmla="*/ 0 h 353"/>
              <a:gd name="T76" fmla="*/ 0 w 353"/>
              <a:gd name="T77" fmla="*/ 177 h 353"/>
              <a:gd name="T78" fmla="*/ 176 w 353"/>
              <a:gd name="T79" fmla="*/ 353 h 353"/>
              <a:gd name="T80" fmla="*/ 353 w 353"/>
              <a:gd name="T81" fmla="*/ 177 h 353"/>
              <a:gd name="T82" fmla="*/ 341 w 353"/>
              <a:gd name="T83" fmla="*/ 112 h 353"/>
              <a:gd name="T84" fmla="*/ 339 w 353"/>
              <a:gd name="T85" fmla="*/ 109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53" h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bg1">
              <a:lumMod val="50000"/>
            </a:schemeClr>
          </a:solidFill>
          <a:ln w="635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1" lang="en-US" sz="1800" i="0" u="none" strike="noStrike" kern="0" cap="none" spc="-40" normalizeH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620F368-3AFA-48AB-B649-09DAD4AC65E5}"/>
              </a:ext>
            </a:extLst>
          </p:cNvPr>
          <p:cNvGrpSpPr/>
          <p:nvPr/>
        </p:nvGrpSpPr>
        <p:grpSpPr>
          <a:xfrm>
            <a:off x="5736657" y="2806939"/>
            <a:ext cx="3824856" cy="1845489"/>
            <a:chOff x="5736657" y="3070406"/>
            <a:chExt cx="3824856" cy="1845489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F79031B-70B0-9998-5EFA-B1F12F726725}"/>
                </a:ext>
              </a:extLst>
            </p:cNvPr>
            <p:cNvSpPr/>
            <p:nvPr/>
          </p:nvSpPr>
          <p:spPr>
            <a:xfrm>
              <a:off x="5736657" y="3070406"/>
              <a:ext cx="3824856" cy="1845489"/>
            </a:xfrm>
            <a:prstGeom prst="roundRect">
              <a:avLst>
                <a:gd name="adj" fmla="val 10230"/>
              </a:avLst>
            </a:prstGeom>
            <a:solidFill>
              <a:srgbClr val="DCEAF7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  <a:tailEnd type="none"/>
            </a:ln>
            <a:effectLst/>
          </p:spPr>
          <p:txBody>
            <a:bodyPr lIns="36000" tIns="108000" rIns="36000" bIns="36000"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-7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“CLX Brain AI </a:t>
              </a:r>
              <a:r>
                <a:rPr kumimoji="0" lang="ko-KR" altLang="en-US" sz="1400" b="1" i="0" u="none" strike="noStrike" kern="0" cap="none" spc="-7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본격 추진을 위한</a:t>
              </a:r>
              <a:endParaRPr kumimoji="0" lang="en-US" altLang="ko-KR" sz="14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kern="0" spc="-70" dirty="0"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기술구조 및 관리체계 고도화 필요</a:t>
              </a:r>
              <a:r>
                <a:rPr lang="en-US" altLang="ko-KR" sz="1400" b="1" kern="0" spc="-70" dirty="0"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”</a:t>
              </a:r>
              <a:endParaRPr kumimoji="0" lang="en-US" altLang="ko-KR" sz="14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1DF135C-2B93-108A-5405-D26564713EFE}"/>
                </a:ext>
              </a:extLst>
            </p:cNvPr>
            <p:cNvSpPr txBox="1"/>
            <p:nvPr/>
          </p:nvSpPr>
          <p:spPr>
            <a:xfrm>
              <a:off x="6005521" y="3818931"/>
              <a:ext cx="3287128" cy="94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 defTabSz="914400">
                <a:lnSpc>
                  <a:spcPct val="15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  <a:defRPr/>
              </a:pPr>
              <a:r>
                <a:rPr lang="en-US" altLang="ko-KR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CLX Pain point </a:t>
              </a:r>
              <a:r>
                <a:rPr lang="ko-KR" altLang="en-US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도출 및 </a:t>
              </a:r>
              <a:r>
                <a:rPr lang="en-US" altLang="ko-KR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To-Be</a:t>
              </a:r>
              <a:r>
                <a:rPr lang="ko-KR" altLang="en-US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요건 정의</a:t>
              </a:r>
              <a:endParaRPr lang="en-US" altLang="ko-KR" sz="1200" kern="0" spc="-7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71450" lvl="0" indent="-171450" defTabSz="914400">
                <a:lnSpc>
                  <a:spcPct val="15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향후 추진 필요 과제 도출 및 구체화</a:t>
              </a:r>
              <a:endParaRPr lang="en-US" altLang="ko-KR" sz="1200" kern="0" spc="-7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71450" lvl="0" indent="-171450" defTabSz="914400">
                <a:lnSpc>
                  <a:spcPct val="15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과제 추진 </a:t>
              </a:r>
              <a:r>
                <a:rPr lang="en-US" altLang="ko-KR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Milestone </a:t>
              </a:r>
              <a:r>
                <a:rPr lang="ko-KR" altLang="en-US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수립 및 수행 </a:t>
              </a:r>
              <a:r>
                <a:rPr lang="en-US" altLang="ko-KR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R&amp;R </a:t>
              </a:r>
              <a:r>
                <a:rPr lang="ko-KR" altLang="en-US" sz="1200" kern="0" spc="-7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명확화</a:t>
              </a:r>
              <a:endParaRPr lang="en-US" altLang="ko-KR" sz="1200" kern="0" spc="-7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CFB2579-CE3A-4AE5-E7A0-75352ABCAC03}"/>
              </a:ext>
            </a:extLst>
          </p:cNvPr>
          <p:cNvSpPr/>
          <p:nvPr/>
        </p:nvSpPr>
        <p:spPr>
          <a:xfrm>
            <a:off x="6670307" y="4833132"/>
            <a:ext cx="2891207" cy="1232099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tailEnd type="none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R="0" lvl="0" defTabSz="91440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altLang="ko-KR" sz="12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CLX </a:t>
            </a:r>
            <a:r>
              <a:rPr lang="ko-KR" altLang="en-US" sz="12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요청사항</a:t>
            </a:r>
            <a:endParaRPr lang="en-US" altLang="ko-KR" sz="1200" kern="0" spc="-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eaLnBrk="1" fontAlgn="auto" latinLnBrk="0" hangingPunct="1"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금번 컨설팅은 단순 방향성 제시 수준이 아닌 </a:t>
            </a:r>
            <a:br>
              <a:rPr lang="en-US" altLang="ko-KR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실제 실행을 전제로 수행 필요</a:t>
            </a:r>
            <a:endParaRPr lang="en-US" altLang="ko-KR" sz="1100" kern="0" spc="-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marR="0" lvl="0" indent="-171450" defTabSz="91440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컨설팅 종료 후 기초 조사</a:t>
            </a:r>
            <a:r>
              <a:rPr lang="en-US" altLang="ko-KR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검토</a:t>
            </a:r>
            <a:r>
              <a:rPr lang="en-US" altLang="ko-KR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프로젝트 착수가 가능한</a:t>
            </a:r>
            <a:r>
              <a:rPr lang="en-US" altLang="ko-KR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kern="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수준의 요건 정의를 완료하는 것을 산출물 기준으로 설정</a:t>
            </a:r>
          </a:p>
        </p:txBody>
      </p:sp>
    </p:spTree>
    <p:extLst>
      <p:ext uri="{BB962C8B-B14F-4D97-AF65-F5344CB8AC3E}">
        <p14:creationId xmlns:p14="http://schemas.microsoft.com/office/powerpoint/2010/main" val="4147517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BD0B0-3663-53BF-5FDA-C89611FA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D02A15-2E69-CED6-C72E-3ABB2AF692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1361270" cy="369332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수행 범위</a:t>
            </a:r>
          </a:p>
        </p:txBody>
      </p:sp>
      <p:sp>
        <p:nvSpPr>
          <p:cNvPr id="51" name="텍스트 개체 틀 1">
            <a:extLst>
              <a:ext uri="{FF2B5EF4-FFF2-40B4-BE49-F238E27FC236}">
                <a16:creationId xmlns:a16="http://schemas.microsoft.com/office/drawing/2014/main" id="{C22DC6B7-CB32-0893-8BE9-EF608448C970}"/>
              </a:ext>
            </a:extLst>
          </p:cNvPr>
          <p:cNvSpPr txBox="1">
            <a:spLocks/>
          </p:cNvSpPr>
          <p:nvPr/>
        </p:nvSpPr>
        <p:spPr>
          <a:xfrm>
            <a:off x="344488" y="867201"/>
            <a:ext cx="9217025" cy="3815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1125444">
              <a:spcBef>
                <a:spcPct val="20000"/>
              </a:spcBef>
              <a:buFont typeface="Arial" pitchFamily="34" charset="0"/>
              <a:buNone/>
              <a:defRPr b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914423" indent="-351701" defTabSz="1125444" latinLnBrk="1">
              <a:spcBef>
                <a:spcPct val="20000"/>
              </a:spcBef>
              <a:buFont typeface="Arial" pitchFamily="34" charset="0"/>
              <a:buChar char="–"/>
              <a:defRPr sz="3446"/>
            </a:lvl2pPr>
            <a:lvl3pPr marL="1406804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954"/>
            </a:lvl3pPr>
            <a:lvl4pPr marL="1969526" indent="-281361" defTabSz="1125444" latinLnBrk="1">
              <a:spcBef>
                <a:spcPct val="20000"/>
              </a:spcBef>
              <a:buFont typeface="Arial" pitchFamily="34" charset="0"/>
              <a:buChar char="–"/>
              <a:defRPr sz="2462"/>
            </a:lvl4pPr>
            <a:lvl5pPr marL="2532248" indent="-281361" defTabSz="1125444" latinLnBrk="1">
              <a:spcBef>
                <a:spcPct val="20000"/>
              </a:spcBef>
              <a:buFont typeface="Arial" pitchFamily="34" charset="0"/>
              <a:buChar char="»"/>
              <a:defRPr sz="2462"/>
            </a:lvl5pPr>
            <a:lvl6pPr marL="3094970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6pPr>
            <a:lvl7pPr marL="3657691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7pPr>
            <a:lvl8pPr marL="4220413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8pPr>
            <a:lvl9pPr marL="4783135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9pPr>
          </a:lstStyle>
          <a:p>
            <a:r>
              <a:rPr lang="en-US" altLang="ko-KR" dirty="0"/>
              <a:t>Legacy </a:t>
            </a:r>
            <a:r>
              <a:rPr lang="ko-KR" altLang="en-US" dirty="0"/>
              <a:t>데이터 </a:t>
            </a:r>
            <a:r>
              <a:rPr lang="en-US" altLang="ko-KR" dirty="0"/>
              <a:t>·</a:t>
            </a:r>
            <a:r>
              <a:rPr lang="ko-KR" altLang="en-US" dirty="0"/>
              <a:t> 시스템 구조</a:t>
            </a:r>
            <a:r>
              <a:rPr lang="en-US" altLang="ko-KR" dirty="0"/>
              <a:t>, Knowledge </a:t>
            </a:r>
            <a:r>
              <a:rPr lang="ko-KR" altLang="en-US" dirty="0"/>
              <a:t>관리</a:t>
            </a:r>
            <a:r>
              <a:rPr lang="en-US" altLang="ko-KR" dirty="0"/>
              <a:t>, AI </a:t>
            </a:r>
            <a:r>
              <a:rPr lang="ko-KR" altLang="en-US" dirty="0"/>
              <a:t>운영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MLOps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·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AgentOps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dirty="0"/>
              <a:t> 측면의 </a:t>
            </a:r>
            <a:br>
              <a:rPr lang="en-US" altLang="ko-KR" dirty="0"/>
            </a:br>
            <a:r>
              <a:rPr lang="en-US" altLang="ko-KR" dirty="0"/>
              <a:t>CLX </a:t>
            </a:r>
            <a:r>
              <a:rPr lang="ko-KR" altLang="en-US" dirty="0"/>
              <a:t>특화 요건과 고도화</a:t>
            </a:r>
            <a:r>
              <a:rPr lang="en-US" altLang="ko-KR" dirty="0"/>
              <a:t> </a:t>
            </a:r>
            <a:r>
              <a:rPr lang="ko-KR" altLang="en-US" dirty="0"/>
              <a:t>방향을 구체화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D068F-C630-A185-A6F3-223D4CA88E19}"/>
              </a:ext>
            </a:extLst>
          </p:cNvPr>
          <p:cNvSpPr txBox="1"/>
          <p:nvPr/>
        </p:nvSpPr>
        <p:spPr>
          <a:xfrm>
            <a:off x="4835660" y="5862256"/>
            <a:ext cx="4720906" cy="561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CLX </a:t>
            </a:r>
            <a:r>
              <a:rPr lang="en-US" altLang="ko-KR" sz="1200" dirty="0" err="1"/>
              <a:t>MLOps</a:t>
            </a:r>
            <a:r>
              <a:rPr lang="en-US" altLang="ko-KR" sz="1200" dirty="0"/>
              <a:t> </a:t>
            </a:r>
            <a:r>
              <a:rPr lang="ko-KR" altLang="en-US" sz="1200" dirty="0"/>
              <a:t>고도화를 위한 사용자</a:t>
            </a:r>
            <a:r>
              <a:rPr lang="en-US" altLang="ko-KR" sz="1200" dirty="0"/>
              <a:t> </a:t>
            </a:r>
            <a:r>
              <a:rPr lang="ko-KR" altLang="en-US" sz="1200" dirty="0"/>
              <a:t>요건 정의</a:t>
            </a:r>
            <a:endParaRPr lang="en-US" altLang="ko-KR" sz="120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CLX </a:t>
            </a:r>
            <a:r>
              <a:rPr lang="en-US" altLang="ko-KR" sz="1200" dirty="0" err="1"/>
              <a:t>AgentOps</a:t>
            </a:r>
            <a:r>
              <a:rPr lang="en-US" altLang="ko-KR" sz="1200" dirty="0"/>
              <a:t> </a:t>
            </a:r>
            <a:r>
              <a:rPr lang="ko-KR" altLang="en-US" sz="1200" dirty="0"/>
              <a:t>구축 방향성 및 요건 정의</a:t>
            </a:r>
            <a:endParaRPr lang="en-US" altLang="ko-KR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F2C5087-E627-BBED-9522-00A7E6B23052}"/>
              </a:ext>
            </a:extLst>
          </p:cNvPr>
          <p:cNvSpPr/>
          <p:nvPr/>
        </p:nvSpPr>
        <p:spPr>
          <a:xfrm>
            <a:off x="4835659" y="5577154"/>
            <a:ext cx="4720906" cy="268626"/>
          </a:xfrm>
          <a:prstGeom prst="roundRect">
            <a:avLst>
              <a:gd name="adj" fmla="val 0"/>
            </a:avLst>
          </a:prstGeom>
          <a:solidFill>
            <a:srgbClr val="035AA6"/>
          </a:solidFill>
          <a:ln w="3175">
            <a:noFill/>
          </a:ln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CLX </a:t>
            </a:r>
            <a:r>
              <a:rPr kumimoji="1" lang="en-US" altLang="ko-KR" sz="14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MLOps</a:t>
            </a:r>
            <a:r>
              <a:rPr kumimoji="1" lang="en-US" altLang="ko-KR" sz="14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· </a:t>
            </a:r>
            <a:r>
              <a:rPr kumimoji="1" lang="en-US" altLang="ko-KR" sz="14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AgentOps</a:t>
            </a:r>
            <a:r>
              <a:rPr kumimoji="1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고도화 </a:t>
            </a:r>
            <a:r>
              <a:rPr kumimoji="1" lang="ko-KR" altLang="en-US" sz="14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방향성 및 요건 정의</a:t>
            </a:r>
            <a:endParaRPr kumimoji="1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47BEB4-FF82-041F-71A0-CAD5D47B7742}"/>
              </a:ext>
            </a:extLst>
          </p:cNvPr>
          <p:cNvSpPr/>
          <p:nvPr/>
        </p:nvSpPr>
        <p:spPr>
          <a:xfrm>
            <a:off x="4487999" y="5577154"/>
            <a:ext cx="284162" cy="268626"/>
          </a:xfrm>
          <a:prstGeom prst="roundRect">
            <a:avLst>
              <a:gd name="adj" fmla="val 0"/>
            </a:avLst>
          </a:prstGeom>
          <a:solidFill>
            <a:srgbClr val="023373"/>
          </a:solidFill>
          <a:ln w="3175">
            <a:solidFill>
              <a:srgbClr val="023373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F8D627-6728-5B37-4E20-7954828D1ADD}"/>
              </a:ext>
            </a:extLst>
          </p:cNvPr>
          <p:cNvSpPr txBox="1"/>
          <p:nvPr/>
        </p:nvSpPr>
        <p:spPr>
          <a:xfrm>
            <a:off x="4835659" y="2486868"/>
            <a:ext cx="4723253" cy="160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CLX Agent </a:t>
            </a:r>
            <a:r>
              <a:rPr lang="ko-KR" altLang="en-US" sz="1200" dirty="0"/>
              <a:t>현황 및 유형 분석</a:t>
            </a:r>
            <a:endParaRPr lang="en-US" altLang="ko-KR" sz="120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Legacy </a:t>
            </a:r>
            <a:r>
              <a:rPr lang="ko-KR" altLang="en-US" sz="1200" dirty="0"/>
              <a:t>데이터 구조 및 메타 관리 방안 수립</a:t>
            </a:r>
            <a:endParaRPr lang="en-US" altLang="ko-KR" sz="120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AI Agent </a:t>
            </a:r>
            <a:r>
              <a:rPr lang="ko-KR" altLang="en-US" sz="1200" dirty="0"/>
              <a:t>연계 구조 및 적용 기준 수립</a:t>
            </a:r>
            <a:endParaRPr lang="en-US" altLang="ko-KR" sz="120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Agent-ready Legacy </a:t>
            </a:r>
            <a:r>
              <a:rPr lang="ko-KR" altLang="en-US" sz="1200" dirty="0"/>
              <a:t>시스템 방향성 및 고도화 방안 수립</a:t>
            </a:r>
            <a:endParaRPr lang="en-US" altLang="ko-KR" sz="120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CLX AI Agent </a:t>
            </a:r>
            <a:r>
              <a:rPr lang="ko-KR" altLang="en-US" sz="1200" dirty="0"/>
              <a:t>권한 관리 체계 고도화</a:t>
            </a:r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CLX AI </a:t>
            </a:r>
            <a:r>
              <a:rPr lang="ko-KR" altLang="en-US" sz="1200" dirty="0"/>
              <a:t>구성요소 </a:t>
            </a:r>
            <a:r>
              <a:rPr lang="en-US" altLang="ko-KR" sz="1200" dirty="0"/>
              <a:t>Lineage </a:t>
            </a:r>
            <a:r>
              <a:rPr lang="ko-KR" altLang="en-US" sz="1200" dirty="0"/>
              <a:t>및 변경관리 체계 설계</a:t>
            </a:r>
            <a:endParaRPr lang="en-US" altLang="ko-KR" sz="12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664F6B-14DF-4EBF-811E-785613040EBC}"/>
              </a:ext>
            </a:extLst>
          </p:cNvPr>
          <p:cNvSpPr/>
          <p:nvPr/>
        </p:nvSpPr>
        <p:spPr>
          <a:xfrm>
            <a:off x="4835659" y="2201766"/>
            <a:ext cx="4720906" cy="268626"/>
          </a:xfrm>
          <a:prstGeom prst="roundRect">
            <a:avLst>
              <a:gd name="adj" fmla="val 0"/>
            </a:avLst>
          </a:prstGeom>
          <a:solidFill>
            <a:srgbClr val="035AA6"/>
          </a:solidFill>
          <a:ln w="3175">
            <a:noFill/>
          </a:ln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CLX AI Agent </a:t>
            </a:r>
            <a:r>
              <a:rPr kumimoji="1" lang="ko-KR" altLang="en-US" sz="14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적용 위한 </a:t>
            </a:r>
            <a:r>
              <a:rPr kumimoji="1" lang="en-US" altLang="ko-KR" sz="14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Legacy </a:t>
            </a:r>
            <a:r>
              <a:rPr kumimoji="1" lang="ko-KR" altLang="en-US" sz="14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구조 고도화 및 관리체계 설계</a:t>
            </a:r>
            <a:endParaRPr kumimoji="1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6CD3771-6399-72A7-49D9-B4FD2C99C22B}"/>
              </a:ext>
            </a:extLst>
          </p:cNvPr>
          <p:cNvSpPr/>
          <p:nvPr/>
        </p:nvSpPr>
        <p:spPr>
          <a:xfrm>
            <a:off x="4487999" y="2201766"/>
            <a:ext cx="284162" cy="268626"/>
          </a:xfrm>
          <a:prstGeom prst="roundRect">
            <a:avLst>
              <a:gd name="adj" fmla="val 0"/>
            </a:avLst>
          </a:prstGeom>
          <a:solidFill>
            <a:srgbClr val="023373"/>
          </a:solidFill>
          <a:ln w="3175">
            <a:solidFill>
              <a:srgbClr val="023373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1</a:t>
            </a:r>
            <a:endParaRPr kumimoji="1" lang="en-US" altLang="ko-KR" sz="12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43C74A-87AB-1BE9-9BC5-08AFA625BDE3}"/>
              </a:ext>
            </a:extLst>
          </p:cNvPr>
          <p:cNvSpPr txBox="1"/>
          <p:nvPr/>
        </p:nvSpPr>
        <p:spPr>
          <a:xfrm>
            <a:off x="4835659" y="4417566"/>
            <a:ext cx="4723253" cy="1081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Enterprise Knowledge Ontology </a:t>
            </a:r>
            <a:r>
              <a:rPr lang="ko-KR" altLang="en-US" sz="1200" dirty="0"/>
              <a:t>설계</a:t>
            </a:r>
            <a:endParaRPr lang="en-US" altLang="ko-KR" sz="120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Enterprise Knowledge Hub </a:t>
            </a:r>
            <a:r>
              <a:rPr lang="ko-KR" altLang="en-US" sz="1200" dirty="0"/>
              <a:t>구축 방안 수립</a:t>
            </a:r>
            <a:endParaRPr lang="en-US" altLang="ko-KR" sz="120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/>
              <a:t>Ontology</a:t>
            </a:r>
            <a:r>
              <a:rPr lang="ko-KR" altLang="en-US" sz="1200" dirty="0"/>
              <a:t> 연계 지식 데이터 구조화 및 축적 방안 수립</a:t>
            </a:r>
            <a:endParaRPr lang="en-US" altLang="ko-KR" sz="1200" dirty="0"/>
          </a:p>
          <a:p>
            <a:pPr marL="182563" indent="-182563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/>
              <a:t>도메인 특화 </a:t>
            </a:r>
            <a:r>
              <a:rPr lang="en-US" altLang="ko-KR" sz="1200" dirty="0"/>
              <a:t>LLM </a:t>
            </a:r>
            <a:r>
              <a:rPr lang="ko-KR" altLang="en-US" sz="1200" dirty="0"/>
              <a:t>데이터 확보 방향성 수립</a:t>
            </a:r>
            <a:endParaRPr lang="en-US" altLang="ko-KR" sz="12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57EF56-AF68-DB65-5885-FC2E17E6F102}"/>
              </a:ext>
            </a:extLst>
          </p:cNvPr>
          <p:cNvSpPr/>
          <p:nvPr/>
        </p:nvSpPr>
        <p:spPr>
          <a:xfrm>
            <a:off x="4835659" y="4132840"/>
            <a:ext cx="4720906" cy="268626"/>
          </a:xfrm>
          <a:prstGeom prst="roundRect">
            <a:avLst>
              <a:gd name="adj" fmla="val 0"/>
            </a:avLst>
          </a:prstGeom>
          <a:solidFill>
            <a:srgbClr val="035AA6"/>
          </a:solidFill>
          <a:ln w="3175">
            <a:noFill/>
          </a:ln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CLX Enterprise Knowle</a:t>
            </a:r>
            <a:r>
              <a:rPr kumimoji="1" lang="en-US" altLang="ko-KR" sz="1400" kern="0" dirty="0" err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dge</a:t>
            </a:r>
            <a:r>
              <a:rPr kumimoji="1" lang="en-US" altLang="ko-KR" sz="14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Management</a:t>
            </a:r>
            <a:r>
              <a:rPr kumimoji="1" lang="ko-KR" altLang="en-US" sz="1400" kern="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체계 설계</a:t>
            </a:r>
            <a:endParaRPr kumimoji="1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DD66ADB-4C7B-AEA4-510C-120C6959FDC7}"/>
              </a:ext>
            </a:extLst>
          </p:cNvPr>
          <p:cNvSpPr/>
          <p:nvPr/>
        </p:nvSpPr>
        <p:spPr>
          <a:xfrm>
            <a:off x="4487999" y="4132840"/>
            <a:ext cx="284162" cy="268626"/>
          </a:xfrm>
          <a:prstGeom prst="roundRect">
            <a:avLst>
              <a:gd name="adj" fmla="val 0"/>
            </a:avLst>
          </a:prstGeom>
          <a:solidFill>
            <a:srgbClr val="023373"/>
          </a:solidFill>
          <a:ln w="3175">
            <a:solidFill>
              <a:srgbClr val="023373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229F0F-DBAC-7466-F493-2FFB89DD182F}"/>
              </a:ext>
            </a:extLst>
          </p:cNvPr>
          <p:cNvSpPr txBox="1"/>
          <p:nvPr/>
        </p:nvSpPr>
        <p:spPr>
          <a:xfrm>
            <a:off x="344488" y="2147980"/>
            <a:ext cx="3467225" cy="316296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lIns="0" tIns="36000" rIns="0" bIns="36000" rtlCol="0">
            <a:sp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defRPr sz="1100" b="1" u="sng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defTabSz="914400" latinLnBrk="1">
              <a:defRPr/>
            </a:pPr>
            <a:r>
              <a:rPr kumimoji="0" lang="en-US" altLang="ko-KR" sz="1400" i="0" u="none" strike="noStrike" kern="1200" cap="none" spc="0" normalizeH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ahoma" panose="020B0604030504040204" pitchFamily="34" charset="0"/>
              </a:rPr>
              <a:t>【 Key Question </a:t>
            </a:r>
            <a:r>
              <a:rPr lang="en-US" altLang="ko-KR" sz="1400" u="none" spc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ahoma" panose="020B0604030504040204" pitchFamily="34" charset="0"/>
              </a:rPr>
              <a:t>】</a:t>
            </a:r>
            <a:endParaRPr kumimoji="0" lang="ko-KR" altLang="en-US" sz="1400" i="0" u="none" strike="noStrike" kern="1200" cap="none" spc="0" normalizeH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1E174E9-6269-AB15-5AA6-2BA162EF04CC}"/>
              </a:ext>
            </a:extLst>
          </p:cNvPr>
          <p:cNvGrpSpPr/>
          <p:nvPr/>
        </p:nvGrpSpPr>
        <p:grpSpPr>
          <a:xfrm>
            <a:off x="4077802" y="2734493"/>
            <a:ext cx="144000" cy="2880000"/>
            <a:chOff x="5393400" y="3733826"/>
            <a:chExt cx="72000" cy="216000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852E70F9-2B27-710E-8572-DF76DF501E5B}"/>
                </a:ext>
              </a:extLst>
            </p:cNvPr>
            <p:cNvCxnSpPr>
              <a:cxnSpLocks/>
            </p:cNvCxnSpPr>
            <p:nvPr/>
          </p:nvCxnSpPr>
          <p:spPr>
            <a:xfrm>
              <a:off x="5393400" y="3733826"/>
              <a:ext cx="72000" cy="108000"/>
            </a:xfrm>
            <a:prstGeom prst="line">
              <a:avLst/>
            </a:prstGeom>
            <a:noFill/>
            <a:ln w="12700" cap="rnd">
              <a:solidFill>
                <a:sysClr val="window" lastClr="FFFFFF">
                  <a:lumMod val="50000"/>
                  <a:alpha val="80000"/>
                </a:sysClr>
              </a:solidFill>
              <a:round/>
              <a:headEnd type="none" w="med" len="med"/>
              <a:tailEnd type="none" w="med" len="med"/>
            </a:ln>
          </p:spPr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61B95840-F332-D2EC-8DDD-2ED84CFC9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3400" y="3841826"/>
              <a:ext cx="72000" cy="108000"/>
            </a:xfrm>
            <a:prstGeom prst="line">
              <a:avLst/>
            </a:prstGeom>
            <a:noFill/>
            <a:ln w="12700" cap="rnd">
              <a:solidFill>
                <a:sysClr val="window" lastClr="FFFFFF">
                  <a:lumMod val="50000"/>
                  <a:alpha val="80000"/>
                </a:sysClr>
              </a:solidFill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A9AAB61-CDF9-7405-A2F5-8FD6DB3CA7A4}"/>
              </a:ext>
            </a:extLst>
          </p:cNvPr>
          <p:cNvGrpSpPr/>
          <p:nvPr/>
        </p:nvGrpSpPr>
        <p:grpSpPr>
          <a:xfrm>
            <a:off x="4487998" y="1750196"/>
            <a:ext cx="5068567" cy="346893"/>
            <a:chOff x="4011711" y="1782863"/>
            <a:chExt cx="5549802" cy="346893"/>
          </a:xfrm>
        </p:grpSpPr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C7E82DC-BCA0-C8FD-69D0-F48F8F030C5F}"/>
                </a:ext>
              </a:extLst>
            </p:cNvPr>
            <p:cNvCxnSpPr>
              <a:cxnSpLocks/>
            </p:cNvCxnSpPr>
            <p:nvPr/>
          </p:nvCxnSpPr>
          <p:spPr>
            <a:xfrm>
              <a:off x="4011713" y="2129756"/>
              <a:ext cx="5549800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1DA97FB-0C98-8A92-D0E5-F8F2F912027D}"/>
                </a:ext>
              </a:extLst>
            </p:cNvPr>
            <p:cNvSpPr txBox="1"/>
            <p:nvPr/>
          </p:nvSpPr>
          <p:spPr>
            <a:xfrm>
              <a:off x="4011711" y="1782863"/>
              <a:ext cx="5549799" cy="34323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수행 범위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5BCA40B-8523-618F-0954-F6256219199E}"/>
              </a:ext>
            </a:extLst>
          </p:cNvPr>
          <p:cNvSpPr txBox="1"/>
          <p:nvPr/>
        </p:nvSpPr>
        <p:spPr>
          <a:xfrm>
            <a:off x="314038" y="4868320"/>
            <a:ext cx="3528124" cy="9958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300" b="1" dirty="0"/>
              <a:t>ML </a:t>
            </a:r>
            <a:r>
              <a:rPr lang="ko-KR" altLang="en-US" sz="1300" b="1" dirty="0"/>
              <a:t>모델 </a:t>
            </a:r>
            <a:r>
              <a:rPr lang="en-US" altLang="ko-KR" sz="1300" b="1" dirty="0"/>
              <a:t>· AI Agent</a:t>
            </a:r>
            <a:r>
              <a:rPr lang="ko-KR" altLang="en-US" sz="1300" b="1" dirty="0"/>
              <a:t>를 안정적으로 개발 </a:t>
            </a:r>
            <a:r>
              <a:rPr lang="en-US" altLang="ko-KR" sz="1300" b="1" dirty="0"/>
              <a:t>· </a:t>
            </a:r>
            <a:r>
              <a:rPr lang="ko-KR" altLang="en-US" sz="1300" b="1" dirty="0"/>
              <a:t>운영 </a:t>
            </a:r>
            <a:r>
              <a:rPr lang="en-US" altLang="ko-KR" sz="1300" b="1" dirty="0"/>
              <a:t>· </a:t>
            </a:r>
            <a:r>
              <a:rPr lang="ko-KR" altLang="en-US" sz="1300" b="1" dirty="0"/>
              <a:t>관리하기 위해 </a:t>
            </a:r>
            <a:r>
              <a:rPr lang="en-US" altLang="ko-KR" sz="1300" b="1" dirty="0"/>
              <a:t>CLX</a:t>
            </a:r>
            <a:r>
              <a:rPr lang="ko-KR" altLang="en-US" sz="1300" b="1" dirty="0"/>
              <a:t>에 필요한 기능 요건과 운영 체계는 무엇인가</a:t>
            </a:r>
            <a:r>
              <a:rPr lang="en-US" altLang="ko-KR" sz="1300" b="1" dirty="0"/>
              <a:t>?</a:t>
            </a:r>
            <a:endParaRPr lang="ko-KR" altLang="en-US" sz="13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4A14A3-E527-6C4D-B328-7EBA8B0CDFF9}"/>
              </a:ext>
            </a:extLst>
          </p:cNvPr>
          <p:cNvSpPr txBox="1"/>
          <p:nvPr/>
        </p:nvSpPr>
        <p:spPr>
          <a:xfrm>
            <a:off x="347087" y="2726020"/>
            <a:ext cx="3528124" cy="9958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300" b="1" dirty="0"/>
              <a:t>AI Agent</a:t>
            </a:r>
            <a:r>
              <a:rPr lang="ko-KR" altLang="en-US" sz="1300" b="1" dirty="0"/>
              <a:t>가 </a:t>
            </a:r>
            <a:r>
              <a:rPr lang="en-US" altLang="ko-KR" sz="1300" b="1" dirty="0"/>
              <a:t>Legacy </a:t>
            </a:r>
            <a:r>
              <a:rPr lang="ko-KR" altLang="en-US" sz="1300" b="1" dirty="0"/>
              <a:t>시스템의 데이터를 안전하게 활용하기 위해 데이터 구조 </a:t>
            </a:r>
            <a:r>
              <a:rPr lang="en-US" altLang="ko-KR" sz="1300" b="1" dirty="0"/>
              <a:t>· </a:t>
            </a:r>
            <a:r>
              <a:rPr lang="ko-KR" altLang="en-US" sz="1300" b="1" dirty="0"/>
              <a:t>연계 방식 </a:t>
            </a:r>
            <a:r>
              <a:rPr lang="en-US" altLang="ko-KR" sz="1300" b="1" dirty="0"/>
              <a:t>· </a:t>
            </a:r>
            <a:r>
              <a:rPr lang="ko-KR" altLang="en-US" sz="1300" b="1" dirty="0"/>
              <a:t>권한 체계를 어떻게 고도화해야 하는가</a:t>
            </a:r>
            <a:r>
              <a:rPr lang="en-US" altLang="ko-KR" sz="1300" b="1" dirty="0"/>
              <a:t>?</a:t>
            </a:r>
            <a:endParaRPr lang="ko-KR" altLang="en-US" sz="13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0B852F-5FF7-EC83-6556-92EA80C561F5}"/>
              </a:ext>
            </a:extLst>
          </p:cNvPr>
          <p:cNvSpPr txBox="1"/>
          <p:nvPr/>
        </p:nvSpPr>
        <p:spPr>
          <a:xfrm>
            <a:off x="347087" y="3888430"/>
            <a:ext cx="3528124" cy="9958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300" b="1" dirty="0"/>
              <a:t>산재된 </a:t>
            </a:r>
            <a:r>
              <a:rPr lang="en-US" altLang="ko-KR" sz="1300" b="1" dirty="0"/>
              <a:t>CLX </a:t>
            </a:r>
            <a:r>
              <a:rPr lang="ko-KR" altLang="en-US" sz="1300" b="1" dirty="0"/>
              <a:t>지식</a:t>
            </a:r>
            <a:r>
              <a:rPr lang="en-US" altLang="ko-KR" sz="1300" b="1" dirty="0"/>
              <a:t>(</a:t>
            </a:r>
            <a:r>
              <a:rPr lang="ko-KR" altLang="en-US" sz="1300" b="1" dirty="0" err="1"/>
              <a:t>암묵지</a:t>
            </a:r>
            <a:r>
              <a:rPr lang="ko-KR" altLang="en-US" sz="1300" b="1" dirty="0"/>
              <a:t> </a:t>
            </a:r>
            <a:r>
              <a:rPr lang="en-US" altLang="ko-KR" sz="1300" b="1" dirty="0"/>
              <a:t>· </a:t>
            </a:r>
            <a:r>
              <a:rPr lang="ko-KR" altLang="en-US" sz="1300" b="1" dirty="0"/>
              <a:t>비정형 문서 등</a:t>
            </a:r>
            <a:r>
              <a:rPr lang="en-US" altLang="ko-KR" sz="1300" b="1" dirty="0"/>
              <a:t>)</a:t>
            </a:r>
            <a:r>
              <a:rPr lang="ko-KR" altLang="en-US" sz="1300" b="1" dirty="0"/>
              <a:t>을 </a:t>
            </a:r>
            <a:r>
              <a:rPr lang="en-US" altLang="ko-KR" sz="1300" b="1" dirty="0"/>
              <a:t>AI</a:t>
            </a:r>
            <a:r>
              <a:rPr lang="ko-KR" altLang="en-US" sz="1300" b="1" dirty="0"/>
              <a:t>가 활용 가능한 형태로 구조화 </a:t>
            </a:r>
            <a:r>
              <a:rPr lang="en-US" altLang="ko-KR" sz="1300" b="1" dirty="0"/>
              <a:t>· </a:t>
            </a:r>
            <a:r>
              <a:rPr lang="ko-KR" altLang="en-US" sz="1300" b="1" dirty="0"/>
              <a:t>축적하는</a:t>
            </a:r>
            <a:br>
              <a:rPr lang="en-US" altLang="ko-KR" sz="1300" b="1" dirty="0"/>
            </a:br>
            <a:r>
              <a:rPr lang="ko-KR" altLang="en-US" sz="1300" b="1" dirty="0"/>
              <a:t>방안은 무엇인가</a:t>
            </a:r>
            <a:r>
              <a:rPr lang="en-US" altLang="ko-KR" sz="1300" b="1" dirty="0"/>
              <a:t>?</a:t>
            </a:r>
            <a:endParaRPr lang="ko-KR" alt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62961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64C598B-31F3-EA73-3E12-DE4299F01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AI 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활용을 위한 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Legacy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데이터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연계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거버넌스 고도화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요건을 식별하고</a:t>
            </a:r>
            <a:b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To-be 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방향부터 실행과제까지 단계적 구체화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9BD7D6-72FA-6054-9D55-357953C1B2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4475649" cy="369332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수행 방안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① </a:t>
            </a: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Legacy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고도화 및 관리체계 설계</a:t>
            </a: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ko-KR" altLang="en-US" sz="16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366DFE-F1F2-5B81-79AE-E634315F97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25550" y="257224"/>
            <a:ext cx="235962" cy="338554"/>
          </a:xfr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80F7CA9-AF99-CB11-D6DA-9055CEE374C7}"/>
              </a:ext>
            </a:extLst>
          </p:cNvPr>
          <p:cNvGrpSpPr/>
          <p:nvPr/>
        </p:nvGrpSpPr>
        <p:grpSpPr>
          <a:xfrm>
            <a:off x="344488" y="1770038"/>
            <a:ext cx="9217025" cy="374822"/>
            <a:chOff x="4070234" y="1746185"/>
            <a:chExt cx="6881034" cy="284746"/>
          </a:xfrm>
        </p:grpSpPr>
        <p:sp>
          <p:nvSpPr>
            <p:cNvPr id="12" name="화살표: 오각형 11">
              <a:extLst>
                <a:ext uri="{FF2B5EF4-FFF2-40B4-BE49-F238E27FC236}">
                  <a16:creationId xmlns:a16="http://schemas.microsoft.com/office/drawing/2014/main" id="{490AFD70-18E7-C77E-65FC-9797AE03F700}"/>
                </a:ext>
              </a:extLst>
            </p:cNvPr>
            <p:cNvSpPr/>
            <p:nvPr/>
          </p:nvSpPr>
          <p:spPr>
            <a:xfrm>
              <a:off x="4070234" y="1746185"/>
              <a:ext cx="1793772" cy="284746"/>
            </a:xfrm>
            <a:prstGeom prst="homePlate">
              <a:avLst>
                <a:gd name="adj" fmla="val 17882"/>
              </a:avLst>
            </a:prstGeom>
            <a:solidFill>
              <a:srgbClr val="217CFA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</a:t>
              </a:r>
              <a:r>
                <a:rPr kumimoji="1" lang="ko-KR" altLang="en-US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1" lang="en-US" altLang="ko-KR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AI</a:t>
              </a:r>
              <a:r>
                <a:rPr kumimoji="1" lang="ko-KR" altLang="en-US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1" lang="en-US" altLang="ko-KR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Agent</a:t>
              </a:r>
              <a:r>
                <a:rPr kumimoji="1" lang="ko-KR" altLang="en-US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현황 분석</a:t>
              </a:r>
            </a:p>
          </p:txBody>
        </p:sp>
        <p:sp>
          <p:nvSpPr>
            <p:cNvPr id="13" name="화살표: 오각형 12">
              <a:extLst>
                <a:ext uri="{FF2B5EF4-FFF2-40B4-BE49-F238E27FC236}">
                  <a16:creationId xmlns:a16="http://schemas.microsoft.com/office/drawing/2014/main" id="{B167B0B3-7A85-2884-9E46-50D29A612006}"/>
                </a:ext>
              </a:extLst>
            </p:cNvPr>
            <p:cNvSpPr/>
            <p:nvPr/>
          </p:nvSpPr>
          <p:spPr>
            <a:xfrm>
              <a:off x="5931383" y="1746185"/>
              <a:ext cx="3063187" cy="284746"/>
            </a:xfrm>
            <a:prstGeom prst="homePlate">
              <a:avLst>
                <a:gd name="adj" fmla="val 17882"/>
              </a:avLst>
            </a:prstGeom>
            <a:solidFill>
              <a:srgbClr val="217CFA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To-be </a:t>
              </a:r>
              <a:r>
                <a:rPr kumimoji="1" lang="ko-KR" altLang="en-US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방향성 수립</a:t>
              </a:r>
              <a:endParaRPr kumimoji="1" lang="en-US" altLang="ko-KR" sz="13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6" name="화살표: 오각형 15">
              <a:extLst>
                <a:ext uri="{FF2B5EF4-FFF2-40B4-BE49-F238E27FC236}">
                  <a16:creationId xmlns:a16="http://schemas.microsoft.com/office/drawing/2014/main" id="{5CAE06C6-8BEB-5CB8-5743-70D15583F63C}"/>
                </a:ext>
              </a:extLst>
            </p:cNvPr>
            <p:cNvSpPr/>
            <p:nvPr/>
          </p:nvSpPr>
          <p:spPr>
            <a:xfrm>
              <a:off x="9061948" y="1746185"/>
              <a:ext cx="1889320" cy="284746"/>
            </a:xfrm>
            <a:prstGeom prst="homePlate">
              <a:avLst>
                <a:gd name="adj" fmla="val 17882"/>
              </a:avLst>
            </a:prstGeom>
            <a:solidFill>
              <a:srgbClr val="217CFA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3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실행과제 정의</a:t>
              </a:r>
              <a:endParaRPr kumimoji="1" lang="en-US" altLang="ko-KR" sz="13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27B2444-06ED-DC95-20D2-752036FFBEA8}"/>
              </a:ext>
            </a:extLst>
          </p:cNvPr>
          <p:cNvSpPr txBox="1"/>
          <p:nvPr/>
        </p:nvSpPr>
        <p:spPr>
          <a:xfrm>
            <a:off x="4155400" y="2843514"/>
            <a:ext cx="2785150" cy="73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CLX Agent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활용 위한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Data / Meta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구조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,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요건 정의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현재 대비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Gap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분석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,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고도화 방향 도출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00F6D9-E0F3-F731-9A8E-8551FACB0B33}"/>
              </a:ext>
            </a:extLst>
          </p:cNvPr>
          <p:cNvSpPr txBox="1"/>
          <p:nvPr/>
        </p:nvSpPr>
        <p:spPr>
          <a:xfrm>
            <a:off x="4155400" y="3849705"/>
            <a:ext cx="2785149" cy="93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CLX Agent – Legacy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간 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연계 레이어 및 필요 사항 정의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전사 방침 기반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CLX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적용 기준 및 보완사항 도출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95E7F3-94F9-550B-EE9D-B5D16C9F89D5}"/>
              </a:ext>
            </a:extLst>
          </p:cNvPr>
          <p:cNvSpPr/>
          <p:nvPr/>
        </p:nvSpPr>
        <p:spPr>
          <a:xfrm>
            <a:off x="567906" y="2884036"/>
            <a:ext cx="1782999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CLX </a:t>
            </a: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Agent</a:t>
            </a:r>
            <a:endParaRPr kumimoji="0" lang="en-US" altLang="ko-KR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현황 </a:t>
            </a: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/ 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활용방안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C8DBC2-C57F-3492-A582-EE1B7BAE1162}"/>
              </a:ext>
            </a:extLst>
          </p:cNvPr>
          <p:cNvSpPr/>
          <p:nvPr/>
        </p:nvSpPr>
        <p:spPr>
          <a:xfrm>
            <a:off x="2837465" y="2879902"/>
            <a:ext cx="1234021" cy="705560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Legacy 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</a:t>
            </a:r>
            <a:endParaRPr lang="en-US" altLang="ko-KR" sz="1300" b="1" kern="0" spc="-7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 defTabSz="914400">
              <a:spcAft>
                <a:spcPts val="300"/>
              </a:spcAft>
              <a:defRPr/>
            </a:pP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고도화 방향성 </a:t>
            </a:r>
            <a:endParaRPr kumimoji="0" lang="ko-KR" altLang="en-US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1BDDB4-2216-8626-AEBC-9F26A03F73CB}"/>
              </a:ext>
            </a:extLst>
          </p:cNvPr>
          <p:cNvSpPr/>
          <p:nvPr/>
        </p:nvSpPr>
        <p:spPr>
          <a:xfrm>
            <a:off x="2837465" y="3912032"/>
            <a:ext cx="1234021" cy="705485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AI Agent </a:t>
            </a:r>
          </a:p>
          <a:p>
            <a:pPr lvl="0" algn="ctr" defTabSz="914400">
              <a:spcAft>
                <a:spcPts val="300"/>
              </a:spcAft>
              <a:defRPr/>
            </a:pP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연계 </a:t>
            </a: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/ 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적용기준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7E19DC-EB8C-E4D1-3D3B-472E2AD43F9A}"/>
              </a:ext>
            </a:extLst>
          </p:cNvPr>
          <p:cNvSpPr/>
          <p:nvPr/>
        </p:nvSpPr>
        <p:spPr>
          <a:xfrm>
            <a:off x="2837465" y="5021919"/>
            <a:ext cx="1234021" cy="701912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Legacy 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시스템 </a:t>
            </a:r>
            <a:endParaRPr kumimoji="0" lang="en-US" altLang="ko-KR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lvl="0" algn="ctr" defTabSz="914400">
              <a:spcAft>
                <a:spcPts val="300"/>
              </a:spcAft>
              <a:defRPr/>
            </a:pP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고도화 방향성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F2A2D0-5854-F583-ACDA-5DBD5AAD95FC}"/>
              </a:ext>
            </a:extLst>
          </p:cNvPr>
          <p:cNvSpPr/>
          <p:nvPr/>
        </p:nvSpPr>
        <p:spPr>
          <a:xfrm>
            <a:off x="567906" y="4758266"/>
            <a:ext cx="1782999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Agent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유형별 </a:t>
            </a:r>
            <a:endParaRPr lang="en-US" altLang="ko-KR" sz="1300" b="1" kern="0" spc="-7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 defTabSz="914400">
              <a:spcAft>
                <a:spcPts val="300"/>
              </a:spcAft>
              <a:defRPr/>
            </a:pP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패턴 </a:t>
            </a: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요건 정의</a:t>
            </a:r>
            <a:endParaRPr kumimoji="0" lang="ko-KR" altLang="en-US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B9EAFF-CBBE-5586-0D18-6DF1B5D63495}"/>
              </a:ext>
            </a:extLst>
          </p:cNvPr>
          <p:cNvSpPr/>
          <p:nvPr/>
        </p:nvSpPr>
        <p:spPr>
          <a:xfrm>
            <a:off x="7137005" y="2884036"/>
            <a:ext cx="2263507" cy="505170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과제요건 및 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추진방향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정의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38B25F2-95E8-5A24-E215-4402ECD8883B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>
            <a:off x="1459406" y="3499779"/>
            <a:ext cx="0" cy="125848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18FE37E-7FF9-DDA5-2881-B9202DA03B80}"/>
              </a:ext>
            </a:extLst>
          </p:cNvPr>
          <p:cNvSpPr txBox="1"/>
          <p:nvPr/>
        </p:nvSpPr>
        <p:spPr>
          <a:xfrm>
            <a:off x="4155400" y="5021919"/>
            <a:ext cx="2785149" cy="73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Legacy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별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Agent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적용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고도화 유형 정의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주요 시스템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(Ocean, OASIS, RTDB)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고도화 방향 및 단계적 전환방안 수립 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A3E51B-932C-1B8E-90C6-CC4BD4388A5E}"/>
              </a:ext>
            </a:extLst>
          </p:cNvPr>
          <p:cNvSpPr/>
          <p:nvPr/>
        </p:nvSpPr>
        <p:spPr>
          <a:xfrm>
            <a:off x="7137004" y="4573276"/>
            <a:ext cx="2263507" cy="505170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CLX 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실행과제 구체화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D32F84-FFC2-7930-5872-8BDBD450DFB0}"/>
              </a:ext>
            </a:extLst>
          </p:cNvPr>
          <p:cNvSpPr txBox="1"/>
          <p:nvPr/>
        </p:nvSpPr>
        <p:spPr>
          <a:xfrm>
            <a:off x="542642" y="3539623"/>
            <a:ext cx="2098369" cy="69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추진중인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AI Agent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의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목적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역할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 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Legacy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활용범위 파악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44A8A3-C656-C31A-B452-A008C6DBE81B}"/>
              </a:ext>
            </a:extLst>
          </p:cNvPr>
          <p:cNvSpPr txBox="1"/>
          <p:nvPr/>
        </p:nvSpPr>
        <p:spPr>
          <a:xfrm>
            <a:off x="542642" y="5423867"/>
            <a:ext cx="2098369" cy="93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Agent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유형 및 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action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pattern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정의 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유형별 데이터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연계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 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시스템 활용요건 도출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4672092C-8BD5-84E6-FDE2-3E549FC0BE0F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 flipV="1">
            <a:off x="2350905" y="3232682"/>
            <a:ext cx="486560" cy="1833456"/>
          </a:xfrm>
          <a:prstGeom prst="bentConnector3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6C00C6F-CF8B-55EA-226B-D5361469B909}"/>
              </a:ext>
            </a:extLst>
          </p:cNvPr>
          <p:cNvCxnSpPr>
            <a:cxnSpLocks/>
            <a:stCxn id="20" idx="3"/>
            <a:endCxn id="7" idx="1"/>
          </p:cNvCxnSpPr>
          <p:nvPr/>
        </p:nvCxnSpPr>
        <p:spPr>
          <a:xfrm>
            <a:off x="2350905" y="5066138"/>
            <a:ext cx="486560" cy="30673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58F0F56E-FBAF-85F9-CCCA-9097D118E027}"/>
              </a:ext>
            </a:extLst>
          </p:cNvPr>
          <p:cNvCxnSpPr>
            <a:cxnSpLocks/>
            <a:stCxn id="20" idx="3"/>
            <a:endCxn id="6" idx="1"/>
          </p:cNvCxnSpPr>
          <p:nvPr/>
        </p:nvCxnSpPr>
        <p:spPr>
          <a:xfrm flipV="1">
            <a:off x="2350905" y="4264775"/>
            <a:ext cx="486560" cy="8013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0431175-8661-3539-2C8A-CB87968DD923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flipH="1">
            <a:off x="8268758" y="3389206"/>
            <a:ext cx="1" cy="118407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4D163D-3D37-216F-4433-593365A5CA68}"/>
              </a:ext>
            </a:extLst>
          </p:cNvPr>
          <p:cNvSpPr txBox="1"/>
          <p:nvPr/>
        </p:nvSpPr>
        <p:spPr>
          <a:xfrm>
            <a:off x="7095049" y="3398080"/>
            <a:ext cx="2376210" cy="93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고도화 방향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(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과제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)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별 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핵심 요구사항 정의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전사 공통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협의사안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vs.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CLX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특화 과제 구분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BA391B-A11A-9711-89FF-16A904D688BB}"/>
              </a:ext>
            </a:extLst>
          </p:cNvPr>
          <p:cNvSpPr txBox="1"/>
          <p:nvPr/>
        </p:nvSpPr>
        <p:spPr>
          <a:xfrm>
            <a:off x="7095049" y="5138797"/>
            <a:ext cx="2692418" cy="1176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권한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 Lineage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변경관리 등 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우선과제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실행요건 구체화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차년도 추진 위한 범위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수행계획 도출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전사 공통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/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협의사안은</a:t>
            </a:r>
            <a:b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세부기준 정의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,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추진방향 제언 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E4E357-7285-A3A0-9DE3-478A72A68FA0}"/>
              </a:ext>
            </a:extLst>
          </p:cNvPr>
          <p:cNvSpPr txBox="1"/>
          <p:nvPr/>
        </p:nvSpPr>
        <p:spPr>
          <a:xfrm>
            <a:off x="355375" y="2160624"/>
            <a:ext cx="2391840" cy="419439"/>
          </a:xfrm>
          <a:prstGeom prst="rect">
            <a:avLst/>
          </a:prstGeom>
          <a:noFill/>
        </p:spPr>
        <p:txBody>
          <a:bodyPr wrap="square" lIns="36000" rIns="36000">
            <a:no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lang="en-US" altLang="ko-KR" sz="1300" b="1" spc="-50" dirty="0"/>
              <a:t>Brain AI </a:t>
            </a:r>
            <a:r>
              <a:rPr lang="ko-KR" altLang="en-US" sz="1300" b="1" spc="-50" dirty="0"/>
              <a:t>실행에 필요한 </a:t>
            </a:r>
            <a:br>
              <a:rPr lang="en-US" altLang="ko-KR" sz="1300" b="1" spc="-50" dirty="0"/>
            </a:br>
            <a:r>
              <a:rPr lang="en-US" altLang="ko-KR" sz="1300" b="1" spc="-50" dirty="0"/>
              <a:t>AI Agent </a:t>
            </a:r>
            <a:r>
              <a:rPr lang="ko-KR" altLang="en-US" sz="1300" b="1" spc="-50" dirty="0"/>
              <a:t>활용유형</a:t>
            </a:r>
            <a:r>
              <a:rPr lang="en-US" altLang="ko-KR" sz="1300" b="1" spc="-50" dirty="0"/>
              <a:t>/</a:t>
            </a:r>
            <a:r>
              <a:rPr lang="ko-KR" altLang="en-US" sz="1300" b="1" spc="-50" dirty="0"/>
              <a:t>요구사항 구체화</a:t>
            </a:r>
            <a:endParaRPr lang="en-US" altLang="ko-KR" sz="1300" b="1" spc="-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1B4AF5-31B0-9A6D-DD10-B4FD786C53AB}"/>
              </a:ext>
            </a:extLst>
          </p:cNvPr>
          <p:cNvSpPr txBox="1"/>
          <p:nvPr/>
        </p:nvSpPr>
        <p:spPr>
          <a:xfrm>
            <a:off x="2837464" y="2160624"/>
            <a:ext cx="4000215" cy="419439"/>
          </a:xfrm>
          <a:prstGeom prst="rect">
            <a:avLst/>
          </a:prstGeom>
          <a:noFill/>
        </p:spPr>
        <p:txBody>
          <a:bodyPr wrap="square" lIns="36000" rIns="36000">
            <a:no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lang="en-US" altLang="ko-KR" sz="1300" b="1" spc="-50" dirty="0"/>
              <a:t>Legacy</a:t>
            </a:r>
            <a:r>
              <a:rPr lang="ko-KR" altLang="en-US" sz="1300" b="1" spc="-50" dirty="0"/>
              <a:t>와 </a:t>
            </a:r>
            <a:r>
              <a:rPr lang="en-US" altLang="ko-KR" sz="1300" b="1" spc="-50" dirty="0"/>
              <a:t>Agent</a:t>
            </a:r>
            <a:r>
              <a:rPr lang="ko-KR" altLang="en-US" sz="1300" b="1" spc="-50" dirty="0"/>
              <a:t>간 </a:t>
            </a:r>
            <a:r>
              <a:rPr lang="en-US" altLang="ko-KR" sz="1300" b="1" spc="-50" dirty="0"/>
              <a:t>Seamless</a:t>
            </a:r>
            <a:r>
              <a:rPr lang="ko-KR" altLang="en-US" sz="1300" b="1" spc="-50" dirty="0"/>
              <a:t>한 운영 위한</a:t>
            </a:r>
            <a:r>
              <a:rPr lang="en-US" altLang="ko-KR" sz="1300" b="1" spc="-50" dirty="0"/>
              <a:t> </a:t>
            </a:r>
            <a:r>
              <a:rPr lang="ko-KR" altLang="en-US" sz="1300" b="1" spc="-50" dirty="0"/>
              <a:t>영역별</a:t>
            </a:r>
            <a:r>
              <a:rPr lang="en-US" altLang="ko-KR" sz="1300" i="1" spc="-50" dirty="0"/>
              <a:t>(Data/</a:t>
            </a:r>
            <a:r>
              <a:rPr lang="ko-KR" altLang="en-US" sz="1300" i="1" spc="-50" dirty="0"/>
              <a:t>연계</a:t>
            </a:r>
            <a:r>
              <a:rPr lang="en-US" altLang="ko-KR" sz="1300" i="1" spc="-50" dirty="0"/>
              <a:t>/</a:t>
            </a:r>
            <a:r>
              <a:rPr lang="ko-KR" altLang="en-US" sz="1300" i="1" spc="-50" dirty="0"/>
              <a:t>시스템</a:t>
            </a:r>
            <a:r>
              <a:rPr lang="en-US" altLang="ko-KR" sz="1300" i="1" spc="-50" dirty="0"/>
              <a:t>)</a:t>
            </a:r>
            <a:r>
              <a:rPr lang="ko-KR" altLang="en-US" sz="1300" spc="-50" dirty="0"/>
              <a:t> </a:t>
            </a:r>
            <a:r>
              <a:rPr lang="ko-KR" altLang="en-US" sz="1300" b="1" spc="-50" dirty="0"/>
              <a:t>고도화 방향 도출</a:t>
            </a:r>
            <a:endParaRPr lang="en-US" altLang="ko-KR" sz="1300" b="1" spc="-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7B202C-4D1D-2D30-1309-FA234EBF090B}"/>
              </a:ext>
            </a:extLst>
          </p:cNvPr>
          <p:cNvSpPr txBox="1"/>
          <p:nvPr/>
        </p:nvSpPr>
        <p:spPr>
          <a:xfrm>
            <a:off x="7030802" y="2160624"/>
            <a:ext cx="2391840" cy="419439"/>
          </a:xfrm>
          <a:prstGeom prst="rect">
            <a:avLst/>
          </a:prstGeom>
          <a:noFill/>
        </p:spPr>
        <p:txBody>
          <a:bodyPr wrap="square" lIns="36000" rIns="36000">
            <a:no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lang="ko-KR" altLang="en-US" sz="1300" b="1" spc="-50" dirty="0"/>
              <a:t>고도화</a:t>
            </a:r>
            <a:r>
              <a:rPr lang="en-US" altLang="ko-KR" sz="1300" b="1" spc="-50" dirty="0"/>
              <a:t> </a:t>
            </a:r>
            <a:r>
              <a:rPr lang="ko-KR" altLang="en-US" sz="1300" b="1" spc="-50" dirty="0"/>
              <a:t>위한 실행요건 식별 및 과제화</a:t>
            </a:r>
            <a:endParaRPr lang="en-US" altLang="ko-KR" sz="1300" b="1" spc="-5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BFA53D0-101B-F266-5BBA-D36A7E9F9DF6}"/>
              </a:ext>
            </a:extLst>
          </p:cNvPr>
          <p:cNvSpPr/>
          <p:nvPr/>
        </p:nvSpPr>
        <p:spPr>
          <a:xfrm>
            <a:off x="2837465" y="6024881"/>
            <a:ext cx="1234021" cy="577759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권한</a:t>
            </a: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변경관리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endParaRPr kumimoji="0" lang="en-US" altLang="ko-KR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lvl="0" algn="ctr" defTabSz="914400">
              <a:spcAft>
                <a:spcPts val="300"/>
              </a:spcAft>
              <a:defRPr/>
            </a:pP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고도화 방향성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B4D350-78BE-2959-2056-A25DE42D319F}"/>
              </a:ext>
            </a:extLst>
          </p:cNvPr>
          <p:cNvSpPr txBox="1"/>
          <p:nvPr/>
        </p:nvSpPr>
        <p:spPr>
          <a:xfrm>
            <a:off x="4155400" y="6079868"/>
            <a:ext cx="2785149" cy="490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Agent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 통합 권한관리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, AI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구성요소 </a:t>
            </a:r>
            <a:r>
              <a:rPr lang="en-US" altLang="ko-KR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Lineage / </a:t>
            </a:r>
            <a:r>
              <a:rPr lang="ko-KR" altLang="en-US" sz="1200" spc="-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AF6"/>
                </a:highlight>
                <a:latin typeface="+mn-ea"/>
              </a:rPr>
              <a:t>변경관리 고도화 방향 검토</a:t>
            </a: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AF6"/>
              </a:highlight>
              <a:latin typeface="+mn-ea"/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1C1FBCFE-B777-A7D1-EF44-B73F6CD55309}"/>
              </a:ext>
            </a:extLst>
          </p:cNvPr>
          <p:cNvCxnSpPr>
            <a:cxnSpLocks/>
            <a:stCxn id="20" idx="3"/>
            <a:endCxn id="52" idx="1"/>
          </p:cNvCxnSpPr>
          <p:nvPr/>
        </p:nvCxnSpPr>
        <p:spPr>
          <a:xfrm>
            <a:off x="2350905" y="5066138"/>
            <a:ext cx="486560" cy="124762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0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7F93515-C194-9A35-A7DB-9745914CEE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지식은 활용 위한 지식 구조화 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 체계 관점에서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b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b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MLOps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/ </a:t>
            </a:r>
            <a:r>
              <a:rPr lang="en-US" altLang="ko-KR" b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AgentOps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대내외 정책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사례 대비 </a:t>
            </a:r>
            <a:r>
              <a:rPr lang="en-US" altLang="ko-KR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Gap </a:t>
            </a:r>
            <a:r>
              <a:rPr lang="ko-KR" altLang="en-US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분석 통해 고도화 방향을 구체화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ADE298-0318-5897-9900-ED693E3671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6176563" cy="369332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수행 방안 </a:t>
            </a:r>
            <a:r>
              <a:rPr lang="ko-KR" altLang="en-US" sz="1600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② </a:t>
            </a:r>
            <a:r>
              <a:rPr lang="en-US" altLang="ko-KR" sz="1600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Knowledge </a:t>
            </a:r>
            <a:r>
              <a:rPr lang="ko-KR" altLang="en-US" sz="1600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관리체계 ③ </a:t>
            </a:r>
            <a:r>
              <a:rPr lang="en-US" altLang="ko-KR" sz="1600" b="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MLOps</a:t>
            </a:r>
            <a:r>
              <a:rPr lang="en-US" altLang="ko-KR" sz="1600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/</a:t>
            </a:r>
            <a:r>
              <a:rPr lang="en-US" altLang="ko-KR" sz="1600" b="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AgentOps</a:t>
            </a:r>
            <a:r>
              <a:rPr lang="en-US" altLang="ko-KR" sz="1600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방향성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07D553-1948-F4CD-9E60-5AE60C074F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25550" y="257224"/>
            <a:ext cx="235962" cy="338554"/>
          </a:xfr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CBF63-1D5C-3C57-28D9-4E923CD1BB3A}"/>
              </a:ext>
            </a:extLst>
          </p:cNvPr>
          <p:cNvSpPr txBox="1"/>
          <p:nvPr/>
        </p:nvSpPr>
        <p:spPr>
          <a:xfrm>
            <a:off x="2041738" y="2639239"/>
            <a:ext cx="2975818" cy="490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b="1" spc="-50" dirty="0">
                <a:highlight>
                  <a:srgbClr val="FFFAF6"/>
                </a:highlight>
                <a:latin typeface="+mn-ea"/>
              </a:rPr>
              <a:t>산업표준 </a:t>
            </a:r>
            <a:r>
              <a:rPr lang="en-US" altLang="ko-KR" sz="1200" b="1" spc="-50" dirty="0">
                <a:highlight>
                  <a:srgbClr val="FFFAF6"/>
                </a:highlight>
                <a:latin typeface="+mn-ea"/>
              </a:rPr>
              <a:t>/ Ontology PoV </a:t>
            </a:r>
            <a:r>
              <a:rPr lang="ko-KR" altLang="en-US" sz="1200" b="1" spc="-50" dirty="0">
                <a:highlight>
                  <a:srgbClr val="FFFAF6"/>
                </a:highlight>
                <a:latin typeface="+mn-ea"/>
              </a:rPr>
              <a:t>기반</a:t>
            </a:r>
            <a:br>
              <a:rPr lang="en-US" altLang="ko-KR" sz="1200" spc="-50" dirty="0"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상위 원칙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 (Entity / Relation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등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)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정립 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BD372D-0440-BF92-B5C0-4DC6874B2266}"/>
              </a:ext>
            </a:extLst>
          </p:cNvPr>
          <p:cNvSpPr/>
          <p:nvPr/>
        </p:nvSpPr>
        <p:spPr>
          <a:xfrm>
            <a:off x="872288" y="3681775"/>
            <a:ext cx="1329045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지식</a:t>
            </a: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</a:t>
            </a:r>
            <a:endParaRPr lang="en-US" altLang="ko-KR" sz="1300" b="1" kern="0" spc="-7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 defTabSz="914400">
              <a:spcAft>
                <a:spcPts val="300"/>
              </a:spcAft>
              <a:defRPr/>
            </a:pP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구조화</a:t>
            </a: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축적 방안</a:t>
            </a:r>
            <a:endParaRPr kumimoji="0" lang="ko-KR" altLang="en-US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FA859B-17E1-5C52-A46D-C742C4FD4C6E}"/>
              </a:ext>
            </a:extLst>
          </p:cNvPr>
          <p:cNvSpPr txBox="1"/>
          <p:nvPr/>
        </p:nvSpPr>
        <p:spPr>
          <a:xfrm>
            <a:off x="2259528" y="3671265"/>
            <a:ext cx="3293281" cy="170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1200" b="1" spc="-50" dirty="0">
                <a:highlight>
                  <a:srgbClr val="FFFAF6"/>
                </a:highlight>
                <a:latin typeface="+mn-ea"/>
              </a:rPr>
              <a:t>[1] </a:t>
            </a:r>
            <a:r>
              <a:rPr lang="ko-KR" altLang="en-US" sz="1200" b="1" spc="-50" dirty="0">
                <a:highlight>
                  <a:srgbClr val="FFFAF6"/>
                </a:highlight>
                <a:latin typeface="+mn-ea"/>
              </a:rPr>
              <a:t>지식문서 구조화 방안 도출</a:t>
            </a:r>
            <a:endParaRPr lang="en-US" altLang="ko-KR" sz="1200" b="1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주요 지식문서의 관리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/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활용현황 및 방식 분석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활용 목적별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 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지식화 대상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,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구조화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/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관리요건 정의 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기존 지식 전환 및 신규 지식 축적 방안 도출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1200" b="1" spc="-50" dirty="0">
                <a:highlight>
                  <a:srgbClr val="FFFAF6"/>
                </a:highlight>
                <a:latin typeface="+mn-ea"/>
              </a:rPr>
              <a:t>[2] Domain LLM </a:t>
            </a:r>
            <a:r>
              <a:rPr lang="ko-KR" altLang="en-US" sz="1200" b="1" spc="-50" dirty="0">
                <a:highlight>
                  <a:srgbClr val="FFFAF6"/>
                </a:highlight>
                <a:latin typeface="+mn-ea"/>
              </a:rPr>
              <a:t>학습용 데이터 확보 방향 검토</a:t>
            </a:r>
            <a:endParaRPr lang="en-US" altLang="ko-KR" sz="1200" b="1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100" spc="-50" dirty="0">
                <a:highlight>
                  <a:srgbClr val="FFFAF6"/>
                </a:highlight>
                <a:latin typeface="+mn-ea"/>
              </a:rPr>
              <a:t>LLM </a:t>
            </a:r>
            <a:r>
              <a:rPr lang="ko-KR" altLang="en-US" sz="1100" spc="-50" dirty="0">
                <a:highlight>
                  <a:srgbClr val="FFFAF6"/>
                </a:highlight>
                <a:latin typeface="+mn-ea"/>
              </a:rPr>
              <a:t>활용 시나리오별 필요 데이터 식별</a:t>
            </a:r>
            <a:endParaRPr lang="en-US" altLang="ko-KR" sz="11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00" spc="-50" dirty="0">
                <a:highlight>
                  <a:srgbClr val="FFFAF6"/>
                </a:highlight>
                <a:latin typeface="+mn-ea"/>
              </a:rPr>
              <a:t>데이터 요건 및 우선 축적 대상 정의</a:t>
            </a:r>
            <a:endParaRPr lang="en-US" altLang="ko-KR" sz="1100" spc="-50" dirty="0">
              <a:highlight>
                <a:srgbClr val="FFFAF6"/>
              </a:highlight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7102AB-67C5-253D-ADA1-3C258F544421}"/>
              </a:ext>
            </a:extLst>
          </p:cNvPr>
          <p:cNvSpPr/>
          <p:nvPr/>
        </p:nvSpPr>
        <p:spPr>
          <a:xfrm>
            <a:off x="872288" y="5565910"/>
            <a:ext cx="1329045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Knowledge Hub </a:t>
            </a:r>
          </a:p>
          <a:p>
            <a:pPr lvl="0" algn="ctr" defTabSz="914400">
              <a:spcAft>
                <a:spcPts val="300"/>
              </a:spcAft>
              <a:defRPr/>
            </a:pP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구축 방향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8A4D9C-7DEE-0AB3-6103-3B9B0B2697C0}"/>
              </a:ext>
            </a:extLst>
          </p:cNvPr>
          <p:cNvSpPr txBox="1"/>
          <p:nvPr/>
        </p:nvSpPr>
        <p:spPr>
          <a:xfrm>
            <a:off x="2259528" y="5565910"/>
            <a:ext cx="3293281" cy="770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외부 사례 조사 및 기존 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CLX/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전사체계 검토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CLX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지식 데이터 관리 위한 요구사항 정의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Knowledge Hub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요건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,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구조 및 구축방향 수립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DBC0248B-57E2-713E-BAE8-FF17460FC3D0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342639" y="3459998"/>
            <a:ext cx="745276" cy="314022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E5059B27-0D7F-097D-1592-ADAF8A933F77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-668757" y="4332737"/>
            <a:ext cx="2768068" cy="314022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997C66-EA11-44D6-9C8B-0DEB2D689F2A}"/>
              </a:ext>
            </a:extLst>
          </p:cNvPr>
          <p:cNvSpPr/>
          <p:nvPr/>
        </p:nvSpPr>
        <p:spPr>
          <a:xfrm>
            <a:off x="872287" y="3578990"/>
            <a:ext cx="849312" cy="199036"/>
          </a:xfrm>
          <a:prstGeom prst="roundRect">
            <a:avLst/>
          </a:prstGeom>
          <a:solidFill>
            <a:srgbClr val="217CFA"/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3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지식 축적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422CCB4-CE96-8FEF-75F4-B064E36CFCD0}"/>
              </a:ext>
            </a:extLst>
          </p:cNvPr>
          <p:cNvSpPr/>
          <p:nvPr/>
        </p:nvSpPr>
        <p:spPr>
          <a:xfrm>
            <a:off x="872287" y="5466392"/>
            <a:ext cx="849312" cy="199036"/>
          </a:xfrm>
          <a:prstGeom prst="roundRect">
            <a:avLst/>
          </a:prstGeom>
          <a:solidFill>
            <a:srgbClr val="217CFA"/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3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 체계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74701C8-EEE4-DFD1-634B-D7A8144F272A}"/>
              </a:ext>
            </a:extLst>
          </p:cNvPr>
          <p:cNvGrpSpPr/>
          <p:nvPr/>
        </p:nvGrpSpPr>
        <p:grpSpPr>
          <a:xfrm>
            <a:off x="355374" y="1756737"/>
            <a:ext cx="5068567" cy="346893"/>
            <a:chOff x="4011711" y="1782863"/>
            <a:chExt cx="5549802" cy="346893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B547F2B-3D46-FD6C-4121-58212588AA38}"/>
                </a:ext>
              </a:extLst>
            </p:cNvPr>
            <p:cNvCxnSpPr>
              <a:cxnSpLocks/>
            </p:cNvCxnSpPr>
            <p:nvPr/>
          </p:nvCxnSpPr>
          <p:spPr>
            <a:xfrm>
              <a:off x="4011713" y="2129756"/>
              <a:ext cx="5549800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D30BB1-C2FC-9B57-716D-B1B60533B844}"/>
                </a:ext>
              </a:extLst>
            </p:cNvPr>
            <p:cNvSpPr txBox="1"/>
            <p:nvPr/>
          </p:nvSpPr>
          <p:spPr>
            <a:xfrm>
              <a:off x="4011711" y="1782863"/>
              <a:ext cx="5549799" cy="34323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Enterprise Knowledge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관리 체계 설계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A7D939D-9118-F233-15C9-278CE8B080D1}"/>
              </a:ext>
            </a:extLst>
          </p:cNvPr>
          <p:cNvGrpSpPr/>
          <p:nvPr/>
        </p:nvGrpSpPr>
        <p:grpSpPr>
          <a:xfrm>
            <a:off x="5528508" y="1756737"/>
            <a:ext cx="4033005" cy="346893"/>
            <a:chOff x="4011711" y="1782863"/>
            <a:chExt cx="5549802" cy="346893"/>
          </a:xfrm>
        </p:grpSpPr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4BF9FE42-BB58-3748-3D44-4E93C86EB952}"/>
                </a:ext>
              </a:extLst>
            </p:cNvPr>
            <p:cNvCxnSpPr>
              <a:cxnSpLocks/>
            </p:cNvCxnSpPr>
            <p:nvPr/>
          </p:nvCxnSpPr>
          <p:spPr>
            <a:xfrm>
              <a:off x="4011713" y="2129756"/>
              <a:ext cx="5549800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DC785CD-BA3A-1EF2-E2EC-EFF6E7AA4031}"/>
                </a:ext>
              </a:extLst>
            </p:cNvPr>
            <p:cNvSpPr txBox="1"/>
            <p:nvPr/>
          </p:nvSpPr>
          <p:spPr>
            <a:xfrm>
              <a:off x="4011711" y="1782863"/>
              <a:ext cx="5549799" cy="34323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 </a:t>
              </a:r>
              <a:r>
                <a:rPr kumimoji="0" lang="en-US" altLang="ko-KR" sz="1400" b="0" i="0" u="none" strike="noStrike" kern="0" cap="none" spc="0" normalizeH="0" baseline="0" noProof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MLOps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/ </a:t>
              </a:r>
              <a:r>
                <a:rPr kumimoji="0" lang="en-US" altLang="ko-KR" sz="1400" b="0" i="0" u="none" strike="noStrike" kern="0" cap="none" spc="0" normalizeH="0" baseline="0" noProof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AgentOps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고도화 방향성 수립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2BAE015-676C-1B51-7285-86B36E8173A3}"/>
              </a:ext>
            </a:extLst>
          </p:cNvPr>
          <p:cNvSpPr/>
          <p:nvPr/>
        </p:nvSpPr>
        <p:spPr>
          <a:xfrm>
            <a:off x="5630466" y="2575827"/>
            <a:ext cx="1126292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전사 현황 </a:t>
            </a:r>
            <a:endParaRPr kumimoji="0" lang="ko-KR" altLang="en-US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1F12632-D198-ABD4-5B8D-C166C3D81026}"/>
              </a:ext>
            </a:extLst>
          </p:cNvPr>
          <p:cNvSpPr/>
          <p:nvPr/>
        </p:nvSpPr>
        <p:spPr>
          <a:xfrm>
            <a:off x="5740710" y="3931665"/>
            <a:ext cx="1126292" cy="707954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Gap 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</a:t>
            </a:r>
            <a:b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보완영역 분석</a:t>
            </a:r>
            <a:endParaRPr kumimoji="0" lang="ko-KR" altLang="en-US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2A72AB7-8D0B-C522-CB01-133F93B1EF73}"/>
              </a:ext>
            </a:extLst>
          </p:cNvPr>
          <p:cNvSpPr/>
          <p:nvPr/>
        </p:nvSpPr>
        <p:spPr>
          <a:xfrm>
            <a:off x="6970060" y="2575827"/>
            <a:ext cx="1126292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현황</a:t>
            </a:r>
            <a:endParaRPr kumimoji="0" lang="ko-KR" altLang="en-US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4124AD2-67B2-EA49-F7A1-B4160A547230}"/>
              </a:ext>
            </a:extLst>
          </p:cNvPr>
          <p:cNvSpPr/>
          <p:nvPr/>
        </p:nvSpPr>
        <p:spPr>
          <a:xfrm>
            <a:off x="8309654" y="2575827"/>
            <a:ext cx="1126292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Best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Practice</a:t>
            </a:r>
            <a:endParaRPr kumimoji="0" lang="ko-KR" altLang="en-US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7E61CE42-8C17-7E00-2B63-96C5B49C86C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99338" y="1894311"/>
            <a:ext cx="12700" cy="2679188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8B907FD-B702-E596-BC42-BD861E605881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7533206" y="3191570"/>
            <a:ext cx="0" cy="58645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C7C28CA-5AE5-43CD-4866-C3EF5F9ECE25}"/>
              </a:ext>
            </a:extLst>
          </p:cNvPr>
          <p:cNvSpPr txBox="1"/>
          <p:nvPr/>
        </p:nvSpPr>
        <p:spPr>
          <a:xfrm>
            <a:off x="6867003" y="3919612"/>
            <a:ext cx="2768064" cy="770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전사 체계 및 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CLX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현황 검토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현 관리영역 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/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운영방식 점검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현 체계의 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Gap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및 보완 필요영역 식별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706253-65C0-7AD1-5A01-5EA323C8B63D}"/>
              </a:ext>
            </a:extLst>
          </p:cNvPr>
          <p:cNvSpPr txBox="1"/>
          <p:nvPr/>
        </p:nvSpPr>
        <p:spPr>
          <a:xfrm>
            <a:off x="8307536" y="3268039"/>
            <a:ext cx="1126292" cy="38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ko-KR" altLang="en-US" sz="1050" i="1" spc="-50" dirty="0">
                <a:highlight>
                  <a:srgbClr val="FFFAF6"/>
                </a:highlight>
                <a:latin typeface="+mn-ea"/>
              </a:rPr>
              <a:t>관리영역 </a:t>
            </a:r>
            <a:r>
              <a:rPr lang="en-US" altLang="ko-KR" sz="1050" i="1" spc="-50" dirty="0">
                <a:highlight>
                  <a:srgbClr val="FFFAF6"/>
                </a:highlight>
                <a:latin typeface="+mn-ea"/>
              </a:rPr>
              <a:t>/ </a:t>
            </a:r>
            <a:r>
              <a:rPr lang="ko-KR" altLang="en-US" sz="1050" i="1" spc="-50" dirty="0">
                <a:highlight>
                  <a:srgbClr val="FFFAF6"/>
                </a:highlight>
                <a:latin typeface="+mn-ea"/>
              </a:rPr>
              <a:t>프로세스 </a:t>
            </a:r>
            <a:r>
              <a:rPr lang="en-US" altLang="ko-KR" sz="1050" i="1" spc="-50" dirty="0">
                <a:highlight>
                  <a:srgbClr val="FFFAF6"/>
                </a:highlight>
                <a:latin typeface="+mn-ea"/>
              </a:rPr>
              <a:t>/ R&amp;R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ECF3172-DD74-B508-C798-F6764ACBC552}"/>
              </a:ext>
            </a:extLst>
          </p:cNvPr>
          <p:cNvSpPr/>
          <p:nvPr/>
        </p:nvSpPr>
        <p:spPr>
          <a:xfrm>
            <a:off x="5732243" y="4857387"/>
            <a:ext cx="1126292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보완요건</a:t>
            </a: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/ </a:t>
            </a:r>
            <a:b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개선방향 도출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105100-0CD8-8EDF-2DDA-D6FA70B01AD5}"/>
              </a:ext>
            </a:extLst>
          </p:cNvPr>
          <p:cNvSpPr txBox="1"/>
          <p:nvPr/>
        </p:nvSpPr>
        <p:spPr>
          <a:xfrm>
            <a:off x="6936192" y="4900795"/>
            <a:ext cx="3293281" cy="73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CLX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고도화 요건 및 향후 관리방향 도출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CLX 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자체 개선사항 및 전사 공통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/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협의 </a:t>
            </a:r>
            <a:br>
              <a:rPr lang="en-US" altLang="ko-KR" sz="1200" spc="-50" dirty="0"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필요사항 구체화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16F7557-D91A-5FBB-798C-C578D1B27869}"/>
              </a:ext>
            </a:extLst>
          </p:cNvPr>
          <p:cNvSpPr/>
          <p:nvPr/>
        </p:nvSpPr>
        <p:spPr>
          <a:xfrm>
            <a:off x="5738342" y="5737929"/>
            <a:ext cx="1126292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운영방식 </a:t>
            </a:r>
            <a:r>
              <a:rPr kumimoji="0" lang="en-US" altLang="ko-KR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/ 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역할</a:t>
            </a:r>
            <a:b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협의방향 </a:t>
            </a:r>
            <a:r>
              <a:rPr kumimoji="0" lang="ko-KR" altLang="en-US" sz="1300" b="1" i="0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제시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872DE7-19B9-9696-8229-A2323DD6939A}"/>
              </a:ext>
            </a:extLst>
          </p:cNvPr>
          <p:cNvSpPr txBox="1"/>
          <p:nvPr/>
        </p:nvSpPr>
        <p:spPr>
          <a:xfrm>
            <a:off x="6942291" y="5679770"/>
            <a:ext cx="3293281" cy="73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200" spc="-50" dirty="0" err="1">
                <a:highlight>
                  <a:srgbClr val="FFFAF6"/>
                </a:highlight>
                <a:latin typeface="+mn-ea"/>
              </a:rPr>
              <a:t>MLOps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/ </a:t>
            </a:r>
            <a:r>
              <a:rPr lang="en-US" altLang="ko-KR" sz="1200" spc="-50" dirty="0" err="1">
                <a:highlight>
                  <a:srgbClr val="FFFAF6"/>
                </a:highlight>
                <a:latin typeface="+mn-ea"/>
              </a:rPr>
              <a:t>AgentOps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 운영주체 및 역할 </a:t>
            </a:r>
            <a:br>
              <a:rPr lang="en-US" altLang="ko-KR" sz="1200" spc="-50" dirty="0">
                <a:highlight>
                  <a:srgbClr val="FFFAF6"/>
                </a:highlight>
                <a:latin typeface="+mn-ea"/>
              </a:rPr>
            </a:b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관련 협의 사항 도출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  <a:p>
            <a:pPr marL="182563" indent="-1825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운영방식 </a:t>
            </a:r>
            <a:r>
              <a:rPr lang="en-US" altLang="ko-KR" sz="1200" spc="-50" dirty="0">
                <a:highlight>
                  <a:srgbClr val="FFFAF6"/>
                </a:highlight>
                <a:latin typeface="+mn-ea"/>
              </a:rPr>
              <a:t>/ R&amp;R</a:t>
            </a:r>
            <a:r>
              <a:rPr lang="ko-KR" altLang="en-US" sz="1200" spc="-50" dirty="0">
                <a:highlight>
                  <a:srgbClr val="FFFAF6"/>
                </a:highlight>
                <a:latin typeface="+mn-ea"/>
              </a:rPr>
              <a:t> 개선 방향 제언</a:t>
            </a:r>
            <a:endParaRPr lang="en-US" altLang="ko-KR" sz="1200" spc="-50" dirty="0">
              <a:highlight>
                <a:srgbClr val="FFFAF6"/>
              </a:highlight>
              <a:latin typeface="+mn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BCDB2B-D03A-EDA8-45B9-426BC043CE5F}"/>
              </a:ext>
            </a:extLst>
          </p:cNvPr>
          <p:cNvSpPr txBox="1"/>
          <p:nvPr/>
        </p:nvSpPr>
        <p:spPr>
          <a:xfrm>
            <a:off x="5590248" y="3230787"/>
            <a:ext cx="1272236" cy="38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altLang="ko-KR" sz="1050" i="1" spc="-50" dirty="0" err="1">
                <a:highlight>
                  <a:srgbClr val="FFFAF6"/>
                </a:highlight>
                <a:latin typeface="+mn-ea"/>
              </a:rPr>
              <a:t>MLOps</a:t>
            </a:r>
            <a:r>
              <a:rPr lang="en-US" altLang="ko-KR" sz="1050" i="1" spc="-50" dirty="0">
                <a:highlight>
                  <a:srgbClr val="FFFAF6"/>
                </a:highlight>
                <a:latin typeface="+mn-ea"/>
              </a:rPr>
              <a:t> TF / Agent, Asset </a:t>
            </a:r>
            <a:r>
              <a:rPr lang="ko-KR" altLang="en-US" sz="1050" i="1" spc="-50" dirty="0">
                <a:highlight>
                  <a:srgbClr val="FFFAF6"/>
                </a:highlight>
                <a:latin typeface="+mn-ea"/>
              </a:rPr>
              <a:t>관리체계</a:t>
            </a:r>
            <a:endParaRPr lang="en-US" altLang="ko-KR" sz="1050" i="1" spc="-50" dirty="0">
              <a:highlight>
                <a:srgbClr val="FFFAF6"/>
              </a:highlight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9F32EA-40DC-16B2-C9B1-B4DF8EDB6BA1}"/>
              </a:ext>
            </a:extLst>
          </p:cNvPr>
          <p:cNvSpPr txBox="1"/>
          <p:nvPr/>
        </p:nvSpPr>
        <p:spPr>
          <a:xfrm>
            <a:off x="6967941" y="3224165"/>
            <a:ext cx="1227789" cy="38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ko-KR" altLang="en-US" sz="1050" i="1" spc="-50" dirty="0">
                <a:highlight>
                  <a:srgbClr val="FFFAF6"/>
                </a:highlight>
                <a:latin typeface="+mn-ea"/>
              </a:rPr>
              <a:t>모델</a:t>
            </a:r>
            <a:r>
              <a:rPr lang="en-US" altLang="ko-KR" sz="1050" i="1" spc="-50" dirty="0">
                <a:highlight>
                  <a:srgbClr val="FFFAF6"/>
                </a:highlight>
                <a:latin typeface="+mn-ea"/>
              </a:rPr>
              <a:t>&amp;Agent </a:t>
            </a:r>
            <a:r>
              <a:rPr lang="ko-KR" altLang="en-US" sz="1050" i="1" spc="-50" dirty="0">
                <a:highlight>
                  <a:srgbClr val="FFFAF6"/>
                </a:highlight>
                <a:latin typeface="+mn-ea"/>
              </a:rPr>
              <a:t>현황 </a:t>
            </a:r>
            <a:r>
              <a:rPr lang="en-US" altLang="ko-KR" sz="1050" i="1" spc="-50" dirty="0">
                <a:highlight>
                  <a:srgbClr val="FFFAF6"/>
                </a:highlight>
                <a:latin typeface="+mn-ea"/>
              </a:rPr>
              <a:t>/ </a:t>
            </a:r>
            <a:br>
              <a:rPr lang="en-US" altLang="ko-KR" sz="1050" i="1" spc="-50" dirty="0">
                <a:highlight>
                  <a:srgbClr val="FFFAF6"/>
                </a:highlight>
                <a:latin typeface="+mn-ea"/>
              </a:rPr>
            </a:br>
            <a:r>
              <a:rPr lang="ko-KR" altLang="en-US" sz="1050" i="1" spc="-50" dirty="0">
                <a:highlight>
                  <a:srgbClr val="FFFAF6"/>
                </a:highlight>
                <a:latin typeface="+mn-ea"/>
              </a:rPr>
              <a:t>추진계획</a:t>
            </a:r>
            <a:endParaRPr lang="en-US" altLang="ko-KR" sz="1050" i="1" spc="-50" dirty="0">
              <a:highlight>
                <a:srgbClr val="FFFAF6"/>
              </a:highlight>
              <a:latin typeface="+mn-ea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D3F0435F-1BC9-CFB7-F673-CCF799F5A981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6295389" y="4651672"/>
            <a:ext cx="0" cy="20571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F8991304-060B-60E5-6832-B0027D04BD73}"/>
              </a:ext>
            </a:extLst>
          </p:cNvPr>
          <p:cNvCxnSpPr>
            <a:cxnSpLocks/>
            <a:stCxn id="58" idx="2"/>
            <a:endCxn id="62" idx="0"/>
          </p:cNvCxnSpPr>
          <p:nvPr/>
        </p:nvCxnSpPr>
        <p:spPr>
          <a:xfrm>
            <a:off x="6295389" y="5473130"/>
            <a:ext cx="6099" cy="26479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966C45-2868-30A6-13DC-A82380AF3B2C}"/>
              </a:ext>
            </a:extLst>
          </p:cNvPr>
          <p:cNvSpPr/>
          <p:nvPr/>
        </p:nvSpPr>
        <p:spPr>
          <a:xfrm>
            <a:off x="402679" y="2628628"/>
            <a:ext cx="1629322" cy="615743"/>
          </a:xfrm>
          <a:prstGeom prst="rect">
            <a:avLst/>
          </a:prstGeom>
          <a:solidFill>
            <a:srgbClr val="DCEAF7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none"/>
          </a:ln>
          <a:effectLst/>
        </p:spPr>
        <p:txBody>
          <a:bodyPr wrap="none" lIns="36000" tIns="108000" rIns="36000" bIns="36000" rtlCol="0" anchor="ctr"/>
          <a:lstStyle/>
          <a:p>
            <a:pPr lvl="0" algn="ctr" defTabSz="914400">
              <a:spcAft>
                <a:spcPts val="300"/>
              </a:spcAft>
              <a:defRPr/>
            </a:pP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Knowledge </a:t>
            </a:r>
            <a:b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Ontology </a:t>
            </a:r>
            <a:r>
              <a:rPr lang="ko-KR" altLang="en-US" sz="1300" b="1" kern="0" spc="-7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기준 정립</a:t>
            </a:r>
            <a:endParaRPr kumimoji="0" lang="ko-KR" altLang="en-US" sz="1300" b="1" i="0" u="none" strike="noStrike" kern="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16EFC34-BA20-EE55-8816-7748E76088CA}"/>
              </a:ext>
            </a:extLst>
          </p:cNvPr>
          <p:cNvSpPr/>
          <p:nvPr/>
        </p:nvSpPr>
        <p:spPr>
          <a:xfrm>
            <a:off x="402678" y="2532563"/>
            <a:ext cx="849312" cy="199036"/>
          </a:xfrm>
          <a:prstGeom prst="roundRect">
            <a:avLst/>
          </a:prstGeom>
          <a:solidFill>
            <a:srgbClr val="217CFA"/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3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원칙</a:t>
            </a:r>
          </a:p>
        </p:txBody>
      </p:sp>
    </p:spTree>
    <p:extLst>
      <p:ext uri="{BB962C8B-B14F-4D97-AF65-F5344CB8AC3E}">
        <p14:creationId xmlns:p14="http://schemas.microsoft.com/office/powerpoint/2010/main" val="3706236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54665-761C-77CA-7D08-DF64AF00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F6D00A-5A74-C544-D9FB-9C22AA455D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3861955" cy="369332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(Back up)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프로젝트 기대 산출물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(1/2)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923BA64-41A1-6D19-C923-7CE9362BCF89}"/>
              </a:ext>
            </a:extLst>
          </p:cNvPr>
          <p:cNvGrpSpPr/>
          <p:nvPr/>
        </p:nvGrpSpPr>
        <p:grpSpPr>
          <a:xfrm>
            <a:off x="344491" y="1602560"/>
            <a:ext cx="910022" cy="346893"/>
            <a:chOff x="344490" y="812010"/>
            <a:chExt cx="1722554" cy="346893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3404EEE6-7842-A919-B69B-5838807DF2A1}"/>
                </a:ext>
              </a:extLst>
            </p:cNvPr>
            <p:cNvCxnSpPr>
              <a:cxnSpLocks/>
            </p:cNvCxnSpPr>
            <p:nvPr/>
          </p:nvCxnSpPr>
          <p:spPr>
            <a:xfrm>
              <a:off x="344490" y="1158903"/>
              <a:ext cx="1722554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2E92F5-822F-16FA-AD2E-391E980CA635}"/>
                </a:ext>
              </a:extLst>
            </p:cNvPr>
            <p:cNvSpPr txBox="1"/>
            <p:nvPr/>
          </p:nvSpPr>
          <p:spPr>
            <a:xfrm>
              <a:off x="344490" y="812010"/>
              <a:ext cx="1722553" cy="343235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업무 구분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4AFAA7B-34CD-8CCC-EA32-83A678ECAC27}"/>
              </a:ext>
            </a:extLst>
          </p:cNvPr>
          <p:cNvGrpSpPr/>
          <p:nvPr/>
        </p:nvGrpSpPr>
        <p:grpSpPr>
          <a:xfrm>
            <a:off x="1412125" y="1602560"/>
            <a:ext cx="2335329" cy="346893"/>
            <a:chOff x="4011711" y="1782863"/>
            <a:chExt cx="5549802" cy="346893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49CC090-145A-EB20-69D7-19527C1B7D6A}"/>
                </a:ext>
              </a:extLst>
            </p:cNvPr>
            <p:cNvCxnSpPr>
              <a:cxnSpLocks/>
            </p:cNvCxnSpPr>
            <p:nvPr/>
          </p:nvCxnSpPr>
          <p:spPr>
            <a:xfrm>
              <a:off x="4011713" y="2129756"/>
              <a:ext cx="5549800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85454E-F955-4CFF-9BD4-67F77D3AAF8C}"/>
                </a:ext>
              </a:extLst>
            </p:cNvPr>
            <p:cNvSpPr txBox="1"/>
            <p:nvPr/>
          </p:nvSpPr>
          <p:spPr>
            <a:xfrm>
              <a:off x="4011711" y="1782863"/>
              <a:ext cx="5549799" cy="343235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과업 범위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E86D7C9-8C94-AFF2-9B86-C510F9526372}"/>
              </a:ext>
            </a:extLst>
          </p:cNvPr>
          <p:cNvGrpSpPr/>
          <p:nvPr/>
        </p:nvGrpSpPr>
        <p:grpSpPr>
          <a:xfrm>
            <a:off x="3911468" y="1602560"/>
            <a:ext cx="5650048" cy="346893"/>
            <a:chOff x="4537288" y="812010"/>
            <a:chExt cx="5024227" cy="346893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544E6C1-A62B-2EBE-47E4-8E34929F5B4D}"/>
                </a:ext>
              </a:extLst>
            </p:cNvPr>
            <p:cNvCxnSpPr>
              <a:cxnSpLocks/>
            </p:cNvCxnSpPr>
            <p:nvPr/>
          </p:nvCxnSpPr>
          <p:spPr>
            <a:xfrm>
              <a:off x="4537292" y="1158903"/>
              <a:ext cx="5024223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738C43-55E8-B912-B2CA-0051DC97B937}"/>
                </a:ext>
              </a:extLst>
            </p:cNvPr>
            <p:cNvSpPr txBox="1"/>
            <p:nvPr/>
          </p:nvSpPr>
          <p:spPr>
            <a:xfrm>
              <a:off x="4537288" y="812010"/>
              <a:ext cx="5024223" cy="343235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기대 산출물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87" name="텍스트 개체 틀 1">
            <a:extLst>
              <a:ext uri="{FF2B5EF4-FFF2-40B4-BE49-F238E27FC236}">
                <a16:creationId xmlns:a16="http://schemas.microsoft.com/office/drawing/2014/main" id="{8C9B71CC-D53D-D115-2258-4EF1CA4706AE}"/>
              </a:ext>
            </a:extLst>
          </p:cNvPr>
          <p:cNvSpPr txBox="1">
            <a:spLocks/>
          </p:cNvSpPr>
          <p:nvPr/>
        </p:nvSpPr>
        <p:spPr>
          <a:xfrm>
            <a:off x="344488" y="867201"/>
            <a:ext cx="9217025" cy="3815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1125444">
              <a:spcBef>
                <a:spcPct val="20000"/>
              </a:spcBef>
              <a:buFont typeface="Arial" pitchFamily="34" charset="0"/>
              <a:buNone/>
              <a:defRPr b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914423" indent="-351701" defTabSz="1125444" latinLnBrk="1">
              <a:spcBef>
                <a:spcPct val="20000"/>
              </a:spcBef>
              <a:buFont typeface="Arial" pitchFamily="34" charset="0"/>
              <a:buChar char="–"/>
              <a:defRPr sz="3446"/>
            </a:lvl2pPr>
            <a:lvl3pPr marL="1406804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954"/>
            </a:lvl3pPr>
            <a:lvl4pPr marL="1969526" indent="-281361" defTabSz="1125444" latinLnBrk="1">
              <a:spcBef>
                <a:spcPct val="20000"/>
              </a:spcBef>
              <a:buFont typeface="Arial" pitchFamily="34" charset="0"/>
              <a:buChar char="–"/>
              <a:defRPr sz="2462"/>
            </a:lvl4pPr>
            <a:lvl5pPr marL="2532248" indent="-281361" defTabSz="1125444" latinLnBrk="1">
              <a:spcBef>
                <a:spcPct val="20000"/>
              </a:spcBef>
              <a:buFont typeface="Arial" pitchFamily="34" charset="0"/>
              <a:buChar char="»"/>
              <a:defRPr sz="2462"/>
            </a:lvl5pPr>
            <a:lvl6pPr marL="3094970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6pPr>
            <a:lvl7pPr marL="3657691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7pPr>
            <a:lvl8pPr marL="4220413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8pPr>
            <a:lvl9pPr marL="4783135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9pPr>
          </a:lstStyle>
          <a:p>
            <a:r>
              <a:rPr lang="ko-KR" altLang="en-US" dirty="0"/>
              <a:t>프로젝트 과업별 기대 산출물은</a:t>
            </a:r>
            <a:r>
              <a:rPr lang="en-US" altLang="ko-KR" dirty="0"/>
              <a:t> </a:t>
            </a:r>
            <a:r>
              <a:rPr lang="ko-KR" altLang="en-US" dirty="0"/>
              <a:t>아래와 같음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9D03D7C-698C-6F1B-2E74-53DA9C74FC56}"/>
              </a:ext>
            </a:extLst>
          </p:cNvPr>
          <p:cNvSpPr/>
          <p:nvPr/>
        </p:nvSpPr>
        <p:spPr>
          <a:xfrm>
            <a:off x="355374" y="2076365"/>
            <a:ext cx="905535" cy="2906024"/>
          </a:xfrm>
          <a:prstGeom prst="rect">
            <a:avLst/>
          </a:prstGeom>
          <a:solidFill>
            <a:srgbClr val="035AA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Agent</a:t>
            </a: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ko-KR" altLang="en-US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적용을 위한</a:t>
            </a:r>
            <a:endParaRPr kumimoji="1" lang="en-US" altLang="ko-KR" sz="1200" spc="-50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Legacy </a:t>
            </a:r>
            <a:r>
              <a:rPr kumimoji="1" lang="ko-KR" altLang="en-US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구조</a:t>
            </a:r>
            <a:endParaRPr kumimoji="1" lang="en-US" altLang="ko-KR" sz="1200" spc="-50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ko-KR" altLang="en-US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고도화 및</a:t>
            </a:r>
            <a:endParaRPr kumimoji="1" lang="en-US" altLang="ko-KR" sz="1200" spc="-50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Governance</a:t>
            </a: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ko-KR" altLang="en-US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체계 설계</a:t>
            </a:r>
            <a:endParaRPr kumimoji="1" lang="en-US" altLang="ko-KR" sz="1200" spc="-50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2EC491C-4F1C-FBEE-A259-CB6EECF7FB3D}"/>
              </a:ext>
            </a:extLst>
          </p:cNvPr>
          <p:cNvSpPr/>
          <p:nvPr/>
        </p:nvSpPr>
        <p:spPr>
          <a:xfrm>
            <a:off x="1412126" y="2076363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Agent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현황 및 유형 분석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E5369D7-B83C-087F-9269-E74B1459A436}"/>
              </a:ext>
            </a:extLst>
          </p:cNvPr>
          <p:cNvSpPr/>
          <p:nvPr/>
        </p:nvSpPr>
        <p:spPr>
          <a:xfrm>
            <a:off x="1412126" y="2568228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Legacy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구조 및 메타 관리 방안 수립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7A950B-4E36-FF44-9222-68CCE8A0267A}"/>
              </a:ext>
            </a:extLst>
          </p:cNvPr>
          <p:cNvSpPr/>
          <p:nvPr/>
        </p:nvSpPr>
        <p:spPr>
          <a:xfrm>
            <a:off x="1412126" y="3060093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Agent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연계 구조 및 적용 기준 수립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D256AE81-8196-302E-C153-03587CB6ED35}"/>
              </a:ext>
            </a:extLst>
          </p:cNvPr>
          <p:cNvSpPr/>
          <p:nvPr/>
        </p:nvSpPr>
        <p:spPr>
          <a:xfrm>
            <a:off x="1412126" y="3562253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Agent-ready Legacy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 방향성 및 고도화 방안 수립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730B197-BF83-D05F-922C-00FCD696B7F9}"/>
              </a:ext>
            </a:extLst>
          </p:cNvPr>
          <p:cNvSpPr/>
          <p:nvPr/>
        </p:nvSpPr>
        <p:spPr>
          <a:xfrm>
            <a:off x="3911466" y="2073499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Brain AI Agent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유형 정의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목적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 기준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232B224-80E2-F098-9984-2FD6C2130F80}"/>
              </a:ext>
            </a:extLst>
          </p:cNvPr>
          <p:cNvSpPr/>
          <p:nvPr/>
        </p:nvSpPr>
        <p:spPr>
          <a:xfrm>
            <a:off x="6788153" y="2073499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Agent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유형별 요구사항 정의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Legacy,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플랫폼 관점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7A66719-9FFD-041D-C9B9-487B6B221DB0}"/>
              </a:ext>
            </a:extLst>
          </p:cNvPr>
          <p:cNvSpPr/>
          <p:nvPr/>
        </p:nvSpPr>
        <p:spPr>
          <a:xfrm>
            <a:off x="3911466" y="2568229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활용하기 용이한 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Legacy</a:t>
            </a: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구조 및 메타 요건 정의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F26DBAA-F467-B24C-D8AD-9E100E6CA653}"/>
              </a:ext>
            </a:extLst>
          </p:cNvPr>
          <p:cNvSpPr/>
          <p:nvPr/>
        </p:nvSpPr>
        <p:spPr>
          <a:xfrm>
            <a:off x="6788153" y="2568229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Agent-ready Data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 가이드 및 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개선과제</a:t>
            </a:r>
            <a:endParaRPr kumimoji="1" lang="en-US" altLang="ko-KR" sz="1100" kern="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3AB1781-952A-DE7E-2CAB-1A4B36D09313}"/>
              </a:ext>
            </a:extLst>
          </p:cNvPr>
          <p:cNvSpPr/>
          <p:nvPr/>
        </p:nvSpPr>
        <p:spPr>
          <a:xfrm>
            <a:off x="3911466" y="3060093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Agent – Legacy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연계 흐름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BAC940C-17E9-3BEF-9845-7EA57A3CD5C0}"/>
              </a:ext>
            </a:extLst>
          </p:cNvPr>
          <p:cNvSpPr/>
          <p:nvPr/>
        </p:nvSpPr>
        <p:spPr>
          <a:xfrm>
            <a:off x="6788153" y="3060093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전사 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Endpoint/Gateway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반영요건 및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개선과제</a:t>
            </a:r>
            <a:endParaRPr kumimoji="1" lang="en-US" altLang="ko-KR" sz="1100" kern="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9638C39-F843-6E67-2CAC-98D51A2D69D8}"/>
              </a:ext>
            </a:extLst>
          </p:cNvPr>
          <p:cNvSpPr/>
          <p:nvPr/>
        </p:nvSpPr>
        <p:spPr>
          <a:xfrm>
            <a:off x="3911466" y="3562255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Agent-ready Legacy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 목표구조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(OCEAN, OASIS, RTDB)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15FE0EA-109D-8257-CFB9-6D9D95463F0E}"/>
              </a:ext>
            </a:extLst>
          </p:cNvPr>
          <p:cNvSpPr/>
          <p:nvPr/>
        </p:nvSpPr>
        <p:spPr>
          <a:xfrm>
            <a:off x="6788153" y="3562255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Legacy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별 고도화 방안 및 로드맵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(OCEAN, OASIS, RTDB)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CD7849E-9C40-49A3-8344-FC1410BDF66E}"/>
              </a:ext>
            </a:extLst>
          </p:cNvPr>
          <p:cNvSpPr/>
          <p:nvPr/>
        </p:nvSpPr>
        <p:spPr>
          <a:xfrm>
            <a:off x="1412126" y="4064412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AI Agent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권한 관리체계 고도화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26B1B98-C4D6-366B-9AA6-6070181D5EE5}"/>
              </a:ext>
            </a:extLst>
          </p:cNvPr>
          <p:cNvSpPr/>
          <p:nvPr/>
        </p:nvSpPr>
        <p:spPr>
          <a:xfrm>
            <a:off x="1412126" y="4566572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AI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구성요소 </a:t>
            </a: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Lineage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변경관리 체계 설계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E4C502E-F010-23D7-FD46-639AE9655D2E}"/>
              </a:ext>
            </a:extLst>
          </p:cNvPr>
          <p:cNvSpPr/>
          <p:nvPr/>
        </p:nvSpPr>
        <p:spPr>
          <a:xfrm>
            <a:off x="3911466" y="4064412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필요 권한관리 요건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8815AA8-5799-5C5F-33D6-A99D2BA49242}"/>
              </a:ext>
            </a:extLst>
          </p:cNvPr>
          <p:cNvSpPr/>
          <p:nvPr/>
        </p:nvSpPr>
        <p:spPr>
          <a:xfrm>
            <a:off x="6788153" y="4064412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권한관리체계 고도화 방안 및 개선과제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BD75558-BA5C-ADBC-7A19-670B889C4B98}"/>
              </a:ext>
            </a:extLst>
          </p:cNvPr>
          <p:cNvSpPr/>
          <p:nvPr/>
        </p:nvSpPr>
        <p:spPr>
          <a:xfrm>
            <a:off x="3911466" y="4566574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필요 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Lineage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변경관리 요건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A0C2E89-5356-44E7-FD2C-E12C1ED6654D}"/>
              </a:ext>
            </a:extLst>
          </p:cNvPr>
          <p:cNvSpPr/>
          <p:nvPr/>
        </p:nvSpPr>
        <p:spPr>
          <a:xfrm>
            <a:off x="6788153" y="4566574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Lineage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변경관리체계 고도화 방안 및 개선과제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7704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F5F7-868C-E053-56CA-1B64BF96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CEB847-CF0E-377F-2CA6-C38E648204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3861955" cy="369332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(Back up)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프로젝트 기대 산출물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(2/2)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EC94C36-BF8C-52A5-20BD-530360144E6E}"/>
              </a:ext>
            </a:extLst>
          </p:cNvPr>
          <p:cNvGrpSpPr/>
          <p:nvPr/>
        </p:nvGrpSpPr>
        <p:grpSpPr>
          <a:xfrm>
            <a:off x="344491" y="1602560"/>
            <a:ext cx="910022" cy="346893"/>
            <a:chOff x="344490" y="812010"/>
            <a:chExt cx="1722554" cy="346893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E2E3E293-8F94-F69B-5036-E601178C8E87}"/>
                </a:ext>
              </a:extLst>
            </p:cNvPr>
            <p:cNvCxnSpPr>
              <a:cxnSpLocks/>
            </p:cNvCxnSpPr>
            <p:nvPr/>
          </p:nvCxnSpPr>
          <p:spPr>
            <a:xfrm>
              <a:off x="344490" y="1158903"/>
              <a:ext cx="1722554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7D2D24-FBFD-0D63-914A-4254B106D4D0}"/>
                </a:ext>
              </a:extLst>
            </p:cNvPr>
            <p:cNvSpPr txBox="1"/>
            <p:nvPr/>
          </p:nvSpPr>
          <p:spPr>
            <a:xfrm>
              <a:off x="344490" y="812010"/>
              <a:ext cx="1722553" cy="343235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업무 구분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C8AD6C5-2DCF-7329-2AEA-B39D0349DC4D}"/>
              </a:ext>
            </a:extLst>
          </p:cNvPr>
          <p:cNvGrpSpPr/>
          <p:nvPr/>
        </p:nvGrpSpPr>
        <p:grpSpPr>
          <a:xfrm>
            <a:off x="1412125" y="1602560"/>
            <a:ext cx="2335329" cy="346893"/>
            <a:chOff x="4011711" y="1782863"/>
            <a:chExt cx="5549802" cy="346893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A43273B-F445-64A5-E1BA-A1B1A658ECF0}"/>
                </a:ext>
              </a:extLst>
            </p:cNvPr>
            <p:cNvCxnSpPr>
              <a:cxnSpLocks/>
            </p:cNvCxnSpPr>
            <p:nvPr/>
          </p:nvCxnSpPr>
          <p:spPr>
            <a:xfrm>
              <a:off x="4011713" y="2129756"/>
              <a:ext cx="5549800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E95974-2E00-189C-B270-ABACAE4BC314}"/>
                </a:ext>
              </a:extLst>
            </p:cNvPr>
            <p:cNvSpPr txBox="1"/>
            <p:nvPr/>
          </p:nvSpPr>
          <p:spPr>
            <a:xfrm>
              <a:off x="4011711" y="1782863"/>
              <a:ext cx="5549799" cy="343235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과업 범위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17E29AE-ECCA-13E5-64FF-46FF019DC945}"/>
              </a:ext>
            </a:extLst>
          </p:cNvPr>
          <p:cNvGrpSpPr/>
          <p:nvPr/>
        </p:nvGrpSpPr>
        <p:grpSpPr>
          <a:xfrm>
            <a:off x="3911468" y="1602560"/>
            <a:ext cx="5650048" cy="346893"/>
            <a:chOff x="4537288" y="812010"/>
            <a:chExt cx="5024227" cy="346893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1959B94-F351-EAA7-69A3-38D6E6674EDD}"/>
                </a:ext>
              </a:extLst>
            </p:cNvPr>
            <p:cNvCxnSpPr>
              <a:cxnSpLocks/>
            </p:cNvCxnSpPr>
            <p:nvPr/>
          </p:nvCxnSpPr>
          <p:spPr>
            <a:xfrm>
              <a:off x="4537292" y="1158903"/>
              <a:ext cx="5024223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D4CE5F-EFFE-13B2-92D2-81200061D8CE}"/>
                </a:ext>
              </a:extLst>
            </p:cNvPr>
            <p:cNvSpPr txBox="1"/>
            <p:nvPr/>
          </p:nvSpPr>
          <p:spPr>
            <a:xfrm>
              <a:off x="4537288" y="812010"/>
              <a:ext cx="5024223" cy="343235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기대 산출물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87" name="텍스트 개체 틀 1">
            <a:extLst>
              <a:ext uri="{FF2B5EF4-FFF2-40B4-BE49-F238E27FC236}">
                <a16:creationId xmlns:a16="http://schemas.microsoft.com/office/drawing/2014/main" id="{57532241-A7EB-9FD9-8D55-9E297F061EBF}"/>
              </a:ext>
            </a:extLst>
          </p:cNvPr>
          <p:cNvSpPr txBox="1">
            <a:spLocks/>
          </p:cNvSpPr>
          <p:nvPr/>
        </p:nvSpPr>
        <p:spPr>
          <a:xfrm>
            <a:off x="344488" y="867201"/>
            <a:ext cx="9217025" cy="3815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1125444">
              <a:spcBef>
                <a:spcPct val="20000"/>
              </a:spcBef>
              <a:buFont typeface="Arial" pitchFamily="34" charset="0"/>
              <a:buNone/>
              <a:defRPr b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914423" indent="-351701" defTabSz="1125444" latinLnBrk="1">
              <a:spcBef>
                <a:spcPct val="20000"/>
              </a:spcBef>
              <a:buFont typeface="Arial" pitchFamily="34" charset="0"/>
              <a:buChar char="–"/>
              <a:defRPr sz="3446"/>
            </a:lvl2pPr>
            <a:lvl3pPr marL="1406804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954"/>
            </a:lvl3pPr>
            <a:lvl4pPr marL="1969526" indent="-281361" defTabSz="1125444" latinLnBrk="1">
              <a:spcBef>
                <a:spcPct val="20000"/>
              </a:spcBef>
              <a:buFont typeface="Arial" pitchFamily="34" charset="0"/>
              <a:buChar char="–"/>
              <a:defRPr sz="2462"/>
            </a:lvl4pPr>
            <a:lvl5pPr marL="2532248" indent="-281361" defTabSz="1125444" latinLnBrk="1">
              <a:spcBef>
                <a:spcPct val="20000"/>
              </a:spcBef>
              <a:buFont typeface="Arial" pitchFamily="34" charset="0"/>
              <a:buChar char="»"/>
              <a:defRPr sz="2462"/>
            </a:lvl5pPr>
            <a:lvl6pPr marL="3094970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6pPr>
            <a:lvl7pPr marL="3657691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7pPr>
            <a:lvl8pPr marL="4220413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8pPr>
            <a:lvl9pPr marL="4783135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9pPr>
          </a:lstStyle>
          <a:p>
            <a:r>
              <a:rPr lang="ko-KR" altLang="en-US" dirty="0"/>
              <a:t>프로젝트 과업별 기대 산출물은</a:t>
            </a:r>
            <a:r>
              <a:rPr lang="en-US" altLang="ko-KR" dirty="0"/>
              <a:t> </a:t>
            </a:r>
            <a:r>
              <a:rPr lang="ko-KR" altLang="en-US" dirty="0"/>
              <a:t>아래와 같음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8D9D7E-4C1D-F672-F3FA-916B331412AF}"/>
              </a:ext>
            </a:extLst>
          </p:cNvPr>
          <p:cNvSpPr/>
          <p:nvPr/>
        </p:nvSpPr>
        <p:spPr>
          <a:xfrm>
            <a:off x="355374" y="2035050"/>
            <a:ext cx="905535" cy="1888549"/>
          </a:xfrm>
          <a:prstGeom prst="rect">
            <a:avLst/>
          </a:prstGeom>
          <a:solidFill>
            <a:srgbClr val="035AA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Enterprise</a:t>
            </a: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Knowledge</a:t>
            </a: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ko-KR" altLang="en-US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 </a:t>
            </a:r>
            <a:endParaRPr kumimoji="1" lang="en-US" altLang="ko-KR" sz="1200" spc="-50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ko-KR" altLang="en-US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체계 설계</a:t>
            </a:r>
            <a:endParaRPr kumimoji="1" lang="en-US" altLang="ko-KR" sz="1200" spc="-50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6BEA0B-A904-CD64-4F4A-542AE05BED03}"/>
              </a:ext>
            </a:extLst>
          </p:cNvPr>
          <p:cNvSpPr/>
          <p:nvPr/>
        </p:nvSpPr>
        <p:spPr>
          <a:xfrm>
            <a:off x="1412126" y="2035054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Enterprise Knowledge Ontology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88B2F2-14E5-65BA-3894-272411F00E44}"/>
              </a:ext>
            </a:extLst>
          </p:cNvPr>
          <p:cNvSpPr/>
          <p:nvPr/>
        </p:nvSpPr>
        <p:spPr>
          <a:xfrm>
            <a:off x="1412126" y="2526919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Enterprise Knowledge Hub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 방안 수립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DFF5BD4-41C6-E04E-A9BE-718BBB7D4F03}"/>
              </a:ext>
            </a:extLst>
          </p:cNvPr>
          <p:cNvSpPr/>
          <p:nvPr/>
        </p:nvSpPr>
        <p:spPr>
          <a:xfrm>
            <a:off x="1412126" y="3018783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Ontology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연계 지식 데이터 구조화 및 축적 방안 수립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CE9DB6-45AC-8A8B-57AE-04C52539433D}"/>
              </a:ext>
            </a:extLst>
          </p:cNvPr>
          <p:cNvSpPr/>
          <p:nvPr/>
        </p:nvSpPr>
        <p:spPr>
          <a:xfrm>
            <a:off x="355374" y="5011500"/>
            <a:ext cx="905535" cy="1409842"/>
          </a:xfrm>
          <a:prstGeom prst="rect">
            <a:avLst/>
          </a:prstGeom>
          <a:solidFill>
            <a:srgbClr val="035AA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ko-KR" altLang="en-US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공통</a:t>
            </a:r>
            <a:endParaRPr kumimoji="1" lang="en-US" altLang="ko-KR" sz="1200" spc="-50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A5B731-C537-9890-1548-A14C44B74C33}"/>
              </a:ext>
            </a:extLst>
          </p:cNvPr>
          <p:cNvSpPr/>
          <p:nvPr/>
        </p:nvSpPr>
        <p:spPr>
          <a:xfrm>
            <a:off x="1412126" y="3510647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도메인 특화 </a:t>
            </a: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LLM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확보 방향성 수립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1E2D797-D414-34BC-1C25-24D5C0588F11}"/>
              </a:ext>
            </a:extLst>
          </p:cNvPr>
          <p:cNvSpPr/>
          <p:nvPr/>
        </p:nvSpPr>
        <p:spPr>
          <a:xfrm>
            <a:off x="1412126" y="5011500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AI 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추진</a:t>
            </a:r>
            <a:r>
              <a: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 개선기회 도출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EFC2664-2AB2-FDAA-6068-76735C0CF7A4}"/>
              </a:ext>
            </a:extLst>
          </p:cNvPr>
          <p:cNvSpPr/>
          <p:nvPr/>
        </p:nvSpPr>
        <p:spPr>
          <a:xfrm>
            <a:off x="1412126" y="5503365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추진 과제 정의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0F58743-FF2D-F880-FB5B-DB18DDE5E2C6}"/>
              </a:ext>
            </a:extLst>
          </p:cNvPr>
          <p:cNvSpPr/>
          <p:nvPr/>
        </p:nvSpPr>
        <p:spPr>
          <a:xfrm>
            <a:off x="1412126" y="6005525"/>
            <a:ext cx="2335328" cy="415817"/>
          </a:xfrm>
          <a:prstGeom prst="rect">
            <a:avLst/>
          </a:prstGeom>
          <a:solidFill>
            <a:srgbClr val="E3ECF8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</a:pPr>
            <a:r>
              <a:rPr kumimoji="1" lang="ko-KR" altLang="en-US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추진 로드맵 수립</a:t>
            </a:r>
            <a:endParaRPr kumimoji="1" lang="en-US" altLang="ko-KR" sz="1200" kern="0" spc="-5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91AD6C-22F5-EA52-0FB0-A3C7BFA684D5}"/>
              </a:ext>
            </a:extLst>
          </p:cNvPr>
          <p:cNvSpPr/>
          <p:nvPr/>
        </p:nvSpPr>
        <p:spPr>
          <a:xfrm>
            <a:off x="3911466" y="2035054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Ontology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표준 모델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3DA4C9B-6B9A-83D2-9170-223D447023BE}"/>
              </a:ext>
            </a:extLst>
          </p:cNvPr>
          <p:cNvSpPr/>
          <p:nvPr/>
        </p:nvSpPr>
        <p:spPr>
          <a:xfrm>
            <a:off x="6788153" y="2035054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Ontology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 및 확장 가이드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7D428F4-0A0D-F54B-3C4B-D1AA5206B4B8}"/>
              </a:ext>
            </a:extLst>
          </p:cNvPr>
          <p:cNvSpPr/>
          <p:nvPr/>
        </p:nvSpPr>
        <p:spPr>
          <a:xfrm>
            <a:off x="3911466" y="2526919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Enterprise Knowledge Hub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요건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60223CA-1CDD-39F8-63BC-F770C674061F}"/>
              </a:ext>
            </a:extLst>
          </p:cNvPr>
          <p:cNvSpPr/>
          <p:nvPr/>
        </p:nvSpPr>
        <p:spPr>
          <a:xfrm>
            <a:off x="6788153" y="2526919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Enterprise Knowledge Hub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 방안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E15AB95-49C9-5B61-378C-0B8255391909}"/>
              </a:ext>
            </a:extLst>
          </p:cNvPr>
          <p:cNvSpPr/>
          <p:nvPr/>
        </p:nvSpPr>
        <p:spPr>
          <a:xfrm>
            <a:off x="3911466" y="3017351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대상별 지식 구조화 방안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en-US" altLang="ko-KR" sz="1100" kern="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OPeX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Tech Report,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근무일지 등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C79F033-EF97-D8B7-ED12-53E65267FB14}"/>
              </a:ext>
            </a:extLst>
          </p:cNvPr>
          <p:cNvSpPr/>
          <p:nvPr/>
        </p:nvSpPr>
        <p:spPr>
          <a:xfrm>
            <a:off x="6788153" y="3017351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신규 지식 데이터 축적 및 갱신 가이드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85B3B13-9D65-8301-1DF7-F9BF3BE3CFC6}"/>
              </a:ext>
            </a:extLst>
          </p:cNvPr>
          <p:cNvSpPr/>
          <p:nvPr/>
        </p:nvSpPr>
        <p:spPr>
          <a:xfrm>
            <a:off x="3911466" y="3507783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필요 데이터 유형 및 요건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257B99D-D0C0-B7DB-AA91-FE0D72CC6D7D}"/>
              </a:ext>
            </a:extLst>
          </p:cNvPr>
          <p:cNvSpPr/>
          <p:nvPr/>
        </p:nvSpPr>
        <p:spPr>
          <a:xfrm>
            <a:off x="6788153" y="3507783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데이터 축적 우선순위 및 개발 로드맵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3B9F025-56BA-A2A6-BD2A-D39B34611B9B}"/>
              </a:ext>
            </a:extLst>
          </p:cNvPr>
          <p:cNvSpPr/>
          <p:nvPr/>
        </p:nvSpPr>
        <p:spPr>
          <a:xfrm>
            <a:off x="3911466" y="5011501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AI </a:t>
            </a: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추진 및 운영 이슈 분석 및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개선기회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58F19BE-D02B-C71D-2D53-9A0D5D70808F}"/>
              </a:ext>
            </a:extLst>
          </p:cNvPr>
          <p:cNvSpPr/>
          <p:nvPr/>
        </p:nvSpPr>
        <p:spPr>
          <a:xfrm>
            <a:off x="3911466" y="5503365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추진 과제 정의서</a:t>
            </a:r>
            <a:endParaRPr kumimoji="1" lang="en-US" altLang="ko-KR" sz="1100" kern="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0A6BAC0-7F0D-F2E1-B1DB-3D7C81C8EF20}"/>
              </a:ext>
            </a:extLst>
          </p:cNvPr>
          <p:cNvSpPr/>
          <p:nvPr/>
        </p:nvSpPr>
        <p:spPr>
          <a:xfrm>
            <a:off x="3911466" y="6005527"/>
            <a:ext cx="2773357" cy="415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ts val="200"/>
              </a:spcAft>
            </a:pPr>
            <a:r>
              <a:rPr kumimoji="1" lang="ko-KR" altLang="en-US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추진 </a:t>
            </a:r>
            <a:r>
              <a: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Master Plan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A1085DF-2084-9B50-707B-92C549343DBE}"/>
              </a:ext>
            </a:extLst>
          </p:cNvPr>
          <p:cNvGrpSpPr/>
          <p:nvPr/>
        </p:nvGrpSpPr>
        <p:grpSpPr>
          <a:xfrm>
            <a:off x="350121" y="3995224"/>
            <a:ext cx="9206136" cy="907686"/>
            <a:chOff x="507774" y="2187450"/>
            <a:chExt cx="9206136" cy="907686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D517C10-786A-45DF-403B-0641B57D9261}"/>
                </a:ext>
              </a:extLst>
            </p:cNvPr>
            <p:cNvSpPr/>
            <p:nvPr/>
          </p:nvSpPr>
          <p:spPr>
            <a:xfrm>
              <a:off x="507774" y="2187450"/>
              <a:ext cx="905535" cy="907685"/>
            </a:xfrm>
            <a:prstGeom prst="rect">
              <a:avLst/>
            </a:prstGeom>
            <a:solidFill>
              <a:srgbClr val="035AA6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300"/>
                </a:spcAft>
              </a:pPr>
              <a:r>
                <a:rPr kumimoji="1" lang="en-US" altLang="ko-KR" sz="1200" spc="-50" dirty="0" err="1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MLOps</a:t>
              </a:r>
              <a:r>
                <a:rPr kumimoji="1" lang="en-US" altLang="ko-KR" sz="12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</a:t>
              </a:r>
            </a:p>
            <a:p>
              <a:pPr algn="ctr" defTabSz="914400" fontAlgn="base">
                <a:spcBef>
                  <a:spcPct val="0"/>
                </a:spcBef>
                <a:spcAft>
                  <a:spcPts val="300"/>
                </a:spcAft>
              </a:pPr>
              <a:r>
                <a:rPr kumimoji="1" lang="en-US" altLang="ko-KR" sz="1200" spc="-50" dirty="0" err="1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AgentOps</a:t>
              </a:r>
              <a:endPara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 defTabSz="914400" fontAlgn="base">
                <a:spcBef>
                  <a:spcPct val="0"/>
                </a:spcBef>
                <a:spcAft>
                  <a:spcPts val="300"/>
                </a:spcAft>
              </a:pPr>
              <a:r>
                <a:rPr kumimoji="1" lang="ko-KR" altLang="en-US" sz="12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고도화</a:t>
              </a:r>
              <a:endPara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 defTabSz="914400" fontAlgn="base">
                <a:spcBef>
                  <a:spcPct val="0"/>
                </a:spcBef>
                <a:spcAft>
                  <a:spcPts val="300"/>
                </a:spcAft>
              </a:pPr>
              <a:r>
                <a:rPr kumimoji="1" lang="ko-KR" altLang="en-US" sz="12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방안</a:t>
              </a:r>
              <a:r>
                <a:rPr kumimoji="1" lang="en-US" altLang="ko-KR" sz="12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1" lang="ko-KR" altLang="en-US" sz="1200" spc="-5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수립</a:t>
              </a:r>
              <a:endParaRPr kumimoji="1" lang="en-US" altLang="ko-KR" sz="1200" spc="-5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B1C750E-142D-10E1-6BAC-E983BFE0986D}"/>
                </a:ext>
              </a:extLst>
            </p:cNvPr>
            <p:cNvSpPr/>
            <p:nvPr/>
          </p:nvSpPr>
          <p:spPr>
            <a:xfrm>
              <a:off x="1564526" y="2187454"/>
              <a:ext cx="2335328" cy="415817"/>
            </a:xfrm>
            <a:prstGeom prst="rect">
              <a:avLst/>
            </a:prstGeom>
            <a:solidFill>
              <a:srgbClr val="E3ECF8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>
                <a:spcBef>
                  <a:spcPct val="0"/>
                </a:spcBef>
              </a:pPr>
              <a:r>
                <a:rPr kumimoji="1" lang="en-US" altLang="ko-KR" sz="1200" kern="0" spc="-5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 </a:t>
              </a:r>
              <a:r>
                <a:rPr kumimoji="1" lang="en-US" altLang="ko-KR" sz="1200" kern="0" spc="-50" dirty="0" err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MLOps</a:t>
              </a:r>
              <a:r>
                <a:rPr kumimoji="1" lang="en-US" altLang="ko-KR" sz="1200" kern="0" spc="-5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1" lang="ko-KR" altLang="en-US" sz="1200" kern="0" spc="-5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고도화를 위한 사용자 요건 정의</a:t>
              </a:r>
              <a:endPara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AFB9BD7-874D-2CB7-5E7A-6E655DE6D65A}"/>
                </a:ext>
              </a:extLst>
            </p:cNvPr>
            <p:cNvSpPr/>
            <p:nvPr/>
          </p:nvSpPr>
          <p:spPr>
            <a:xfrm>
              <a:off x="1564526" y="2679319"/>
              <a:ext cx="2335328" cy="415817"/>
            </a:xfrm>
            <a:prstGeom prst="rect">
              <a:avLst/>
            </a:prstGeom>
            <a:solidFill>
              <a:srgbClr val="E3ECF8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72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>
                <a:spcBef>
                  <a:spcPct val="0"/>
                </a:spcBef>
              </a:pPr>
              <a:r>
                <a:rPr kumimoji="1" lang="en-US" altLang="ko-KR" sz="1200" kern="0" spc="-5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 </a:t>
              </a:r>
              <a:r>
                <a:rPr kumimoji="1" lang="en-US" altLang="ko-KR" sz="1200" kern="0" spc="-50" dirty="0" err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AgentOps</a:t>
              </a:r>
              <a:r>
                <a:rPr kumimoji="1" lang="en-US" altLang="ko-KR" sz="1200" kern="0" spc="-5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1" lang="ko-KR" altLang="en-US" sz="1200" kern="0" spc="-5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구축 방향성 및 요건 정의</a:t>
              </a:r>
              <a:endParaRPr kumimoji="1" lang="en-US" altLang="ko-KR" sz="1200" kern="0" spc="-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3CE2F75-A524-E7A0-2A50-912DED39CD46}"/>
                </a:ext>
              </a:extLst>
            </p:cNvPr>
            <p:cNvSpPr/>
            <p:nvPr/>
          </p:nvSpPr>
          <p:spPr>
            <a:xfrm>
              <a:off x="4063866" y="2187454"/>
              <a:ext cx="2773357" cy="4158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200"/>
                </a:spcAft>
              </a:pPr>
              <a:r>
                <a:rPr kumimoji="1" lang="en-US" altLang="ko-KR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 </a:t>
              </a:r>
              <a:r>
                <a:rPr kumimoji="1" lang="en-US" altLang="ko-KR" sz="1100" kern="0" dirty="0" err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MLOps</a:t>
              </a:r>
              <a:r>
                <a:rPr kumimoji="1" lang="en-US" altLang="ko-KR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Gap </a:t>
              </a:r>
              <a:r>
                <a:rPr kumimoji="1" lang="ko-KR" altLang="en-US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및 고도화 요건</a:t>
              </a:r>
              <a:endPara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E149433-CA27-0AC0-C0F0-0D248FB2F942}"/>
                </a:ext>
              </a:extLst>
            </p:cNvPr>
            <p:cNvSpPr/>
            <p:nvPr/>
          </p:nvSpPr>
          <p:spPr>
            <a:xfrm>
              <a:off x="6940553" y="2187454"/>
              <a:ext cx="2773357" cy="4158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200"/>
                </a:spcAft>
              </a:pPr>
              <a:r>
                <a:rPr kumimoji="1" lang="en-US" altLang="ko-KR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 </a:t>
              </a:r>
              <a:r>
                <a:rPr kumimoji="1" lang="en-US" altLang="ko-KR" sz="1100" kern="0" dirty="0" err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MLOps</a:t>
              </a:r>
              <a:r>
                <a:rPr kumimoji="1" lang="en-US" altLang="ko-KR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1" lang="ko-KR" altLang="en-US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개선과제 및 적용방안</a:t>
              </a:r>
              <a:endPara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8427A22-DE28-D5FE-9D60-83AA5F8DE27D}"/>
                </a:ext>
              </a:extLst>
            </p:cNvPr>
            <p:cNvSpPr/>
            <p:nvPr/>
          </p:nvSpPr>
          <p:spPr>
            <a:xfrm>
              <a:off x="4063866" y="2679319"/>
              <a:ext cx="2773357" cy="4158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200"/>
                </a:spcAft>
              </a:pPr>
              <a:r>
                <a:rPr kumimoji="1" lang="ko-KR" altLang="en-US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전사 </a:t>
              </a:r>
              <a:r>
                <a:rPr kumimoji="1" lang="en-US" altLang="ko-KR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 CLX </a:t>
              </a:r>
              <a:r>
                <a:rPr kumimoji="1" lang="en-US" altLang="ko-KR" sz="1100" kern="0" dirty="0" err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AgentOps</a:t>
              </a:r>
              <a:r>
                <a:rPr kumimoji="1" lang="en-US" altLang="ko-KR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1" lang="ko-KR" altLang="en-US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현황</a:t>
              </a:r>
              <a:r>
                <a:rPr kumimoji="1" lang="en-US" altLang="ko-KR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kumimoji="1" lang="ko-KR" altLang="en-US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및 방향성</a:t>
              </a:r>
              <a:endPara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F649A64-30E2-918B-D649-54BD310E32FC}"/>
                </a:ext>
              </a:extLst>
            </p:cNvPr>
            <p:cNvSpPr/>
            <p:nvPr/>
          </p:nvSpPr>
          <p:spPr>
            <a:xfrm>
              <a:off x="6940553" y="2679319"/>
              <a:ext cx="2773357" cy="4158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200"/>
                </a:spcAft>
              </a:pPr>
              <a:r>
                <a:rPr kumimoji="1" lang="en-US" altLang="ko-KR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 </a:t>
              </a:r>
              <a:r>
                <a:rPr kumimoji="1" lang="en-US" altLang="ko-KR" sz="1100" kern="0" dirty="0" err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AgentOps</a:t>
              </a:r>
              <a:r>
                <a:rPr kumimoji="1" lang="ko-KR" altLang="en-US" sz="11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방향성 및 요건</a:t>
              </a:r>
              <a:endParaRPr kumimoji="1" lang="en-US" altLang="ko-KR" sz="110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6303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5CAE1-06A3-D8D9-EB9C-7FFFB0D3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A28C78-4B25-6D02-1B56-C3B151F274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2972289" cy="369332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계획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일정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案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1" name="텍스트 개체 틀 1">
            <a:extLst>
              <a:ext uri="{FF2B5EF4-FFF2-40B4-BE49-F238E27FC236}">
                <a16:creationId xmlns:a16="http://schemas.microsoft.com/office/drawing/2014/main" id="{1034498A-6E8E-1C29-D08E-AC0E23C55484}"/>
              </a:ext>
            </a:extLst>
          </p:cNvPr>
          <p:cNvSpPr txBox="1">
            <a:spLocks/>
          </p:cNvSpPr>
          <p:nvPr/>
        </p:nvSpPr>
        <p:spPr>
          <a:xfrm>
            <a:off x="344488" y="867201"/>
            <a:ext cx="9217025" cy="3815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1125444">
              <a:spcBef>
                <a:spcPct val="20000"/>
              </a:spcBef>
              <a:buFont typeface="Arial" pitchFamily="34" charset="0"/>
              <a:buNone/>
              <a:defRPr b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914423" indent="-351701" defTabSz="1125444" latinLnBrk="1">
              <a:spcBef>
                <a:spcPct val="20000"/>
              </a:spcBef>
              <a:buFont typeface="Arial" pitchFamily="34" charset="0"/>
              <a:buChar char="–"/>
              <a:defRPr sz="3446"/>
            </a:lvl2pPr>
            <a:lvl3pPr marL="1406804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954"/>
            </a:lvl3pPr>
            <a:lvl4pPr marL="1969526" indent="-281361" defTabSz="1125444" latinLnBrk="1">
              <a:spcBef>
                <a:spcPct val="20000"/>
              </a:spcBef>
              <a:buFont typeface="Arial" pitchFamily="34" charset="0"/>
              <a:buChar char="–"/>
              <a:defRPr sz="2462"/>
            </a:lvl4pPr>
            <a:lvl5pPr marL="2532248" indent="-281361" defTabSz="1125444" latinLnBrk="1">
              <a:spcBef>
                <a:spcPct val="20000"/>
              </a:spcBef>
              <a:buFont typeface="Arial" pitchFamily="34" charset="0"/>
              <a:buChar char="»"/>
              <a:defRPr sz="2462"/>
            </a:lvl5pPr>
            <a:lvl6pPr marL="3094970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6pPr>
            <a:lvl7pPr marL="3657691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7pPr>
            <a:lvl8pPr marL="4220413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8pPr>
            <a:lvl9pPr marL="4783135" indent="-281361" defTabSz="1125444" latinLnBrk="1">
              <a:spcBef>
                <a:spcPct val="20000"/>
              </a:spcBef>
              <a:buFont typeface="Arial" pitchFamily="34" charset="0"/>
              <a:buChar char="•"/>
              <a:defRPr sz="2462"/>
            </a:lvl9pPr>
          </a:lstStyle>
          <a:p>
            <a:r>
              <a:rPr lang="en-US" altLang="ko-KR" dirty="0"/>
              <a:t>3.5</a:t>
            </a:r>
            <a:r>
              <a:rPr lang="ko-KR" altLang="en-US" dirty="0"/>
              <a:t>개월 間 </a:t>
            </a:r>
            <a:r>
              <a:rPr lang="en-US" altLang="ko-KR" dirty="0"/>
              <a:t>CLX </a:t>
            </a:r>
            <a:r>
              <a:rPr lang="ko-KR" altLang="en-US" dirty="0"/>
              <a:t>특화 </a:t>
            </a:r>
            <a:r>
              <a:rPr lang="en-US" altLang="ko-KR" dirty="0"/>
              <a:t>AI </a:t>
            </a:r>
            <a:r>
              <a:rPr lang="ko-KR" altLang="en-US" dirty="0"/>
              <a:t>실행구조 및 관리 방향을 도출하고</a:t>
            </a:r>
            <a:r>
              <a:rPr lang="en-US" altLang="ko-KR" dirty="0"/>
              <a:t> </a:t>
            </a:r>
            <a:r>
              <a:rPr lang="ko-KR" altLang="en-US" dirty="0"/>
              <a:t>단계별 개발 </a:t>
            </a:r>
            <a:r>
              <a:rPr lang="en-US" altLang="ko-KR" dirty="0"/>
              <a:t>· </a:t>
            </a:r>
            <a:r>
              <a:rPr lang="ko-KR" altLang="en-US" dirty="0"/>
              <a:t>개선 로드맵을 수립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D95D1-4C1D-14EF-EBAA-B4596D560D73}"/>
              </a:ext>
            </a:extLst>
          </p:cNvPr>
          <p:cNvSpPr txBox="1"/>
          <p:nvPr/>
        </p:nvSpPr>
        <p:spPr>
          <a:xfrm>
            <a:off x="1901737" y="1399612"/>
            <a:ext cx="977335" cy="1988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sz="1000" b="0" i="1" spc="-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9/7</a:t>
            </a:r>
            <a:r>
              <a:rPr lang="ko-KR" altLang="en-US" sz="1000" b="0" i="1" spc="-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착수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EA75F-9E6A-691D-0C72-4C626473251B}"/>
              </a:ext>
            </a:extLst>
          </p:cNvPr>
          <p:cNvSpPr txBox="1"/>
          <p:nvPr/>
        </p:nvSpPr>
        <p:spPr>
          <a:xfrm>
            <a:off x="5216467" y="1399612"/>
            <a:ext cx="977335" cy="1988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1000" b="0" i="1" spc="-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중간보고</a:t>
            </a:r>
          </a:p>
        </p:txBody>
      </p:sp>
      <p:sp>
        <p:nvSpPr>
          <p:cNvPr id="577" name="TextBox 576">
            <a:extLst>
              <a:ext uri="{FF2B5EF4-FFF2-40B4-BE49-F238E27FC236}">
                <a16:creationId xmlns:a16="http://schemas.microsoft.com/office/drawing/2014/main" id="{1B96D722-D540-8172-FD43-4A2B27B85228}"/>
              </a:ext>
            </a:extLst>
          </p:cNvPr>
          <p:cNvSpPr txBox="1"/>
          <p:nvPr/>
        </p:nvSpPr>
        <p:spPr>
          <a:xfrm>
            <a:off x="8584177" y="1418115"/>
            <a:ext cx="977335" cy="1988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ko-KR" altLang="en-US" sz="1000" b="0" i="1" spc="-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보고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780E53-AB69-E74A-5A98-F86FBBB9DBB8}"/>
              </a:ext>
            </a:extLst>
          </p:cNvPr>
          <p:cNvSpPr txBox="1"/>
          <p:nvPr/>
        </p:nvSpPr>
        <p:spPr>
          <a:xfrm>
            <a:off x="1905001" y="1696989"/>
            <a:ext cx="2153101" cy="273965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9</a:t>
            </a: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월</a:t>
            </a:r>
            <a:endParaRPr lang="ko-KR" altLang="en-US" b="0" spc="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18A39-ECAA-E196-D107-E23B576093E1}"/>
              </a:ext>
            </a:extLst>
          </p:cNvPr>
          <p:cNvSpPr txBox="1"/>
          <p:nvPr/>
        </p:nvSpPr>
        <p:spPr>
          <a:xfrm>
            <a:off x="1905002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W1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3E309E-B6ED-F94C-60FA-3C4202C46374}"/>
              </a:ext>
            </a:extLst>
          </p:cNvPr>
          <p:cNvSpPr txBox="1"/>
          <p:nvPr/>
        </p:nvSpPr>
        <p:spPr>
          <a:xfrm>
            <a:off x="2455343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W2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06E4DD-BC65-F305-172E-26CC4A724D95}"/>
              </a:ext>
            </a:extLst>
          </p:cNvPr>
          <p:cNvSpPr txBox="1"/>
          <p:nvPr/>
        </p:nvSpPr>
        <p:spPr>
          <a:xfrm>
            <a:off x="3005683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W3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8F5D7-D75D-316D-D268-778CB3181F9D}"/>
              </a:ext>
            </a:extLst>
          </p:cNvPr>
          <p:cNvSpPr txBox="1"/>
          <p:nvPr/>
        </p:nvSpPr>
        <p:spPr>
          <a:xfrm>
            <a:off x="3556024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W4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FE6DC0-A2F6-9899-DB48-B861338E9CC6}"/>
              </a:ext>
            </a:extLst>
          </p:cNvPr>
          <p:cNvSpPr txBox="1"/>
          <p:nvPr/>
        </p:nvSpPr>
        <p:spPr>
          <a:xfrm>
            <a:off x="4106365" y="1696989"/>
            <a:ext cx="2153099" cy="273965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10</a:t>
            </a: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7D9607-9644-F2D6-3BD4-AAA05E10FDF6}"/>
              </a:ext>
            </a:extLst>
          </p:cNvPr>
          <p:cNvSpPr txBox="1"/>
          <p:nvPr/>
        </p:nvSpPr>
        <p:spPr>
          <a:xfrm>
            <a:off x="4106364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W5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DABC72-4868-3C26-4C4E-F7BCABF2D99A}"/>
              </a:ext>
            </a:extLst>
          </p:cNvPr>
          <p:cNvSpPr txBox="1"/>
          <p:nvPr/>
        </p:nvSpPr>
        <p:spPr>
          <a:xfrm>
            <a:off x="4656705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W6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86C138-7FB4-2AA8-4A21-C62EABA5409A}"/>
              </a:ext>
            </a:extLst>
          </p:cNvPr>
          <p:cNvSpPr txBox="1"/>
          <p:nvPr/>
        </p:nvSpPr>
        <p:spPr>
          <a:xfrm>
            <a:off x="5207045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W7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1081E3-4221-9170-75FE-9C503D11D29E}"/>
              </a:ext>
            </a:extLst>
          </p:cNvPr>
          <p:cNvSpPr txBox="1"/>
          <p:nvPr/>
        </p:nvSpPr>
        <p:spPr>
          <a:xfrm>
            <a:off x="5757386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W8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A19902-18B6-7C14-6762-86804EEC4058}"/>
              </a:ext>
            </a:extLst>
          </p:cNvPr>
          <p:cNvSpPr txBox="1"/>
          <p:nvPr/>
        </p:nvSpPr>
        <p:spPr>
          <a:xfrm>
            <a:off x="6307726" y="1696989"/>
            <a:ext cx="1987711" cy="273965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11</a:t>
            </a: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57E867-715E-4750-FDDE-40E7C00AFD40}"/>
              </a:ext>
            </a:extLst>
          </p:cNvPr>
          <p:cNvSpPr txBox="1"/>
          <p:nvPr/>
        </p:nvSpPr>
        <p:spPr>
          <a:xfrm>
            <a:off x="6307726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W9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C08D1A-12A5-B0DD-12B7-5F05345EE03B}"/>
              </a:ext>
            </a:extLst>
          </p:cNvPr>
          <p:cNvSpPr txBox="1"/>
          <p:nvPr/>
        </p:nvSpPr>
        <p:spPr>
          <a:xfrm>
            <a:off x="6858067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W10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DEA731-7B79-909C-C6A8-79822514BB1C}"/>
              </a:ext>
            </a:extLst>
          </p:cNvPr>
          <p:cNvSpPr txBox="1"/>
          <p:nvPr/>
        </p:nvSpPr>
        <p:spPr>
          <a:xfrm>
            <a:off x="7408407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W11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66866E-0AAA-9B4A-629C-309425BBE6B0}"/>
              </a:ext>
            </a:extLst>
          </p:cNvPr>
          <p:cNvSpPr txBox="1"/>
          <p:nvPr/>
        </p:nvSpPr>
        <p:spPr>
          <a:xfrm>
            <a:off x="7958748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W12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8390E71-F67B-3CA9-F14D-03B0135EFA09}"/>
              </a:ext>
            </a:extLst>
          </p:cNvPr>
          <p:cNvSpPr txBox="1"/>
          <p:nvPr/>
        </p:nvSpPr>
        <p:spPr>
          <a:xfrm>
            <a:off x="8343699" y="1685381"/>
            <a:ext cx="1217814" cy="28557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12</a:t>
            </a: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월</a:t>
            </a:r>
            <a:endParaRPr lang="ko-KR" altLang="en-US" b="0" spc="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982E64-9F1E-1935-D8DD-3C58A3742FEE}"/>
              </a:ext>
            </a:extLst>
          </p:cNvPr>
          <p:cNvSpPr txBox="1"/>
          <p:nvPr/>
        </p:nvSpPr>
        <p:spPr>
          <a:xfrm>
            <a:off x="8509088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W13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80AEDA-9A8E-5041-8A2D-1D6508E8581E}"/>
              </a:ext>
            </a:extLst>
          </p:cNvPr>
          <p:cNvSpPr txBox="1"/>
          <p:nvPr/>
        </p:nvSpPr>
        <p:spPr>
          <a:xfrm>
            <a:off x="9059434" y="2032615"/>
            <a:ext cx="502078" cy="1771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000" b="0" spc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W14</a:t>
            </a:r>
            <a:endParaRPr lang="ko-KR" altLang="en-US" sz="1000" b="0" spc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15CB51-F25A-CADB-056E-FB54859B7545}"/>
              </a:ext>
            </a:extLst>
          </p:cNvPr>
          <p:cNvSpPr txBox="1"/>
          <p:nvPr/>
        </p:nvSpPr>
        <p:spPr>
          <a:xfrm>
            <a:off x="355375" y="2367074"/>
            <a:ext cx="1448026" cy="1458042"/>
          </a:xfrm>
          <a:prstGeom prst="rect">
            <a:avLst/>
          </a:prstGeom>
          <a:solidFill>
            <a:srgbClr val="035AA6"/>
          </a:solidFill>
          <a:ln w="3175">
            <a:solidFill>
              <a:srgbClr val="035A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Agent </a:t>
            </a: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적용 위한</a:t>
            </a:r>
            <a:endParaRPr lang="en-US" altLang="ko-KR" b="0" spc="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Legacy </a:t>
            </a: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구조 고도화</a:t>
            </a:r>
            <a:endParaRPr lang="en-US" altLang="ko-KR" b="0" spc="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및 </a:t>
            </a:r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Governance 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체계 설계</a:t>
            </a:r>
            <a:endParaRPr lang="en-US" altLang="ko-KR" b="0" spc="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29B2A9-EF51-90AF-0AD6-2D0D1418B611}"/>
              </a:ext>
            </a:extLst>
          </p:cNvPr>
          <p:cNvSpPr txBox="1"/>
          <p:nvPr/>
        </p:nvSpPr>
        <p:spPr>
          <a:xfrm>
            <a:off x="1905000" y="2367075"/>
            <a:ext cx="1052421" cy="148875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/>
          <a:lstStyle>
            <a:defPPr>
              <a:defRPr lang="en-US"/>
            </a:defPPr>
            <a:lvl1pPr marR="0" lvl="0" indent="0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1" sz="1100" b="0" i="0" u="none" strike="noStrike" cap="none" spc="-5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en-US" altLang="ko-KR" dirty="0"/>
              <a:t>CLX Agent </a:t>
            </a:r>
            <a:r>
              <a:rPr lang="ko-KR" altLang="en-US" dirty="0"/>
              <a:t>현황 및 유형 분석</a:t>
            </a:r>
            <a:endParaRPr lang="en-US" altLang="ko-KR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F18B098-78FD-8761-A1CD-BB5EEC50F142}"/>
              </a:ext>
            </a:extLst>
          </p:cNvPr>
          <p:cNvGrpSpPr/>
          <p:nvPr/>
        </p:nvGrpSpPr>
        <p:grpSpPr>
          <a:xfrm>
            <a:off x="3005683" y="2367075"/>
            <a:ext cx="5457501" cy="1458041"/>
            <a:chOff x="3005683" y="2997688"/>
            <a:chExt cx="5457501" cy="158041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A5F795-D79C-96EF-F3EA-772DBA000814}"/>
                </a:ext>
              </a:extLst>
            </p:cNvPr>
            <p:cNvSpPr txBox="1"/>
            <p:nvPr/>
          </p:nvSpPr>
          <p:spPr>
            <a:xfrm>
              <a:off x="3005683" y="2997688"/>
              <a:ext cx="2650102" cy="46153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t"/>
            <a:lstStyle>
              <a:defPPr>
                <a:defRPr lang="en-US"/>
              </a:defPPr>
              <a:lvl1pPr marR="0" lvl="0" indent="0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 kumimoji="1" sz="1100" b="0" i="0" u="none" strike="noStrike" cap="none" spc="-5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en-US" altLang="ko-KR" dirty="0"/>
                <a:t>Legacy </a:t>
              </a:r>
              <a:r>
                <a:rPr lang="ko-KR" altLang="en-US" dirty="0"/>
                <a:t>데이터 구조 및 메타 관리 방안 수립</a:t>
              </a:r>
              <a:endParaRPr lang="en-US" altLang="ko-KR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E956F3D-92EF-D6A6-43A6-FD52E3ED8DFF}"/>
                </a:ext>
              </a:extLst>
            </p:cNvPr>
            <p:cNvSpPr txBox="1"/>
            <p:nvPr/>
          </p:nvSpPr>
          <p:spPr>
            <a:xfrm>
              <a:off x="3015522" y="3533422"/>
              <a:ext cx="5445302" cy="468538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t"/>
            <a:lstStyle>
              <a:defPPr>
                <a:defRPr lang="en-US"/>
              </a:defPPr>
              <a:lvl1pPr marR="0" lvl="0" indent="0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 kumimoji="1" sz="1100" b="0" i="0" u="none" strike="noStrike" cap="none" spc="-5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en-US" altLang="ko-KR" dirty="0"/>
                <a:t>Agent-ready Legacy </a:t>
              </a:r>
              <a:r>
                <a:rPr lang="ko-KR" altLang="en-US" dirty="0"/>
                <a:t>시스템 방향성</a:t>
              </a:r>
              <a:r>
                <a:rPr lang="en-US" altLang="ko-KR" dirty="0"/>
                <a:t> </a:t>
              </a:r>
              <a:r>
                <a:rPr lang="ko-KR" altLang="en-US" dirty="0"/>
                <a:t>및 고도화 방안 수립</a:t>
              </a:r>
              <a:endParaRPr lang="en-US" altLang="ko-KR" dirty="0"/>
            </a:p>
            <a:p>
              <a:endParaRPr lang="en-US" altLang="ko-KR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487742-6330-436A-B8ED-BA8F3A42BC3B}"/>
                </a:ext>
              </a:extLst>
            </p:cNvPr>
            <p:cNvSpPr txBox="1"/>
            <p:nvPr/>
          </p:nvSpPr>
          <p:spPr>
            <a:xfrm>
              <a:off x="5692084" y="2997689"/>
              <a:ext cx="2768741" cy="461534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t"/>
            <a:lstStyle>
              <a:defPPr>
                <a:defRPr lang="en-US"/>
              </a:defPPr>
              <a:lvl1pPr marR="0" lvl="0" indent="0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 kumimoji="1" sz="1100" b="0" i="0" u="none" strike="noStrike" cap="none" spc="-5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en-US" altLang="ko-KR" dirty="0"/>
                <a:t>AI Agent </a:t>
              </a:r>
              <a:r>
                <a:rPr lang="ko-KR" altLang="en-US" dirty="0"/>
                <a:t>연계 구조 및 적용 기준 수립</a:t>
              </a:r>
              <a:endParaRPr lang="en-US" altLang="ko-KR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E88AB89-6CEB-9D01-87CC-7392F143EA14}"/>
                </a:ext>
              </a:extLst>
            </p:cNvPr>
            <p:cNvSpPr txBox="1"/>
            <p:nvPr/>
          </p:nvSpPr>
          <p:spPr>
            <a:xfrm>
              <a:off x="4656705" y="4062398"/>
              <a:ext cx="1602758" cy="515708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en-US"/>
              </a:defPPr>
              <a:lvl1pPr marR="0" lvl="0" indent="0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 kumimoji="1" sz="1100" b="0" i="0" u="none" strike="noStrike" cap="none" spc="-5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en-US" altLang="ko-KR" dirty="0"/>
                <a:t>AI Agent </a:t>
              </a:r>
              <a:r>
                <a:rPr lang="ko-KR" altLang="en-US" dirty="0"/>
                <a:t>권한 관리체계</a:t>
              </a:r>
              <a:endParaRPr lang="en-US" altLang="ko-KR" dirty="0"/>
            </a:p>
            <a:p>
              <a:r>
                <a:rPr lang="ko-KR" altLang="en-US" dirty="0"/>
                <a:t>고도화</a:t>
              </a:r>
              <a:endParaRPr lang="en-US" altLang="ko-KR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4CB2487-9F8C-9D57-5294-39C366B2319A}"/>
                </a:ext>
              </a:extLst>
            </p:cNvPr>
            <p:cNvSpPr txBox="1"/>
            <p:nvPr/>
          </p:nvSpPr>
          <p:spPr>
            <a:xfrm>
              <a:off x="6310086" y="4062398"/>
              <a:ext cx="2153098" cy="515708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en-US"/>
              </a:defPPr>
              <a:lvl1pPr marR="0" lvl="0" indent="0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 kumimoji="1" sz="1100" b="0" i="0" u="none" strike="noStrike" cap="none" spc="-5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en-US" altLang="ko-KR" dirty="0"/>
                <a:t>AI </a:t>
              </a:r>
              <a:r>
                <a:rPr lang="ko-KR" altLang="en-US" dirty="0"/>
                <a:t>구성요소 </a:t>
              </a:r>
              <a:r>
                <a:rPr lang="en-US" altLang="ko-KR" dirty="0"/>
                <a:t>Lineage </a:t>
              </a:r>
              <a:r>
                <a:rPr lang="ko-KR" altLang="en-US" dirty="0"/>
                <a:t>및 변경관리</a:t>
              </a:r>
              <a:endParaRPr lang="en-US" altLang="ko-KR" dirty="0"/>
            </a:p>
            <a:p>
              <a:r>
                <a:rPr lang="ko-KR" altLang="en-US" dirty="0"/>
                <a:t>체계 설계</a:t>
              </a:r>
              <a:endParaRPr lang="en-US" altLang="ko-KR" dirty="0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5F59793-B353-D650-418D-E0DFE3653485}"/>
              </a:ext>
            </a:extLst>
          </p:cNvPr>
          <p:cNvSpPr txBox="1"/>
          <p:nvPr/>
        </p:nvSpPr>
        <p:spPr>
          <a:xfrm>
            <a:off x="355375" y="3939394"/>
            <a:ext cx="1448026" cy="1135143"/>
          </a:xfrm>
          <a:prstGeom prst="rect">
            <a:avLst/>
          </a:prstGeom>
          <a:solidFill>
            <a:srgbClr val="035AA6"/>
          </a:solidFill>
          <a:ln w="3175">
            <a:solidFill>
              <a:srgbClr val="035A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36000" rtlCol="0" anchor="ctr"/>
          <a:lstStyle>
            <a:defPPr>
              <a:defRPr lang="ko-KR"/>
            </a:defPPr>
            <a:lvl1pPr marR="0" lvl="0" indent="0" algn="ctr" defTabSz="91440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200" b="1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맑은 고딕"/>
                <a:cs typeface="Tahoma" panose="020B0604030504040204" pitchFamily="34" charset="0"/>
              </a:defRPr>
            </a:lvl1pPr>
            <a:lvl2pPr defTabSz="914400" latinLnBrk="1">
              <a:defRPr>
                <a:solidFill>
                  <a:schemeClr val="lt1"/>
                </a:solidFill>
              </a:defRPr>
            </a:lvl2pPr>
            <a:lvl3pPr defTabSz="914400" latinLnBrk="1">
              <a:defRPr>
                <a:solidFill>
                  <a:schemeClr val="lt1"/>
                </a:solidFill>
              </a:defRPr>
            </a:lvl3pPr>
            <a:lvl4pPr defTabSz="914400" latinLnBrk="1">
              <a:defRPr>
                <a:solidFill>
                  <a:schemeClr val="lt1"/>
                </a:solidFill>
              </a:defRPr>
            </a:lvl4pPr>
            <a:lvl5pPr defTabSz="914400" latinLnBrk="1">
              <a:defRPr>
                <a:solidFill>
                  <a:schemeClr val="lt1"/>
                </a:solidFill>
              </a:defRPr>
            </a:lvl5pPr>
            <a:lvl6pPr defTabSz="914400" latinLnBrk="1">
              <a:defRPr>
                <a:solidFill>
                  <a:schemeClr val="lt1"/>
                </a:solidFill>
              </a:defRPr>
            </a:lvl6pPr>
            <a:lvl7pPr defTabSz="914400" latinLnBrk="1">
              <a:defRPr>
                <a:solidFill>
                  <a:schemeClr val="lt1"/>
                </a:solidFill>
              </a:defRPr>
            </a:lvl7pPr>
            <a:lvl8pPr defTabSz="914400" latinLnBrk="1">
              <a:defRPr>
                <a:solidFill>
                  <a:schemeClr val="lt1"/>
                </a:solidFill>
              </a:defRPr>
            </a:lvl8pPr>
            <a:lvl9pPr defTabSz="914400" latinLnBrk="1"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CLX Enterprise Knowledge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Management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ko-KR" altLang="en-US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체계 설계</a:t>
            </a:r>
            <a:endParaRPr lang="en-US" altLang="ko-KR" b="0" spc="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919FF52-5112-DB4B-B905-24D3D53E8916}"/>
              </a:ext>
            </a:extLst>
          </p:cNvPr>
          <p:cNvGrpSpPr/>
          <p:nvPr/>
        </p:nvGrpSpPr>
        <p:grpSpPr>
          <a:xfrm>
            <a:off x="3015522" y="3939395"/>
            <a:ext cx="5445303" cy="450502"/>
            <a:chOff x="1905000" y="4408559"/>
            <a:chExt cx="6555825" cy="61195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19B0C16-0E71-B5A2-6851-41E29A0B6260}"/>
                </a:ext>
              </a:extLst>
            </p:cNvPr>
            <p:cNvSpPr txBox="1"/>
            <p:nvPr/>
          </p:nvSpPr>
          <p:spPr>
            <a:xfrm>
              <a:off x="1905000" y="4408559"/>
              <a:ext cx="2153102" cy="61195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en-US" altLang="ko-KR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Enterprise Knowledge Ontology</a:t>
              </a: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설계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8AD8B71-A087-C164-538B-D66B92DE08C5}"/>
                </a:ext>
              </a:extLst>
            </p:cNvPr>
            <p:cNvSpPr txBox="1"/>
            <p:nvPr/>
          </p:nvSpPr>
          <p:spPr>
            <a:xfrm>
              <a:off x="4106362" y="4408559"/>
              <a:ext cx="2153102" cy="61195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지식 데이터 구조화 및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축적 방안 수립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15D80387-BCF2-547C-0D87-F1271777B25E}"/>
                </a:ext>
              </a:extLst>
            </p:cNvPr>
            <p:cNvSpPr txBox="1"/>
            <p:nvPr/>
          </p:nvSpPr>
          <p:spPr>
            <a:xfrm>
              <a:off x="6307727" y="4408559"/>
              <a:ext cx="2153098" cy="61195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en-US" altLang="ko-KR" sz="1100" b="0" spc="-5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Enterprise Knowledge Hub</a:t>
              </a:r>
            </a:p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ko-KR" altLang="en-US" sz="1100" b="0" spc="-5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구축 방안 수립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450" name="TextBox 449">
            <a:extLst>
              <a:ext uri="{FF2B5EF4-FFF2-40B4-BE49-F238E27FC236}">
                <a16:creationId xmlns:a16="http://schemas.microsoft.com/office/drawing/2014/main" id="{3F138636-153A-21B0-6112-40FE14F51C4F}"/>
              </a:ext>
            </a:extLst>
          </p:cNvPr>
          <p:cNvSpPr txBox="1"/>
          <p:nvPr/>
        </p:nvSpPr>
        <p:spPr>
          <a:xfrm>
            <a:off x="4106362" y="4462588"/>
            <a:ext cx="4354462" cy="611951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/>
          <a:lstStyle>
            <a:defPPr>
              <a:defRPr lang="en-US"/>
            </a:defPPr>
            <a:lvl1pPr marR="0" lvl="0" indent="0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1" sz="1100" b="0" i="0" u="none" strike="noStrike" cap="none" spc="-5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도메인 특화 </a:t>
            </a:r>
            <a:r>
              <a:rPr lang="en-US" altLang="ko-KR" dirty="0"/>
              <a:t>LLM </a:t>
            </a:r>
            <a:r>
              <a:rPr lang="ko-KR" altLang="en-US" dirty="0"/>
              <a:t>데이터 확보 방향성 수립</a:t>
            </a:r>
            <a:endParaRPr lang="en-US" altLang="ko-KR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3B109A-6DF3-D21E-EAF5-763BDA05CED7}"/>
              </a:ext>
            </a:extLst>
          </p:cNvPr>
          <p:cNvGrpSpPr/>
          <p:nvPr/>
        </p:nvGrpSpPr>
        <p:grpSpPr>
          <a:xfrm>
            <a:off x="355375" y="5829938"/>
            <a:ext cx="9206138" cy="519113"/>
            <a:chOff x="355375" y="5819428"/>
            <a:chExt cx="9206138" cy="519113"/>
          </a:xfrm>
        </p:grpSpPr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FD1036F2-18B2-D265-BC8D-ED222904D769}"/>
                </a:ext>
              </a:extLst>
            </p:cNvPr>
            <p:cNvSpPr txBox="1"/>
            <p:nvPr/>
          </p:nvSpPr>
          <p:spPr>
            <a:xfrm>
              <a:off x="355375" y="5819428"/>
              <a:ext cx="1448026" cy="519112"/>
            </a:xfrm>
            <a:prstGeom prst="rect">
              <a:avLst/>
            </a:prstGeom>
            <a:solidFill>
              <a:srgbClr val="035AA6"/>
            </a:solidFill>
            <a:ln w="3175">
              <a:solidFill>
                <a:srgbClr val="035A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ko-KR" altLang="en-US" b="0" spc="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공통</a:t>
              </a:r>
              <a:endPara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B005F24C-B45C-E358-EBB6-5F9F14CE3E12}"/>
                </a:ext>
              </a:extLst>
            </p:cNvPr>
            <p:cNvSpPr txBox="1"/>
            <p:nvPr/>
          </p:nvSpPr>
          <p:spPr>
            <a:xfrm>
              <a:off x="1905001" y="5819429"/>
              <a:ext cx="2153099" cy="519112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en-US" altLang="ko-KR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 AI </a:t>
              </a: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프로젝트 추진 및 운영 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개선기회 도출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199B05AB-046B-EF76-670C-975957201615}"/>
                </a:ext>
              </a:extLst>
            </p:cNvPr>
            <p:cNvSpPr txBox="1"/>
            <p:nvPr/>
          </p:nvSpPr>
          <p:spPr>
            <a:xfrm>
              <a:off x="8509087" y="5819429"/>
              <a:ext cx="1052426" cy="519112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추진 로드맵 수립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32643B50-8C60-F0C5-F265-C625E06B546A}"/>
                </a:ext>
              </a:extLst>
            </p:cNvPr>
            <p:cNvSpPr txBox="1"/>
            <p:nvPr/>
          </p:nvSpPr>
          <p:spPr>
            <a:xfrm>
              <a:off x="7409250" y="5819429"/>
              <a:ext cx="1051574" cy="519112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추진 과제 정의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36B49D3F-FDC3-5D44-2E5E-E959347B76F2}"/>
              </a:ext>
            </a:extLst>
          </p:cNvPr>
          <p:cNvSpPr/>
          <p:nvPr/>
        </p:nvSpPr>
        <p:spPr>
          <a:xfrm rot="10800000">
            <a:off x="1901737" y="1604940"/>
            <a:ext cx="123030" cy="106060"/>
          </a:xfrm>
          <a:prstGeom prst="triangle">
            <a:avLst/>
          </a:prstGeom>
          <a:solidFill>
            <a:srgbClr val="035AA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4" name="이등변 삼각형 573">
            <a:extLst>
              <a:ext uri="{FF2B5EF4-FFF2-40B4-BE49-F238E27FC236}">
                <a16:creationId xmlns:a16="http://schemas.microsoft.com/office/drawing/2014/main" id="{0A37EEC3-D65E-1CEC-A0E5-3970ADB19CE8}"/>
              </a:ext>
            </a:extLst>
          </p:cNvPr>
          <p:cNvSpPr/>
          <p:nvPr/>
        </p:nvSpPr>
        <p:spPr>
          <a:xfrm rot="10800000">
            <a:off x="5203785" y="1623443"/>
            <a:ext cx="123030" cy="106060"/>
          </a:xfrm>
          <a:prstGeom prst="triangle">
            <a:avLst/>
          </a:prstGeom>
          <a:solidFill>
            <a:srgbClr val="035AA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8" name="이등변 삼각형 577">
            <a:extLst>
              <a:ext uri="{FF2B5EF4-FFF2-40B4-BE49-F238E27FC236}">
                <a16:creationId xmlns:a16="http://schemas.microsoft.com/office/drawing/2014/main" id="{D9E0D601-F3DF-A995-85B1-4B9086B67346}"/>
              </a:ext>
            </a:extLst>
          </p:cNvPr>
          <p:cNvSpPr/>
          <p:nvPr/>
        </p:nvSpPr>
        <p:spPr>
          <a:xfrm rot="10800000">
            <a:off x="9438482" y="1623443"/>
            <a:ext cx="123030" cy="106060"/>
          </a:xfrm>
          <a:prstGeom prst="triangle">
            <a:avLst/>
          </a:prstGeom>
          <a:solidFill>
            <a:srgbClr val="035AA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F8C465C-77AE-16FC-1C39-0D75F1672DAD}"/>
              </a:ext>
            </a:extLst>
          </p:cNvPr>
          <p:cNvGrpSpPr/>
          <p:nvPr/>
        </p:nvGrpSpPr>
        <p:grpSpPr>
          <a:xfrm>
            <a:off x="355375" y="5161795"/>
            <a:ext cx="8105450" cy="611952"/>
            <a:chOff x="355375" y="2271461"/>
            <a:chExt cx="8105450" cy="61195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97B151B-DFFF-C56F-243D-CF47CD8C4EA8}"/>
                </a:ext>
              </a:extLst>
            </p:cNvPr>
            <p:cNvSpPr txBox="1"/>
            <p:nvPr/>
          </p:nvSpPr>
          <p:spPr>
            <a:xfrm>
              <a:off x="355375" y="2271461"/>
              <a:ext cx="1448026" cy="611951"/>
            </a:xfrm>
            <a:prstGeom prst="rect">
              <a:avLst/>
            </a:prstGeom>
            <a:solidFill>
              <a:srgbClr val="035AA6"/>
            </a:solidFill>
            <a:ln w="3175">
              <a:solidFill>
                <a:srgbClr val="035A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altLang="ko-KR" b="0" spc="0" dirty="0" err="1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MLOps</a:t>
              </a:r>
              <a:r>
                <a:rPr lang="en-US" altLang="ko-KR" b="0" spc="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/</a:t>
              </a:r>
              <a:r>
                <a:rPr lang="en-US" altLang="ko-KR" b="0" spc="0" dirty="0" err="1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AgentOps</a:t>
              </a:r>
              <a:endPara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ko-KR" altLang="en-US" b="0" spc="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고도화 방안 수립</a:t>
              </a:r>
              <a:endParaRPr lang="en-US" altLang="ko-KR" b="0" spc="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998CBF6-52CB-72F3-E984-C09CAFF215F0}"/>
                </a:ext>
              </a:extLst>
            </p:cNvPr>
            <p:cNvSpPr txBox="1"/>
            <p:nvPr/>
          </p:nvSpPr>
          <p:spPr>
            <a:xfrm>
              <a:off x="1905000" y="2271462"/>
              <a:ext cx="2703441" cy="61195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t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en-US" altLang="ko-KR" sz="1100" b="0" spc="-5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MLOps</a:t>
              </a:r>
              <a:r>
                <a:rPr lang="en-US" altLang="ko-KR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고도화를 위한 사용자 요건 정의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834CA8-1D15-63E3-7DCB-B41DE84CCAD6}"/>
                </a:ext>
              </a:extLst>
            </p:cNvPr>
            <p:cNvSpPr txBox="1"/>
            <p:nvPr/>
          </p:nvSpPr>
          <p:spPr>
            <a:xfrm>
              <a:off x="4656705" y="2271462"/>
              <a:ext cx="2153099" cy="61195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t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en-US" altLang="ko-KR" sz="1100" b="0" spc="-5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AgentOps</a:t>
              </a:r>
              <a:r>
                <a:rPr lang="en-US" altLang="ko-KR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구축 방향성 및 요건 정의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C007A54-7EF4-B82F-FB06-BBA75B349FC3}"/>
                </a:ext>
              </a:extLst>
            </p:cNvPr>
            <p:cNvSpPr txBox="1"/>
            <p:nvPr/>
          </p:nvSpPr>
          <p:spPr>
            <a:xfrm>
              <a:off x="6858068" y="2271462"/>
              <a:ext cx="1602757" cy="61195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운영 </a:t>
              </a:r>
              <a:r>
                <a:rPr lang="en-US" altLang="ko-KR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&amp; </a:t>
              </a: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모니터링 기준 및 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l">
                <a:lnSpc>
                  <a:spcPct val="100000"/>
                </a:lnSpc>
                <a:spcAft>
                  <a:spcPts val="200"/>
                </a:spcAft>
              </a:pPr>
              <a:r>
                <a:rPr lang="ko-KR" altLang="en-US" sz="1100" b="0" spc="-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대응체계 수립</a:t>
              </a:r>
              <a:endParaRPr lang="en-US" altLang="ko-KR" sz="1100" b="0" spc="-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5A837CF5-3046-2BED-55D8-37D67BDEC387}"/>
                </a:ext>
              </a:extLst>
            </p:cNvPr>
            <p:cNvSpPr txBox="1"/>
            <p:nvPr/>
          </p:nvSpPr>
          <p:spPr>
            <a:xfrm>
              <a:off x="1939518" y="2509920"/>
              <a:ext cx="981604" cy="14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en-US"/>
              </a:defPPr>
              <a:lvl1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ko-KR" altLang="en-US" dirty="0"/>
                <a:t>현황 분석</a:t>
              </a: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66D7345A-594F-5644-CAC6-76A545FEB04F}"/>
                </a:ext>
              </a:extLst>
            </p:cNvPr>
            <p:cNvSpPr txBox="1"/>
            <p:nvPr/>
          </p:nvSpPr>
          <p:spPr>
            <a:xfrm>
              <a:off x="1939518" y="2698335"/>
              <a:ext cx="981604" cy="14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en-US"/>
              </a:defPPr>
              <a:lvl1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ko-KR" altLang="en-US" dirty="0"/>
                <a:t>외부 </a:t>
              </a:r>
              <a:r>
                <a:rPr lang="en-US" altLang="ko-KR" dirty="0"/>
                <a:t>BP </a:t>
              </a:r>
              <a:r>
                <a:rPr lang="ko-KR" altLang="en-US" dirty="0"/>
                <a:t>조사</a:t>
              </a:r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2C6EEA1F-9A5B-C1B6-EC29-AEBB83D2093B}"/>
                </a:ext>
              </a:extLst>
            </p:cNvPr>
            <p:cNvSpPr txBox="1"/>
            <p:nvPr/>
          </p:nvSpPr>
          <p:spPr>
            <a:xfrm>
              <a:off x="3022721" y="2509919"/>
              <a:ext cx="468000" cy="333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ko-KR"/>
              </a:defPPr>
              <a:lvl1pPr marR="0" lvl="0" indent="0" algn="ctr" defTabSz="914400" fontAlgn="auto" latinLnBrk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200" b="1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맑은 고딕"/>
                  <a:cs typeface="Tahoma" panose="020B0604030504040204" pitchFamily="34" charset="0"/>
                </a:defRPr>
              </a:lvl1pPr>
              <a:lvl2pPr defTabSz="914400" latinLnBrk="1">
                <a:defRPr>
                  <a:solidFill>
                    <a:schemeClr val="lt1"/>
                  </a:solidFill>
                </a:defRPr>
              </a:lvl2pPr>
              <a:lvl3pPr defTabSz="914400" latinLnBrk="1">
                <a:defRPr>
                  <a:solidFill>
                    <a:schemeClr val="lt1"/>
                  </a:solidFill>
                </a:defRPr>
              </a:lvl3pPr>
              <a:lvl4pPr defTabSz="914400" latinLnBrk="1">
                <a:defRPr>
                  <a:solidFill>
                    <a:schemeClr val="lt1"/>
                  </a:solidFill>
                </a:defRPr>
              </a:lvl4pPr>
              <a:lvl5pPr defTabSz="914400" latinLnBrk="1">
                <a:defRPr>
                  <a:solidFill>
                    <a:schemeClr val="lt1"/>
                  </a:solidFill>
                </a:defRPr>
              </a:lvl5pPr>
              <a:lvl6pPr defTabSz="914400" latinLnBrk="1">
                <a:defRPr>
                  <a:solidFill>
                    <a:schemeClr val="lt1"/>
                  </a:solidFill>
                </a:defRPr>
              </a:lvl6pPr>
              <a:lvl7pPr defTabSz="914400" latinLnBrk="1">
                <a:defRPr>
                  <a:solidFill>
                    <a:schemeClr val="lt1"/>
                  </a:solidFill>
                </a:defRPr>
              </a:lvl7pPr>
              <a:lvl8pPr defTabSz="914400" latinLnBrk="1">
                <a:defRPr>
                  <a:solidFill>
                    <a:schemeClr val="lt1"/>
                  </a:solidFill>
                </a:defRPr>
              </a:lvl8pPr>
              <a:lvl9pPr defTabSz="914400" latinLnBrk="1"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000" b="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Gap</a:t>
              </a:r>
              <a:br>
                <a:rPr lang="en-US" altLang="ko-KR" sz="1000" b="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-KR" altLang="en-US" sz="1000" b="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분석</a:t>
              </a:r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F1C8A4C9-1A67-17B6-1B76-29F09AA798A2}"/>
                </a:ext>
              </a:extLst>
            </p:cNvPr>
            <p:cNvSpPr txBox="1"/>
            <p:nvPr/>
          </p:nvSpPr>
          <p:spPr>
            <a:xfrm>
              <a:off x="3573063" y="2509919"/>
              <a:ext cx="468000" cy="333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en-US"/>
              </a:defPPr>
              <a:lvl1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ko-KR" altLang="en-US" dirty="0"/>
                <a:t>요건</a:t>
              </a:r>
              <a:endParaRPr lang="en-US" altLang="ko-KR" dirty="0"/>
            </a:p>
            <a:p>
              <a:r>
                <a:rPr lang="ko-KR" altLang="en-US" dirty="0"/>
                <a:t>정의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FB08582B-BFCA-BD7C-7FDB-4666871B4338}"/>
                </a:ext>
              </a:extLst>
            </p:cNvPr>
            <p:cNvSpPr txBox="1"/>
            <p:nvPr/>
          </p:nvSpPr>
          <p:spPr>
            <a:xfrm>
              <a:off x="4123403" y="2509919"/>
              <a:ext cx="468000" cy="333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en-US"/>
              </a:defPPr>
              <a:lvl1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ko-KR" altLang="en-US" dirty="0"/>
                <a:t>개선</a:t>
              </a:r>
              <a:endParaRPr lang="en-US" altLang="ko-KR" dirty="0"/>
            </a:p>
            <a:p>
              <a:r>
                <a:rPr lang="ko-KR" altLang="en-US" dirty="0"/>
                <a:t>과제</a:t>
              </a:r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9D99B8CB-0B0B-1488-2F00-6A39ACFD295D}"/>
                </a:ext>
              </a:extLst>
            </p:cNvPr>
            <p:cNvSpPr txBox="1"/>
            <p:nvPr/>
          </p:nvSpPr>
          <p:spPr>
            <a:xfrm>
              <a:off x="4690782" y="2509919"/>
              <a:ext cx="468000" cy="333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en-US"/>
              </a:defPPr>
              <a:lvl1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ko-KR" altLang="en-US" dirty="0"/>
                <a:t>외부</a:t>
              </a:r>
              <a:r>
                <a:rPr lang="en-US" altLang="ko-KR" dirty="0"/>
                <a:t>BP</a:t>
              </a:r>
            </a:p>
            <a:p>
              <a:r>
                <a:rPr lang="ko-KR" altLang="en-US" dirty="0"/>
                <a:t>조사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090C0A5A-E5F0-249D-7115-09C5BA4B5F03}"/>
                </a:ext>
              </a:extLst>
            </p:cNvPr>
            <p:cNvSpPr txBox="1"/>
            <p:nvPr/>
          </p:nvSpPr>
          <p:spPr>
            <a:xfrm>
              <a:off x="5224084" y="2509919"/>
              <a:ext cx="468000" cy="333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en-US"/>
              </a:defPPr>
              <a:lvl1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ko-KR" altLang="en-US"/>
                <a:t>추진</a:t>
              </a:r>
              <a:endParaRPr lang="en-US" altLang="ko-KR" dirty="0"/>
            </a:p>
            <a:p>
              <a:r>
                <a:rPr lang="ko-KR" altLang="en-US" dirty="0"/>
                <a:t>방향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60ED2C2B-1454-D974-25A9-13BC7EE87FA3}"/>
                </a:ext>
              </a:extLst>
            </p:cNvPr>
            <p:cNvSpPr txBox="1"/>
            <p:nvPr/>
          </p:nvSpPr>
          <p:spPr>
            <a:xfrm>
              <a:off x="5774425" y="2509919"/>
              <a:ext cx="468000" cy="333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en-US"/>
              </a:defPPr>
              <a:lvl1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ko-KR" altLang="en-US" dirty="0"/>
                <a:t>관리</a:t>
              </a:r>
              <a:endParaRPr lang="en-US" altLang="ko-KR" dirty="0"/>
            </a:p>
            <a:p>
              <a:r>
                <a:rPr lang="ko-KR" altLang="en-US" dirty="0"/>
                <a:t>범위</a:t>
              </a:r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B276D2BA-0C00-57D8-CD5E-85135322239A}"/>
                </a:ext>
              </a:extLst>
            </p:cNvPr>
            <p:cNvSpPr txBox="1"/>
            <p:nvPr/>
          </p:nvSpPr>
          <p:spPr>
            <a:xfrm>
              <a:off x="6307726" y="2509919"/>
              <a:ext cx="468000" cy="333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>
              <a:defPPr>
                <a:defRPr lang="en-US"/>
              </a:defPPr>
              <a:lvl1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-70" normalizeH="0" baseline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Tahoma" panose="020B0604030504040204" pitchFamily="34" charset="0"/>
                </a:defRPr>
              </a:lvl1pPr>
              <a:lvl2pPr defTabSz="914400" latinLnBrk="1"/>
              <a:lvl3pPr defTabSz="914400" latinLnBrk="1"/>
              <a:lvl4pPr defTabSz="914400" latinLnBrk="1"/>
              <a:lvl5pPr defTabSz="914400" latinLnBrk="1"/>
              <a:lvl6pPr defTabSz="914400" latinLnBrk="1"/>
              <a:lvl7pPr defTabSz="914400" latinLnBrk="1"/>
              <a:lvl8pPr defTabSz="914400" latinLnBrk="1"/>
              <a:lvl9pPr defTabSz="914400" latinLnBrk="1"/>
            </a:lstStyle>
            <a:p>
              <a:r>
                <a:rPr lang="ko-KR" altLang="en-US" dirty="0"/>
                <a:t>방향성</a:t>
              </a:r>
              <a:endParaRPr lang="en-US" altLang="ko-KR" dirty="0"/>
            </a:p>
            <a:p>
              <a:r>
                <a:rPr lang="en-US" altLang="ko-KR" dirty="0"/>
                <a:t>· </a:t>
              </a:r>
              <a:r>
                <a:rPr lang="ko-KR" altLang="en-US" dirty="0"/>
                <a:t>요건</a:t>
              </a:r>
            </a:p>
          </p:txBody>
        </p:sp>
      </p:grpSp>
      <p:sp>
        <p:nvSpPr>
          <p:cNvPr id="481" name="TextBox 480">
            <a:extLst>
              <a:ext uri="{FF2B5EF4-FFF2-40B4-BE49-F238E27FC236}">
                <a16:creationId xmlns:a16="http://schemas.microsoft.com/office/drawing/2014/main" id="{E0F896D3-7DD2-52CC-F4C5-2C263C20E89A}"/>
              </a:ext>
            </a:extLst>
          </p:cNvPr>
          <p:cNvSpPr txBox="1"/>
          <p:nvPr/>
        </p:nvSpPr>
        <p:spPr>
          <a:xfrm>
            <a:off x="1939518" y="2798257"/>
            <a:ext cx="981604" cy="2235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marR="0" lvl="0" indent="0" algn="ctr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en-US" altLang="ko-KR" dirty="0"/>
              <a:t>Agent </a:t>
            </a:r>
            <a:r>
              <a:rPr lang="ko-KR" altLang="en-US" dirty="0"/>
              <a:t>현황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076C29FD-BC66-E150-D6A7-873C57F19704}"/>
              </a:ext>
            </a:extLst>
          </p:cNvPr>
          <p:cNvSpPr txBox="1"/>
          <p:nvPr/>
        </p:nvSpPr>
        <p:spPr>
          <a:xfrm>
            <a:off x="1939518" y="3080229"/>
            <a:ext cx="981604" cy="2235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marR="0" lvl="0" indent="0" algn="ctr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en-US" altLang="ko-KR" dirty="0"/>
              <a:t>Agent </a:t>
            </a:r>
            <a:r>
              <a:rPr lang="ko-KR" altLang="en-US" dirty="0"/>
              <a:t>유형화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C583E47C-A1E2-7F11-515F-7591F8BEA9A2}"/>
              </a:ext>
            </a:extLst>
          </p:cNvPr>
          <p:cNvSpPr txBox="1"/>
          <p:nvPr/>
        </p:nvSpPr>
        <p:spPr>
          <a:xfrm>
            <a:off x="1939518" y="3362200"/>
            <a:ext cx="981604" cy="2235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marR="0" lvl="0" indent="0" algn="ctr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/>
              <a:t>유형별 요구 사항</a:t>
            </a:r>
            <a:endParaRPr lang="ko-KR" altLang="en-US" dirty="0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7263F99C-7E55-03B2-C00F-919A6937197E}"/>
              </a:ext>
            </a:extLst>
          </p:cNvPr>
          <p:cNvSpPr txBox="1"/>
          <p:nvPr/>
        </p:nvSpPr>
        <p:spPr>
          <a:xfrm>
            <a:off x="4184472" y="4716087"/>
            <a:ext cx="974310" cy="28636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marR="0" lvl="0" indent="0" algn="ctr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외부 사례 조사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AB28C7E2-9153-DACE-44EF-1BE5EE7F98C5}"/>
              </a:ext>
            </a:extLst>
          </p:cNvPr>
          <p:cNvSpPr txBox="1"/>
          <p:nvPr/>
        </p:nvSpPr>
        <p:spPr>
          <a:xfrm>
            <a:off x="5265785" y="4716087"/>
            <a:ext cx="974310" cy="28636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marR="0" lvl="0" indent="0" algn="ctr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/>
              <a:t>데이터 요건</a:t>
            </a:r>
            <a:endParaRPr lang="ko-KR" altLang="en-US" dirty="0"/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E835A58B-BDC0-EAAA-7BC7-F18368F56CA7}"/>
              </a:ext>
            </a:extLst>
          </p:cNvPr>
          <p:cNvSpPr txBox="1"/>
          <p:nvPr/>
        </p:nvSpPr>
        <p:spPr>
          <a:xfrm>
            <a:off x="6347098" y="4716087"/>
            <a:ext cx="974310" cy="28636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marR="0" lvl="0" indent="0" algn="ctr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데이터 확보 방식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78B8B68F-06DC-FDAD-5938-BA199EFBBC88}"/>
              </a:ext>
            </a:extLst>
          </p:cNvPr>
          <p:cNvSpPr txBox="1"/>
          <p:nvPr/>
        </p:nvSpPr>
        <p:spPr>
          <a:xfrm>
            <a:off x="7428412" y="4716087"/>
            <a:ext cx="974310" cy="28636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marR="0" lvl="0" indent="0" algn="ctr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cap="none" spc="-70" normalizeH="0" baseline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데이터 축적 방안</a:t>
            </a:r>
          </a:p>
        </p:txBody>
      </p:sp>
    </p:spTree>
    <p:extLst>
      <p:ext uri="{BB962C8B-B14F-4D97-AF65-F5344CB8AC3E}">
        <p14:creationId xmlns:p14="http://schemas.microsoft.com/office/powerpoint/2010/main" val="1832654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4FED-5290-7BBB-2BC8-38689F9D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EEC826-C4D2-CF1A-A811-3FF0D98392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2517036" cy="369332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계획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수행 조직</a:t>
            </a:r>
          </a:p>
        </p:txBody>
      </p:sp>
      <p:cxnSp>
        <p:nvCxnSpPr>
          <p:cNvPr id="4" name="직선 연결선 25">
            <a:extLst>
              <a:ext uri="{FF2B5EF4-FFF2-40B4-BE49-F238E27FC236}">
                <a16:creationId xmlns:a16="http://schemas.microsoft.com/office/drawing/2014/main" id="{DCE0D689-08BE-BF34-73B3-0529952285CD}"/>
              </a:ext>
            </a:extLst>
          </p:cNvPr>
          <p:cNvCxnSpPr>
            <a:cxnSpLocks/>
          </p:cNvCxnSpPr>
          <p:nvPr/>
        </p:nvCxnSpPr>
        <p:spPr bwMode="auto">
          <a:xfrm flipV="1">
            <a:off x="4958238" y="3180101"/>
            <a:ext cx="0" cy="227202"/>
          </a:xfrm>
          <a:prstGeom prst="line">
            <a:avLst/>
          </a:prstGeom>
          <a:noFill/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4A53C46-950D-9373-B34D-BF577BB9CC6B}"/>
              </a:ext>
            </a:extLst>
          </p:cNvPr>
          <p:cNvCxnSpPr>
            <a:cxnSpLocks/>
          </p:cNvCxnSpPr>
          <p:nvPr/>
        </p:nvCxnSpPr>
        <p:spPr>
          <a:xfrm>
            <a:off x="4968652" y="3811209"/>
            <a:ext cx="0" cy="2755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54ECC5B-D0E2-5619-E19E-0A5B23E00180}"/>
              </a:ext>
            </a:extLst>
          </p:cNvPr>
          <p:cNvCxnSpPr>
            <a:cxnSpLocks/>
          </p:cNvCxnSpPr>
          <p:nvPr/>
        </p:nvCxnSpPr>
        <p:spPr>
          <a:xfrm>
            <a:off x="4956551" y="2690982"/>
            <a:ext cx="3374" cy="29492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07AC3B5-D454-6DDB-FD57-0221511A6E12}"/>
              </a:ext>
            </a:extLst>
          </p:cNvPr>
          <p:cNvGrpSpPr/>
          <p:nvPr/>
        </p:nvGrpSpPr>
        <p:grpSpPr>
          <a:xfrm>
            <a:off x="3017056" y="2040937"/>
            <a:ext cx="3896216" cy="662288"/>
            <a:chOff x="3300421" y="2422929"/>
            <a:chExt cx="3896216" cy="662288"/>
          </a:xfrm>
        </p:grpSpPr>
        <p:sp>
          <p:nvSpPr>
            <p:cNvPr id="17" name="Rectangle 65">
              <a:extLst>
                <a:ext uri="{FF2B5EF4-FFF2-40B4-BE49-F238E27FC236}">
                  <a16:creationId xmlns:a16="http://schemas.microsoft.com/office/drawing/2014/main" id="{7D71D7E3-6A02-A1BC-8C09-0A43539B4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747" y="2725218"/>
              <a:ext cx="1956221" cy="359999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(SKI)</a:t>
              </a:r>
            </a:p>
          </p:txBody>
        </p:sp>
        <p:sp>
          <p:nvSpPr>
            <p:cNvPr id="19" name="Rectangle 65">
              <a:extLst>
                <a:ext uri="{FF2B5EF4-FFF2-40B4-BE49-F238E27FC236}">
                  <a16:creationId xmlns:a16="http://schemas.microsoft.com/office/drawing/2014/main" id="{A0D3B056-F54D-8C6C-8BA5-29B6467CF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21" y="2422929"/>
              <a:ext cx="3896216" cy="3023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Project Leader</a:t>
              </a:r>
            </a:p>
          </p:txBody>
        </p:sp>
        <p:sp>
          <p:nvSpPr>
            <p:cNvPr id="26" name="Rectangle 65">
              <a:extLst>
                <a:ext uri="{FF2B5EF4-FFF2-40B4-BE49-F238E27FC236}">
                  <a16:creationId xmlns:a16="http://schemas.microsoft.com/office/drawing/2014/main" id="{F5AC0BCD-A1F2-3EE5-255D-73A196A7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21" y="2725218"/>
              <a:ext cx="1943189" cy="359999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(CLX)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2AB735F-9FA2-355E-4EF4-096538CDC6AB}"/>
              </a:ext>
            </a:extLst>
          </p:cNvPr>
          <p:cNvGrpSpPr/>
          <p:nvPr/>
        </p:nvGrpSpPr>
        <p:grpSpPr>
          <a:xfrm>
            <a:off x="3017056" y="2983139"/>
            <a:ext cx="3896217" cy="828070"/>
            <a:chOff x="3300420" y="3261124"/>
            <a:chExt cx="3896217" cy="1094976"/>
          </a:xfrm>
        </p:grpSpPr>
        <p:sp>
          <p:nvSpPr>
            <p:cNvPr id="38" name="Rectangle 65">
              <a:extLst>
                <a:ext uri="{FF2B5EF4-FFF2-40B4-BE49-F238E27FC236}">
                  <a16:creationId xmlns:a16="http://schemas.microsoft.com/office/drawing/2014/main" id="{39BEB726-72DB-DE34-EBAB-25E93375C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21" y="3261124"/>
              <a:ext cx="3896216" cy="2975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Project Manager</a:t>
              </a:r>
            </a:p>
          </p:txBody>
        </p:sp>
        <p:sp>
          <p:nvSpPr>
            <p:cNvPr id="41" name="Rectangle 65">
              <a:extLst>
                <a:ext uri="{FF2B5EF4-FFF2-40B4-BE49-F238E27FC236}">
                  <a16:creationId xmlns:a16="http://schemas.microsoft.com/office/drawing/2014/main" id="{3419575A-AF0B-6D51-78BA-E6FB16366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21" y="3866350"/>
              <a:ext cx="1953027" cy="48975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TBD</a:t>
              </a:r>
            </a:p>
          </p:txBody>
        </p:sp>
        <p:sp>
          <p:nvSpPr>
            <p:cNvPr id="43" name="Rectangle 65">
              <a:extLst>
                <a:ext uri="{FF2B5EF4-FFF2-40B4-BE49-F238E27FC236}">
                  <a16:creationId xmlns:a16="http://schemas.microsoft.com/office/drawing/2014/main" id="{2A3766FE-8BE4-00A1-5592-4924099B8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20" y="3558644"/>
              <a:ext cx="1948109" cy="3087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CLX / SKI</a:t>
              </a:r>
            </a:p>
          </p:txBody>
        </p:sp>
        <p:sp>
          <p:nvSpPr>
            <p:cNvPr id="44" name="Rectangle 65">
              <a:extLst>
                <a:ext uri="{FF2B5EF4-FFF2-40B4-BE49-F238E27FC236}">
                  <a16:creationId xmlns:a16="http://schemas.microsoft.com/office/drawing/2014/main" id="{4DA19C8B-7D3D-F1B5-835C-C6B138560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448" y="3866350"/>
              <a:ext cx="1943189" cy="48975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TBD</a:t>
              </a:r>
            </a:p>
          </p:txBody>
        </p:sp>
        <p:sp>
          <p:nvSpPr>
            <p:cNvPr id="45" name="Rectangle 65">
              <a:extLst>
                <a:ext uri="{FF2B5EF4-FFF2-40B4-BE49-F238E27FC236}">
                  <a16:creationId xmlns:a16="http://schemas.microsoft.com/office/drawing/2014/main" id="{D7652D33-EBD6-8EED-9F6C-5342DAFDD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448" y="3557586"/>
              <a:ext cx="1943188" cy="308763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rgbClr val="000000">
                  <a:lumMod val="65000"/>
                  <a:lumOff val="35000"/>
                </a:srgb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SKAX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19D0084-E250-2286-F1A8-F61945770557}"/>
              </a:ext>
            </a:extLst>
          </p:cNvPr>
          <p:cNvSpPr txBox="1">
            <a:spLocks/>
          </p:cNvSpPr>
          <p:nvPr/>
        </p:nvSpPr>
        <p:spPr>
          <a:xfrm>
            <a:off x="3004893" y="5890356"/>
            <a:ext cx="2327670" cy="751075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>
            <a:lvl1pPr lvl="0" indent="0" latinLnBrk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08000" marR="0" lvl="1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AI Agent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적용을 위한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Legacy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구조 고도화 및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Governance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체계 설계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 panose="020B0604020202020204" pitchFamily="34" charset="0"/>
            </a:endParaRPr>
          </a:p>
          <a:p>
            <a:pPr marL="108000" marR="0" lvl="1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CLX Enterprise Knowledge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Management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체계 설계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 panose="020B0604020202020204" pitchFamily="34" charset="0"/>
            </a:endParaRPr>
          </a:p>
        </p:txBody>
      </p:sp>
      <p:sp>
        <p:nvSpPr>
          <p:cNvPr id="46" name="Rectangle 65">
            <a:extLst>
              <a:ext uri="{FF2B5EF4-FFF2-40B4-BE49-F238E27FC236}">
                <a16:creationId xmlns:a16="http://schemas.microsoft.com/office/drawing/2014/main" id="{B8A0D8C2-47C6-A979-5DD7-CD3043E5E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892" y="4296791"/>
            <a:ext cx="4659816" cy="277205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0000">
                <a:lumMod val="65000"/>
                <a:lumOff val="35000"/>
              </a:srgbClr>
            </a:solidFill>
            <a:miter lim="800000"/>
            <a:headEnd/>
            <a:tailEnd/>
          </a:ln>
        </p:spPr>
        <p:txBody>
          <a:bodyPr wrap="none" lIns="36000" tIns="43958" rIns="36000" bIns="43958" anchor="ctr"/>
          <a:lstStyle/>
          <a:p>
            <a:pPr algn="ctr" defTabSz="957867">
              <a:buClr>
                <a:srgbClr val="3366FF"/>
              </a:buClr>
            </a:pPr>
            <a:r>
              <a:rPr lang="ko-KR" altLang="en-US" sz="1200" kern="0">
                <a:solidFill>
                  <a:sysClr val="window" lastClr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수행조직</a:t>
            </a:r>
            <a:endParaRPr lang="en-US" altLang="ko-KR" sz="1200" kern="0" dirty="0">
              <a:solidFill>
                <a:sysClr val="window" lastClr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440AC51-2367-8821-E225-9DDC837732B8}"/>
              </a:ext>
            </a:extLst>
          </p:cNvPr>
          <p:cNvSpPr/>
          <p:nvPr/>
        </p:nvSpPr>
        <p:spPr>
          <a:xfrm>
            <a:off x="7498875" y="135945"/>
            <a:ext cx="2165404" cy="581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Update</a:t>
            </a:r>
            <a:r>
              <a:rPr lang="ko-KR" altLang="en-US" sz="1400" dirty="0">
                <a:solidFill>
                  <a:schemeClr val="tx1"/>
                </a:solidFill>
              </a:rPr>
              <a:t> 필요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D5C7AC7-ECD1-E676-5B59-87DB66A07BB1}"/>
              </a:ext>
            </a:extLst>
          </p:cNvPr>
          <p:cNvGrpSpPr/>
          <p:nvPr/>
        </p:nvGrpSpPr>
        <p:grpSpPr>
          <a:xfrm>
            <a:off x="3004892" y="1156421"/>
            <a:ext cx="3896216" cy="662288"/>
            <a:chOff x="3300421" y="2422929"/>
            <a:chExt cx="3896216" cy="662288"/>
          </a:xfrm>
        </p:grpSpPr>
        <p:sp>
          <p:nvSpPr>
            <p:cNvPr id="7" name="Rectangle 65">
              <a:extLst>
                <a:ext uri="{FF2B5EF4-FFF2-40B4-BE49-F238E27FC236}">
                  <a16:creationId xmlns:a16="http://schemas.microsoft.com/office/drawing/2014/main" id="{E4A5FC3C-D2D2-3F35-4211-C403C3932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747" y="2725218"/>
              <a:ext cx="1956221" cy="359999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(SKI)</a:t>
              </a:r>
            </a:p>
          </p:txBody>
        </p:sp>
        <p:sp>
          <p:nvSpPr>
            <p:cNvPr id="8" name="Rectangle 65">
              <a:extLst>
                <a:ext uri="{FF2B5EF4-FFF2-40B4-BE49-F238E27FC236}">
                  <a16:creationId xmlns:a16="http://schemas.microsoft.com/office/drawing/2014/main" id="{5563B192-A4EE-42CA-1A3E-B4C74268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21" y="2422929"/>
              <a:ext cx="3896216" cy="3023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Project  </a:t>
              </a:r>
              <a:r>
                <a:rPr lang="en-US" altLang="ko-KR" sz="1200" kern="0" dirty="0">
                  <a:solidFill>
                    <a:sysClr val="window" lastClr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Champion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Rectangle 65">
              <a:extLst>
                <a:ext uri="{FF2B5EF4-FFF2-40B4-BE49-F238E27FC236}">
                  <a16:creationId xmlns:a16="http://schemas.microsoft.com/office/drawing/2014/main" id="{C7C38A8C-1E78-E570-550C-2186CC09D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21" y="2725218"/>
              <a:ext cx="1943189" cy="359999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(SKE)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0C213B6-B1B3-1ADB-9D2C-6D7482AB28CF}"/>
              </a:ext>
            </a:extLst>
          </p:cNvPr>
          <p:cNvGrpSpPr/>
          <p:nvPr/>
        </p:nvGrpSpPr>
        <p:grpSpPr>
          <a:xfrm>
            <a:off x="609334" y="4296791"/>
            <a:ext cx="2263076" cy="1546352"/>
            <a:chOff x="609333" y="4296791"/>
            <a:chExt cx="3200667" cy="1546352"/>
          </a:xfrm>
        </p:grpSpPr>
        <p:sp>
          <p:nvSpPr>
            <p:cNvPr id="18" name="Rectangle 65">
              <a:extLst>
                <a:ext uri="{FF2B5EF4-FFF2-40B4-BE49-F238E27FC236}">
                  <a16:creationId xmlns:a16="http://schemas.microsoft.com/office/drawing/2014/main" id="{73CD93B9-896E-C40D-371A-1584634C2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333" y="4296791"/>
              <a:ext cx="3200667" cy="27720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Working Group</a:t>
              </a:r>
            </a:p>
          </p:txBody>
        </p:sp>
        <p:sp>
          <p:nvSpPr>
            <p:cNvPr id="22" name="Rectangle 65">
              <a:extLst>
                <a:ext uri="{FF2B5EF4-FFF2-40B4-BE49-F238E27FC236}">
                  <a16:creationId xmlns:a16="http://schemas.microsoft.com/office/drawing/2014/main" id="{A70E0127-BF8C-B8B3-0E61-2F67E5736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333" y="4572101"/>
              <a:ext cx="1600664" cy="2772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algn="ctr" defTabSz="957867">
                <a:buClr>
                  <a:srgbClr val="3366FF"/>
                </a:buClr>
              </a:pPr>
              <a:r>
                <a:rPr lang="en-US" altLang="ko-KR" sz="1200" kern="0">
                  <a:solidFill>
                    <a:sysClr val="window" lastClr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CLX</a:t>
              </a:r>
              <a:endParaRPr lang="en-US" altLang="ko-KR" sz="1200" kern="0" dirty="0">
                <a:solidFill>
                  <a:sysClr val="window" lastClr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Rectangle 65">
              <a:extLst>
                <a:ext uri="{FF2B5EF4-FFF2-40B4-BE49-F238E27FC236}">
                  <a16:creationId xmlns:a16="http://schemas.microsoft.com/office/drawing/2014/main" id="{3BCFCC1D-E6FE-F716-4EA3-6115175F0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336" y="4572101"/>
              <a:ext cx="1600664" cy="2772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algn="ctr" defTabSz="957867">
                <a:buClr>
                  <a:srgbClr val="3366FF"/>
                </a:buClr>
              </a:pPr>
              <a:r>
                <a:rPr lang="en-US" altLang="ko-KR" sz="1200" kern="0">
                  <a:solidFill>
                    <a:sysClr val="window" lastClr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SKI</a:t>
              </a:r>
              <a:endParaRPr lang="en-US" altLang="ko-KR" sz="1200" kern="0" dirty="0">
                <a:solidFill>
                  <a:sysClr val="window" lastClr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AFAC0CAC-BB02-1F58-D4D4-CF2B3E881333}"/>
                </a:ext>
              </a:extLst>
            </p:cNvPr>
            <p:cNvGrpSpPr/>
            <p:nvPr/>
          </p:nvGrpSpPr>
          <p:grpSpPr>
            <a:xfrm>
              <a:off x="618307" y="4852327"/>
              <a:ext cx="3191693" cy="990816"/>
              <a:chOff x="2879647" y="3796862"/>
              <a:chExt cx="4163432" cy="1541301"/>
            </a:xfrm>
          </p:grpSpPr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746C4648-CE49-6DD0-59F1-FE04B6E22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647" y="3796862"/>
                <a:ext cx="2088000" cy="1541301"/>
              </a:xfrm>
              <a:prstGeom prst="rect">
                <a:avLst/>
              </a:prstGeom>
              <a:solidFill>
                <a:sysClr val="window" lastClr="FFFFFF"/>
              </a:solidFill>
              <a:ln w="9525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36000" tIns="43958" rIns="36000" bIns="43958" anchor="ctr"/>
              <a:lstStyle/>
              <a:p>
                <a:pPr marL="0" marR="0" lvl="0" indent="0" algn="ctr" defTabSz="957867" rtl="0" eaLnBrk="1" fontAlgn="auto" latinLnBrk="0" hangingPunct="1">
                  <a:lnSpc>
                    <a:spcPct val="100000"/>
                  </a:lnSpc>
                  <a:spcBef>
                    <a:spcPts val="192"/>
                  </a:spcBef>
                  <a:spcAft>
                    <a:spcPts val="0"/>
                  </a:spcAft>
                  <a:buClr>
                    <a:srgbClr val="3366FF"/>
                  </a:buClr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OOO</a:t>
                </a:r>
              </a:p>
            </p:txBody>
          </p:sp>
          <p:sp>
            <p:nvSpPr>
              <p:cNvPr id="27" name="Rectangle 65">
                <a:extLst>
                  <a:ext uri="{FF2B5EF4-FFF2-40B4-BE49-F238E27FC236}">
                    <a16:creationId xmlns:a16="http://schemas.microsoft.com/office/drawing/2014/main" id="{74EBC0E0-CB29-AA5E-12D8-844734070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5079" y="3800620"/>
                <a:ext cx="2088000" cy="1537543"/>
              </a:xfrm>
              <a:prstGeom prst="rect">
                <a:avLst/>
              </a:prstGeom>
              <a:solidFill>
                <a:sysClr val="window" lastClr="FFFFFF"/>
              </a:solidFill>
              <a:ln w="9525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36000" tIns="43958" rIns="36000" bIns="43958" anchor="ctr"/>
              <a:lstStyle/>
              <a:p>
                <a:pPr marL="0" marR="0" lvl="0" indent="0" algn="ctr" defTabSz="957867" rtl="0" eaLnBrk="1" fontAlgn="auto" latinLnBrk="0" hangingPunct="1">
                  <a:lnSpc>
                    <a:spcPct val="100000"/>
                  </a:lnSpc>
                  <a:spcBef>
                    <a:spcPts val="192"/>
                  </a:spcBef>
                  <a:spcAft>
                    <a:spcPts val="0"/>
                  </a:spcAft>
                  <a:buClr>
                    <a:srgbClr val="3366FF"/>
                  </a:buClr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OOO</a:t>
                </a:r>
              </a:p>
            </p:txBody>
          </p:sp>
        </p:grpSp>
      </p:grp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A03AC77E-E247-DBED-6404-060057A40FA1}"/>
              </a:ext>
            </a:extLst>
          </p:cNvPr>
          <p:cNvCxnSpPr>
            <a:cxnSpLocks/>
            <a:stCxn id="18" idx="0"/>
            <a:endCxn id="46" idx="0"/>
          </p:cNvCxnSpPr>
          <p:nvPr/>
        </p:nvCxnSpPr>
        <p:spPr>
          <a:xfrm rot="5400000" flipH="1" flipV="1">
            <a:off x="3537836" y="2499827"/>
            <a:ext cx="12700" cy="3593928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A462E92-73FA-699B-6AE4-A3A35730B9B9}"/>
              </a:ext>
            </a:extLst>
          </p:cNvPr>
          <p:cNvCxnSpPr>
            <a:cxnSpLocks/>
          </p:cNvCxnSpPr>
          <p:nvPr/>
        </p:nvCxnSpPr>
        <p:spPr>
          <a:xfrm>
            <a:off x="4949626" y="1824808"/>
            <a:ext cx="3374" cy="29492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3213F01-2608-3002-EAFB-0498CE7BC7AB}"/>
              </a:ext>
            </a:extLst>
          </p:cNvPr>
          <p:cNvGrpSpPr/>
          <p:nvPr/>
        </p:nvGrpSpPr>
        <p:grpSpPr>
          <a:xfrm>
            <a:off x="537633" y="2097976"/>
            <a:ext cx="1876227" cy="854662"/>
            <a:chOff x="-389733" y="2040937"/>
            <a:chExt cx="3200667" cy="1236421"/>
          </a:xfrm>
        </p:grpSpPr>
        <p:sp>
          <p:nvSpPr>
            <p:cNvPr id="33" name="Rectangle 65">
              <a:extLst>
                <a:ext uri="{FF2B5EF4-FFF2-40B4-BE49-F238E27FC236}">
                  <a16:creationId xmlns:a16="http://schemas.microsoft.com/office/drawing/2014/main" id="{C4D727A9-7DF1-D704-A6C8-7A79440DB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9733" y="2040937"/>
              <a:ext cx="3200667" cy="27720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Advisory Group</a:t>
              </a:r>
            </a:p>
          </p:txBody>
        </p:sp>
        <p:sp>
          <p:nvSpPr>
            <p:cNvPr id="34" name="Rectangle 65">
              <a:extLst>
                <a:ext uri="{FF2B5EF4-FFF2-40B4-BE49-F238E27FC236}">
                  <a16:creationId xmlns:a16="http://schemas.microsoft.com/office/drawing/2014/main" id="{57B8E943-316A-2A61-9BB7-27D2F3E92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9733" y="2316247"/>
              <a:ext cx="1600664" cy="2772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algn="ctr" defTabSz="957867">
                <a:buClr>
                  <a:srgbClr val="3366FF"/>
                </a:buClr>
              </a:pPr>
              <a:r>
                <a:rPr lang="en-US" altLang="ko-KR" sz="1050" kern="0">
                  <a:solidFill>
                    <a:sysClr val="window" lastClr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CLX</a:t>
              </a:r>
              <a:endParaRPr lang="en-US" altLang="ko-KR" sz="1050" kern="0" dirty="0">
                <a:solidFill>
                  <a:sysClr val="window" lastClr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5" name="Rectangle 65">
              <a:extLst>
                <a:ext uri="{FF2B5EF4-FFF2-40B4-BE49-F238E27FC236}">
                  <a16:creationId xmlns:a16="http://schemas.microsoft.com/office/drawing/2014/main" id="{230171D9-A942-30E8-D462-5A9DF4F63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270" y="2316247"/>
              <a:ext cx="1600664" cy="2772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algn="ctr" defTabSz="957867">
                <a:buClr>
                  <a:srgbClr val="3366FF"/>
                </a:buClr>
              </a:pPr>
              <a:r>
                <a:rPr lang="en-US" altLang="ko-KR" sz="1050" kern="0">
                  <a:solidFill>
                    <a:sysClr val="window" lastClr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SKI</a:t>
              </a:r>
              <a:endParaRPr lang="en-US" altLang="ko-KR" sz="1050" kern="0" dirty="0">
                <a:solidFill>
                  <a:sysClr val="window" lastClr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9162DF47-BD8F-693A-CCBD-0B5E0547DC88}"/>
                </a:ext>
              </a:extLst>
            </p:cNvPr>
            <p:cNvGrpSpPr/>
            <p:nvPr/>
          </p:nvGrpSpPr>
          <p:grpSpPr>
            <a:xfrm>
              <a:off x="-380759" y="2596473"/>
              <a:ext cx="3191693" cy="680885"/>
              <a:chOff x="2879647" y="3796862"/>
              <a:chExt cx="4163432" cy="1059176"/>
            </a:xfrm>
          </p:grpSpPr>
          <p:sp>
            <p:nvSpPr>
              <p:cNvPr id="39" name="Rectangle 65">
                <a:extLst>
                  <a:ext uri="{FF2B5EF4-FFF2-40B4-BE49-F238E27FC236}">
                    <a16:creationId xmlns:a16="http://schemas.microsoft.com/office/drawing/2014/main" id="{3E5581E8-5843-6EF8-81BA-6F62E1F22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647" y="3796862"/>
                <a:ext cx="2088000" cy="1057997"/>
              </a:xfrm>
              <a:prstGeom prst="rect">
                <a:avLst/>
              </a:prstGeom>
              <a:solidFill>
                <a:sysClr val="window" lastClr="FFFFFF"/>
              </a:solidFill>
              <a:ln w="9525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36000" tIns="43958" rIns="36000" bIns="43958" anchor="ctr"/>
              <a:lstStyle/>
              <a:p>
                <a:pPr marL="0" marR="0" lvl="0" indent="0" algn="ctr" defTabSz="957867" rtl="0" eaLnBrk="1" fontAlgn="auto" latinLnBrk="0" hangingPunct="1">
                  <a:lnSpc>
                    <a:spcPct val="100000"/>
                  </a:lnSpc>
                  <a:spcBef>
                    <a:spcPts val="192"/>
                  </a:spcBef>
                  <a:spcAft>
                    <a:spcPts val="0"/>
                  </a:spcAft>
                  <a:buClr>
                    <a:srgbClr val="3366FF"/>
                  </a:buClr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OOO</a:t>
                </a:r>
              </a:p>
            </p:txBody>
          </p:sp>
          <p:sp>
            <p:nvSpPr>
              <p:cNvPr id="40" name="Rectangle 65">
                <a:extLst>
                  <a:ext uri="{FF2B5EF4-FFF2-40B4-BE49-F238E27FC236}">
                    <a16:creationId xmlns:a16="http://schemas.microsoft.com/office/drawing/2014/main" id="{37150FB2-5D48-1D30-11A5-2BE981429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5079" y="3800620"/>
                <a:ext cx="2088000" cy="1055418"/>
              </a:xfrm>
              <a:prstGeom prst="rect">
                <a:avLst/>
              </a:prstGeom>
              <a:solidFill>
                <a:sysClr val="window" lastClr="FFFFFF"/>
              </a:solidFill>
              <a:ln w="9525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36000" tIns="43958" rIns="36000" bIns="43958" anchor="ctr"/>
              <a:lstStyle/>
              <a:p>
                <a:pPr marL="0" marR="0" lvl="0" indent="0" algn="ctr" defTabSz="957867" rtl="0" eaLnBrk="1" fontAlgn="auto" latinLnBrk="0" hangingPunct="1">
                  <a:lnSpc>
                    <a:spcPct val="100000"/>
                  </a:lnSpc>
                  <a:spcBef>
                    <a:spcPts val="192"/>
                  </a:spcBef>
                  <a:spcAft>
                    <a:spcPts val="0"/>
                  </a:spcAft>
                  <a:buClr>
                    <a:srgbClr val="3366FF"/>
                  </a:buClr>
                  <a:buSzTx/>
                  <a:buFontTx/>
                  <a:buNone/>
                  <a:tabLst/>
                  <a:defRPr/>
                </a:pPr>
                <a:r>
                  <a:rPr lang="en-US" altLang="ko-KR" sz="9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OOO</a:t>
                </a:r>
              </a:p>
            </p:txBody>
          </p:sp>
        </p:grp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CD7B964-C0BB-40F1-BEE2-3A0496C06EB3}"/>
              </a:ext>
            </a:extLst>
          </p:cNvPr>
          <p:cNvGrpSpPr/>
          <p:nvPr/>
        </p:nvGrpSpPr>
        <p:grpSpPr>
          <a:xfrm>
            <a:off x="7516468" y="2747796"/>
            <a:ext cx="1587315" cy="854138"/>
            <a:chOff x="7516468" y="2053526"/>
            <a:chExt cx="1587315" cy="854138"/>
          </a:xfrm>
        </p:grpSpPr>
        <p:sp>
          <p:nvSpPr>
            <p:cNvPr id="60" name="Rectangle 65">
              <a:extLst>
                <a:ext uri="{FF2B5EF4-FFF2-40B4-BE49-F238E27FC236}">
                  <a16:creationId xmlns:a16="http://schemas.microsoft.com/office/drawing/2014/main" id="{BFCC8158-2B0C-C112-A7D3-3141028C9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6468" y="2053526"/>
              <a:ext cx="1587315" cy="19161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rgbClr val="000000">
                  <a:lumMod val="65000"/>
                  <a:lumOff val="35000"/>
                </a:srgb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algn="ctr" defTabSz="957867">
                <a:buClr>
                  <a:srgbClr val="3366FF"/>
                </a:buClr>
              </a:pPr>
              <a:r>
                <a:rPr lang="en-US" altLang="ko-KR" sz="1100" kern="0" dirty="0">
                  <a:solidFill>
                    <a:sysClr val="window" lastClr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Advisory Group</a:t>
              </a:r>
            </a:p>
          </p:txBody>
        </p:sp>
        <p:sp>
          <p:nvSpPr>
            <p:cNvPr id="64" name="Rectangle 65">
              <a:extLst>
                <a:ext uri="{FF2B5EF4-FFF2-40B4-BE49-F238E27FC236}">
                  <a16:creationId xmlns:a16="http://schemas.microsoft.com/office/drawing/2014/main" id="{98110800-7D22-0A26-20A5-CD50C883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6468" y="2245141"/>
              <a:ext cx="1587315" cy="662523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srgbClr val="000000"/>
                  </a:solidFill>
                  <a:cs typeface="Arial" panose="020B0604020202020204" pitchFamily="34" charset="0"/>
                </a:rPr>
                <a:t>PwC </a:t>
              </a:r>
              <a:r>
                <a:rPr lang="ko-KR" altLang="en-US" sz="900" dirty="0" err="1">
                  <a:solidFill>
                    <a:srgbClr val="000000"/>
                  </a:solidFill>
                  <a:cs typeface="Arial" panose="020B0604020202020204" pitchFamily="34" charset="0"/>
                </a:rPr>
                <a:t>허동기</a:t>
              </a:r>
              <a:r>
                <a:rPr lang="ko-KR" altLang="en-US" sz="900" dirty="0">
                  <a:solidFill>
                    <a:srgbClr val="000000"/>
                  </a:solidFill>
                  <a:cs typeface="Arial" panose="020B0604020202020204" pitchFamily="34" charset="0"/>
                </a:rPr>
                <a:t> 파트너</a:t>
              </a:r>
              <a:endParaRPr lang="en-US" altLang="ko-KR" sz="90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3FFD6A4-4FCE-86B0-8CF5-1CBDF0009D5D}"/>
              </a:ext>
            </a:extLst>
          </p:cNvPr>
          <p:cNvGrpSpPr/>
          <p:nvPr/>
        </p:nvGrpSpPr>
        <p:grpSpPr>
          <a:xfrm>
            <a:off x="8157159" y="4290441"/>
            <a:ext cx="1587315" cy="854138"/>
            <a:chOff x="7516468" y="2053526"/>
            <a:chExt cx="1587315" cy="854138"/>
          </a:xfrm>
        </p:grpSpPr>
        <p:sp>
          <p:nvSpPr>
            <p:cNvPr id="69" name="Rectangle 65">
              <a:extLst>
                <a:ext uri="{FF2B5EF4-FFF2-40B4-BE49-F238E27FC236}">
                  <a16:creationId xmlns:a16="http://schemas.microsoft.com/office/drawing/2014/main" id="{AD7238EA-3980-1FA3-937D-7645E6B7B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6468" y="2053526"/>
              <a:ext cx="1587315" cy="19161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rgbClr val="000000">
                  <a:lumMod val="65000"/>
                  <a:lumOff val="35000"/>
                </a:srgbClr>
              </a:solidFill>
              <a:miter lim="800000"/>
              <a:headEnd/>
              <a:tailEnd/>
            </a:ln>
          </p:spPr>
          <p:txBody>
            <a:bodyPr wrap="none" lIns="36000" tIns="43958" rIns="36000" bIns="43958" anchor="ctr"/>
            <a:lstStyle/>
            <a:p>
              <a:pPr algn="ctr" defTabSz="957867">
                <a:buClr>
                  <a:srgbClr val="3366FF"/>
                </a:buClr>
              </a:pPr>
              <a:r>
                <a:rPr lang="ko-KR" altLang="en-US" sz="1100" kern="0" dirty="0">
                  <a:solidFill>
                    <a:sysClr val="window" lastClr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지원조직</a:t>
              </a:r>
              <a:endParaRPr lang="en-US" altLang="ko-KR" sz="1100" kern="0" dirty="0">
                <a:solidFill>
                  <a:sysClr val="window" lastClr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70" name="Rectangle 65">
              <a:extLst>
                <a:ext uri="{FF2B5EF4-FFF2-40B4-BE49-F238E27FC236}">
                  <a16:creationId xmlns:a16="http://schemas.microsoft.com/office/drawing/2014/main" id="{432A6917-0A42-8737-0789-6DBC421A5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6468" y="2245141"/>
              <a:ext cx="1587315" cy="662523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36000" tIns="43958" rIns="36000" bIns="43958" anchor="ctr"/>
            <a:lstStyle/>
            <a:p>
              <a:pPr marL="0" marR="0" lvl="0" indent="0" algn="ctr" defTabSz="957867" rtl="0" eaLnBrk="1" fontAlgn="auto" latinLnBrk="0" hangingPunct="1">
                <a:lnSpc>
                  <a:spcPct val="100000"/>
                </a:lnSpc>
                <a:spcBef>
                  <a:spcPts val="192"/>
                </a:spcBef>
                <a:spcAft>
                  <a:spcPts val="0"/>
                </a:spcAft>
                <a:buClr>
                  <a:srgbClr val="3366FF"/>
                </a:buClr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srgbClr val="000000"/>
                  </a:solidFill>
                  <a:cs typeface="Arial" panose="020B0604020202020204" pitchFamily="34" charset="0"/>
                </a:rPr>
                <a:t>OOO</a:t>
              </a:r>
            </a:p>
          </p:txBody>
        </p:sp>
      </p:grp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407F32B-75D2-477A-2981-CED464F416BE}"/>
              </a:ext>
            </a:extLst>
          </p:cNvPr>
          <p:cNvCxnSpPr>
            <a:cxnSpLocks/>
            <a:stCxn id="33" idx="3"/>
            <a:endCxn id="19" idx="1"/>
          </p:cNvCxnSpPr>
          <p:nvPr/>
        </p:nvCxnSpPr>
        <p:spPr>
          <a:xfrm flipV="1">
            <a:off x="2413860" y="2192091"/>
            <a:ext cx="603196" cy="1693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BB86735-119B-53AD-C9E5-61D34BC3DBD8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949626" y="2843604"/>
            <a:ext cx="2566842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BE79FE41-3751-2ACA-F5E0-BA2D0ED75D46}"/>
              </a:ext>
            </a:extLst>
          </p:cNvPr>
          <p:cNvCxnSpPr>
            <a:cxnSpLocks/>
          </p:cNvCxnSpPr>
          <p:nvPr/>
        </p:nvCxnSpPr>
        <p:spPr>
          <a:xfrm>
            <a:off x="7695717" y="4386249"/>
            <a:ext cx="465128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65">
            <a:extLst>
              <a:ext uri="{FF2B5EF4-FFF2-40B4-BE49-F238E27FC236}">
                <a16:creationId xmlns:a16="http://schemas.microsoft.com/office/drawing/2014/main" id="{C8017598-9DF9-996D-2062-C30A8A975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893" y="4565518"/>
            <a:ext cx="2327669" cy="2949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000000">
                <a:lumMod val="65000"/>
                <a:lumOff val="35000"/>
              </a:srgbClr>
            </a:solidFill>
            <a:miter lim="800000"/>
            <a:headEnd/>
            <a:tailEnd/>
          </a:ln>
        </p:spPr>
        <p:txBody>
          <a:bodyPr wrap="none" lIns="36000" tIns="43958" rIns="36000" bIns="43958" anchor="ctr"/>
          <a:lstStyle/>
          <a:p>
            <a:pPr marL="0" marR="0" lvl="0" indent="0" algn="ctr" defTabSz="9578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7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Legacy · Knowledge</a:t>
            </a:r>
          </a:p>
        </p:txBody>
      </p:sp>
      <p:sp>
        <p:nvSpPr>
          <p:cNvPr id="52" name="Rectangle 65">
            <a:extLst>
              <a:ext uri="{FF2B5EF4-FFF2-40B4-BE49-F238E27FC236}">
                <a16:creationId xmlns:a16="http://schemas.microsoft.com/office/drawing/2014/main" id="{C123A5CC-D325-389B-B13F-30A4F50BF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7132" y="4859597"/>
            <a:ext cx="2327669" cy="992013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36000" tIns="43958" rIns="36000" bIns="43958" anchor="ctr"/>
          <a:lstStyle/>
          <a:p>
            <a:pPr marL="0" marR="0" lvl="0" indent="0" algn="ctr" defTabSz="957867" rtl="0" eaLnBrk="1" fontAlgn="auto" latinLnBrk="0" hangingPunct="1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rgbClr val="3366FF"/>
              </a:buClr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Legacy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구조 고도화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, </a:t>
            </a:r>
          </a:p>
          <a:p>
            <a:pPr marL="0" marR="0" lvl="0" indent="0" algn="ctr" defTabSz="95786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66FF"/>
              </a:buClr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Knowledge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관리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체계 설계 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marL="0" lvl="1" algn="ctr"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[SKAX] </a:t>
            </a:r>
            <a:r>
              <a:rPr lang="ko-KR" alt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서기천</a:t>
            </a: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,TBD</a:t>
            </a:r>
            <a:b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[PwC] </a:t>
            </a:r>
            <a:r>
              <a:rPr lang="ko-KR" alt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정문규</a:t>
            </a: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cs typeface="Arial" panose="020B0604020202020204" pitchFamily="34" charset="0"/>
              </a:rPr>
              <a:t>이운실</a:t>
            </a: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고윤진</a:t>
            </a:r>
            <a:endParaRPr lang="en-US" altLang="ko-KR" sz="9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6" name="Rectangle 65">
            <a:extLst>
              <a:ext uri="{FF2B5EF4-FFF2-40B4-BE49-F238E27FC236}">
                <a16:creationId xmlns:a16="http://schemas.microsoft.com/office/drawing/2014/main" id="{6313191F-5A6A-AD97-2C1B-25AE44DF9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801" y="4565518"/>
            <a:ext cx="2327669" cy="2949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000000">
                <a:lumMod val="65000"/>
                <a:lumOff val="35000"/>
              </a:srgbClr>
            </a:solidFill>
            <a:miter lim="800000"/>
            <a:headEnd/>
            <a:tailEnd/>
          </a:ln>
        </p:spPr>
        <p:txBody>
          <a:bodyPr wrap="none" lIns="36000" tIns="43958" rIns="36000" bIns="43958" anchor="ctr"/>
          <a:lstStyle/>
          <a:p>
            <a:pPr marL="0" marR="0" lvl="0" indent="0" algn="ctr" defTabSz="9578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7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AI Tech.</a:t>
            </a: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FD8FE499-2A02-5873-9102-18929746E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039" y="4859597"/>
            <a:ext cx="2327669" cy="992013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36000" tIns="43958" rIns="36000" bIns="43958" anchor="ctr"/>
          <a:lstStyle/>
          <a:p>
            <a:pPr marL="0" marR="0" lvl="0" indent="0" algn="ctr" defTabSz="957867" rtl="0" eaLnBrk="1" fontAlgn="auto" latinLnBrk="0" hangingPunct="1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rgbClr val="3366FF"/>
              </a:buClr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MLOps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· 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AgentOps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,</a:t>
            </a:r>
          </a:p>
          <a:p>
            <a:pPr marL="0" marR="0" lvl="0" indent="0" algn="ctr" defTabSz="95786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66FF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도메인 특화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LLM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개발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marL="0" lvl="1" algn="ctr">
              <a:spcBef>
                <a:spcPts val="600"/>
              </a:spcBef>
              <a:defRPr/>
            </a:pP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[SKAX] </a:t>
            </a:r>
            <a:r>
              <a:rPr lang="ko-KR" alt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이영빈</a:t>
            </a:r>
            <a:b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[PwC] </a:t>
            </a:r>
            <a:r>
              <a:rPr lang="ko-KR" altLang="en-US" sz="900" dirty="0" err="1">
                <a:solidFill>
                  <a:srgbClr val="000000"/>
                </a:solidFill>
                <a:cs typeface="Arial" panose="020B0604020202020204" pitchFamily="34" charset="0"/>
              </a:rPr>
              <a:t>권오정</a:t>
            </a: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김형석</a:t>
            </a:r>
            <a:r>
              <a:rPr lang="en-US" altLang="ko-KR" sz="9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박형준</a:t>
            </a:r>
            <a:endParaRPr lang="en-US" altLang="ko-KR" sz="9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B2C2D3-FB04-B683-561E-F8CFADB068A8}"/>
              </a:ext>
            </a:extLst>
          </p:cNvPr>
          <p:cNvSpPr txBox="1">
            <a:spLocks/>
          </p:cNvSpPr>
          <p:nvPr/>
        </p:nvSpPr>
        <p:spPr>
          <a:xfrm>
            <a:off x="5332562" y="5890356"/>
            <a:ext cx="2327670" cy="751075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>
            <a:lvl1pPr lvl="0" indent="0" latinLnBrk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 latinLnBrk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08000" marR="0" lvl="1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MLOps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/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AgentOps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고도화 방안 수립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 panose="020B0604020202020204" pitchFamily="34" charset="0"/>
            </a:endParaRPr>
          </a:p>
          <a:p>
            <a:pPr marL="108000" marR="0" lvl="1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도메인 특화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LLM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개발 방향성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TNFLQ</a:t>
            </a:r>
          </a:p>
          <a:p>
            <a:pPr marL="108000" marR="0" lvl="1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CLX AI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프로젝트 추진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 panose="020B0604020202020204" pitchFamily="34" charset="0"/>
              </a:rPr>
              <a:t>운영 개선기회 도출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35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46B2530-9A77-2270-4184-85CC2C53DD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총 </a:t>
            </a:r>
            <a:r>
              <a:rPr lang="en-US" altLang="ko-KR" dirty="0"/>
              <a:t>3</a:t>
            </a:r>
            <a:r>
              <a:rPr lang="ko-KR" altLang="en-US" dirty="0"/>
              <a:t>개월간 </a:t>
            </a:r>
            <a:r>
              <a:rPr lang="en-US" altLang="ko-KR" dirty="0"/>
              <a:t>26.7MM</a:t>
            </a:r>
            <a:r>
              <a:rPr lang="ko-KR" altLang="en-US" dirty="0"/>
              <a:t> 투입 예정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5716E5-01FC-ECCD-4108-DEA323C696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4" y="241835"/>
            <a:ext cx="3044423" cy="369332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(Back up)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인력 투입 계획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案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98AB3C-9B72-E9C6-4364-A7918AA0F1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25550" y="257224"/>
            <a:ext cx="235962" cy="338554"/>
          </a:xfr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E75C799-72B0-9CF7-0BD9-EDDFA770F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50990"/>
              </p:ext>
            </p:extLst>
          </p:nvPr>
        </p:nvGraphicFramePr>
        <p:xfrm>
          <a:off x="344488" y="1449908"/>
          <a:ext cx="9217023" cy="4917625"/>
        </p:xfrm>
        <a:graphic>
          <a:graphicData uri="http://schemas.openxmlformats.org/drawingml/2006/table">
            <a:tbl>
              <a:tblPr/>
              <a:tblGrid>
                <a:gridCol w="943648">
                  <a:extLst>
                    <a:ext uri="{9D8B030D-6E8A-4147-A177-3AD203B41FA5}">
                      <a16:colId xmlns:a16="http://schemas.microsoft.com/office/drawing/2014/main" val="2554389462"/>
                    </a:ext>
                  </a:extLst>
                </a:gridCol>
                <a:gridCol w="943648">
                  <a:extLst>
                    <a:ext uri="{9D8B030D-6E8A-4147-A177-3AD203B41FA5}">
                      <a16:colId xmlns:a16="http://schemas.microsoft.com/office/drawing/2014/main" val="892937685"/>
                    </a:ext>
                  </a:extLst>
                </a:gridCol>
                <a:gridCol w="2839276">
                  <a:extLst>
                    <a:ext uri="{9D8B030D-6E8A-4147-A177-3AD203B41FA5}">
                      <a16:colId xmlns:a16="http://schemas.microsoft.com/office/drawing/2014/main" val="748494790"/>
                    </a:ext>
                  </a:extLst>
                </a:gridCol>
                <a:gridCol w="849036">
                  <a:extLst>
                    <a:ext uri="{9D8B030D-6E8A-4147-A177-3AD203B41FA5}">
                      <a16:colId xmlns:a16="http://schemas.microsoft.com/office/drawing/2014/main" val="1365382910"/>
                    </a:ext>
                  </a:extLst>
                </a:gridCol>
                <a:gridCol w="584892">
                  <a:extLst>
                    <a:ext uri="{9D8B030D-6E8A-4147-A177-3AD203B41FA5}">
                      <a16:colId xmlns:a16="http://schemas.microsoft.com/office/drawing/2014/main" val="934211552"/>
                    </a:ext>
                  </a:extLst>
                </a:gridCol>
                <a:gridCol w="603758">
                  <a:extLst>
                    <a:ext uri="{9D8B030D-6E8A-4147-A177-3AD203B41FA5}">
                      <a16:colId xmlns:a16="http://schemas.microsoft.com/office/drawing/2014/main" val="1178951452"/>
                    </a:ext>
                  </a:extLst>
                </a:gridCol>
                <a:gridCol w="490553">
                  <a:extLst>
                    <a:ext uri="{9D8B030D-6E8A-4147-A177-3AD203B41FA5}">
                      <a16:colId xmlns:a16="http://schemas.microsoft.com/office/drawing/2014/main" val="1004103717"/>
                    </a:ext>
                  </a:extLst>
                </a:gridCol>
                <a:gridCol w="490553">
                  <a:extLst>
                    <a:ext uri="{9D8B030D-6E8A-4147-A177-3AD203B41FA5}">
                      <a16:colId xmlns:a16="http://schemas.microsoft.com/office/drawing/2014/main" val="3844394915"/>
                    </a:ext>
                  </a:extLst>
                </a:gridCol>
                <a:gridCol w="490553">
                  <a:extLst>
                    <a:ext uri="{9D8B030D-6E8A-4147-A177-3AD203B41FA5}">
                      <a16:colId xmlns:a16="http://schemas.microsoft.com/office/drawing/2014/main" val="3632603952"/>
                    </a:ext>
                  </a:extLst>
                </a:gridCol>
                <a:gridCol w="490553">
                  <a:extLst>
                    <a:ext uri="{9D8B030D-6E8A-4147-A177-3AD203B41FA5}">
                      <a16:colId xmlns:a16="http://schemas.microsoft.com/office/drawing/2014/main" val="3769910773"/>
                    </a:ext>
                  </a:extLst>
                </a:gridCol>
                <a:gridCol w="490553">
                  <a:extLst>
                    <a:ext uri="{9D8B030D-6E8A-4147-A177-3AD203B41FA5}">
                      <a16:colId xmlns:a16="http://schemas.microsoft.com/office/drawing/2014/main" val="1445357474"/>
                    </a:ext>
                  </a:extLst>
                </a:gridCol>
              </a:tblGrid>
              <a:tr h="2840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</a:t>
                      </a:r>
                      <a:r>
                        <a:rPr lang="ko-KR" alt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</a:t>
                      </a:r>
                      <a:r>
                        <a:rPr lang="ko-KR" alt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</a:t>
                      </a:r>
                      <a:r>
                        <a:rPr lang="ko-KR" alt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</a:t>
                      </a:r>
                      <a:r>
                        <a:rPr lang="ko-KR" alt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824883"/>
                  </a:ext>
                </a:extLst>
              </a:tr>
              <a:tr h="284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소속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인력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역할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직급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투입시작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투입종료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M1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M2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M3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M4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Total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748490"/>
                  </a:ext>
                </a:extLst>
              </a:tr>
              <a:tr h="376476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SKAX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김현주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Project Lead, CLX Agent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현황분석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MLOps/AgentOps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고도화 방안 수립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IT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프로젝트관리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09/07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12/07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0.80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82118"/>
                  </a:ext>
                </a:extLst>
              </a:tr>
              <a:tr h="37647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서기천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Legacy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구조 고도화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Data), Enterprise Knowledge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체계 설계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응용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SW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개발자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09/07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11/30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0.80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2.80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160426"/>
                  </a:ext>
                </a:extLst>
              </a:tr>
              <a:tr h="37647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이영빈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CLX AI Agent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권한관리 고도화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CLX AI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서비스 이슈 분석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응용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SW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개발자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09/14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11/30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0.50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2.50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551399"/>
                  </a:ext>
                </a:extLst>
              </a:tr>
              <a:tr h="37647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TBD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Legacy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구조 고도화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Access / System)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응용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SW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개발자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09/14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11/30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0.50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2.50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9477"/>
                  </a:ext>
                </a:extLst>
              </a:tr>
              <a:tr h="37647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PWC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정문규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Legacy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구조 고도화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Data / System)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Senior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Manager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09/07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12/07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0.80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547980"/>
                  </a:ext>
                </a:extLst>
              </a:tr>
              <a:tr h="426601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권오정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AI Agent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적용 위한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Legacy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구조 고도화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(Access), 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MLOps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AgentOps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고도화 방안 수립 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Senior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Manager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09/14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12/07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0.50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462032"/>
                  </a:ext>
                </a:extLst>
              </a:tr>
              <a:tr h="37647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고윤진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Enterprise Knowledge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체계 설계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Manager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09/21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11/30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608959"/>
                  </a:ext>
                </a:extLst>
              </a:tr>
              <a:tr h="37647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이운실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Legacy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구조 고도화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(Data /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System)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Senior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Manager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09/07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11/30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0.80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2.80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648774"/>
                  </a:ext>
                </a:extLst>
              </a:tr>
              <a:tr h="37647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김형석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AI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구성요소 변경관리 고도화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도메인 특화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LLM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개발 방향성 수립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Manager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10/01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11/30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76241"/>
                  </a:ext>
                </a:extLst>
              </a:tr>
              <a:tr h="37647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박형준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CLX AI Agent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권한관리 고도화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CLX AI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서비스 이슈 분석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Manager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09/07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11/30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0.50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2.50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894726"/>
                  </a:ext>
                </a:extLst>
              </a:tr>
              <a:tr h="376476"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합계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6.10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10.00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0.60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26.7</a:t>
                      </a:r>
                    </a:p>
                  </a:txBody>
                  <a:tcPr marL="41980" marR="4198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815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1084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나눔스퀘어"/>
        <a:ea typeface="나눔스퀘어"/>
        <a:cs typeface=""/>
      </a:majorFont>
      <a:minorFont>
        <a:latin typeface="나눔스퀘어"/>
        <a:ea typeface="나눔스퀘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1"/>
          </a:solidFill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75000"/>
              <a:lumOff val="2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3550A4B34E64394C727737533C194" ma:contentTypeVersion="19" ma:contentTypeDescription="Create a new document." ma:contentTypeScope="" ma:versionID="4bd7bdfed05083d1e916848b4a2f9353">
  <xsd:schema xmlns:xsd="http://www.w3.org/2001/XMLSchema" xmlns:xs="http://www.w3.org/2001/XMLSchema" xmlns:p="http://schemas.microsoft.com/office/2006/metadata/properties" xmlns:ns2="1dab0fa1-e5b6-4222-ba21-f1435e309cfd" xmlns:ns3="d5d10362-09cf-47ed-9ad0-89f2f10d7998" targetNamespace="http://schemas.microsoft.com/office/2006/metadata/properties" ma:root="true" ma:fieldsID="e7739a114783fd10ed641a2d34d976f3" ns2:_="" ns3:_="">
    <xsd:import namespace="1dab0fa1-e5b6-4222-ba21-f1435e309cfd"/>
    <xsd:import namespace="d5d10362-09cf-47ed-9ad0-89f2f10d79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b0fa1-e5b6-4222-ba21-f1435e309c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5702a04-5a8d-4e22-8fc9-754da5c845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10362-09cf-47ed-9ad0-89f2f10d799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8e9b355-1b85-4e34-aed5-efbf7baa7146}" ma:internalName="TaxCatchAll" ma:showField="CatchAllData" ma:web="d5d10362-09cf-47ed-9ad0-89f2f10d79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5d10362-09cf-47ed-9ad0-89f2f10d7998" xsi:nil="true"/>
    <lcf76f155ced4ddcb4097134ff3c332f xmlns="1dab0fa1-e5b6-4222-ba21-f1435e309cf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563BC1-3421-4104-9718-AB7E34D1AC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ab0fa1-e5b6-4222-ba21-f1435e309cfd"/>
    <ds:schemaRef ds:uri="d5d10362-09cf-47ed-9ad0-89f2f10d79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0B75D3-62EC-42DE-95DF-68F579ACD809}">
  <ds:schemaRefs>
    <ds:schemaRef ds:uri="http://purl.org/dc/terms/"/>
    <ds:schemaRef ds:uri="http://schemas.microsoft.com/office/infopath/2007/PartnerControls"/>
    <ds:schemaRef ds:uri="http://purl.org/dc/elements/1.1/"/>
    <ds:schemaRef ds:uri="1dab0fa1-e5b6-4222-ba21-f1435e309cfd"/>
    <ds:schemaRef ds:uri="http://schemas.microsoft.com/office/2006/documentManagement/types"/>
    <ds:schemaRef ds:uri="d5d10362-09cf-47ed-9ad0-89f2f10d7998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82977CD-7ABA-4558-9F3F-9798C675767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c1357aa-0960-4b6d-b918-e2668fbe3cee}" enabled="1" method="Privileged" siteId="{a291953b-a95f-4c1e-8127-00ffdb5b7f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12640</TotalTime>
  <Words>2026</Words>
  <Application>Microsoft Office PowerPoint</Application>
  <PresentationFormat>A4 용지(210x297mm)</PresentationFormat>
  <Paragraphs>467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HY견고딕</vt:lpstr>
      <vt:lpstr>나눔스퀘어</vt:lpstr>
      <vt:lpstr>나눔스퀘어 Bold</vt:lpstr>
      <vt:lpstr>나눔스퀘어 ExtraBold</vt:lpstr>
      <vt:lpstr>맑은 고딕</vt:lpstr>
      <vt:lpstr>Arial</vt:lpstr>
      <vt:lpstr>Tahoma</vt:lpstr>
      <vt:lpstr>Wingdings</vt:lpstr>
      <vt:lpstr>2_Office 테마</vt:lpstr>
      <vt:lpstr>CLX AI E-to-E 운영체계 정립 PI - 추진계획 보고 -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ski</dc:creator>
  <cp:lastModifiedBy>Mungyu Jung (KR - ADVS)</cp:lastModifiedBy>
  <cp:revision>2182</cp:revision>
  <cp:lastPrinted>2026-08-10T00:37:03Z</cp:lastPrinted>
  <dcterms:created xsi:type="dcterms:W3CDTF">2024-07-29T08:10:55Z</dcterms:created>
  <dcterms:modified xsi:type="dcterms:W3CDTF">2026-09-01T04:41:54Z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0x010100C253550A4B34E64394C727737533C194</vt:lpwstr>
  </property>
</Properties>
</file>